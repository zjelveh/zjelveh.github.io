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4" r:id="rId2"/>
    <p:sldId id="669" r:id="rId3"/>
    <p:sldId id="765" r:id="rId4"/>
    <p:sldId id="679" r:id="rId5"/>
    <p:sldId id="764" r:id="rId6"/>
    <p:sldId id="298" r:id="rId7"/>
    <p:sldId id="434" r:id="rId8"/>
    <p:sldId id="727" r:id="rId9"/>
    <p:sldId id="435" r:id="rId10"/>
    <p:sldId id="436" r:id="rId11"/>
    <p:sldId id="758" r:id="rId12"/>
    <p:sldId id="437" r:id="rId13"/>
    <p:sldId id="438" r:id="rId14"/>
    <p:sldId id="760" r:id="rId15"/>
    <p:sldId id="386" r:id="rId16"/>
    <p:sldId id="387" r:id="rId17"/>
    <p:sldId id="688" r:id="rId18"/>
    <p:sldId id="294" r:id="rId19"/>
    <p:sldId id="761" r:id="rId20"/>
    <p:sldId id="647" r:id="rId21"/>
    <p:sldId id="268" r:id="rId22"/>
    <p:sldId id="648" r:id="rId23"/>
    <p:sldId id="271" r:id="rId24"/>
    <p:sldId id="649" r:id="rId25"/>
    <p:sldId id="650" r:id="rId26"/>
    <p:sldId id="273" r:id="rId27"/>
    <p:sldId id="7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0ED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8005B-BB1C-4B9D-A8C4-F9CE1FCAFC3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12B64-0184-4978-B463-8DA5A0637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9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a lot 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A8C026-E229-4FA1-9406-FCF4D523A3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781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get two out of 3 but not all three.</a:t>
            </a:r>
          </a:p>
          <a:p>
            <a:r>
              <a:rPr lang="en-US" dirty="0"/>
              <a:t>Algorithms are not going to solve fairness.</a:t>
            </a:r>
          </a:p>
          <a:p>
            <a:r>
              <a:rPr lang="en-US" dirty="0"/>
              <a:t>Different definitions may be of interest to different stake holders. </a:t>
            </a:r>
          </a:p>
          <a:p>
            <a:r>
              <a:rPr lang="en-US" dirty="0"/>
              <a:t>For example, from the perspective of defendants, being treated the same if flagged as </a:t>
            </a:r>
          </a:p>
          <a:p>
            <a:r>
              <a:rPr lang="en-US" dirty="0"/>
              <a:t>Calibration: From a defendant’s point of view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A8C026-E229-4FA1-9406-FCF4D523A3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377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1733-1111-4020-80CF-1027A26D2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31730-60D1-4195-855A-5BFAC6C8B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FCD8F-15CA-4B78-9991-1C8A0A71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27FA-69D8-4892-ADD0-442AE9FD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5B53B-A9A7-4A38-AC44-97F4F832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6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1540-682B-4DCA-9361-C88BB971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AC6AE-DC84-4104-825A-6EF213FFE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6786B-D1CB-4857-A356-C791502C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2753D-0E21-4FDB-82B0-7F8F3F09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88069-A43B-4E6F-A666-DB8538C0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819F-5EF8-462B-81F5-242BA480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7B780-66FE-439F-85AE-04FF909A0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540FF-F5C5-43E7-980B-6288E92B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A5E5B-7404-4425-92F7-661962D3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83244-D302-4753-9011-3085E604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8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4737-73F0-488A-8143-23784699F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13FD-7FB4-405C-9701-8AC68AF3A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BEA1A-FFC1-4D32-8E39-484C61747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4E644-5BEF-48FA-94A5-8DDF95D3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6D34E-62BE-42CB-954A-BFADC5C9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B9ABC-C756-4BCD-A926-C8B1CCFD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1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24D4-E554-4CA4-88B9-85F44618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8C30A-382B-4369-8F44-FB7D8F62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51816-F25D-4A70-9847-2D391C1E2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088ED-9888-4E6B-8267-000EF5B34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ECD2C-3967-4873-B333-A55664A0B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8580D-F28E-4B19-BC9E-ECC5985A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0A328-AECD-4DD2-A016-8BCD85C2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B5C51-7186-4B3B-BCB4-8B3ECE6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1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FF02-719D-4FFC-BF77-1860BD90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69F0B-E328-495F-9C5E-509BDA933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22280-409B-4DB7-B729-72B71C0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E1517-4C78-472E-8444-8DDCEE82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4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46AA6-92A2-4226-BB84-60EE33DF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E6895-C3B0-4240-821D-70BD698B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811DD-B229-4CE6-B27E-C9DDD717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1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76C51-B600-4F09-BDD2-2B4724C9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5F864-8307-4BB0-8286-75110D953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ED6D0-0213-4761-A2FF-207AF681F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3E146-30D1-4B24-8061-A6C8FF8D3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F91EE-3404-4217-A0A3-C9E2B397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3FBE4-DEF7-4F86-BF25-3503D58F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0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E020-BD4C-4344-848C-8138D3A6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97018-A452-4434-A6EB-6A6F84874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4A571-6865-4C63-9372-ED1496784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C2509-3A6D-4AE4-A63E-A9ECC5E4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27C3F-25C2-48A9-9D23-4341D6F1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3DBA2-438D-4462-A28E-7AC292EA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51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4C59-BFB9-4648-8769-81D7F727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C954F-CF0A-4E8E-8FFC-A03842B3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C079-FBAA-4617-9C03-2BFC538D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CF761-8E7C-4A50-B727-6F608690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F500C-A4CB-4A2A-9F5D-A3F8FFAB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2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FE6EE-C625-433F-A4C1-17FE127D0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67B4D-7F6B-4A95-83B1-7991DDC8B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C59D-F805-4DE1-A743-958927DE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209A-C6D7-496B-8537-5782FDB96C1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82274-7ABC-4F74-A181-96FA51F2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08FD9-33BB-4C87-9B32-07D183E3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7352C-6AF1-4D42-A15A-45C6FA13D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8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33D7A-0A6E-42AD-B3D5-B4ABAB8C8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CB52-10D8-4250-A12F-C1FA80B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9C9A885-88C9-4C05-AFCE-22FED3FC0DB3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9DBF8-B560-4428-9C4E-CC977AC8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6E9FA-577A-4F23-A9C4-33EF271E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3F6F1116-0702-451C-8E3A-AB937AA20C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368733-2A13-49C0-B174-3B6785DD244B}"/>
              </a:ext>
            </a:extLst>
          </p:cNvPr>
          <p:cNvSpPr txBox="1">
            <a:spLocks/>
          </p:cNvSpPr>
          <p:nvPr userDrawn="1"/>
        </p:nvSpPr>
        <p:spPr>
          <a:xfrm>
            <a:off x="293915" y="223612"/>
            <a:ext cx="116041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b="0" i="0" kern="1200">
                <a:solidFill>
                  <a:srgbClr val="7C0622"/>
                </a:solidFill>
                <a:latin typeface="Graphik Medium" charset="0"/>
                <a:ea typeface="Graphik Medium" charset="0"/>
                <a:cs typeface="Graphik Medium" charset="0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 dirty="0">
              <a:ln>
                <a:noFill/>
              </a:ln>
              <a:solidFill>
                <a:srgbClr val="7C0622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5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781C5-E59C-4BB0-8873-BAE364B4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6E6EC-8099-4621-86BD-B6DF198E7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271C2-25A2-4664-A0AB-5B82465A6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1804209A-C6D7-496B-8537-5782FDB96C1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49414-77F4-48CA-8DC1-3DC095D90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AD38D-6CAF-4577-964B-6FC51F266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6C87352C-6AF1-4D42-A15A-45C6FA13D2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5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ired.com/story/prominent-ai-ethics-researcher-says-google-fired-her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jpeg"/><Relationship Id="rId2" Type="http://schemas.openxmlformats.org/officeDocument/2006/relationships/hyperlink" Target="https://medium.com/@Joy.Buolamwini/response-racial-and-gender-bias-in-amazon-rekognition-commercial-ai-system-for-analyzing-faces-a289222eece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bcnews.com/think/opinion/google-search-algorithms-are-not-impartial-they-are-biased-just-ncna849886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s://www.aclu.org/blog/privacy-technology/internet-privacy/your-favorite-website-might-be-discriminating-against-you" TargetMode="Externa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theamericanconservative.com/articles/does-pre-crime-have-a-race-problem/" TargetMode="Externa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5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1.png"/><Relationship Id="rId5" Type="http://schemas.openxmlformats.org/officeDocument/2006/relationships/image" Target="../media/image310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21.png"/><Relationship Id="rId7" Type="http://schemas.openxmlformats.org/officeDocument/2006/relationships/image" Target="../media/image6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11.png"/><Relationship Id="rId4" Type="http://schemas.openxmlformats.org/officeDocument/2006/relationships/image" Target="../media/image310.png"/><Relationship Id="rId9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6C8B-9AB5-4B36-A44B-C6B45DD2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628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INST 414: Data Science Techniques</a:t>
            </a:r>
            <a:endParaRPr dirty="0"/>
          </a:p>
          <a:p>
            <a:endParaRPr dirty="0"/>
          </a:p>
          <a:p>
            <a:r>
              <a:rPr dirty="0"/>
              <a:t>Fairness Metrics </a:t>
            </a:r>
            <a:br>
              <a:rPr lang="en-US" dirty="0"/>
            </a:br>
            <a:r>
              <a:rPr dirty="0"/>
              <a:t>and </a:t>
            </a:r>
            <a:br>
              <a:rPr lang="en-US" dirty="0"/>
            </a:br>
            <a:r>
              <a:rPr dirty="0"/>
              <a:t>COMPAS</a:t>
            </a:r>
          </a:p>
        </p:txBody>
      </p:sp>
    </p:spTree>
    <p:extLst>
      <p:ext uri="{BB962C8B-B14F-4D97-AF65-F5344CB8AC3E}">
        <p14:creationId xmlns:p14="http://schemas.microsoft.com/office/powerpoint/2010/main" val="3922373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CC148A96-8960-4A34-966D-C7CE0DB8D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541" y="74645"/>
            <a:ext cx="5959151" cy="3724469"/>
          </a:xfrm>
          <a:prstGeom prst="rect">
            <a:avLst/>
          </a:prstGeom>
        </p:spPr>
      </p:pic>
      <p:pic>
        <p:nvPicPr>
          <p:cNvPr id="1026" name="Picture 2" descr="Screenshot of a Boston Globe article titled 'Racial bias alleged in Google's ad results'">
            <a:hlinkClick r:id="rId4"/>
            <a:extLst>
              <a:ext uri="{FF2B5EF4-FFF2-40B4-BE49-F238E27FC236}">
                <a16:creationId xmlns:a16="http://schemas.microsoft.com/office/drawing/2014/main" id="{35703F73-5798-4F87-846C-BC5BE1E4C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87" y="298583"/>
            <a:ext cx="4803677" cy="318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: Algorithms of Oppression">
            <a:hlinkClick r:id="rId6"/>
            <a:extLst>
              <a:ext uri="{FF2B5EF4-FFF2-40B4-BE49-F238E27FC236}">
                <a16:creationId xmlns:a16="http://schemas.microsoft.com/office/drawing/2014/main" id="{2A49FBDA-EFC7-47D1-AB76-977BF3A1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452" y="3668300"/>
            <a:ext cx="2140858" cy="318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hlinkClick r:id="rId8"/>
            <a:extLst>
              <a:ext uri="{FF2B5EF4-FFF2-40B4-BE49-F238E27FC236}">
                <a16:creationId xmlns:a16="http://schemas.microsoft.com/office/drawing/2014/main" id="{39A2DFE0-20F6-4222-9317-6B9AEEE1CE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6814" y="4183765"/>
            <a:ext cx="3191255" cy="228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08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Lecture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fairness definitions focus on different quantities</a:t>
            </a:r>
          </a:p>
          <a:p>
            <a:r>
              <a:t>Those definitions can disagree</a:t>
            </a:r>
          </a:p>
          <a:p>
            <a:r>
              <a:t>We will use COMPAS as the motivating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3CEC7F-69B2-4C29-9872-58718A45E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8744" y="1690688"/>
            <a:ext cx="8169634" cy="432990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4E03D69-4077-229D-8558-24E7099C480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Fairness</a:t>
            </a:r>
          </a:p>
        </p:txBody>
      </p:sp>
    </p:spTree>
    <p:extLst>
      <p:ext uri="{BB962C8B-B14F-4D97-AF65-F5344CB8AC3E}">
        <p14:creationId xmlns:p14="http://schemas.microsoft.com/office/powerpoint/2010/main" val="1861409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97868B-5AD9-D22D-FCB2-59ACC8A76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“Correctional Offender Management Profiling for Alternative Sanction”</a:t>
            </a:r>
          </a:p>
          <a:p>
            <a:r>
              <a:rPr lang="en-US" dirty="0"/>
              <a:t>Risk assessment designed for use in </a:t>
            </a:r>
          </a:p>
          <a:p>
            <a:pPr lvl="1"/>
            <a:r>
              <a:rPr lang="en-US" dirty="0"/>
              <a:t>Pretrial</a:t>
            </a:r>
          </a:p>
          <a:p>
            <a:pPr lvl="1"/>
            <a:r>
              <a:rPr lang="en-US" dirty="0"/>
              <a:t>Prison</a:t>
            </a:r>
          </a:p>
          <a:p>
            <a:pPr lvl="1"/>
            <a:r>
              <a:rPr lang="en-US" dirty="0"/>
              <a:t>Parole</a:t>
            </a:r>
          </a:p>
          <a:p>
            <a:r>
              <a:rPr lang="en-US" dirty="0"/>
              <a:t>Developed by </a:t>
            </a:r>
            <a:r>
              <a:rPr lang="en-US" dirty="0" err="1"/>
              <a:t>NorthPointe</a:t>
            </a:r>
            <a:r>
              <a:rPr lang="en-US" dirty="0"/>
              <a:t>/</a:t>
            </a:r>
            <a:r>
              <a:rPr lang="en-US" dirty="0" err="1"/>
              <a:t>equivant</a:t>
            </a:r>
            <a:endParaRPr lang="en-US" dirty="0"/>
          </a:p>
          <a:p>
            <a:pPr lvl="1"/>
            <a:r>
              <a:rPr lang="en-US" dirty="0"/>
              <a:t>Predict the likelihood of recidivism</a:t>
            </a:r>
          </a:p>
          <a:p>
            <a:r>
              <a:rPr lang="en-US" dirty="0"/>
              <a:t>Gives a score between 1 and 10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6AAB589-1721-4586-D40C-14600FF10F7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</a:t>
            </a:r>
            <a:r>
              <a:rPr lang="en-US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Compas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333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EB01-693A-4C11-9F1C-2BAD441A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78600" cy="4351338"/>
          </a:xfrm>
        </p:spPr>
        <p:txBody>
          <a:bodyPr>
            <a:normAutofit/>
          </a:bodyPr>
          <a:lstStyle/>
          <a:p>
            <a:r>
              <a:rPr lang="en-US" dirty="0"/>
              <a:t>Pro Publica examined defendants in Broward County, FL</a:t>
            </a:r>
          </a:p>
          <a:p>
            <a:pPr marL="548627" lvl="1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EC171C-1725-8B9B-01F6-6A6423724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929" y="2144521"/>
            <a:ext cx="409575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C3ACC84-DD9F-5CB8-666C-DC16F8206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21" y="3429000"/>
            <a:ext cx="7037479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E888B0A-AF14-D21E-8DA8-4464CB19D49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Compas</a:t>
            </a:r>
            <a:r>
              <a: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Tool</a:t>
            </a:r>
          </a:p>
        </p:txBody>
      </p:sp>
    </p:spTree>
    <p:extLst>
      <p:ext uri="{BB962C8B-B14F-4D97-AF65-F5344CB8AC3E}">
        <p14:creationId xmlns:p14="http://schemas.microsoft.com/office/powerpoint/2010/main" val="1260883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washingtonpost.com/wp-apps/imrs.php?src=https://img.washingtonpost.com/blogs/monkey-cage/files/2016/10/GOEL-Fig-2.png&amp;w=1484">
            <a:extLst>
              <a:ext uri="{FF2B5EF4-FFF2-40B4-BE49-F238E27FC236}">
                <a16:creationId xmlns:a16="http://schemas.microsoft.com/office/drawing/2014/main" id="{63DEE0F3-52C7-4E5F-9239-C48C5D3B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0" y="971550"/>
            <a:ext cx="11790130" cy="523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706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3AC864-185A-488E-8239-B4B6FC907C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Equal False Positive Rates across groups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𝐵𝑙𝑎𝑐𝑘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𝑊h𝑖𝑡𝑒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3AC864-185A-488E-8239-B4B6FC907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73D08871-F695-5AD6-87F2-BF7B3D05365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</a:t>
            </a:r>
            <a:r>
              <a:rPr lang="en-US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Compas</a:t>
            </a:r>
            <a:endParaRPr lang="en-US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628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washingtonpost.com/wp-apps/imrs.php?src=https://img.washingtonpost.com/blogs/monkey-cage/files/2016/10/GOEL-Fig-2.png&amp;w=1484">
            <a:extLst>
              <a:ext uri="{FF2B5EF4-FFF2-40B4-BE49-F238E27FC236}">
                <a16:creationId xmlns:a16="http://schemas.microsoft.com/office/drawing/2014/main" id="{63DEE0F3-52C7-4E5F-9239-C48C5D3B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0" y="971550"/>
            <a:ext cx="11790130" cy="523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B7BDFC-8663-47CF-A8F2-C531D3609B8B}"/>
              </a:ext>
            </a:extLst>
          </p:cNvPr>
          <p:cNvSpPr/>
          <p:nvPr/>
        </p:nvSpPr>
        <p:spPr>
          <a:xfrm>
            <a:off x="1736244" y="3753134"/>
            <a:ext cx="1680951" cy="175231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224BE-F3E2-4670-85AF-AD28D83F4C79}"/>
              </a:ext>
            </a:extLst>
          </p:cNvPr>
          <p:cNvSpPr/>
          <p:nvPr/>
        </p:nvSpPr>
        <p:spPr>
          <a:xfrm>
            <a:off x="3613597" y="4217158"/>
            <a:ext cx="1678675" cy="12882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B0B0B-092C-4B65-89B6-B984D62000AC}"/>
              </a:ext>
            </a:extLst>
          </p:cNvPr>
          <p:cNvSpPr/>
          <p:nvPr/>
        </p:nvSpPr>
        <p:spPr>
          <a:xfrm>
            <a:off x="6005719" y="3493827"/>
            <a:ext cx="1680950" cy="201162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50C45-E46F-4CFD-AAC9-4107EF23F05C}"/>
              </a:ext>
            </a:extLst>
          </p:cNvPr>
          <p:cNvSpPr/>
          <p:nvPr/>
        </p:nvSpPr>
        <p:spPr>
          <a:xfrm>
            <a:off x="7883071" y="4940490"/>
            <a:ext cx="1678675" cy="5649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1B9E04-D6FA-464C-BC9A-CB369197D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566" y="695628"/>
            <a:ext cx="1871054" cy="27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37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washingtonpost.com/wp-apps/imrs.php?src=https://img.washingtonpost.com/blogs/monkey-cage/files/2016/10/GOEL-Fig-2.png&amp;w=1484">
            <a:extLst>
              <a:ext uri="{FF2B5EF4-FFF2-40B4-BE49-F238E27FC236}">
                <a16:creationId xmlns:a16="http://schemas.microsoft.com/office/drawing/2014/main" id="{63DEE0F3-52C7-4E5F-9239-C48C5D3B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0" y="971550"/>
            <a:ext cx="11790130" cy="523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B7BDFC-8663-47CF-A8F2-C531D3609B8B}"/>
              </a:ext>
            </a:extLst>
          </p:cNvPr>
          <p:cNvSpPr/>
          <p:nvPr/>
        </p:nvSpPr>
        <p:spPr>
          <a:xfrm>
            <a:off x="1719618" y="3753134"/>
            <a:ext cx="1680951" cy="175231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224BE-F3E2-4670-85AF-AD28D83F4C79}"/>
              </a:ext>
            </a:extLst>
          </p:cNvPr>
          <p:cNvSpPr/>
          <p:nvPr/>
        </p:nvSpPr>
        <p:spPr>
          <a:xfrm>
            <a:off x="3605284" y="4217158"/>
            <a:ext cx="1678675" cy="12882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B0B0B-092C-4B65-89B6-B984D62000AC}"/>
              </a:ext>
            </a:extLst>
          </p:cNvPr>
          <p:cNvSpPr/>
          <p:nvPr/>
        </p:nvSpPr>
        <p:spPr>
          <a:xfrm>
            <a:off x="5989093" y="3493827"/>
            <a:ext cx="1680950" cy="201162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50C45-E46F-4CFD-AAC9-4107EF23F05C}"/>
              </a:ext>
            </a:extLst>
          </p:cNvPr>
          <p:cNvSpPr/>
          <p:nvPr/>
        </p:nvSpPr>
        <p:spPr>
          <a:xfrm>
            <a:off x="7874758" y="4940490"/>
            <a:ext cx="1678675" cy="5649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A14E8-9A8A-460C-8E8C-6C177844B1BC}"/>
              </a:ext>
            </a:extLst>
          </p:cNvPr>
          <p:cNvSpPr txBox="1"/>
          <p:nvPr/>
        </p:nvSpPr>
        <p:spPr>
          <a:xfrm>
            <a:off x="3658738" y="2915953"/>
            <a:ext cx="39555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"/>
                <a:ea typeface="+mn-ea"/>
                <a:cs typeface="+mn-cs"/>
              </a:rPr>
              <a:t>False Positive Rate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31EEFC-2A75-4D7F-B3F1-ADB884F49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566" y="695628"/>
            <a:ext cx="1871054" cy="27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12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3AC864-185A-488E-8239-B4B6FC907C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Equal False Negative Rates across groups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𝑟𝑎𝑐𝑒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𝐵𝑙𝑎𝑐𝑘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𝑊h𝑖𝑡𝑒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3AC864-185A-488E-8239-B4B6FC907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711EE7B-E118-4E2E-B59B-438085D1A2E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Pro Publica Fairness Definition 2</a:t>
            </a:r>
          </a:p>
        </p:txBody>
      </p:sp>
    </p:spTree>
    <p:extLst>
      <p:ext uri="{BB962C8B-B14F-4D97-AF65-F5344CB8AC3E}">
        <p14:creationId xmlns:p14="http://schemas.microsoft.com/office/powerpoint/2010/main" val="4212948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washingtonpost.com/wp-apps/imrs.php?src=https://img.washingtonpost.com/blogs/monkey-cage/files/2016/10/GOEL-Fig-2.png&amp;w=1484">
            <a:extLst>
              <a:ext uri="{FF2B5EF4-FFF2-40B4-BE49-F238E27FC236}">
                <a16:creationId xmlns:a16="http://schemas.microsoft.com/office/drawing/2014/main" id="{63DEE0F3-52C7-4E5F-9239-C48C5D3B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0" y="971550"/>
            <a:ext cx="11790130" cy="523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B7BDFC-8663-47CF-A8F2-C531D3609B8B}"/>
              </a:ext>
            </a:extLst>
          </p:cNvPr>
          <p:cNvSpPr/>
          <p:nvPr/>
        </p:nvSpPr>
        <p:spPr>
          <a:xfrm>
            <a:off x="3603008" y="1836703"/>
            <a:ext cx="1680951" cy="23964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224BE-F3E2-4670-85AF-AD28D83F4C79}"/>
              </a:ext>
            </a:extLst>
          </p:cNvPr>
          <p:cNvSpPr/>
          <p:nvPr/>
        </p:nvSpPr>
        <p:spPr>
          <a:xfrm>
            <a:off x="1719618" y="2811439"/>
            <a:ext cx="1678675" cy="94169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B0B0B-092C-4B65-89B6-B984D62000AC}"/>
              </a:ext>
            </a:extLst>
          </p:cNvPr>
          <p:cNvSpPr/>
          <p:nvPr/>
        </p:nvSpPr>
        <p:spPr>
          <a:xfrm>
            <a:off x="7883856" y="4137631"/>
            <a:ext cx="1680950" cy="789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50C45-E46F-4CFD-AAC9-4107EF23F05C}"/>
              </a:ext>
            </a:extLst>
          </p:cNvPr>
          <p:cNvSpPr/>
          <p:nvPr/>
        </p:nvSpPr>
        <p:spPr>
          <a:xfrm>
            <a:off x="5985680" y="2688608"/>
            <a:ext cx="1678675" cy="81886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2A4410-11E9-4E63-BEF7-FB8F36540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566" y="695628"/>
            <a:ext cx="1871054" cy="27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23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washingtonpost.com/wp-apps/imrs.php?src=https://img.washingtonpost.com/blogs/monkey-cage/files/2016/10/GOEL-Fig-2.png&amp;w=1484">
            <a:extLst>
              <a:ext uri="{FF2B5EF4-FFF2-40B4-BE49-F238E27FC236}">
                <a16:creationId xmlns:a16="http://schemas.microsoft.com/office/drawing/2014/main" id="{63DEE0F3-52C7-4E5F-9239-C48C5D3B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0" y="971550"/>
            <a:ext cx="11790130" cy="523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B7BDFC-8663-47CF-A8F2-C531D3609B8B}"/>
              </a:ext>
            </a:extLst>
          </p:cNvPr>
          <p:cNvSpPr/>
          <p:nvPr/>
        </p:nvSpPr>
        <p:spPr>
          <a:xfrm>
            <a:off x="3603008" y="1836703"/>
            <a:ext cx="1680951" cy="23964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224BE-F3E2-4670-85AF-AD28D83F4C79}"/>
              </a:ext>
            </a:extLst>
          </p:cNvPr>
          <p:cNvSpPr/>
          <p:nvPr/>
        </p:nvSpPr>
        <p:spPr>
          <a:xfrm>
            <a:off x="1719618" y="2811439"/>
            <a:ext cx="1678675" cy="94169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B0B0B-092C-4B65-89B6-B984D62000AC}"/>
              </a:ext>
            </a:extLst>
          </p:cNvPr>
          <p:cNvSpPr/>
          <p:nvPr/>
        </p:nvSpPr>
        <p:spPr>
          <a:xfrm>
            <a:off x="7883856" y="4137631"/>
            <a:ext cx="1680950" cy="789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50C45-E46F-4CFD-AAC9-4107EF23F05C}"/>
              </a:ext>
            </a:extLst>
          </p:cNvPr>
          <p:cNvSpPr/>
          <p:nvPr/>
        </p:nvSpPr>
        <p:spPr>
          <a:xfrm>
            <a:off x="5985680" y="2688608"/>
            <a:ext cx="1678675" cy="81886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512CC-B6FC-4EB1-8135-3F2FBF94A212}"/>
              </a:ext>
            </a:extLst>
          </p:cNvPr>
          <p:cNvSpPr txBox="1"/>
          <p:nvPr/>
        </p:nvSpPr>
        <p:spPr>
          <a:xfrm>
            <a:off x="3658738" y="2915953"/>
            <a:ext cx="39555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"/>
                <a:ea typeface="+mn-ea"/>
                <a:cs typeface="+mn-cs"/>
              </a:rPr>
              <a:t>False Negative Rate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69C51A-A55C-4994-B2BF-0575F467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566" y="695628"/>
            <a:ext cx="1871054" cy="27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37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3AC864-185A-488E-8239-B4B6FC907C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Equal Positive Predictive Values across groups (calibrated)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𝐵𝑙𝑎𝑐𝑘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𝑊h𝑖𝑡𝑒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3AC864-185A-488E-8239-B4B6FC907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711EE7B-E118-4E2E-B59B-438085D1A2E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NorthPointe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Fairness Definition</a:t>
            </a:r>
          </a:p>
        </p:txBody>
      </p:sp>
    </p:spTree>
    <p:extLst>
      <p:ext uri="{BB962C8B-B14F-4D97-AF65-F5344CB8AC3E}">
        <p14:creationId xmlns:p14="http://schemas.microsoft.com/office/powerpoint/2010/main" val="2174461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washingtonpost.com/wp-apps/imrs.php?src=https://img.washingtonpost.com/blogs/monkey-cage/files/2016/10/GOEL-Fig-2.png&amp;w=1484">
            <a:extLst>
              <a:ext uri="{FF2B5EF4-FFF2-40B4-BE49-F238E27FC236}">
                <a16:creationId xmlns:a16="http://schemas.microsoft.com/office/drawing/2014/main" id="{63DEE0F3-52C7-4E5F-9239-C48C5D3B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0" y="971550"/>
            <a:ext cx="11790130" cy="523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B7BDFC-8663-47CF-A8F2-C531D3609B8B}"/>
              </a:ext>
            </a:extLst>
          </p:cNvPr>
          <p:cNvSpPr/>
          <p:nvPr/>
        </p:nvSpPr>
        <p:spPr>
          <a:xfrm>
            <a:off x="3603008" y="1836703"/>
            <a:ext cx="1680951" cy="23964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224BE-F3E2-4670-85AF-AD28D83F4C79}"/>
              </a:ext>
            </a:extLst>
          </p:cNvPr>
          <p:cNvSpPr/>
          <p:nvPr/>
        </p:nvSpPr>
        <p:spPr>
          <a:xfrm>
            <a:off x="3603008" y="4233166"/>
            <a:ext cx="1678675" cy="128194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B0B0B-092C-4B65-89B6-B984D62000AC}"/>
              </a:ext>
            </a:extLst>
          </p:cNvPr>
          <p:cNvSpPr/>
          <p:nvPr/>
        </p:nvSpPr>
        <p:spPr>
          <a:xfrm>
            <a:off x="7883856" y="4137631"/>
            <a:ext cx="1680950" cy="789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50C45-E46F-4CFD-AAC9-4107EF23F05C}"/>
              </a:ext>
            </a:extLst>
          </p:cNvPr>
          <p:cNvSpPr/>
          <p:nvPr/>
        </p:nvSpPr>
        <p:spPr>
          <a:xfrm>
            <a:off x="7883856" y="4949471"/>
            <a:ext cx="1678675" cy="565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FDB86D-1690-4275-A74A-7CC2C506E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348" y="492765"/>
            <a:ext cx="15144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41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mg.washingtonpost.com/wp-apps/imrs.php?src=https://img.washingtonpost.com/blogs/monkey-cage/files/2016/10/GOEL-Fig-2.png&amp;w=1484">
            <a:extLst>
              <a:ext uri="{FF2B5EF4-FFF2-40B4-BE49-F238E27FC236}">
                <a16:creationId xmlns:a16="http://schemas.microsoft.com/office/drawing/2014/main" id="{63DEE0F3-52C7-4E5F-9239-C48C5D3B9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70" y="971550"/>
            <a:ext cx="11790130" cy="523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B7BDFC-8663-47CF-A8F2-C531D3609B8B}"/>
              </a:ext>
            </a:extLst>
          </p:cNvPr>
          <p:cNvSpPr/>
          <p:nvPr/>
        </p:nvSpPr>
        <p:spPr>
          <a:xfrm>
            <a:off x="3603008" y="1836703"/>
            <a:ext cx="1680951" cy="23964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224BE-F3E2-4670-85AF-AD28D83F4C79}"/>
              </a:ext>
            </a:extLst>
          </p:cNvPr>
          <p:cNvSpPr/>
          <p:nvPr/>
        </p:nvSpPr>
        <p:spPr>
          <a:xfrm>
            <a:off x="3603008" y="4233166"/>
            <a:ext cx="1678675" cy="128194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5B0B0B-092C-4B65-89B6-B984D62000AC}"/>
              </a:ext>
            </a:extLst>
          </p:cNvPr>
          <p:cNvSpPr/>
          <p:nvPr/>
        </p:nvSpPr>
        <p:spPr>
          <a:xfrm>
            <a:off x="7883856" y="4137631"/>
            <a:ext cx="1680950" cy="7892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50C45-E46F-4CFD-AAC9-4107EF23F05C}"/>
              </a:ext>
            </a:extLst>
          </p:cNvPr>
          <p:cNvSpPr/>
          <p:nvPr/>
        </p:nvSpPr>
        <p:spPr>
          <a:xfrm>
            <a:off x="7883856" y="4949471"/>
            <a:ext cx="1678675" cy="56564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F8C47-AC17-46B1-9547-9D27BF50D897}"/>
              </a:ext>
            </a:extLst>
          </p:cNvPr>
          <p:cNvSpPr txBox="1"/>
          <p:nvPr/>
        </p:nvSpPr>
        <p:spPr>
          <a:xfrm>
            <a:off x="3302758" y="2915953"/>
            <a:ext cx="48040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"/>
                <a:ea typeface="+mn-ea"/>
                <a:cs typeface="+mn-cs"/>
              </a:rPr>
              <a:t>Positive Predictive Value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28AB7C-2F5F-4B5B-9170-654193BD1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348" y="492765"/>
            <a:ext cx="15144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2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D84208AA-47B3-4F99-BE63-101525513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283" y="723573"/>
            <a:ext cx="9383434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23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4AACB-5D1E-4A3F-824E-C3BB771809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Calibration: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𝐵𝑙𝑎𝑐𝑘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𝑊h𝑖𝑡𝑒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Equal Error Rates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𝐵𝑙𝑎𝑐𝑘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𝑊h𝑖𝑡𝑒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𝐵𝑙𝑎𝑐𝑘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𝑊h𝑖𝑡𝑒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𝐹𝑃𝑅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𝑃𝑃𝑉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𝑃𝑃𝑉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𝐹𝑁𝑅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4AACB-5D1E-4A3F-824E-C3BB77180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5B85A25-CE11-4382-9C96-D769AA7C81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28134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Reasonable Definitions for Fairness</a:t>
            </a:r>
          </a:p>
        </p:txBody>
      </p:sp>
    </p:spTree>
    <p:extLst>
      <p:ext uri="{BB962C8B-B14F-4D97-AF65-F5344CB8AC3E}">
        <p14:creationId xmlns:p14="http://schemas.microsoft.com/office/powerpoint/2010/main" val="3137023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91A5CA-3E81-407B-84DA-DD0445D2E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5908" y="1425098"/>
                <a:ext cx="10972800" cy="506534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𝐹𝑁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𝐹𝑁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𝐹𝑁𝑅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𝐹𝑁𝑅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/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/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𝐹𝑁𝑅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/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/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𝐹𝑁𝑅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Same prevalence in each group: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Different prevalence: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𝑃𝑃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91A5CA-3E81-407B-84DA-DD0445D2E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5908" y="1425098"/>
                <a:ext cx="10972800" cy="5065349"/>
              </a:xfrm>
              <a:blipFill>
                <a:blip r:embed="rId3"/>
                <a:stretch>
                  <a:fillRect l="-1000" t="-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7962829-1F5C-44EA-BDE4-A9A440F6EE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475" y="192601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Impossibility</a:t>
            </a:r>
          </a:p>
        </p:txBody>
      </p:sp>
    </p:spTree>
    <p:extLst>
      <p:ext uri="{BB962C8B-B14F-4D97-AF65-F5344CB8AC3E}">
        <p14:creationId xmlns:p14="http://schemas.microsoft.com/office/powerpoint/2010/main" val="1234930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Recap: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211426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875B90-5F2D-41DA-A9C4-69A5AE71F1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56643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Convert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 (p-hats)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(y-hats)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875B90-5F2D-41DA-A9C4-69A5AE71F1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56643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826F5DF4-1229-4631-80E9-6D2130C66AF1}"/>
              </a:ext>
            </a:extLst>
          </p:cNvPr>
          <p:cNvGrpSpPr/>
          <p:nvPr/>
        </p:nvGrpSpPr>
        <p:grpSpPr>
          <a:xfrm>
            <a:off x="1672526" y="1778637"/>
            <a:ext cx="3875258" cy="4455405"/>
            <a:chOff x="6159058" y="1488195"/>
            <a:chExt cx="3875258" cy="44554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6528C0-FC28-4321-B5BD-9C176ED50B91}"/>
                </a:ext>
              </a:extLst>
            </p:cNvPr>
            <p:cNvSpPr/>
            <p:nvPr/>
          </p:nvSpPr>
          <p:spPr>
            <a:xfrm>
              <a:off x="7574484" y="2299334"/>
              <a:ext cx="711832" cy="3635498"/>
            </a:xfrm>
            <a:prstGeom prst="rect">
              <a:avLst/>
            </a:prstGeom>
            <a:gradFill>
              <a:gsLst>
                <a:gs pos="0">
                  <a:srgbClr val="FF0000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08B88F-459B-4AFC-AF48-9E59BB9FAE65}"/>
                </a:ext>
              </a:extLst>
            </p:cNvPr>
            <p:cNvSpPr txBox="1"/>
            <p:nvPr/>
          </p:nvSpPr>
          <p:spPr>
            <a:xfrm>
              <a:off x="8780848" y="2304288"/>
              <a:ext cx="711832" cy="363931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BE1B31-88E8-4D08-ADCD-4A7A42E51A31}"/>
                </a:ext>
              </a:extLst>
            </p:cNvPr>
            <p:cNvSpPr txBox="1"/>
            <p:nvPr/>
          </p:nvSpPr>
          <p:spPr>
            <a:xfrm>
              <a:off x="7492818" y="1942352"/>
              <a:ext cx="95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Risk Score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1B7AA5-0C4B-402E-9434-D0C529F796D2}"/>
                </a:ext>
              </a:extLst>
            </p:cNvPr>
            <p:cNvSpPr txBox="1"/>
            <p:nvPr/>
          </p:nvSpPr>
          <p:spPr>
            <a:xfrm>
              <a:off x="8723691" y="1939757"/>
              <a:ext cx="95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Outcome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FF739B9-5BC1-45B4-802C-A1238609219D}"/>
                </a:ext>
              </a:extLst>
            </p:cNvPr>
            <p:cNvCxnSpPr/>
            <p:nvPr/>
          </p:nvCxnSpPr>
          <p:spPr>
            <a:xfrm flipH="1">
              <a:off x="7078818" y="3630078"/>
              <a:ext cx="2955498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B9AA276-F845-4555-899D-CCBEC50A74D9}"/>
                    </a:ext>
                  </a:extLst>
                </p:cNvPr>
                <p:cNvSpPr txBox="1"/>
                <p:nvPr/>
              </p:nvSpPr>
              <p:spPr>
                <a:xfrm>
                  <a:off x="7648650" y="1488195"/>
                  <a:ext cx="5635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B9AA276-F845-4555-899D-CCBEC50A7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650" y="1488195"/>
                  <a:ext cx="563500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6154" r="-28261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1215BFC-9C89-483A-A9F4-01E23071E7F7}"/>
                    </a:ext>
                  </a:extLst>
                </p:cNvPr>
                <p:cNvSpPr txBox="1"/>
                <p:nvPr/>
              </p:nvSpPr>
              <p:spPr>
                <a:xfrm>
                  <a:off x="8833145" y="1488195"/>
                  <a:ext cx="5635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1215BFC-9C89-483A-A9F4-01E23071E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3145" y="1488195"/>
                  <a:ext cx="563500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61F11FB-3FDA-4355-A4C2-EBEE731195D0}"/>
                    </a:ext>
                  </a:extLst>
                </p:cNvPr>
                <p:cNvSpPr txBox="1"/>
                <p:nvPr/>
              </p:nvSpPr>
              <p:spPr>
                <a:xfrm>
                  <a:off x="7635236" y="2728277"/>
                  <a:ext cx="6740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61F11FB-3FDA-4355-A4C2-EBEE73119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5236" y="2728277"/>
                  <a:ext cx="674083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7576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F3C11A5-E297-41DF-8240-9A4222C7D083}"/>
                    </a:ext>
                  </a:extLst>
                </p:cNvPr>
                <p:cNvSpPr txBox="1"/>
                <p:nvPr/>
              </p:nvSpPr>
              <p:spPr>
                <a:xfrm>
                  <a:off x="7612233" y="4612358"/>
                  <a:ext cx="6740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=0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F3C11A5-E297-41DF-8240-9A4222C7D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2233" y="4612358"/>
                  <a:ext cx="674083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7576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16CF35-F917-409A-B973-FE13316D4EB4}"/>
                </a:ext>
              </a:extLst>
            </p:cNvPr>
            <p:cNvSpPr txBox="1"/>
            <p:nvPr/>
          </p:nvSpPr>
          <p:spPr>
            <a:xfrm>
              <a:off x="6159058" y="3476189"/>
              <a:ext cx="95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Threshold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1511775-A51D-46CF-8655-51EB270AC965}"/>
              </a:ext>
            </a:extLst>
          </p:cNvPr>
          <p:cNvSpPr txBox="1"/>
          <p:nvPr/>
        </p:nvSpPr>
        <p:spPr>
          <a:xfrm>
            <a:off x="2106202" y="2527443"/>
            <a:ext cx="151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High risk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5D9255-4E04-43CA-9B80-F818DF371EBC}"/>
              </a:ext>
            </a:extLst>
          </p:cNvPr>
          <p:cNvSpPr txBox="1"/>
          <p:nvPr/>
        </p:nvSpPr>
        <p:spPr>
          <a:xfrm>
            <a:off x="2113204" y="5854274"/>
            <a:ext cx="151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4C5500-AEA9-420E-987D-85205174E22F}"/>
                  </a:ext>
                </a:extLst>
              </p:cNvPr>
              <p:cNvSpPr txBox="1"/>
              <p:nvPr/>
            </p:nvSpPr>
            <p:spPr>
              <a:xfrm>
                <a:off x="7253555" y="2445249"/>
                <a:ext cx="459254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/>
                  <a:t> : Not re-arrested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: Re-arrested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:</a:t>
                </a:r>
                <a:r>
                  <a:rPr lang="en-US" dirty="0">
                    <a:latin typeface="Cambria Math" panose="02040503050406030204" pitchFamily="18" charset="0"/>
                  </a:rPr>
                  <a:t> Predict not re-arrested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: </a:t>
                </a:r>
                <a:r>
                  <a:rPr lang="en-US" dirty="0">
                    <a:latin typeface="Cambria Math" panose="02040503050406030204" pitchFamily="18" charset="0"/>
                  </a:rPr>
                  <a:t>Predict re-arrested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4C5500-AEA9-420E-987D-85205174E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555" y="2445249"/>
                <a:ext cx="4592548" cy="23083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67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5B90-5F2D-41DA-A9C4-69A5AE71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4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Confusion Matrix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6F5DF4-1229-4631-80E9-6D2130C66AF1}"/>
              </a:ext>
            </a:extLst>
          </p:cNvPr>
          <p:cNvGrpSpPr/>
          <p:nvPr/>
        </p:nvGrpSpPr>
        <p:grpSpPr>
          <a:xfrm>
            <a:off x="1672526" y="1778637"/>
            <a:ext cx="3875258" cy="4455405"/>
            <a:chOff x="6159058" y="1488195"/>
            <a:chExt cx="3875258" cy="445540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6528C0-FC28-4321-B5BD-9C176ED50B91}"/>
                </a:ext>
              </a:extLst>
            </p:cNvPr>
            <p:cNvSpPr/>
            <p:nvPr/>
          </p:nvSpPr>
          <p:spPr>
            <a:xfrm>
              <a:off x="7574484" y="2299334"/>
              <a:ext cx="711832" cy="3635498"/>
            </a:xfrm>
            <a:prstGeom prst="rect">
              <a:avLst/>
            </a:prstGeom>
            <a:gradFill>
              <a:gsLst>
                <a:gs pos="0">
                  <a:srgbClr val="FF0000"/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08B88F-459B-4AFC-AF48-9E59BB9FAE65}"/>
                </a:ext>
              </a:extLst>
            </p:cNvPr>
            <p:cNvSpPr txBox="1"/>
            <p:nvPr/>
          </p:nvSpPr>
          <p:spPr>
            <a:xfrm>
              <a:off x="8780848" y="2304288"/>
              <a:ext cx="711832" cy="363931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BE1B31-88E8-4D08-ADCD-4A7A42E51A31}"/>
                </a:ext>
              </a:extLst>
            </p:cNvPr>
            <p:cNvSpPr txBox="1"/>
            <p:nvPr/>
          </p:nvSpPr>
          <p:spPr>
            <a:xfrm>
              <a:off x="7492818" y="1942352"/>
              <a:ext cx="95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Risk Score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1B7AA5-0C4B-402E-9434-D0C529F796D2}"/>
                </a:ext>
              </a:extLst>
            </p:cNvPr>
            <p:cNvSpPr txBox="1"/>
            <p:nvPr/>
          </p:nvSpPr>
          <p:spPr>
            <a:xfrm>
              <a:off x="8723691" y="1939757"/>
              <a:ext cx="95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Outcome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FF739B9-5BC1-45B4-802C-A1238609219D}"/>
                </a:ext>
              </a:extLst>
            </p:cNvPr>
            <p:cNvCxnSpPr/>
            <p:nvPr/>
          </p:nvCxnSpPr>
          <p:spPr>
            <a:xfrm flipH="1">
              <a:off x="7078818" y="3630078"/>
              <a:ext cx="2955498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B9AA276-F845-4555-899D-CCBEC50A74D9}"/>
                    </a:ext>
                  </a:extLst>
                </p:cNvPr>
                <p:cNvSpPr txBox="1"/>
                <p:nvPr/>
              </p:nvSpPr>
              <p:spPr>
                <a:xfrm>
                  <a:off x="7648650" y="1488195"/>
                  <a:ext cx="5635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B9AA276-F845-4555-899D-CCBEC50A7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650" y="1488195"/>
                  <a:ext cx="563500" cy="400110"/>
                </a:xfrm>
                <a:prstGeom prst="rect">
                  <a:avLst/>
                </a:prstGeom>
                <a:blipFill>
                  <a:blip r:embed="rId2"/>
                  <a:stretch>
                    <a:fillRect t="-6154" r="-28261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1215BFC-9C89-483A-A9F4-01E23071E7F7}"/>
                    </a:ext>
                  </a:extLst>
                </p:cNvPr>
                <p:cNvSpPr txBox="1"/>
                <p:nvPr/>
              </p:nvSpPr>
              <p:spPr>
                <a:xfrm>
                  <a:off x="8833145" y="1488195"/>
                  <a:ext cx="5635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1215BFC-9C89-483A-A9F4-01E23071E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3145" y="1488195"/>
                  <a:ext cx="563500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61F11FB-3FDA-4355-A4C2-EBEE731195D0}"/>
                    </a:ext>
                  </a:extLst>
                </p:cNvPr>
                <p:cNvSpPr txBox="1"/>
                <p:nvPr/>
              </p:nvSpPr>
              <p:spPr>
                <a:xfrm>
                  <a:off x="7635236" y="2728277"/>
                  <a:ext cx="6740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=1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61F11FB-3FDA-4355-A4C2-EBEE73119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5236" y="2728277"/>
                  <a:ext cx="674083" cy="400110"/>
                </a:xfrm>
                <a:prstGeom prst="rect">
                  <a:avLst/>
                </a:prstGeom>
                <a:blipFill>
                  <a:blip r:embed="rId4"/>
                  <a:stretch>
                    <a:fillRect t="-7576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F3C11A5-E297-41DF-8240-9A4222C7D083}"/>
                    </a:ext>
                  </a:extLst>
                </p:cNvPr>
                <p:cNvSpPr txBox="1"/>
                <p:nvPr/>
              </p:nvSpPr>
              <p:spPr>
                <a:xfrm>
                  <a:off x="7612233" y="4612358"/>
                  <a:ext cx="67408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</m:oMath>
                  </a14:m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=0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F3C11A5-E297-41DF-8240-9A4222C7D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2233" y="4612358"/>
                  <a:ext cx="674083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7576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16CF35-F917-409A-B973-FE13316D4EB4}"/>
                </a:ext>
              </a:extLst>
            </p:cNvPr>
            <p:cNvSpPr txBox="1"/>
            <p:nvPr/>
          </p:nvSpPr>
          <p:spPr>
            <a:xfrm>
              <a:off x="6159058" y="3486463"/>
              <a:ext cx="954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Threshold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919EA9-E9BA-49A9-9FA1-9BBDC62F5109}"/>
              </a:ext>
            </a:extLst>
          </p:cNvPr>
          <p:cNvGrpSpPr/>
          <p:nvPr/>
        </p:nvGrpSpPr>
        <p:grpSpPr>
          <a:xfrm>
            <a:off x="7234736" y="2404157"/>
            <a:ext cx="3655872" cy="3059001"/>
            <a:chOff x="730261" y="1904330"/>
            <a:chExt cx="5120108" cy="428418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FB5FCA-8D2E-4028-BF29-CE2ED11C36C0}"/>
                </a:ext>
              </a:extLst>
            </p:cNvPr>
            <p:cNvSpPr/>
            <p:nvPr/>
          </p:nvSpPr>
          <p:spPr>
            <a:xfrm>
              <a:off x="4064474" y="4442471"/>
              <a:ext cx="1784248" cy="174204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True Positive (TP)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7378FB6-745C-453A-B50D-44C145C8833D}"/>
                </a:ext>
              </a:extLst>
            </p:cNvPr>
            <p:cNvSpPr/>
            <p:nvPr/>
          </p:nvSpPr>
          <p:spPr>
            <a:xfrm>
              <a:off x="2243393" y="4446463"/>
              <a:ext cx="1784248" cy="174204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False Positive (FP)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3362CE-62A5-4BCC-9E9C-AC1B549DD99D}"/>
                </a:ext>
              </a:extLst>
            </p:cNvPr>
            <p:cNvSpPr/>
            <p:nvPr/>
          </p:nvSpPr>
          <p:spPr>
            <a:xfrm>
              <a:off x="2243389" y="2672520"/>
              <a:ext cx="1784248" cy="17420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True Negative (TN)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E79478-B0E6-4375-AB12-B634E22E6BA0}"/>
                </a:ext>
              </a:extLst>
            </p:cNvPr>
            <p:cNvSpPr/>
            <p:nvPr/>
          </p:nvSpPr>
          <p:spPr>
            <a:xfrm>
              <a:off x="4066121" y="2669431"/>
              <a:ext cx="1784248" cy="174204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False Negative (FN)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9AB06A4-5B3D-4247-A63D-5C880F1139EB}"/>
                    </a:ext>
                  </a:extLst>
                </p:cNvPr>
                <p:cNvSpPr txBox="1"/>
                <p:nvPr/>
              </p:nvSpPr>
              <p:spPr>
                <a:xfrm>
                  <a:off x="771202" y="3264097"/>
                  <a:ext cx="1209818" cy="5753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=0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9AB06A4-5B3D-4247-A63D-5C880F113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202" y="3264097"/>
                  <a:ext cx="1209818" cy="575314"/>
                </a:xfrm>
                <a:prstGeom prst="rect">
                  <a:avLst/>
                </a:prstGeom>
                <a:blipFill>
                  <a:blip r:embed="rId6"/>
                  <a:stretch>
                    <a:fillRect t="-5970" b="-44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A64D4F-307B-4113-935E-501AAA4D7D1A}"/>
                    </a:ext>
                  </a:extLst>
                </p:cNvPr>
                <p:cNvSpPr txBox="1"/>
                <p:nvPr/>
              </p:nvSpPr>
              <p:spPr>
                <a:xfrm>
                  <a:off x="730261" y="4926868"/>
                  <a:ext cx="1209818" cy="5753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A64D4F-307B-4113-935E-501AAA4D7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261" y="4926868"/>
                  <a:ext cx="1209818" cy="575314"/>
                </a:xfrm>
                <a:prstGeom prst="rect">
                  <a:avLst/>
                </a:prstGeom>
                <a:blipFill>
                  <a:blip r:embed="rId7"/>
                  <a:stretch>
                    <a:fillRect t="-5882" b="-44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519BC51-0BAD-4621-B5E5-AE9678556642}"/>
                    </a:ext>
                  </a:extLst>
                </p:cNvPr>
                <p:cNvSpPr txBox="1"/>
                <p:nvPr/>
              </p:nvSpPr>
              <p:spPr>
                <a:xfrm>
                  <a:off x="2559235" y="1904330"/>
                  <a:ext cx="1209818" cy="5753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519BC51-0BAD-4621-B5E5-AE9678556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9235" y="1904330"/>
                  <a:ext cx="1209818" cy="575314"/>
                </a:xfrm>
                <a:prstGeom prst="rect">
                  <a:avLst/>
                </a:prstGeom>
                <a:blipFill>
                  <a:blip r:embed="rId8"/>
                  <a:stretch>
                    <a:fillRect b="-44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4740309-CAB1-46ED-9A89-2FF4EC880D3C}"/>
                    </a:ext>
                  </a:extLst>
                </p:cNvPr>
                <p:cNvSpPr txBox="1"/>
                <p:nvPr/>
              </p:nvSpPr>
              <p:spPr>
                <a:xfrm>
                  <a:off x="4445005" y="1923368"/>
                  <a:ext cx="1209818" cy="5753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4740309-CAB1-46ED-9A89-2FF4EC880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5005" y="1923368"/>
                  <a:ext cx="1209818" cy="575314"/>
                </a:xfrm>
                <a:prstGeom prst="rect">
                  <a:avLst/>
                </a:prstGeom>
                <a:blipFill>
                  <a:blip r:embed="rId9"/>
                  <a:stretch>
                    <a:fillRect b="-44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09B1353-DF4E-41E0-B8E3-ADF7BE583BFD}"/>
              </a:ext>
            </a:extLst>
          </p:cNvPr>
          <p:cNvSpPr txBox="1"/>
          <p:nvPr/>
        </p:nvSpPr>
        <p:spPr>
          <a:xfrm>
            <a:off x="2106202" y="2527443"/>
            <a:ext cx="151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High risk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0545F5-AEE1-4159-8E65-AE09D0B48A22}"/>
              </a:ext>
            </a:extLst>
          </p:cNvPr>
          <p:cNvSpPr txBox="1"/>
          <p:nvPr/>
        </p:nvSpPr>
        <p:spPr>
          <a:xfrm>
            <a:off x="2113204" y="5854274"/>
            <a:ext cx="151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risk</a:t>
            </a:r>
          </a:p>
        </p:txBody>
      </p:sp>
    </p:spTree>
    <p:extLst>
      <p:ext uri="{BB962C8B-B14F-4D97-AF65-F5344CB8AC3E}">
        <p14:creationId xmlns:p14="http://schemas.microsoft.com/office/powerpoint/2010/main" val="2887929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5B90-5F2D-41DA-A9C4-69A5AE71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43"/>
            <a:ext cx="10515600" cy="1325563"/>
          </a:xfrm>
        </p:spPr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B5FCA-8D2E-4028-BF29-CE2ED11C36C0}"/>
              </a:ext>
            </a:extLst>
          </p:cNvPr>
          <p:cNvSpPr/>
          <p:nvPr/>
        </p:nvSpPr>
        <p:spPr>
          <a:xfrm>
            <a:off x="3651009" y="3938794"/>
            <a:ext cx="1505228" cy="146962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Positive (TP)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378FB6-745C-453A-B50D-44C145C8833D}"/>
              </a:ext>
            </a:extLst>
          </p:cNvPr>
          <p:cNvSpPr/>
          <p:nvPr/>
        </p:nvSpPr>
        <p:spPr>
          <a:xfrm>
            <a:off x="2114708" y="3942161"/>
            <a:ext cx="1505228" cy="1469627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Positive (FP)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3362CE-62A5-4BCC-9E9C-AC1B549DD99D}"/>
              </a:ext>
            </a:extLst>
          </p:cNvPr>
          <p:cNvSpPr/>
          <p:nvPr/>
        </p:nvSpPr>
        <p:spPr>
          <a:xfrm>
            <a:off x="2114704" y="2445627"/>
            <a:ext cx="1505228" cy="1469627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Negative (TN)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E79478-B0E6-4375-AB12-B634E22E6BA0}"/>
              </a:ext>
            </a:extLst>
          </p:cNvPr>
          <p:cNvSpPr/>
          <p:nvPr/>
        </p:nvSpPr>
        <p:spPr>
          <a:xfrm>
            <a:off x="3652398" y="2443021"/>
            <a:ext cx="1505228" cy="146962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Negative (FN)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AB06A4-5B3D-4247-A63D-5C880F1139EB}"/>
                  </a:ext>
                </a:extLst>
              </p:cNvPr>
              <p:cNvSpPr txBox="1"/>
              <p:nvPr/>
            </p:nvSpPr>
            <p:spPr>
              <a:xfrm>
                <a:off x="872738" y="2944693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AB06A4-5B3D-4247-A63D-5C880F113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38" y="2944693"/>
                <a:ext cx="1020627" cy="461665"/>
              </a:xfrm>
              <a:prstGeom prst="rect">
                <a:avLst/>
              </a:prstGeom>
              <a:blipFill>
                <a:blip r:embed="rId2"/>
                <a:stretch>
                  <a:fillRect t="-39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A64D4F-307B-4113-935E-501AAA4D7D1A}"/>
                  </a:ext>
                </a:extLst>
              </p:cNvPr>
              <p:cNvSpPr txBox="1"/>
              <p:nvPr/>
            </p:nvSpPr>
            <p:spPr>
              <a:xfrm>
                <a:off x="838199" y="4347441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A64D4F-307B-4113-935E-501AAA4D7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347441"/>
                <a:ext cx="1020627" cy="461665"/>
              </a:xfrm>
              <a:prstGeom prst="rect">
                <a:avLst/>
              </a:prstGeom>
              <a:blipFill>
                <a:blip r:embed="rId3"/>
                <a:stretch>
                  <a:fillRect t="-39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19BC51-0BAD-4621-B5E5-AE9678556642}"/>
                  </a:ext>
                </a:extLst>
              </p:cNvPr>
              <p:cNvSpPr txBox="1"/>
              <p:nvPr/>
            </p:nvSpPr>
            <p:spPr>
              <a:xfrm>
                <a:off x="2381159" y="1797566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19BC51-0BAD-4621-B5E5-AE9678556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159" y="1797566"/>
                <a:ext cx="1020627" cy="461665"/>
              </a:xfrm>
              <a:prstGeom prst="rect">
                <a:avLst/>
              </a:prstGeom>
              <a:blipFill>
                <a:blip r:embed="rId4"/>
                <a:stretch>
                  <a:fillRect l="-59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740309-CAB1-46ED-9A89-2FF4EC880D3C}"/>
                  </a:ext>
                </a:extLst>
              </p:cNvPr>
              <p:cNvSpPr txBox="1"/>
              <p:nvPr/>
            </p:nvSpPr>
            <p:spPr>
              <a:xfrm>
                <a:off x="3972032" y="1813627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740309-CAB1-46ED-9A89-2FF4EC88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032" y="1813627"/>
                <a:ext cx="1020627" cy="461665"/>
              </a:xfrm>
              <a:prstGeom prst="rect">
                <a:avLst/>
              </a:prstGeom>
              <a:blipFill>
                <a:blip r:embed="rId5"/>
                <a:stretch>
                  <a:fillRect l="-599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84B0FB-3574-42A7-A32D-A7A134EAA5FE}"/>
                  </a:ext>
                </a:extLst>
              </p:cNvPr>
              <p:cNvSpPr txBox="1"/>
              <p:nvPr/>
            </p:nvSpPr>
            <p:spPr>
              <a:xfrm>
                <a:off x="6759815" y="1292420"/>
                <a:ext cx="4294598" cy="128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True Positive Rate (TPR) or Recall:</a:t>
                </a:r>
              </a:p>
              <a:p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84B0FB-3574-42A7-A32D-A7A134EAA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815" y="1292420"/>
                <a:ext cx="4294598" cy="1289264"/>
              </a:xfrm>
              <a:prstGeom prst="rect">
                <a:avLst/>
              </a:prstGeom>
              <a:blipFill>
                <a:blip r:embed="rId6"/>
                <a:stretch>
                  <a:fillRect l="-1563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1116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5B90-5F2D-41DA-A9C4-69A5AE71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43"/>
            <a:ext cx="10515600" cy="1325563"/>
          </a:xfrm>
        </p:spPr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B5FCA-8D2E-4028-BF29-CE2ED11C36C0}"/>
              </a:ext>
            </a:extLst>
          </p:cNvPr>
          <p:cNvSpPr/>
          <p:nvPr/>
        </p:nvSpPr>
        <p:spPr>
          <a:xfrm>
            <a:off x="3651009" y="3938794"/>
            <a:ext cx="1505228" cy="1469627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Positive (TP)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378FB6-745C-453A-B50D-44C145C8833D}"/>
              </a:ext>
            </a:extLst>
          </p:cNvPr>
          <p:cNvSpPr/>
          <p:nvPr/>
        </p:nvSpPr>
        <p:spPr>
          <a:xfrm>
            <a:off x="2114708" y="3942161"/>
            <a:ext cx="1505228" cy="14696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Positive (FP)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3362CE-62A5-4BCC-9E9C-AC1B549DD99D}"/>
              </a:ext>
            </a:extLst>
          </p:cNvPr>
          <p:cNvSpPr/>
          <p:nvPr/>
        </p:nvSpPr>
        <p:spPr>
          <a:xfrm>
            <a:off x="2114704" y="2445627"/>
            <a:ext cx="1505228" cy="14696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Negative (TN)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E79478-B0E6-4375-AB12-B634E22E6BA0}"/>
              </a:ext>
            </a:extLst>
          </p:cNvPr>
          <p:cNvSpPr/>
          <p:nvPr/>
        </p:nvSpPr>
        <p:spPr>
          <a:xfrm>
            <a:off x="3652398" y="2443021"/>
            <a:ext cx="1505228" cy="1469627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Negative (FN)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AB06A4-5B3D-4247-A63D-5C880F1139EB}"/>
                  </a:ext>
                </a:extLst>
              </p:cNvPr>
              <p:cNvSpPr txBox="1"/>
              <p:nvPr/>
            </p:nvSpPr>
            <p:spPr>
              <a:xfrm>
                <a:off x="872738" y="2944693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AB06A4-5B3D-4247-A63D-5C880F113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38" y="2944693"/>
                <a:ext cx="1020627" cy="461665"/>
              </a:xfrm>
              <a:prstGeom prst="rect">
                <a:avLst/>
              </a:prstGeom>
              <a:blipFill>
                <a:blip r:embed="rId2"/>
                <a:stretch>
                  <a:fillRect t="-39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A64D4F-307B-4113-935E-501AAA4D7D1A}"/>
                  </a:ext>
                </a:extLst>
              </p:cNvPr>
              <p:cNvSpPr txBox="1"/>
              <p:nvPr/>
            </p:nvSpPr>
            <p:spPr>
              <a:xfrm>
                <a:off x="838199" y="4347441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A64D4F-307B-4113-935E-501AAA4D7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347441"/>
                <a:ext cx="1020627" cy="461665"/>
              </a:xfrm>
              <a:prstGeom prst="rect">
                <a:avLst/>
              </a:prstGeom>
              <a:blipFill>
                <a:blip r:embed="rId3"/>
                <a:stretch>
                  <a:fillRect t="-39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19BC51-0BAD-4621-B5E5-AE9678556642}"/>
                  </a:ext>
                </a:extLst>
              </p:cNvPr>
              <p:cNvSpPr txBox="1"/>
              <p:nvPr/>
            </p:nvSpPr>
            <p:spPr>
              <a:xfrm>
                <a:off x="2381159" y="1797566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19BC51-0BAD-4621-B5E5-AE9678556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159" y="1797566"/>
                <a:ext cx="1020627" cy="461665"/>
              </a:xfrm>
              <a:prstGeom prst="rect">
                <a:avLst/>
              </a:prstGeom>
              <a:blipFill>
                <a:blip r:embed="rId4"/>
                <a:stretch>
                  <a:fillRect l="-59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740309-CAB1-46ED-9A89-2FF4EC880D3C}"/>
                  </a:ext>
                </a:extLst>
              </p:cNvPr>
              <p:cNvSpPr txBox="1"/>
              <p:nvPr/>
            </p:nvSpPr>
            <p:spPr>
              <a:xfrm>
                <a:off x="3972032" y="1813627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740309-CAB1-46ED-9A89-2FF4EC88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032" y="1813627"/>
                <a:ext cx="1020627" cy="461665"/>
              </a:xfrm>
              <a:prstGeom prst="rect">
                <a:avLst/>
              </a:prstGeom>
              <a:blipFill>
                <a:blip r:embed="rId5"/>
                <a:stretch>
                  <a:fillRect l="-599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8C7247-ECB6-4B7E-84EA-F74765E9404F}"/>
                  </a:ext>
                </a:extLst>
              </p:cNvPr>
              <p:cNvSpPr txBox="1"/>
              <p:nvPr/>
            </p:nvSpPr>
            <p:spPr>
              <a:xfrm>
                <a:off x="6759815" y="2896045"/>
                <a:ext cx="4294598" cy="128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True Negative Rate (TNR):</a:t>
                </a:r>
              </a:p>
              <a:p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𝑻𝑵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𝑻𝑵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𝑭𝑷</m:t>
                          </m:r>
                        </m:den>
                      </m:f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8C7247-ECB6-4B7E-84EA-F74765E94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815" y="2896045"/>
                <a:ext cx="4294598" cy="1289264"/>
              </a:xfrm>
              <a:prstGeom prst="rect">
                <a:avLst/>
              </a:prstGeom>
              <a:blipFill>
                <a:blip r:embed="rId6"/>
                <a:stretch>
                  <a:fillRect l="-1563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84B0FB-3574-42A7-A32D-A7A134EAA5FE}"/>
                  </a:ext>
                </a:extLst>
              </p:cNvPr>
              <p:cNvSpPr txBox="1"/>
              <p:nvPr/>
            </p:nvSpPr>
            <p:spPr>
              <a:xfrm>
                <a:off x="6759815" y="1292420"/>
                <a:ext cx="4294598" cy="128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True Positive Rate (TPR) or Recall: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84B0FB-3574-42A7-A32D-A7A134EAA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815" y="1292420"/>
                <a:ext cx="4294598" cy="1289264"/>
              </a:xfrm>
              <a:prstGeom prst="rect">
                <a:avLst/>
              </a:prstGeom>
              <a:blipFill>
                <a:blip r:embed="rId8"/>
                <a:stretch>
                  <a:fillRect l="-1563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79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5B90-5F2D-41DA-A9C4-69A5AE71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43"/>
            <a:ext cx="10515600" cy="1325563"/>
          </a:xfrm>
        </p:spPr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B5FCA-8D2E-4028-BF29-CE2ED11C36C0}"/>
              </a:ext>
            </a:extLst>
          </p:cNvPr>
          <p:cNvSpPr/>
          <p:nvPr/>
        </p:nvSpPr>
        <p:spPr>
          <a:xfrm>
            <a:off x="3651010" y="3938794"/>
            <a:ext cx="1505228" cy="146962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Positive (TP)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378FB6-745C-453A-B50D-44C145C8833D}"/>
              </a:ext>
            </a:extLst>
          </p:cNvPr>
          <p:cNvSpPr/>
          <p:nvPr/>
        </p:nvSpPr>
        <p:spPr>
          <a:xfrm>
            <a:off x="2114709" y="3942161"/>
            <a:ext cx="1505228" cy="14696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Positive (FP)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3362CE-62A5-4BCC-9E9C-AC1B549DD99D}"/>
              </a:ext>
            </a:extLst>
          </p:cNvPr>
          <p:cNvSpPr/>
          <p:nvPr/>
        </p:nvSpPr>
        <p:spPr>
          <a:xfrm>
            <a:off x="2114705" y="2445627"/>
            <a:ext cx="1505228" cy="1469627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Negative (TN)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E79478-B0E6-4375-AB12-B634E22E6BA0}"/>
              </a:ext>
            </a:extLst>
          </p:cNvPr>
          <p:cNvSpPr/>
          <p:nvPr/>
        </p:nvSpPr>
        <p:spPr>
          <a:xfrm>
            <a:off x="3652399" y="2443021"/>
            <a:ext cx="1505228" cy="1469627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Negative (FN)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AB06A4-5B3D-4247-A63D-5C880F1139EB}"/>
                  </a:ext>
                </a:extLst>
              </p:cNvPr>
              <p:cNvSpPr txBox="1"/>
              <p:nvPr/>
            </p:nvSpPr>
            <p:spPr>
              <a:xfrm>
                <a:off x="872739" y="2944693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AB06A4-5B3D-4247-A63D-5C880F113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39" y="2944693"/>
                <a:ext cx="1020627" cy="461665"/>
              </a:xfrm>
              <a:prstGeom prst="rect">
                <a:avLst/>
              </a:prstGeom>
              <a:blipFill>
                <a:blip r:embed="rId2"/>
                <a:stretch>
                  <a:fillRect t="-39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A64D4F-307B-4113-935E-501AAA4D7D1A}"/>
                  </a:ext>
                </a:extLst>
              </p:cNvPr>
              <p:cNvSpPr txBox="1"/>
              <p:nvPr/>
            </p:nvSpPr>
            <p:spPr>
              <a:xfrm>
                <a:off x="838200" y="4347441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A64D4F-307B-4113-935E-501AAA4D7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47441"/>
                <a:ext cx="1020627" cy="461665"/>
              </a:xfrm>
              <a:prstGeom prst="rect">
                <a:avLst/>
              </a:prstGeom>
              <a:blipFill>
                <a:blip r:embed="rId3"/>
                <a:stretch>
                  <a:fillRect l="-599" t="-39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19BC51-0BAD-4621-B5E5-AE9678556642}"/>
                  </a:ext>
                </a:extLst>
              </p:cNvPr>
              <p:cNvSpPr txBox="1"/>
              <p:nvPr/>
            </p:nvSpPr>
            <p:spPr>
              <a:xfrm>
                <a:off x="2381160" y="1797566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19BC51-0BAD-4621-B5E5-AE9678556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160" y="1797566"/>
                <a:ext cx="1020627" cy="461665"/>
              </a:xfrm>
              <a:prstGeom prst="rect">
                <a:avLst/>
              </a:prstGeom>
              <a:blipFill>
                <a:blip r:embed="rId4"/>
                <a:stretch>
                  <a:fillRect l="-59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740309-CAB1-46ED-9A89-2FF4EC880D3C}"/>
                  </a:ext>
                </a:extLst>
              </p:cNvPr>
              <p:cNvSpPr txBox="1"/>
              <p:nvPr/>
            </p:nvSpPr>
            <p:spPr>
              <a:xfrm>
                <a:off x="3972033" y="1813627"/>
                <a:ext cx="1020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740309-CAB1-46ED-9A89-2FF4EC88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033" y="1813627"/>
                <a:ext cx="1020627" cy="461665"/>
              </a:xfrm>
              <a:prstGeom prst="rect">
                <a:avLst/>
              </a:prstGeom>
              <a:blipFill>
                <a:blip r:embed="rId5"/>
                <a:stretch>
                  <a:fillRect l="-599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AF08A1-A13A-483A-8A39-399F2E87F31D}"/>
                  </a:ext>
                </a:extLst>
              </p:cNvPr>
              <p:cNvSpPr txBox="1"/>
              <p:nvPr/>
            </p:nvSpPr>
            <p:spPr>
              <a:xfrm>
                <a:off x="6759815" y="4499669"/>
                <a:ext cx="4294598" cy="1597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Precision or Positive Predictive Value (PPV):</a:t>
                </a:r>
              </a:p>
              <a:p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𝑭𝑷</m:t>
                          </m:r>
                        </m:den>
                      </m:f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AF08A1-A13A-483A-8A39-399F2E87F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815" y="4499669"/>
                <a:ext cx="4294598" cy="1597040"/>
              </a:xfrm>
              <a:prstGeom prst="rect">
                <a:avLst/>
              </a:prstGeom>
              <a:blipFill>
                <a:blip r:embed="rId6"/>
                <a:stretch>
                  <a:fillRect l="-1563" t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8C7247-ECB6-4B7E-84EA-F74765E9404F}"/>
                  </a:ext>
                </a:extLst>
              </p:cNvPr>
              <p:cNvSpPr txBox="1"/>
              <p:nvPr/>
            </p:nvSpPr>
            <p:spPr>
              <a:xfrm>
                <a:off x="6759815" y="2896045"/>
                <a:ext cx="4294598" cy="128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True Negative Rate (TNR):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8C7247-ECB6-4B7E-84EA-F74765E94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815" y="2896045"/>
                <a:ext cx="4294598" cy="1289264"/>
              </a:xfrm>
              <a:prstGeom prst="rect">
                <a:avLst/>
              </a:prstGeom>
              <a:blipFill>
                <a:blip r:embed="rId7"/>
                <a:stretch>
                  <a:fillRect l="-1563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84B0FB-3574-42A7-A32D-A7A134EAA5FE}"/>
                  </a:ext>
                </a:extLst>
              </p:cNvPr>
              <p:cNvSpPr txBox="1"/>
              <p:nvPr/>
            </p:nvSpPr>
            <p:spPr>
              <a:xfrm>
                <a:off x="6759815" y="1292420"/>
                <a:ext cx="4294598" cy="128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True Positive Rate (TPR) or Recall: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84B0FB-3574-42A7-A32D-A7A134EAA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815" y="1292420"/>
                <a:ext cx="4294598" cy="1289264"/>
              </a:xfrm>
              <a:prstGeom prst="rect">
                <a:avLst/>
              </a:prstGeom>
              <a:blipFill>
                <a:blip r:embed="rId8"/>
                <a:stretch>
                  <a:fillRect l="-1563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805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5B90-5F2D-41DA-A9C4-69A5AE71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43"/>
            <a:ext cx="10515600" cy="1325563"/>
          </a:xfrm>
        </p:spPr>
        <p:txBody>
          <a:bodyPr/>
          <a:lstStyle/>
          <a:p>
            <a:r>
              <a:rPr lang="en-US" dirty="0"/>
              <a:t>Error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8C7247-ECB6-4B7E-84EA-F74765E9404F}"/>
                  </a:ext>
                </a:extLst>
              </p:cNvPr>
              <p:cNvSpPr txBox="1"/>
              <p:nvPr/>
            </p:nvSpPr>
            <p:spPr>
              <a:xfrm>
                <a:off x="1427527" y="4375523"/>
                <a:ext cx="4294598" cy="128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True Negative Rate (TNR):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8C7247-ECB6-4B7E-84EA-F74765E94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27" y="4375523"/>
                <a:ext cx="4294598" cy="1289264"/>
              </a:xfrm>
              <a:prstGeom prst="rect">
                <a:avLst/>
              </a:prstGeom>
              <a:blipFill>
                <a:blip r:embed="rId2"/>
                <a:stretch>
                  <a:fillRect l="-1418" t="-2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84B0FB-3574-42A7-A32D-A7A134EAA5FE}"/>
                  </a:ext>
                </a:extLst>
              </p:cNvPr>
              <p:cNvSpPr txBox="1"/>
              <p:nvPr/>
            </p:nvSpPr>
            <p:spPr>
              <a:xfrm>
                <a:off x="1427527" y="2446305"/>
                <a:ext cx="4294598" cy="128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True Positive Rate (TPR) or Recall: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84B0FB-3574-42A7-A32D-A7A134EAA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27" y="2446305"/>
                <a:ext cx="4294598" cy="1289264"/>
              </a:xfrm>
              <a:prstGeom prst="rect">
                <a:avLst/>
              </a:prstGeom>
              <a:blipFill>
                <a:blip r:embed="rId3"/>
                <a:stretch>
                  <a:fillRect l="-1418"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9AC448-CC52-4807-8C89-33B3967CCE4D}"/>
              </a:ext>
            </a:extLst>
          </p:cNvPr>
          <p:cNvCxnSpPr/>
          <p:nvPr/>
        </p:nvCxnSpPr>
        <p:spPr>
          <a:xfrm>
            <a:off x="5859698" y="4876928"/>
            <a:ext cx="1229474" cy="0"/>
          </a:xfrm>
          <a:prstGeom prst="straightConnector1">
            <a:avLst/>
          </a:prstGeom>
          <a:ln w="539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D35741-8094-46D6-9A09-CFBCEB4E9904}"/>
              </a:ext>
            </a:extLst>
          </p:cNvPr>
          <p:cNvCxnSpPr/>
          <p:nvPr/>
        </p:nvCxnSpPr>
        <p:spPr>
          <a:xfrm>
            <a:off x="5859698" y="3139739"/>
            <a:ext cx="1229474" cy="0"/>
          </a:xfrm>
          <a:prstGeom prst="straightConnector1">
            <a:avLst/>
          </a:prstGeom>
          <a:ln w="539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C1E43C-219D-4F79-8244-9F245385CA1A}"/>
                  </a:ext>
                </a:extLst>
              </p:cNvPr>
              <p:cNvSpPr txBox="1"/>
              <p:nvPr/>
            </p:nvSpPr>
            <p:spPr>
              <a:xfrm>
                <a:off x="7699349" y="4358215"/>
                <a:ext cx="4294598" cy="1317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False Positive Rate (FPR):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C1E43C-219D-4F79-8244-9F245385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349" y="4358215"/>
                <a:ext cx="4294598" cy="1317797"/>
              </a:xfrm>
              <a:prstGeom prst="rect">
                <a:avLst/>
              </a:prstGeom>
              <a:blipFill>
                <a:blip r:embed="rId4"/>
                <a:stretch>
                  <a:fillRect l="-1418"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E5685B1-AFBF-4CE3-B1A1-FCC65CDEC5A1}"/>
                  </a:ext>
                </a:extLst>
              </p:cNvPr>
              <p:cNvSpPr txBox="1"/>
              <p:nvPr/>
            </p:nvSpPr>
            <p:spPr>
              <a:xfrm>
                <a:off x="7699349" y="2428997"/>
                <a:ext cx="4294598" cy="1317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False Negative Rate (FNR):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E5685B1-AFBF-4CE3-B1A1-FCC65CDEC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9349" y="2428997"/>
                <a:ext cx="4294598" cy="1317797"/>
              </a:xfrm>
              <a:prstGeom prst="rect">
                <a:avLst/>
              </a:prstGeom>
              <a:blipFill>
                <a:blip r:embed="rId5"/>
                <a:stretch>
                  <a:fillRect l="-1418" t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E5A2DF7-5FAA-485E-A788-1C644F766908}"/>
              </a:ext>
            </a:extLst>
          </p:cNvPr>
          <p:cNvSpPr txBox="1"/>
          <p:nvPr/>
        </p:nvSpPr>
        <p:spPr>
          <a:xfrm>
            <a:off x="5859698" y="2802975"/>
            <a:ext cx="1229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1 - TPR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6023C7-024A-4E21-A84C-4AD7B4D983D2}"/>
              </a:ext>
            </a:extLst>
          </p:cNvPr>
          <p:cNvSpPr txBox="1"/>
          <p:nvPr/>
        </p:nvSpPr>
        <p:spPr>
          <a:xfrm>
            <a:off x="5859698" y="4526399"/>
            <a:ext cx="1158137" cy="367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1 - TNR</a:t>
            </a:r>
          </a:p>
        </p:txBody>
      </p:sp>
    </p:spTree>
    <p:extLst>
      <p:ext uri="{BB962C8B-B14F-4D97-AF65-F5344CB8AC3E}">
        <p14:creationId xmlns:p14="http://schemas.microsoft.com/office/powerpoint/2010/main" val="1523349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 far, we have compared different fairness definitions in model outputs</a:t>
            </a:r>
          </a:p>
          <a:p>
            <a:r>
              <a:t>Next, we ask where these differences come from</a:t>
            </a:r>
          </a:p>
          <a:p>
            <a:r>
              <a:t>The answer may lie in the world, the data, or the labels — not just the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2812</TotalTime>
  <Words>879</Words>
  <Application>Microsoft Office PowerPoint</Application>
  <PresentationFormat>Widescreen</PresentationFormat>
  <Paragraphs>196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Cambria Math</vt:lpstr>
      <vt:lpstr>Graphik </vt:lpstr>
      <vt:lpstr>Office Theme</vt:lpstr>
      <vt:lpstr>INST 414: Data Science Techniques  Fairness Metrics  and  COMPAS</vt:lpstr>
      <vt:lpstr>PowerPoint Presentation</vt:lpstr>
      <vt:lpstr>What This Lecture Does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Reasonable Definitions for Fairness</vt:lpstr>
      <vt:lpstr>Impossibility</vt:lpstr>
      <vt:lpstr>Recap: Performance Metrics</vt:lpstr>
      <vt:lpstr>Convert p ̂ (p-hats) to y ̂ (y-hats) </vt:lpstr>
      <vt:lpstr>Confusion Matrix </vt:lpstr>
      <vt:lpstr>Performance Metrics</vt:lpstr>
      <vt:lpstr>Performance Metrics</vt:lpstr>
      <vt:lpstr>Performance Metrics</vt:lpstr>
      <vt:lpstr>Error Metrics</vt:lpstr>
      <vt:lpstr>Next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Zubin Jelveh</dc:creator>
  <cp:lastModifiedBy>Zubin Jelveh</cp:lastModifiedBy>
  <cp:revision>50</cp:revision>
  <dcterms:created xsi:type="dcterms:W3CDTF">2021-11-13T16:15:32Z</dcterms:created>
  <dcterms:modified xsi:type="dcterms:W3CDTF">2026-04-14T14:45:15Z</dcterms:modified>
</cp:coreProperties>
</file>