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4" r:id="rId2"/>
    <p:sldId id="257" r:id="rId3"/>
    <p:sldId id="258" r:id="rId4"/>
    <p:sldId id="259" r:id="rId5"/>
    <p:sldId id="652" r:id="rId6"/>
    <p:sldId id="713" r:id="rId7"/>
    <p:sldId id="714" r:id="rId8"/>
    <p:sldId id="717" r:id="rId9"/>
    <p:sldId id="718" r:id="rId10"/>
    <p:sldId id="719" r:id="rId11"/>
    <p:sldId id="725" r:id="rId12"/>
    <p:sldId id="268" r:id="rId13"/>
    <p:sldId id="728" r:id="rId14"/>
    <p:sldId id="729" r:id="rId15"/>
    <p:sldId id="73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0ED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1EB87-D7CB-4B0A-ADB4-00B1B5E7487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D396D-472C-43D8-8A59-363E31E7D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84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1733-1111-4020-80CF-1027A26D2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31730-60D1-4195-855A-5BFAC6C8B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FCD8F-15CA-4B78-9991-1C8A0A71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27FA-69D8-4892-ADD0-442AE9FD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5B53B-A9A7-4A38-AC44-97F4F8328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6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1540-682B-4DCA-9361-C88BB971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AC6AE-DC84-4104-825A-6EF213FFE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6786B-D1CB-4857-A356-C791502C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2753D-0E21-4FDB-82B0-7F8F3F09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88069-A43B-4E6F-A666-DB8538C0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819F-5EF8-462B-81F5-242BA480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7B780-66FE-439F-85AE-04FF909A0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540FF-F5C5-43E7-980B-6288E92B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A5E5B-7404-4425-92F7-661962D3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83244-D302-4753-9011-3085E604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8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4737-73F0-488A-8143-23784699F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F13FD-7FB4-405C-9701-8AC68AF3A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BEA1A-FFC1-4D32-8E39-484C61747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4E644-5BEF-48FA-94A5-8DDF95D3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6D34E-62BE-42CB-954A-BFADC5C9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B9ABC-C756-4BCD-A926-C8B1CCFD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1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24D4-E554-4CA4-88B9-85F44618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8C30A-382B-4369-8F44-FB7D8F620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51816-F25D-4A70-9847-2D391C1E2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088ED-9888-4E6B-8267-000EF5B34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BECD2C-3967-4873-B333-A55664A0B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E8580D-F28E-4B19-BC9E-ECC5985A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0A328-AECD-4DD2-A016-8BCD85C2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6B5C51-7186-4B3B-BCB4-8B3ECE62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1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FF02-719D-4FFC-BF77-1860BD90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69F0B-E328-495F-9C5E-509BDA933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22280-409B-4DB7-B729-72B71C0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E1517-4C78-472E-8444-8DDCEE82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84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46AA6-92A2-4226-BB84-60EE33DF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E6895-C3B0-4240-821D-70BD698B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811DD-B229-4CE6-B27E-C9DDD717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14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76C51-B600-4F09-BDD2-2B4724C9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5F864-8307-4BB0-8286-75110D953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ED6D0-0213-4761-A2FF-207AF681F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3E146-30D1-4B24-8061-A6C8FF8D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F91EE-3404-4217-A0A3-C9E2B397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3FBE4-DEF7-4F86-BF25-3503D58F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0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E020-BD4C-4344-848C-8138D3A6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97018-A452-4434-A6EB-6A6F84874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4A571-6865-4C63-9372-ED1496784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C2509-3A6D-4AE4-A63E-A9ECC5E4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27C3F-25C2-48A9-9D23-4341D6F1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3DBA2-438D-4462-A28E-7AC292EA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51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4C59-BFB9-4648-8769-81D7F727D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C954F-CF0A-4E8E-8FFC-A03842B30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3C079-FBAA-4617-9C03-2BFC538D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CF761-8E7C-4A50-B727-6F608690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F500C-A4CB-4A2A-9F5D-A3F8FFAB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2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FE6EE-C625-433F-A4C1-17FE127D0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67B4D-7F6B-4A95-83B1-7991DDC8B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C59D-F805-4DE1-A743-958927DE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82274-7ABC-4F74-A181-96FA51F2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08FD9-33BB-4C87-9B32-07D183E3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8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781C5-E59C-4BB0-8873-BAE364B44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6E6EC-8099-4621-86BD-B6DF198E7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271C2-25A2-4664-A0AB-5B82465A6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804209A-C6D7-496B-8537-5782FDB96C12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49414-77F4-48CA-8DC1-3DC095D90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AD38D-6CAF-4577-964B-6FC51F266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C87352C-6AF1-4D42-A15A-45C6FA13D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5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6C8B-9AB5-4B36-A44B-C6B45DD2D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628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INST 414: Data Science Techniques</a:t>
            </a:r>
            <a:br>
              <a:rPr lang="en-US" dirty="0"/>
            </a:br>
            <a:r>
              <a:rPr lang="en-US" dirty="0"/>
              <a:t> </a:t>
            </a:r>
            <a:br>
              <a:rPr lang="en-US" sz="4900" dirty="0"/>
            </a:br>
            <a:r>
              <a:rPr lang="en-US" sz="4900" dirty="0"/>
              <a:t>Sources of Bias (Part 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373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Last time: fairness metrics can conflict even with perfectly measured outcomes.</a:t>
            </a:r>
          </a:p>
          <a:p>
            <a:r>
              <a:t>Today: what changes when variables are measured imperfectly?</a:t>
            </a:r>
          </a:p>
          <a:p>
            <a:r>
              <a:t>Main question: calibrated to what?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Different Problems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dirty="0"/>
                  <a:t>Predictor measurement error: an input variable is a noisy measure of the concept we care about.</a:t>
                </a:r>
              </a:p>
              <a:p>
                <a:r>
                  <a:rPr dirty="0"/>
                  <a:t>Outcome measurement error: the target variable is a noisy measure of the concept we care about.</a:t>
                </a:r>
              </a:p>
              <a:p>
                <a:r>
                  <a:rPr dirty="0"/>
                  <a:t>These problems have different implications for fairness analysis.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1) What happens when we have error in the predictor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𝐶𝑟𝑖𝑚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2021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Note: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𝐶𝑟𝑖𝑚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dirty="0"/>
                  <a:t>2) What happens when we have error in the outcome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2021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𝐶𝑟𝑖𝑚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Note: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𝐶𝑟𝑖𝑚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</m:oMath>
                </a14:m>
                <a:endParaRPr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 we care about: crime.</a:t>
            </a:r>
          </a:p>
          <a:p>
            <a:r>
              <a:t>Observed variable in the data: arrest.</a:t>
            </a:r>
          </a:p>
          <a:p>
            <a:r>
              <a:t>Arrests are not the same thing as crimes.</a:t>
            </a:r>
          </a:p>
          <a:p>
            <a:r>
              <a:t>A risk assessment trained on arrests is learning patterns in arrests.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Causes of Bias in Predictions (Part II)</a:t>
            </a:r>
          </a:p>
        </p:txBody>
      </p:sp>
    </p:spTree>
    <p:extLst>
      <p:ext uri="{BB962C8B-B14F-4D97-AF65-F5344CB8AC3E}">
        <p14:creationId xmlns:p14="http://schemas.microsoft.com/office/powerpoint/2010/main" val="3548371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3DB9-ADFE-4DB9-B71B-00CD07D9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Toy Data: Predictor Measured With Bias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68349-CDFB-4DAE-97F3-92746003DD88}"/>
              </a:ext>
            </a:extLst>
          </p:cNvPr>
          <p:cNvSpPr txBox="1"/>
          <p:nvPr/>
        </p:nvSpPr>
        <p:spPr>
          <a:xfrm>
            <a:off x="838200" y="1793429"/>
            <a:ext cx="62775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4">
                <a:extLst>
                  <a:ext uri="{FF2B5EF4-FFF2-40B4-BE49-F238E27FC236}">
                    <a16:creationId xmlns:a16="http://schemas.microsoft.com/office/drawing/2014/main" id="{D4BADC0D-D156-4221-A03C-6F68554F48E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134534" y="1793429"/>
              <a:ext cx="8384384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𝑐𝑟𝑖𝑚𝑒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4">
                <a:extLst>
                  <a:ext uri="{FF2B5EF4-FFF2-40B4-BE49-F238E27FC236}">
                    <a16:creationId xmlns:a16="http://schemas.microsoft.com/office/drawing/2014/main" id="{D4BADC0D-D156-4221-A03C-6F68554F48E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21735292"/>
                  </p:ext>
                </p:extLst>
              </p:nvPr>
            </p:nvGraphicFramePr>
            <p:xfrm>
              <a:off x="1134534" y="1793429"/>
              <a:ext cx="8384384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2" t="-1389" r="-730120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547" t="-1389" r="-353933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8783" t="-1389" r="-180415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783" t="-1389" r="-80415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1896" t="-1389" r="-743" b="-65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7EBE6E-23FD-DC8C-BB46-ACBC0275CCA5}"/>
                  </a:ext>
                </a:extLst>
              </p:cNvPr>
              <p:cNvSpPr txBox="1"/>
              <p:nvPr/>
            </p:nvSpPr>
            <p:spPr>
              <a:xfrm>
                <a:off x="1937922" y="5477212"/>
                <a:ext cx="6529288" cy="101566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 predictor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𝑎𝑟𝑟𝑒𝑠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2020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does not always equal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𝑐𝑟𝑖𝑚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2020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00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000" dirty="0">
                  <a:solidFill>
                    <a:srgbClr val="00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 error can differ by group.</a:t>
                </a:r>
                <a:endParaRPr sz="2000" dirty="0">
                  <a:solidFill>
                    <a:srgbClr val="00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7EBE6E-23FD-DC8C-BB46-ACBC0275C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922" y="5477212"/>
                <a:ext cx="6529288" cy="1015663"/>
              </a:xfrm>
              <a:prstGeom prst="rect">
                <a:avLst/>
              </a:prstGeom>
              <a:blipFill>
                <a:blip r:embed="rId3"/>
                <a:stretch>
                  <a:fillRect l="-1027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213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3DB9-ADFE-4DB9-B71B-00CD07D9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Perfectly Measured World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68349-CDFB-4DAE-97F3-92746003DD88}"/>
              </a:ext>
            </a:extLst>
          </p:cNvPr>
          <p:cNvSpPr txBox="1"/>
          <p:nvPr/>
        </p:nvSpPr>
        <p:spPr>
          <a:xfrm>
            <a:off x="838200" y="1793429"/>
            <a:ext cx="62775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25659B-5049-42DC-9FF3-F9A87CDE8122}"/>
                  </a:ext>
                </a:extLst>
              </p:cNvPr>
              <p:cNvSpPr txBox="1"/>
              <p:nvPr/>
            </p:nvSpPr>
            <p:spPr>
              <a:xfrm>
                <a:off x="3022600" y="5444067"/>
                <a:ext cx="6426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𝑐𝑟𝑖𝑚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2021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=0+1⋅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𝑐𝑟𝑖𝑚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2020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25659B-5049-42DC-9FF3-F9A87CDE8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600" y="5444067"/>
                <a:ext cx="64262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150ED92-40CF-4022-BB88-4EC46772AD10}"/>
              </a:ext>
            </a:extLst>
          </p:cNvPr>
          <p:cNvSpPr/>
          <p:nvPr/>
        </p:nvSpPr>
        <p:spPr>
          <a:xfrm>
            <a:off x="3770616" y="1690688"/>
            <a:ext cx="4145717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A4B48B-3D16-40C6-B169-8F099F9FFAA1}"/>
              </a:ext>
            </a:extLst>
          </p:cNvPr>
          <p:cNvSpPr/>
          <p:nvPr/>
        </p:nvSpPr>
        <p:spPr>
          <a:xfrm>
            <a:off x="1175104" y="1749073"/>
            <a:ext cx="1023566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Content Placeholder 4">
                <a:extLst>
                  <a:ext uri="{FF2B5EF4-FFF2-40B4-BE49-F238E27FC236}">
                    <a16:creationId xmlns:a16="http://schemas.microsoft.com/office/drawing/2014/main" id="{5080FB68-43C7-4F28-B887-4A16E12E676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144808" y="1793429"/>
              <a:ext cx="9841791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457407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𝑐𝑟𝑖𝑚𝑒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𝑐𝑟𝑖𝑚𝑒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 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Content Placeholder 4">
                <a:extLst>
                  <a:ext uri="{FF2B5EF4-FFF2-40B4-BE49-F238E27FC236}">
                    <a16:creationId xmlns:a16="http://schemas.microsoft.com/office/drawing/2014/main" id="{5080FB68-43C7-4F28-B887-4A16E12E676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38003430"/>
                  </p:ext>
                </p:extLst>
              </p:nvPr>
            </p:nvGraphicFramePr>
            <p:xfrm>
              <a:off x="1144808" y="1793429"/>
              <a:ext cx="9841791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457407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2" t="-1389" r="-874699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547" t="-1389" r="-443820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8783" t="-1389" r="-251632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8783" t="-1389" r="-151632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0370" t="-1389" r="-89259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6569" t="-1389" r="-837" b="-65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 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E2A6B827-84F2-414A-9FE6-A2D9CFD5F838}"/>
              </a:ext>
            </a:extLst>
          </p:cNvPr>
          <p:cNvSpPr/>
          <p:nvPr/>
        </p:nvSpPr>
        <p:spPr>
          <a:xfrm>
            <a:off x="3760343" y="1690688"/>
            <a:ext cx="4238184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BFC332-0D14-4DE8-9680-AC87C379D064}"/>
              </a:ext>
            </a:extLst>
          </p:cNvPr>
          <p:cNvSpPr/>
          <p:nvPr/>
        </p:nvSpPr>
        <p:spPr>
          <a:xfrm>
            <a:off x="1134008" y="1749073"/>
            <a:ext cx="1023566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980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3DB9-ADFE-4DB9-B71B-00CD07D9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1: Use Arrests Instead of Crimes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68349-CDFB-4DAE-97F3-92746003DD88}"/>
              </a:ext>
            </a:extLst>
          </p:cNvPr>
          <p:cNvSpPr txBox="1"/>
          <p:nvPr/>
        </p:nvSpPr>
        <p:spPr>
          <a:xfrm>
            <a:off x="838200" y="1793429"/>
            <a:ext cx="62775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50ED92-40CF-4022-BB88-4EC46772AD10}"/>
              </a:ext>
            </a:extLst>
          </p:cNvPr>
          <p:cNvSpPr/>
          <p:nvPr/>
        </p:nvSpPr>
        <p:spPr>
          <a:xfrm>
            <a:off x="3770616" y="1690688"/>
            <a:ext cx="4145717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A4B48B-3D16-40C6-B169-8F099F9FFAA1}"/>
              </a:ext>
            </a:extLst>
          </p:cNvPr>
          <p:cNvSpPr/>
          <p:nvPr/>
        </p:nvSpPr>
        <p:spPr>
          <a:xfrm>
            <a:off x="1175104" y="1749073"/>
            <a:ext cx="1023566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Content Placeholder 4">
                <a:extLst>
                  <a:ext uri="{FF2B5EF4-FFF2-40B4-BE49-F238E27FC236}">
                    <a16:creationId xmlns:a16="http://schemas.microsoft.com/office/drawing/2014/main" id="{5080FB68-43C7-4F28-B887-4A16E12E676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315669"/>
                  </p:ext>
                </p:extLst>
              </p:nvPr>
            </p:nvGraphicFramePr>
            <p:xfrm>
              <a:off x="1134534" y="1466855"/>
              <a:ext cx="9841791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457407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𝑐𝑟𝑖𝑚𝑒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𝑐𝑟𝑖𝑚𝑒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 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Content Placeholder 4">
                <a:extLst>
                  <a:ext uri="{FF2B5EF4-FFF2-40B4-BE49-F238E27FC236}">
                    <a16:creationId xmlns:a16="http://schemas.microsoft.com/office/drawing/2014/main" id="{5080FB68-43C7-4F28-B887-4A16E12E676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315669"/>
                  </p:ext>
                </p:extLst>
              </p:nvPr>
            </p:nvGraphicFramePr>
            <p:xfrm>
              <a:off x="1134534" y="1466855"/>
              <a:ext cx="9841791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457407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6" t="-1389" r="-880000" b="-65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1940" t="-1389" r="-441791" b="-65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8783" t="-1389" r="-251335" b="-65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9464" t="-1389" r="-152083" b="-65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0000" t="-1389" r="-89259" b="-65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6151" t="-1389" r="-837" b="-65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 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E2A6B827-84F2-414A-9FE6-A2D9CFD5F838}"/>
              </a:ext>
            </a:extLst>
          </p:cNvPr>
          <p:cNvSpPr/>
          <p:nvPr/>
        </p:nvSpPr>
        <p:spPr>
          <a:xfrm>
            <a:off x="5774077" y="1690688"/>
            <a:ext cx="2131981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BFC332-0D14-4DE8-9680-AC87C379D064}"/>
              </a:ext>
            </a:extLst>
          </p:cNvPr>
          <p:cNvSpPr/>
          <p:nvPr/>
        </p:nvSpPr>
        <p:spPr>
          <a:xfrm>
            <a:off x="1024948" y="1809222"/>
            <a:ext cx="2636608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8C5B5C-C860-A00A-EAC9-35E226922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81203"/>
            <a:ext cx="10515600" cy="4351338"/>
          </a:xfrm>
        </p:spPr>
        <p:txBody>
          <a:bodyPr>
            <a:normAutofit/>
          </a:bodyPr>
          <a:lstStyle/>
          <a:p>
            <a:r>
              <a:rPr sz="2000" dirty="0"/>
              <a:t>The model sees arrest_2020, not crime_2020.</a:t>
            </a:r>
          </a:p>
          <a:p>
            <a:r>
              <a:rPr sz="2000" dirty="0"/>
              <a:t>If arrest_2020 is biased, the same observed value may mean different true risk across groups.</a:t>
            </a:r>
          </a:p>
          <a:p>
            <a:r>
              <a:rPr sz="2000" dirty="0"/>
              <a:t>A color-blind model can be calibrated to the wrong information.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25659B-5049-42DC-9FF3-F9A87CDE8122}"/>
                  </a:ext>
                </a:extLst>
              </p:cNvPr>
              <p:cNvSpPr txBox="1"/>
              <p:nvPr/>
            </p:nvSpPr>
            <p:spPr>
              <a:xfrm>
                <a:off x="3022600" y="5052177"/>
                <a:ext cx="6426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𝑐𝑟𝑖𝑚𝑒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2021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=0.2+0.8⋅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𝑎𝑟𝑟𝑒𝑠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2020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25659B-5049-42DC-9FF3-F9A87CDE8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600" y="5052177"/>
                <a:ext cx="64262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201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3DB9-ADFE-4DB9-B71B-00CD07D9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2: Add Group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68349-CDFB-4DAE-97F3-92746003DD88}"/>
              </a:ext>
            </a:extLst>
          </p:cNvPr>
          <p:cNvSpPr txBox="1"/>
          <p:nvPr/>
        </p:nvSpPr>
        <p:spPr>
          <a:xfrm>
            <a:off x="838200" y="1548498"/>
            <a:ext cx="62775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50ED92-40CF-4022-BB88-4EC46772AD10}"/>
              </a:ext>
            </a:extLst>
          </p:cNvPr>
          <p:cNvSpPr/>
          <p:nvPr/>
        </p:nvSpPr>
        <p:spPr>
          <a:xfrm>
            <a:off x="3770616" y="1445757"/>
            <a:ext cx="4145717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A4B48B-3D16-40C6-B169-8F099F9FFAA1}"/>
              </a:ext>
            </a:extLst>
          </p:cNvPr>
          <p:cNvSpPr/>
          <p:nvPr/>
        </p:nvSpPr>
        <p:spPr>
          <a:xfrm>
            <a:off x="1175104" y="1504142"/>
            <a:ext cx="1023566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Content Placeholder 4">
                <a:extLst>
                  <a:ext uri="{FF2B5EF4-FFF2-40B4-BE49-F238E27FC236}">
                    <a16:creationId xmlns:a16="http://schemas.microsoft.com/office/drawing/2014/main" id="{5080FB68-43C7-4F28-B887-4A16E12E676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58714218"/>
                  </p:ext>
                </p:extLst>
              </p:nvPr>
            </p:nvGraphicFramePr>
            <p:xfrm>
              <a:off x="1134534" y="1548498"/>
              <a:ext cx="9841791" cy="301970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457407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02578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𝑐𝑟𝑖𝑚𝑒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𝑐𝑟𝑖𝑚𝑒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1.15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.29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.29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.29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.94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.94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.08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.08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Content Placeholder 4">
                <a:extLst>
                  <a:ext uri="{FF2B5EF4-FFF2-40B4-BE49-F238E27FC236}">
                    <a16:creationId xmlns:a16="http://schemas.microsoft.com/office/drawing/2014/main" id="{5080FB68-43C7-4F28-B887-4A16E12E676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58714218"/>
                  </p:ext>
                </p:extLst>
              </p:nvPr>
            </p:nvGraphicFramePr>
            <p:xfrm>
              <a:off x="1134534" y="1548498"/>
              <a:ext cx="9841791" cy="301970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457407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025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6" t="-3030" r="-880000" b="-65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1940" t="-3030" r="-441791" b="-65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8783" t="-3030" r="-251335" b="-65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9464" t="-3030" r="-152083" b="-65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0000" t="-3030" r="-89259" b="-65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6151" t="-3030" r="-837" b="-65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1.15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.29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.29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.29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.94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.94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.08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2714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.08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E2A6B827-84F2-414A-9FE6-A2D9CFD5F838}"/>
              </a:ext>
            </a:extLst>
          </p:cNvPr>
          <p:cNvSpPr/>
          <p:nvPr/>
        </p:nvSpPr>
        <p:spPr>
          <a:xfrm>
            <a:off x="5753527" y="1445757"/>
            <a:ext cx="2131981" cy="3224214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BFC332-0D14-4DE8-9680-AC87C379D064}"/>
              </a:ext>
            </a:extLst>
          </p:cNvPr>
          <p:cNvSpPr/>
          <p:nvPr/>
        </p:nvSpPr>
        <p:spPr>
          <a:xfrm>
            <a:off x="2137023" y="1504142"/>
            <a:ext cx="1726059" cy="3224214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E72E71-415B-D2C0-A153-EFC4984FF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1582"/>
            <a:ext cx="10515600" cy="1864632"/>
          </a:xfrm>
        </p:spPr>
        <p:txBody>
          <a:bodyPr>
            <a:normAutofit/>
          </a:bodyPr>
          <a:lstStyle/>
          <a:p>
            <a:r>
              <a:rPr sz="2000" dirty="0"/>
              <a:t>Group membership can partly stand in for missing or biased information.</a:t>
            </a:r>
          </a:p>
          <a:p>
            <a:r>
              <a:rPr sz="2000" dirty="0"/>
              <a:t>This can move predicted probabilities closer to the true outcome rate within groups.</a:t>
            </a:r>
          </a:p>
          <a:p>
            <a:r>
              <a:rPr sz="2000" dirty="0"/>
              <a:t>This is not because group membership causes the outcome; it is correlated with what the data failed to measure.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25659B-5049-42DC-9FF3-F9A87CDE8122}"/>
                  </a:ext>
                </a:extLst>
              </p:cNvPr>
              <p:cNvSpPr txBox="1"/>
              <p:nvPr/>
            </p:nvSpPr>
            <p:spPr>
              <a:xfrm>
                <a:off x="3022600" y="4888891"/>
                <a:ext cx="6426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𝑐𝑟𝑖𝑚𝑒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2021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=0.29+0.86⋅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𝑎𝑟𝑟𝑒𝑠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2020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−.21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𝑟𝑎𝑐𝑒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25659B-5049-42DC-9FF3-F9A87CDE8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600" y="4888891"/>
                <a:ext cx="64262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861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3DB9-ADFE-4DB9-B71B-00CD07D9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3: Add Interactions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68349-CDFB-4DAE-97F3-92746003DD88}"/>
              </a:ext>
            </a:extLst>
          </p:cNvPr>
          <p:cNvSpPr txBox="1"/>
          <p:nvPr/>
        </p:nvSpPr>
        <p:spPr>
          <a:xfrm>
            <a:off x="838200" y="1532167"/>
            <a:ext cx="62775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25659B-5049-42DC-9FF3-F9A87CDE8122}"/>
                  </a:ext>
                </a:extLst>
              </p:cNvPr>
              <p:cNvSpPr txBox="1"/>
              <p:nvPr/>
            </p:nvSpPr>
            <p:spPr>
              <a:xfrm>
                <a:off x="1799858" y="5035843"/>
                <a:ext cx="8063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𝑐𝑟𝑖𝑚𝑒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2021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=0.33+0.667⋅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𝑎𝑟𝑟𝑒𝑠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2020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−.33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𝑟𝑎𝑐𝑒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+.33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𝑎𝑟𝑟𝑒𝑠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2020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: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𝑟𝑎𝑐𝑒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25659B-5049-42DC-9FF3-F9A87CDE8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858" y="5035843"/>
                <a:ext cx="80632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150ED92-40CF-4022-BB88-4EC46772AD10}"/>
              </a:ext>
            </a:extLst>
          </p:cNvPr>
          <p:cNvSpPr/>
          <p:nvPr/>
        </p:nvSpPr>
        <p:spPr>
          <a:xfrm>
            <a:off x="3770616" y="1429426"/>
            <a:ext cx="4145717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A4B48B-3D16-40C6-B169-8F099F9FFAA1}"/>
              </a:ext>
            </a:extLst>
          </p:cNvPr>
          <p:cNvSpPr/>
          <p:nvPr/>
        </p:nvSpPr>
        <p:spPr>
          <a:xfrm>
            <a:off x="1175104" y="1487811"/>
            <a:ext cx="1023566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Content Placeholder 4">
                <a:extLst>
                  <a:ext uri="{FF2B5EF4-FFF2-40B4-BE49-F238E27FC236}">
                    <a16:creationId xmlns:a16="http://schemas.microsoft.com/office/drawing/2014/main" id="{5080FB68-43C7-4F28-B887-4A16E12E676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59573966"/>
                  </p:ext>
                </p:extLst>
              </p:nvPr>
            </p:nvGraphicFramePr>
            <p:xfrm>
              <a:off x="1134534" y="1532167"/>
              <a:ext cx="9841791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457407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𝑐𝑟𝑖𝑚𝑒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𝑐𝑟𝑖𝑚𝑒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Content Placeholder 4">
                <a:extLst>
                  <a:ext uri="{FF2B5EF4-FFF2-40B4-BE49-F238E27FC236}">
                    <a16:creationId xmlns:a16="http://schemas.microsoft.com/office/drawing/2014/main" id="{5080FB68-43C7-4F28-B887-4A16E12E676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59573966"/>
                  </p:ext>
                </p:extLst>
              </p:nvPr>
            </p:nvGraphicFramePr>
            <p:xfrm>
              <a:off x="1134534" y="1532167"/>
              <a:ext cx="9841791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457407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6" t="-1389" r="-880000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940" t="-1389" r="-441791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8783" t="-1389" r="-251335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9464" t="-1389" r="-152083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0000" t="-1389" r="-89259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6151" t="-1389" r="-837" b="-65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4BFC332-0D14-4DE8-9680-AC87C379D064}"/>
              </a:ext>
            </a:extLst>
          </p:cNvPr>
          <p:cNvSpPr/>
          <p:nvPr/>
        </p:nvSpPr>
        <p:spPr>
          <a:xfrm>
            <a:off x="2085652" y="1487811"/>
            <a:ext cx="1726059" cy="35163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739027-7D50-8497-169B-87FC15154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48546"/>
            <a:ext cx="10515600" cy="4351338"/>
          </a:xfrm>
        </p:spPr>
        <p:txBody>
          <a:bodyPr>
            <a:normAutofit/>
          </a:bodyPr>
          <a:lstStyle/>
          <a:p>
            <a:r>
              <a:rPr sz="2000" dirty="0"/>
              <a:t>Interactions allow predictors to mean different things for different groups.</a:t>
            </a:r>
          </a:p>
          <a:p>
            <a:r>
              <a:rPr sz="2000" dirty="0"/>
              <a:t>Example: arrest_2020 may be a stronger proxy for crime_2020 in one group than another.</a:t>
            </a:r>
          </a:p>
          <a:p>
            <a:r>
              <a:rPr sz="2000" dirty="0"/>
              <a:t>This is why interactions can matter for calibration.</a:t>
            </a:r>
          </a:p>
        </p:txBody>
      </p:sp>
    </p:spTree>
    <p:extLst>
      <p:ext uri="{BB962C8B-B14F-4D97-AF65-F5344CB8AC3E}">
        <p14:creationId xmlns:p14="http://schemas.microsoft.com/office/powerpoint/2010/main" val="1677901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E032-57E7-456F-AFB0-19F715F0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8E1EA-30EB-4022-BFF5-4E578D7A5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predictors are measured with bias, it’s still possible to have a calibrated model by taking race into account</a:t>
            </a:r>
          </a:p>
          <a:p>
            <a:endParaRPr lang="en-US" dirty="0"/>
          </a:p>
          <a:p>
            <a:r>
              <a:rPr lang="en-US" dirty="0"/>
              <a:t>It’s possible to use sensitive information such as someone’s race to generate a different prediction for them and make the algorithm fairer (affirmative action)</a:t>
            </a:r>
          </a:p>
          <a:p>
            <a:endParaRPr lang="en-US" dirty="0"/>
          </a:p>
          <a:p>
            <a:r>
              <a:rPr lang="en-US" dirty="0"/>
              <a:t>As opposed to a color-blind policy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231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 Measurement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Now suppose the predictor is not the main problem.</a:t>
            </a:r>
          </a:p>
          <a:p>
            <a:r>
              <a:t>The problem is the target variable itself.</a:t>
            </a:r>
          </a:p>
          <a:p>
            <a:r>
              <a:t>Example: arrest_2021 is used as the outcome, but what we really care about is crime_2021.</a:t>
            </a:r>
          </a:p>
          <a:p>
            <a:r>
              <a:t>If arrest_2021 misses crimes differently across groups, the outcome is biased.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3DB9-ADFE-4DB9-B71B-00CD07D9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With Measurement 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68349-CDFB-4DAE-97F3-92746003DD88}"/>
              </a:ext>
            </a:extLst>
          </p:cNvPr>
          <p:cNvSpPr txBox="1"/>
          <p:nvPr/>
        </p:nvSpPr>
        <p:spPr>
          <a:xfrm>
            <a:off x="838200" y="1793429"/>
            <a:ext cx="62775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4">
                <a:extLst>
                  <a:ext uri="{FF2B5EF4-FFF2-40B4-BE49-F238E27FC236}">
                    <a16:creationId xmlns:a16="http://schemas.microsoft.com/office/drawing/2014/main" id="{D4BADC0D-D156-4221-A03C-6F68554F48E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175104" y="1916719"/>
              <a:ext cx="8384384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4">
                <a:extLst>
                  <a:ext uri="{FF2B5EF4-FFF2-40B4-BE49-F238E27FC236}">
                    <a16:creationId xmlns:a16="http://schemas.microsoft.com/office/drawing/2014/main" id="{D4BADC0D-D156-4221-A03C-6F68554F48E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61520838"/>
                  </p:ext>
                </p:extLst>
              </p:nvPr>
            </p:nvGraphicFramePr>
            <p:xfrm>
              <a:off x="1175104" y="1916719"/>
              <a:ext cx="8384384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2" t="-1389" r="-730723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547" t="-1389" r="-354307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8783" t="-1389" r="-180712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783" t="-1389" r="-80712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0370" t="-1389" r="-741" b="-65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4E0F84F-E879-7D61-BC81-1FE7FF4C4679}"/>
              </a:ext>
            </a:extLst>
          </p:cNvPr>
          <p:cNvSpPr txBox="1"/>
          <p:nvPr/>
        </p:nvSpPr>
        <p:spPr>
          <a:xfrm>
            <a:off x="2144485" y="5493541"/>
            <a:ext cx="584448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model is trained to predict arrest_2021.</a:t>
            </a:r>
          </a:p>
          <a:p>
            <a:endParaRPr sz="20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arrest_2021 is biased, the target itself is distorted.</a:t>
            </a:r>
          </a:p>
        </p:txBody>
      </p:sp>
    </p:spTree>
    <p:extLst>
      <p:ext uri="{BB962C8B-B14F-4D97-AF65-F5344CB8AC3E}">
        <p14:creationId xmlns:p14="http://schemas.microsoft.com/office/powerpoint/2010/main" val="2839529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3DB9-ADFE-4DB9-B71B-00CD07D9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Accounting for Interaction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68349-CDFB-4DAE-97F3-92746003DD88}"/>
              </a:ext>
            </a:extLst>
          </p:cNvPr>
          <p:cNvSpPr txBox="1"/>
          <p:nvPr/>
        </p:nvSpPr>
        <p:spPr>
          <a:xfrm>
            <a:off x="838200" y="1793429"/>
            <a:ext cx="62775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4">
                <a:extLst>
                  <a:ext uri="{FF2B5EF4-FFF2-40B4-BE49-F238E27FC236}">
                    <a16:creationId xmlns:a16="http://schemas.microsoft.com/office/drawing/2014/main" id="{D4BADC0D-D156-4221-A03C-6F68554F48E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175104" y="1916719"/>
              <a:ext cx="9841791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457407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𝑎𝑟𝑟𝑒𝑠𝑡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4">
                <a:extLst>
                  <a:ext uri="{FF2B5EF4-FFF2-40B4-BE49-F238E27FC236}">
                    <a16:creationId xmlns:a16="http://schemas.microsoft.com/office/drawing/2014/main" id="{D4BADC0D-D156-4221-A03C-6F68554F48E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5682223"/>
                  </p:ext>
                </p:extLst>
              </p:nvPr>
            </p:nvGraphicFramePr>
            <p:xfrm>
              <a:off x="1175104" y="1916719"/>
              <a:ext cx="9841791" cy="3293274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08472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629801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2052219">
                      <a:extLst>
                        <a:ext uri="{9D8B030D-6E8A-4147-A177-3AD203B41FA5}">
                          <a16:colId xmlns:a16="http://schemas.microsoft.com/office/drawing/2014/main" val="3754798459"/>
                        </a:ext>
                      </a:extLst>
                    </a:gridCol>
                    <a:gridCol w="164167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457407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2" t="-1389" r="-874699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547" t="-1389" r="-443820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8783" t="-1389" r="-251632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783" t="-1389" r="-151632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0370" t="-1389" r="-89259" b="-6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6569" t="-1389" r="-837" b="-65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581D29-945B-4FC9-AB5E-55175BB1B57F}"/>
                  </a:ext>
                </a:extLst>
              </p:cNvPr>
              <p:cNvSpPr txBox="1"/>
              <p:nvPr/>
            </p:nvSpPr>
            <p:spPr>
              <a:xfrm>
                <a:off x="2488344" y="5546808"/>
                <a:ext cx="8063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𝑎𝑟𝑟𝑒𝑠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2021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=0.0+0.5⋅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𝑐𝑟𝑖𝑚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2020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+0.0 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𝑟𝑎𝑐𝑒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+.5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𝑐𝑟𝑖𝑚𝑒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_2020: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𝑟𝑎𝑐𝑒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581D29-945B-4FC9-AB5E-55175BB1B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344" y="5546808"/>
                <a:ext cx="806321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197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2AAF-AAB7-4B1E-803B-A9AACC8C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 to the Observed Outcome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4769D3B-F281-49C0-89FD-4F863A34092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0603564"/>
                  </p:ext>
                </p:extLst>
              </p:nvPr>
            </p:nvGraphicFramePr>
            <p:xfrm>
              <a:off x="2383607" y="1682795"/>
              <a:ext cx="7485012" cy="23648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1234">
                      <a:extLst>
                        <a:ext uri="{9D8B030D-6E8A-4147-A177-3AD203B41FA5}">
                          <a16:colId xmlns:a16="http://schemas.microsoft.com/office/drawing/2014/main" val="1012334953"/>
                        </a:ext>
                      </a:extLst>
                    </a:gridCol>
                    <a:gridCol w="1417926">
                      <a:extLst>
                        <a:ext uri="{9D8B030D-6E8A-4147-A177-3AD203B41FA5}">
                          <a16:colId xmlns:a16="http://schemas.microsoft.com/office/drawing/2014/main" val="3102909997"/>
                        </a:ext>
                      </a:extLst>
                    </a:gridCol>
                    <a:gridCol w="1417926">
                      <a:extLst>
                        <a:ext uri="{9D8B030D-6E8A-4147-A177-3AD203B41FA5}">
                          <a16:colId xmlns:a16="http://schemas.microsoft.com/office/drawing/2014/main" val="1212393086"/>
                        </a:ext>
                      </a:extLst>
                    </a:gridCol>
                    <a:gridCol w="1417926">
                      <a:extLst>
                        <a:ext uri="{9D8B030D-6E8A-4147-A177-3AD203B41FA5}">
                          <a16:colId xmlns:a16="http://schemas.microsoft.com/office/drawing/2014/main" val="288912846"/>
                        </a:ext>
                      </a:extLst>
                    </a:gridCol>
                  </a:tblGrid>
                  <a:tr h="37675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𝑎𝑟𝑟𝑒𝑠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2021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Model Outcome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True Outcome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5989576"/>
                      </a:ext>
                    </a:extLst>
                  </a:tr>
                  <a:tr h="363918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𝑎𝑟𝑟𝑒𝑠𝑡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|⋅)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𝑐𝑟𝑖𝑚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|⋅)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029341"/>
                      </a:ext>
                    </a:extLst>
                  </a:tr>
                  <a:tr h="434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𝑐𝑟𝑖𝑚𝑒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9073668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𝑐𝑟𝑖𝑚𝑒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43017269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𝑐𝑟𝑖𝑚𝑒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50916872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𝑐𝑟𝑖𝑚𝑒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04596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4769D3B-F281-49C0-89FD-4F863A34092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0603564"/>
                  </p:ext>
                </p:extLst>
              </p:nvPr>
            </p:nvGraphicFramePr>
            <p:xfrm>
              <a:off x="2383607" y="1682795"/>
              <a:ext cx="7485012" cy="23648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1234">
                      <a:extLst>
                        <a:ext uri="{9D8B030D-6E8A-4147-A177-3AD203B41FA5}">
                          <a16:colId xmlns:a16="http://schemas.microsoft.com/office/drawing/2014/main" val="1012334953"/>
                        </a:ext>
                      </a:extLst>
                    </a:gridCol>
                    <a:gridCol w="1417926">
                      <a:extLst>
                        <a:ext uri="{9D8B030D-6E8A-4147-A177-3AD203B41FA5}">
                          <a16:colId xmlns:a16="http://schemas.microsoft.com/office/drawing/2014/main" val="3102909997"/>
                        </a:ext>
                      </a:extLst>
                    </a:gridCol>
                    <a:gridCol w="1417926">
                      <a:extLst>
                        <a:ext uri="{9D8B030D-6E8A-4147-A177-3AD203B41FA5}">
                          <a16:colId xmlns:a16="http://schemas.microsoft.com/office/drawing/2014/main" val="1212393086"/>
                        </a:ext>
                      </a:extLst>
                    </a:gridCol>
                    <a:gridCol w="1417926">
                      <a:extLst>
                        <a:ext uri="{9D8B030D-6E8A-4147-A177-3AD203B41FA5}">
                          <a16:colId xmlns:a16="http://schemas.microsoft.com/office/drawing/2014/main" val="288912846"/>
                        </a:ext>
                      </a:extLst>
                    </a:gridCol>
                  </a:tblGrid>
                  <a:tr h="37675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26" t="-1613" r="-200429" b="-530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Model Outcome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True Outcome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598957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26" t="-105000" r="-200429" b="-4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9741" t="-105000" r="-101293" b="-4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27897" t="-105000" r="-858" b="-44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029341"/>
                      </a:ext>
                    </a:extLst>
                  </a:tr>
                  <a:tr h="4349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" t="-173239" r="-132075" b="-2788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26" t="-173239" r="-200429" b="-2788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9741" t="-173239" r="-101293" b="-2788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27897" t="-173239" r="-858" b="-278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073668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" t="-298462" r="-132075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26" t="-298462" r="-200429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9741" t="-298462" r="-101293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27897" t="-298462" r="-858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3017269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" t="-398462" r="-132075" b="-1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26" t="-398462" r="-200429" b="-1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9741" t="-398462" r="-101293" b="-1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27897" t="-398462" r="-858" b="-1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0916872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" t="-498462" r="-132075" b="-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26" t="-498462" r="-200429" b="-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9741" t="-498462" r="-101293" b="-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27897" t="-498462" r="-858" b="-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4596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678DD-BBDC-BD9D-E2B9-2C30561123B6}"/>
              </a:ext>
            </a:extLst>
          </p:cNvPr>
          <p:cNvSpPr txBox="1">
            <a:spLocks/>
          </p:cNvSpPr>
          <p:nvPr/>
        </p:nvSpPr>
        <p:spPr>
          <a:xfrm>
            <a:off x="838200" y="4666802"/>
            <a:ext cx="10515600" cy="2027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 model can be calibrated to arrest_2021.</a:t>
            </a:r>
          </a:p>
          <a:p>
            <a:r>
              <a:rPr lang="en-US"/>
              <a:t>That means predicted probabilities match observed arrest rates.</a:t>
            </a:r>
          </a:p>
          <a:p>
            <a:r>
              <a:rPr lang="en-US"/>
              <a:t>But observed arrest rates may not match true crime rates.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137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Adding Group Information Cannot Fully Fix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information can help predict the biased observed outcome.</a:t>
            </a:r>
          </a:p>
          <a:p>
            <a:r>
              <a:t>But the model still does not observe the true outcome.</a:t>
            </a:r>
          </a:p>
          <a:p>
            <a:r>
              <a:t>If the target is arrest, the model learns arrest patterns, not crime patterns.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Criminal Justice Risk Assessments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risk assessments predict future arrest or rearrest.</a:t>
            </a:r>
          </a:p>
          <a:p>
            <a:r>
              <a:t>Arrest is an administrative event, not the same as offending.</a:t>
            </a:r>
          </a:p>
          <a:p>
            <a:r>
              <a:t>Calibration to rearrest can look statistically correct while still reflecting unequal enforcement.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Calibration is always calibration to a particular outcome variable.</a:t>
            </a:r>
          </a:p>
          <a:p>
            <a:r>
              <a:t>If the outcome variable is biased, calibration can hide the problem rather than solve it.</a:t>
            </a:r>
          </a:p>
          <a:p>
            <a:r>
              <a:t>Before asking whether a model is calibrated, ask: what is the outcome actually measuring?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3070</TotalTime>
  <Words>1230</Words>
  <Application>Microsoft Office PowerPoint</Application>
  <PresentationFormat>Widescreen</PresentationFormat>
  <Paragraphs>494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Cambria Math</vt:lpstr>
      <vt:lpstr>Office Theme</vt:lpstr>
      <vt:lpstr>INST 414: Data Science Techniques   Sources of Bias (Part II)</vt:lpstr>
      <vt:lpstr>Where We Are</vt:lpstr>
      <vt:lpstr>Two Different Problems</vt:lpstr>
      <vt:lpstr>Running Example</vt:lpstr>
      <vt:lpstr>Causes of Bias in Predictions (Part II)</vt:lpstr>
      <vt:lpstr>Toy Data: Predictor Measured With Bias</vt:lpstr>
      <vt:lpstr>Perfectly Measured World</vt:lpstr>
      <vt:lpstr>Model 1: Use Arrests Instead of Crimes</vt:lpstr>
      <vt:lpstr>Model 2: Add Group Information</vt:lpstr>
      <vt:lpstr>Model 3: Add Interactions</vt:lpstr>
      <vt:lpstr>What Did We Learn?</vt:lpstr>
      <vt:lpstr>Outcome Measurement Error</vt:lpstr>
      <vt:lpstr>Data With Measurement Error</vt:lpstr>
      <vt:lpstr>Accounting for Interaction</vt:lpstr>
      <vt:lpstr>Calibration to the Observed Outcome</vt:lpstr>
      <vt:lpstr>Why Adding Group Information Cannot Fully Fix This</vt:lpstr>
      <vt:lpstr>Criminal Justice Risk Assessments</vt:lpstr>
      <vt:lpstr>Main Takeaway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Zubin Jelveh</dc:creator>
  <cp:lastModifiedBy>Zubin Jelveh</cp:lastModifiedBy>
  <cp:revision>53</cp:revision>
  <dcterms:created xsi:type="dcterms:W3CDTF">2021-11-13T16:15:32Z</dcterms:created>
  <dcterms:modified xsi:type="dcterms:W3CDTF">2026-04-23T03:51:52Z</dcterms:modified>
</cp:coreProperties>
</file>