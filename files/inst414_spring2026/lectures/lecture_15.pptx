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6"/>
  </p:notesMasterIdLst>
  <p:sldIdLst>
    <p:sldId id="732" r:id="rId3"/>
    <p:sldId id="703" r:id="rId4"/>
    <p:sldId id="704" r:id="rId5"/>
    <p:sldId id="775" r:id="rId6"/>
    <p:sldId id="715" r:id="rId7"/>
    <p:sldId id="714" r:id="rId8"/>
    <p:sldId id="736" r:id="rId9"/>
    <p:sldId id="754" r:id="rId10"/>
    <p:sldId id="755" r:id="rId11"/>
    <p:sldId id="756" r:id="rId12"/>
    <p:sldId id="758" r:id="rId13"/>
    <p:sldId id="757" r:id="rId14"/>
    <p:sldId id="759" r:id="rId15"/>
    <p:sldId id="760" r:id="rId16"/>
    <p:sldId id="761" r:id="rId17"/>
    <p:sldId id="762" r:id="rId18"/>
    <p:sldId id="652" r:id="rId19"/>
    <p:sldId id="654" r:id="rId20"/>
    <p:sldId id="674" r:id="rId21"/>
    <p:sldId id="670" r:id="rId22"/>
    <p:sldId id="671" r:id="rId23"/>
    <p:sldId id="672" r:id="rId24"/>
    <p:sldId id="673" r:id="rId25"/>
    <p:sldId id="675" r:id="rId26"/>
    <p:sldId id="676" r:id="rId27"/>
    <p:sldId id="653" r:id="rId28"/>
    <p:sldId id="267" r:id="rId29"/>
    <p:sldId id="677" r:id="rId30"/>
    <p:sldId id="281" r:id="rId31"/>
    <p:sldId id="284" r:id="rId32"/>
    <p:sldId id="282" r:id="rId33"/>
    <p:sldId id="285" r:id="rId34"/>
    <p:sldId id="292" r:id="rId35"/>
    <p:sldId id="288" r:id="rId36"/>
    <p:sldId id="297" r:id="rId37"/>
    <p:sldId id="768" r:id="rId38"/>
    <p:sldId id="291" r:id="rId39"/>
    <p:sldId id="293" r:id="rId40"/>
    <p:sldId id="295" r:id="rId41"/>
    <p:sldId id="770" r:id="rId42"/>
    <p:sldId id="296" r:id="rId43"/>
    <p:sldId id="299" r:id="rId44"/>
    <p:sldId id="301" r:id="rId45"/>
    <p:sldId id="773" r:id="rId46"/>
    <p:sldId id="774" r:id="rId47"/>
    <p:sldId id="772" r:id="rId48"/>
    <p:sldId id="302" r:id="rId49"/>
    <p:sldId id="655" r:id="rId50"/>
    <p:sldId id="656" r:id="rId51"/>
    <p:sldId id="659" r:id="rId52"/>
    <p:sldId id="660" r:id="rId53"/>
    <p:sldId id="661" r:id="rId54"/>
    <p:sldId id="662" r:id="rId55"/>
    <p:sldId id="663" r:id="rId56"/>
    <p:sldId id="664" r:id="rId57"/>
    <p:sldId id="667" r:id="rId58"/>
    <p:sldId id="668" r:id="rId59"/>
    <p:sldId id="666" r:id="rId60"/>
    <p:sldId id="776" r:id="rId61"/>
    <p:sldId id="708" r:id="rId62"/>
    <p:sldId id="740" r:id="rId63"/>
    <p:sldId id="702" r:id="rId64"/>
    <p:sldId id="711"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74" d="100"/>
          <a:sy n="74" d="100"/>
        </p:scale>
        <p:origin x="3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D9C62C-948D-496E-BC05-25DCCC248003}" type="datetimeFigureOut">
              <a:rPr lang="en-US" smtClean="0"/>
              <a:t>12/5/2024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F96BB-8155-4064-A637-9E55C874E6C8}" type="slidenum">
              <a:rPr lang="en-US" smtClean="0"/>
              <a:t>‹#›</a:t>
            </a:fld>
            <a:endParaRPr lang="en-US"/>
          </a:p>
        </p:txBody>
      </p:sp>
    </p:spTree>
    <p:extLst>
      <p:ext uri="{BB962C8B-B14F-4D97-AF65-F5344CB8AC3E}">
        <p14:creationId xmlns:p14="http://schemas.microsoft.com/office/powerpoint/2010/main" val="3934511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942A3-D503-4394-BB11-18BA6449A1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08A87E-F0C5-4987-8E65-F14582B6A2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BAF1AA-2131-4D1F-AE87-63ECD4F3C11F}"/>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5" name="Footer Placeholder 4">
            <a:extLst>
              <a:ext uri="{FF2B5EF4-FFF2-40B4-BE49-F238E27FC236}">
                <a16:creationId xmlns:a16="http://schemas.microsoft.com/office/drawing/2014/main" id="{14AEDE5B-A70A-4893-9550-6D8ECAD2ED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C6DDF-1B83-4294-9D6A-30E0D65067DC}"/>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1916344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D7604-76B8-4B8B-AAC4-694B3F3BA6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0D7325-A3FA-407D-A7C1-5F2B89AF9A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C1F6D9-0ED6-4BC2-ABAC-701B9A983639}"/>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5" name="Footer Placeholder 4">
            <a:extLst>
              <a:ext uri="{FF2B5EF4-FFF2-40B4-BE49-F238E27FC236}">
                <a16:creationId xmlns:a16="http://schemas.microsoft.com/office/drawing/2014/main" id="{467E7D3E-022D-4B94-BF83-DA078C14EF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D7A91A-4805-433E-AA2C-452EFE2D3541}"/>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75639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ABA35-3AC2-40DA-B10B-6998E7AA4D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A9AA0B-FF4C-472B-B213-5123DCFA14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E94AA-40B7-438F-B12A-CEF9651F7BF0}"/>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5" name="Footer Placeholder 4">
            <a:extLst>
              <a:ext uri="{FF2B5EF4-FFF2-40B4-BE49-F238E27FC236}">
                <a16:creationId xmlns:a16="http://schemas.microsoft.com/office/drawing/2014/main" id="{35ACB0FD-9A2B-4984-9314-5E990F09D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ECF0E-6CBF-402B-BD63-10D9063A2908}"/>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3128810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26B72-35F8-44A8-AF3A-5784D25B31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11D2A3-18A5-4F85-82B4-106793DE2C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3321E5-248E-442C-8351-9D60F1B3EB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69E253-C7BA-4F50-931B-7BB7606F38FB}"/>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6" name="Footer Placeholder 5">
            <a:extLst>
              <a:ext uri="{FF2B5EF4-FFF2-40B4-BE49-F238E27FC236}">
                <a16:creationId xmlns:a16="http://schemas.microsoft.com/office/drawing/2014/main" id="{A32A032C-7539-4F9D-9487-109CD13008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FA5E7D-1F4C-4310-8F4B-31F86E8A7915}"/>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394720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3A0B0-E631-441E-8D1D-A136B6A22B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C170FA9-88F5-488A-AFB6-EB4F280062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779353-B3F8-4580-856F-9F67873594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E7D2C9-2D0D-4522-A078-27D9880C37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AD30C1-EF19-49CA-822E-68EADDD16F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5D9F10-1768-4A9A-8F2F-44496AD49A76}"/>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8" name="Footer Placeholder 7">
            <a:extLst>
              <a:ext uri="{FF2B5EF4-FFF2-40B4-BE49-F238E27FC236}">
                <a16:creationId xmlns:a16="http://schemas.microsoft.com/office/drawing/2014/main" id="{47288068-8BBD-4DE8-AB9F-87E08636FA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9FDEE3-947D-4E11-82BA-DBEBBB5644FD}"/>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4198481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38881-E295-4214-9157-D4BAB5A12F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F7BAE8-6F1B-4116-B9D3-A1098AC265A2}"/>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4" name="Footer Placeholder 3">
            <a:extLst>
              <a:ext uri="{FF2B5EF4-FFF2-40B4-BE49-F238E27FC236}">
                <a16:creationId xmlns:a16="http://schemas.microsoft.com/office/drawing/2014/main" id="{64218D62-2B81-456B-9F4E-F4B24A124F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929BB2-B21C-4FB4-A6E3-4DF792B9830D}"/>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1864086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289EA1-20A9-46A3-B1F6-BAFAB610843F}"/>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3" name="Footer Placeholder 2">
            <a:extLst>
              <a:ext uri="{FF2B5EF4-FFF2-40B4-BE49-F238E27FC236}">
                <a16:creationId xmlns:a16="http://schemas.microsoft.com/office/drawing/2014/main" id="{C4151E9B-4962-469E-8CA7-C1D53DE45C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1688EB-6C00-47E9-ADAC-9AC32AB6395A}"/>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59285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776A5-C666-4086-AF8E-BF09253113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340CC2-9FA4-4E52-945F-168A53FD1A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812BD1-D5C3-4700-822E-7A2BC1F88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DB14E3-98FB-4FD4-961A-954785840CE6}"/>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6" name="Footer Placeholder 5">
            <a:extLst>
              <a:ext uri="{FF2B5EF4-FFF2-40B4-BE49-F238E27FC236}">
                <a16:creationId xmlns:a16="http://schemas.microsoft.com/office/drawing/2014/main" id="{1BC29F64-BB30-456B-BD04-49B1C98D57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790CEA-354C-4004-8A2F-B87C08EA6BDC}"/>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627991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CAD50-37C1-48C5-8A01-2E23FEE7B4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CC24B0-E315-4E31-B28F-D2CD607679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690CE5-DBFE-4A67-B2F2-7A115D1BCC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E8F87D-C034-4BDA-92D3-F50C0AD74552}"/>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6" name="Footer Placeholder 5">
            <a:extLst>
              <a:ext uri="{FF2B5EF4-FFF2-40B4-BE49-F238E27FC236}">
                <a16:creationId xmlns:a16="http://schemas.microsoft.com/office/drawing/2014/main" id="{EFB24F1F-8D03-46FC-9814-0CA2C99510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44E0E1-051C-419D-AB03-E4A31AB07FD4}"/>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4188408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D7AF1-C745-4B23-A2B0-A9B341B02E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256E57-4433-4E62-A717-9DA75331E5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F68C62-7648-4B60-956E-7FB3ACBE1245}"/>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5" name="Footer Placeholder 4">
            <a:extLst>
              <a:ext uri="{FF2B5EF4-FFF2-40B4-BE49-F238E27FC236}">
                <a16:creationId xmlns:a16="http://schemas.microsoft.com/office/drawing/2014/main" id="{C53E42DE-43B0-4C79-86A1-9BFC973EF4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591632-D173-4EAC-B0FF-E027A43557EA}"/>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3013920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40FE00-3CE1-47D1-9FC3-69ED43E3D3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A52672-2A9C-4C79-B23D-BF5262C1FA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83E05A-E4F4-4C24-9BC3-FDD3120B2AD5}"/>
              </a:ext>
            </a:extLst>
          </p:cNvPr>
          <p:cNvSpPr>
            <a:spLocks noGrp="1"/>
          </p:cNvSpPr>
          <p:nvPr>
            <p:ph type="dt" sz="half" idx="10"/>
          </p:nvPr>
        </p:nvSpPr>
        <p:spPr/>
        <p:txBody>
          <a:bodyPr/>
          <a:lstStyle/>
          <a:p>
            <a:fld id="{52A4A5FF-00F1-4B9C-80DF-298EB6626127}" type="datetimeFigureOut">
              <a:rPr lang="en-US" smtClean="0"/>
              <a:t>12/5/2024</a:t>
            </a:fld>
            <a:endParaRPr lang="en-US"/>
          </a:p>
        </p:txBody>
      </p:sp>
      <p:sp>
        <p:nvSpPr>
          <p:cNvPr id="5" name="Footer Placeholder 4">
            <a:extLst>
              <a:ext uri="{FF2B5EF4-FFF2-40B4-BE49-F238E27FC236}">
                <a16:creationId xmlns:a16="http://schemas.microsoft.com/office/drawing/2014/main" id="{64A6C80A-FCBE-4152-AD64-2FB472FFCE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0519E6-A914-4AD6-9E72-4F4587EA17DD}"/>
              </a:ext>
            </a:extLst>
          </p:cNvPr>
          <p:cNvSpPr>
            <a:spLocks noGrp="1"/>
          </p:cNvSpPr>
          <p:nvPr>
            <p:ph type="sldNum" sz="quarter" idx="12"/>
          </p:nvPr>
        </p:nvSpPr>
        <p:spPr/>
        <p:txBody>
          <a:bodyPr/>
          <a:lstStyle/>
          <a:p>
            <a:fld id="{460A0532-F395-4844-A4A9-A77B31D44342}" type="slidenum">
              <a:rPr lang="en-US" smtClean="0"/>
              <a:t>‹#›</a:t>
            </a:fld>
            <a:endParaRPr lang="en-US"/>
          </a:p>
        </p:txBody>
      </p:sp>
    </p:spTree>
    <p:extLst>
      <p:ext uri="{BB962C8B-B14F-4D97-AF65-F5344CB8AC3E}">
        <p14:creationId xmlns:p14="http://schemas.microsoft.com/office/powerpoint/2010/main" val="21954001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D1733-1111-4020-80CF-1027A26D280F}"/>
              </a:ext>
            </a:extLst>
          </p:cNvPr>
          <p:cNvSpPr>
            <a:spLocks noGrp="1"/>
          </p:cNvSpPr>
          <p:nvPr>
            <p:ph type="ctrTitle"/>
          </p:nvPr>
        </p:nvSpPr>
        <p:spPr>
          <a:xfrm>
            <a:off x="1524000" y="1122363"/>
            <a:ext cx="9144000" cy="2387600"/>
          </a:xfrm>
        </p:spPr>
        <p:txBody>
          <a:bodyPr anchor="b"/>
          <a:lstStyle>
            <a:lvl1pPr algn="ctr">
              <a:defRPr sz="6000">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A6B31730-60D1-4195-855A-5BFAC6C8BE01}"/>
              </a:ext>
            </a:extLst>
          </p:cNvPr>
          <p:cNvSpPr>
            <a:spLocks noGrp="1"/>
          </p:cNvSpPr>
          <p:nvPr>
            <p:ph type="subTitle" idx="1"/>
          </p:nvPr>
        </p:nvSpPr>
        <p:spPr>
          <a:xfrm>
            <a:off x="1524000" y="3602038"/>
            <a:ext cx="9144000" cy="1655762"/>
          </a:xfrm>
        </p:spPr>
        <p:txBody>
          <a:bodyPr/>
          <a:lstStyle>
            <a:lvl1pPr marL="0" indent="0" algn="ctr">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FFCD8F-15CA-4B78-9991-1C8A0A71B8B6}"/>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1804209A-C6D7-496B-8537-5782FDB96C12}" type="datetimeFigureOut">
              <a:rPr lang="en-US" smtClean="0"/>
              <a:pPr/>
              <a:t>12/5/2024</a:t>
            </a:fld>
            <a:endParaRPr lang="en-US"/>
          </a:p>
        </p:txBody>
      </p:sp>
      <p:sp>
        <p:nvSpPr>
          <p:cNvPr id="5" name="Footer Placeholder 4">
            <a:extLst>
              <a:ext uri="{FF2B5EF4-FFF2-40B4-BE49-F238E27FC236}">
                <a16:creationId xmlns:a16="http://schemas.microsoft.com/office/drawing/2014/main" id="{8F6627FA-69D8-4892-ADD0-442AE9FDEF72}"/>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US"/>
          </a:p>
        </p:txBody>
      </p:sp>
      <p:sp>
        <p:nvSpPr>
          <p:cNvPr id="6" name="Slide Number Placeholder 5">
            <a:extLst>
              <a:ext uri="{FF2B5EF4-FFF2-40B4-BE49-F238E27FC236}">
                <a16:creationId xmlns:a16="http://schemas.microsoft.com/office/drawing/2014/main" id="{9A85B53B-A9A7-4A38-AC44-97F4F8328CA6}"/>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6C87352C-6AF1-4D42-A15A-45C6FA13D254}" type="slidenum">
              <a:rPr lang="en-US" smtClean="0"/>
              <a:pPr/>
              <a:t>‹#›</a:t>
            </a:fld>
            <a:endParaRPr lang="en-US"/>
          </a:p>
        </p:txBody>
      </p:sp>
    </p:spTree>
    <p:extLst>
      <p:ext uri="{BB962C8B-B14F-4D97-AF65-F5344CB8AC3E}">
        <p14:creationId xmlns:p14="http://schemas.microsoft.com/office/powerpoint/2010/main" val="775358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F1540-682B-4DCA-9361-C88BB971B4DA}"/>
              </a:ext>
            </a:extLst>
          </p:cNvPr>
          <p:cNvSpPr>
            <a:spLocks noGrp="1"/>
          </p:cNvSpPr>
          <p:nvPr>
            <p:ph type="title"/>
          </p:nvPr>
        </p:nvSpPr>
        <p:spPr/>
        <p:txBody>
          <a:bodyPr/>
          <a:lstStyle>
            <a:lvl1pPr>
              <a:defRPr>
                <a:latin typeface="Cambria" panose="02040503050406030204" pitchFamily="18" charset="0"/>
                <a:ea typeface="Cambria" panose="020405030504060302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9BAC6AE-DC84-4104-825A-6EF213FFEFD1}"/>
              </a:ext>
            </a:extLst>
          </p:cNvPr>
          <p:cNvSpPr>
            <a:spLocks noGrp="1"/>
          </p:cNvSpPr>
          <p:nvPr>
            <p:ph idx="1"/>
          </p:nvPr>
        </p:nvSpPr>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C6786B-D1CB-4857-A356-C791502C0BE2}"/>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1804209A-C6D7-496B-8537-5782FDB96C12}" type="datetimeFigureOut">
              <a:rPr lang="en-US" smtClean="0"/>
              <a:pPr/>
              <a:t>12/5/2024</a:t>
            </a:fld>
            <a:endParaRPr lang="en-US"/>
          </a:p>
        </p:txBody>
      </p:sp>
      <p:sp>
        <p:nvSpPr>
          <p:cNvPr id="5" name="Footer Placeholder 4">
            <a:extLst>
              <a:ext uri="{FF2B5EF4-FFF2-40B4-BE49-F238E27FC236}">
                <a16:creationId xmlns:a16="http://schemas.microsoft.com/office/drawing/2014/main" id="{9892753D-0E21-4FDB-82B0-7F8F3F09998A}"/>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US"/>
          </a:p>
        </p:txBody>
      </p:sp>
      <p:sp>
        <p:nvSpPr>
          <p:cNvPr id="6" name="Slide Number Placeholder 5">
            <a:extLst>
              <a:ext uri="{FF2B5EF4-FFF2-40B4-BE49-F238E27FC236}">
                <a16:creationId xmlns:a16="http://schemas.microsoft.com/office/drawing/2014/main" id="{AF588069-A43B-4E6F-A666-DB8538C07990}"/>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6C87352C-6AF1-4D42-A15A-45C6FA13D254}" type="slidenum">
              <a:rPr lang="en-US" smtClean="0"/>
              <a:pPr/>
              <a:t>‹#›</a:t>
            </a:fld>
            <a:endParaRPr lang="en-US"/>
          </a:p>
        </p:txBody>
      </p:sp>
    </p:spTree>
    <p:extLst>
      <p:ext uri="{BB962C8B-B14F-4D97-AF65-F5344CB8AC3E}">
        <p14:creationId xmlns:p14="http://schemas.microsoft.com/office/powerpoint/2010/main" val="15742690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B819F-5EF8-462B-81F5-242BA48038B0}"/>
              </a:ext>
            </a:extLst>
          </p:cNvPr>
          <p:cNvSpPr>
            <a:spLocks noGrp="1"/>
          </p:cNvSpPr>
          <p:nvPr>
            <p:ph type="title"/>
          </p:nvPr>
        </p:nvSpPr>
        <p:spPr>
          <a:xfrm>
            <a:off x="831850" y="1709738"/>
            <a:ext cx="10515600" cy="2852737"/>
          </a:xfrm>
        </p:spPr>
        <p:txBody>
          <a:bodyPr anchor="b"/>
          <a:lstStyle>
            <a:lvl1pPr>
              <a:defRPr sz="6000">
                <a:latin typeface="Cambria" panose="02040503050406030204" pitchFamily="18" charset="0"/>
                <a:ea typeface="Cambria" panose="02040503050406030204" pitchFamily="18" charset="0"/>
              </a:defRPr>
            </a:lvl1pPr>
          </a:lstStyle>
          <a:p>
            <a:r>
              <a:rPr lang="en-US"/>
              <a:t>Click to edit Master title style</a:t>
            </a:r>
          </a:p>
        </p:txBody>
      </p:sp>
      <p:sp>
        <p:nvSpPr>
          <p:cNvPr id="3" name="Text Placeholder 2">
            <a:extLst>
              <a:ext uri="{FF2B5EF4-FFF2-40B4-BE49-F238E27FC236}">
                <a16:creationId xmlns:a16="http://schemas.microsoft.com/office/drawing/2014/main" id="{5877B780-66FE-439F-85AE-04FF909A00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Cambria" panose="02040503050406030204" pitchFamily="18" charset="0"/>
                <a:ea typeface="Cambria" panose="02040503050406030204" pitchFamily="18"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6540FF-F5C5-43E7-980B-6288E92BAEB8}"/>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1804209A-C6D7-496B-8537-5782FDB96C12}" type="datetimeFigureOut">
              <a:rPr lang="en-US" smtClean="0"/>
              <a:pPr/>
              <a:t>12/5/2024</a:t>
            </a:fld>
            <a:endParaRPr lang="en-US"/>
          </a:p>
        </p:txBody>
      </p:sp>
      <p:sp>
        <p:nvSpPr>
          <p:cNvPr id="5" name="Footer Placeholder 4">
            <a:extLst>
              <a:ext uri="{FF2B5EF4-FFF2-40B4-BE49-F238E27FC236}">
                <a16:creationId xmlns:a16="http://schemas.microsoft.com/office/drawing/2014/main" id="{EE0A5E5B-7404-4425-92F7-661962D32B03}"/>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US"/>
          </a:p>
        </p:txBody>
      </p:sp>
      <p:sp>
        <p:nvSpPr>
          <p:cNvPr id="6" name="Slide Number Placeholder 5">
            <a:extLst>
              <a:ext uri="{FF2B5EF4-FFF2-40B4-BE49-F238E27FC236}">
                <a16:creationId xmlns:a16="http://schemas.microsoft.com/office/drawing/2014/main" id="{25683244-D302-4753-9011-3085E6041B2C}"/>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6C87352C-6AF1-4D42-A15A-45C6FA13D254}" type="slidenum">
              <a:rPr lang="en-US" smtClean="0"/>
              <a:pPr/>
              <a:t>‹#›</a:t>
            </a:fld>
            <a:endParaRPr lang="en-US"/>
          </a:p>
        </p:txBody>
      </p:sp>
    </p:spTree>
    <p:extLst>
      <p:ext uri="{BB962C8B-B14F-4D97-AF65-F5344CB8AC3E}">
        <p14:creationId xmlns:p14="http://schemas.microsoft.com/office/powerpoint/2010/main" val="40135921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C4737-73F0-488A-8143-23784699F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9F13FD-7FB4-405C-9701-8AC68AF3AB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8BEA1A-FFC1-4D32-8E39-484C61747B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A4E644-5BEF-48FA-94A5-8DDF95D3B708}"/>
              </a:ext>
            </a:extLst>
          </p:cNvPr>
          <p:cNvSpPr>
            <a:spLocks noGrp="1"/>
          </p:cNvSpPr>
          <p:nvPr>
            <p:ph type="dt" sz="half" idx="10"/>
          </p:nvPr>
        </p:nvSpPr>
        <p:spPr/>
        <p:txBody>
          <a:bodyPr/>
          <a:lstStyle/>
          <a:p>
            <a:fld id="{1804209A-C6D7-496B-8537-5782FDB96C12}" type="datetimeFigureOut">
              <a:rPr lang="en-US" smtClean="0"/>
              <a:t>12/5/2024</a:t>
            </a:fld>
            <a:endParaRPr lang="en-US"/>
          </a:p>
        </p:txBody>
      </p:sp>
      <p:sp>
        <p:nvSpPr>
          <p:cNvPr id="6" name="Footer Placeholder 5">
            <a:extLst>
              <a:ext uri="{FF2B5EF4-FFF2-40B4-BE49-F238E27FC236}">
                <a16:creationId xmlns:a16="http://schemas.microsoft.com/office/drawing/2014/main" id="{1EA6D34E-62BE-42CB-954A-BFADC5C9BD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3B9ABC-C756-4BCD-A926-C8B1CCFDB57E}"/>
              </a:ext>
            </a:extLst>
          </p:cNvPr>
          <p:cNvSpPr>
            <a:spLocks noGrp="1"/>
          </p:cNvSpPr>
          <p:nvPr>
            <p:ph type="sldNum" sz="quarter" idx="12"/>
          </p:nvPr>
        </p:nvSpPr>
        <p:spPr/>
        <p:txBody>
          <a:bodyPr/>
          <a:lstStyle/>
          <a:p>
            <a:fld id="{6C87352C-6AF1-4D42-A15A-45C6FA13D254}" type="slidenum">
              <a:rPr lang="en-US" smtClean="0"/>
              <a:t>‹#›</a:t>
            </a:fld>
            <a:endParaRPr lang="en-US"/>
          </a:p>
        </p:txBody>
      </p:sp>
    </p:spTree>
    <p:extLst>
      <p:ext uri="{BB962C8B-B14F-4D97-AF65-F5344CB8AC3E}">
        <p14:creationId xmlns:p14="http://schemas.microsoft.com/office/powerpoint/2010/main" val="320556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824D4-E554-4CA4-88B9-85F4461813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08C30A-382B-4369-8F44-FB7D8F6202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051816-F25D-4A70-9847-2D391C1E2F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3088ED-9888-4E6B-8267-000EF5B347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BECD2C-3967-4873-B333-A55664A0B5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3E8580D-F28E-4B19-BC9E-ECC5985A519D}"/>
              </a:ext>
            </a:extLst>
          </p:cNvPr>
          <p:cNvSpPr>
            <a:spLocks noGrp="1"/>
          </p:cNvSpPr>
          <p:nvPr>
            <p:ph type="dt" sz="half" idx="10"/>
          </p:nvPr>
        </p:nvSpPr>
        <p:spPr/>
        <p:txBody>
          <a:bodyPr/>
          <a:lstStyle/>
          <a:p>
            <a:fld id="{1804209A-C6D7-496B-8537-5782FDB96C12}" type="datetimeFigureOut">
              <a:rPr lang="en-US" smtClean="0"/>
              <a:t>12/5/2024</a:t>
            </a:fld>
            <a:endParaRPr lang="en-US"/>
          </a:p>
        </p:txBody>
      </p:sp>
      <p:sp>
        <p:nvSpPr>
          <p:cNvPr id="8" name="Footer Placeholder 7">
            <a:extLst>
              <a:ext uri="{FF2B5EF4-FFF2-40B4-BE49-F238E27FC236}">
                <a16:creationId xmlns:a16="http://schemas.microsoft.com/office/drawing/2014/main" id="{3530A328-AECD-4DD2-A016-8BCD85C2A3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6B5C51-7186-4B3B-BCB4-8B3ECE62D3EE}"/>
              </a:ext>
            </a:extLst>
          </p:cNvPr>
          <p:cNvSpPr>
            <a:spLocks noGrp="1"/>
          </p:cNvSpPr>
          <p:nvPr>
            <p:ph type="sldNum" sz="quarter" idx="12"/>
          </p:nvPr>
        </p:nvSpPr>
        <p:spPr/>
        <p:txBody>
          <a:bodyPr/>
          <a:lstStyle/>
          <a:p>
            <a:fld id="{6C87352C-6AF1-4D42-A15A-45C6FA13D254}" type="slidenum">
              <a:rPr lang="en-US" smtClean="0"/>
              <a:t>‹#›</a:t>
            </a:fld>
            <a:endParaRPr lang="en-US"/>
          </a:p>
        </p:txBody>
      </p:sp>
    </p:spTree>
    <p:extLst>
      <p:ext uri="{BB962C8B-B14F-4D97-AF65-F5344CB8AC3E}">
        <p14:creationId xmlns:p14="http://schemas.microsoft.com/office/powerpoint/2010/main" val="8181999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8FF02-719D-4FFC-BF77-1860BD90C797}"/>
              </a:ext>
            </a:extLst>
          </p:cNvPr>
          <p:cNvSpPr>
            <a:spLocks noGrp="1"/>
          </p:cNvSpPr>
          <p:nvPr>
            <p:ph type="title"/>
          </p:nvPr>
        </p:nvSpPr>
        <p:spPr/>
        <p:txBody>
          <a:bodyPr/>
          <a:lstStyle>
            <a:lvl1pPr>
              <a:defRPr>
                <a:latin typeface="Cambria" panose="02040503050406030204" pitchFamily="18" charset="0"/>
                <a:ea typeface="Cambria" panose="02040503050406030204" pitchFamily="18" charset="0"/>
              </a:defRPr>
            </a:lvl1pPr>
          </a:lstStyle>
          <a:p>
            <a:r>
              <a:rPr lang="en-US"/>
              <a:t>Click to edit Master title style</a:t>
            </a:r>
          </a:p>
        </p:txBody>
      </p:sp>
      <p:sp>
        <p:nvSpPr>
          <p:cNvPr id="3" name="Date Placeholder 2">
            <a:extLst>
              <a:ext uri="{FF2B5EF4-FFF2-40B4-BE49-F238E27FC236}">
                <a16:creationId xmlns:a16="http://schemas.microsoft.com/office/drawing/2014/main" id="{E1F69F0B-E328-495F-9C5E-509BDA933AE6}"/>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1804209A-C6D7-496B-8537-5782FDB96C12}" type="datetimeFigureOut">
              <a:rPr lang="en-US" smtClean="0"/>
              <a:pPr/>
              <a:t>12/5/2024</a:t>
            </a:fld>
            <a:endParaRPr lang="en-US"/>
          </a:p>
        </p:txBody>
      </p:sp>
      <p:sp>
        <p:nvSpPr>
          <p:cNvPr id="4" name="Footer Placeholder 3">
            <a:extLst>
              <a:ext uri="{FF2B5EF4-FFF2-40B4-BE49-F238E27FC236}">
                <a16:creationId xmlns:a16="http://schemas.microsoft.com/office/drawing/2014/main" id="{10322280-409B-4DB7-B729-72B71C09DF94}"/>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US"/>
          </a:p>
        </p:txBody>
      </p:sp>
      <p:sp>
        <p:nvSpPr>
          <p:cNvPr id="5" name="Slide Number Placeholder 4">
            <a:extLst>
              <a:ext uri="{FF2B5EF4-FFF2-40B4-BE49-F238E27FC236}">
                <a16:creationId xmlns:a16="http://schemas.microsoft.com/office/drawing/2014/main" id="{288E1517-4C78-472E-8444-8DDCEE82159C}"/>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6C87352C-6AF1-4D42-A15A-45C6FA13D254}" type="slidenum">
              <a:rPr lang="en-US" smtClean="0"/>
              <a:pPr/>
              <a:t>‹#›</a:t>
            </a:fld>
            <a:endParaRPr lang="en-US"/>
          </a:p>
        </p:txBody>
      </p:sp>
    </p:spTree>
    <p:extLst>
      <p:ext uri="{BB962C8B-B14F-4D97-AF65-F5344CB8AC3E}">
        <p14:creationId xmlns:p14="http://schemas.microsoft.com/office/powerpoint/2010/main" val="3629072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846AA6-92A2-4226-BB84-60EE33DF0041}"/>
              </a:ext>
            </a:extLst>
          </p:cNvPr>
          <p:cNvSpPr>
            <a:spLocks noGrp="1"/>
          </p:cNvSpPr>
          <p:nvPr>
            <p:ph type="dt" sz="half" idx="10"/>
          </p:nvPr>
        </p:nvSpPr>
        <p:spPr/>
        <p:txBody>
          <a:bodyPr/>
          <a:lstStyle/>
          <a:p>
            <a:fld id="{1804209A-C6D7-496B-8537-5782FDB96C12}" type="datetimeFigureOut">
              <a:rPr lang="en-US" smtClean="0"/>
              <a:t>12/5/2024</a:t>
            </a:fld>
            <a:endParaRPr lang="en-US"/>
          </a:p>
        </p:txBody>
      </p:sp>
      <p:sp>
        <p:nvSpPr>
          <p:cNvPr id="3" name="Footer Placeholder 2">
            <a:extLst>
              <a:ext uri="{FF2B5EF4-FFF2-40B4-BE49-F238E27FC236}">
                <a16:creationId xmlns:a16="http://schemas.microsoft.com/office/drawing/2014/main" id="{494E6895-C3B0-4240-821D-70BD698BB1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EC811DD-B229-4CE6-B27E-C9DDD717A41E}"/>
              </a:ext>
            </a:extLst>
          </p:cNvPr>
          <p:cNvSpPr>
            <a:spLocks noGrp="1"/>
          </p:cNvSpPr>
          <p:nvPr>
            <p:ph type="sldNum" sz="quarter" idx="12"/>
          </p:nvPr>
        </p:nvSpPr>
        <p:spPr/>
        <p:txBody>
          <a:bodyPr/>
          <a:lstStyle/>
          <a:p>
            <a:fld id="{6C87352C-6AF1-4D42-A15A-45C6FA13D254}" type="slidenum">
              <a:rPr lang="en-US" smtClean="0"/>
              <a:t>‹#›</a:t>
            </a:fld>
            <a:endParaRPr lang="en-US"/>
          </a:p>
        </p:txBody>
      </p:sp>
    </p:spTree>
    <p:extLst>
      <p:ext uri="{BB962C8B-B14F-4D97-AF65-F5344CB8AC3E}">
        <p14:creationId xmlns:p14="http://schemas.microsoft.com/office/powerpoint/2010/main" val="17804999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76C51-B600-4F09-BDD2-2B4724C91C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85F864-8307-4BB0-8286-75110D953D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6ED6D0-0213-4761-A2FF-207AF681F9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63E146-30D1-4B24-8061-A6C8FF8D32FE}"/>
              </a:ext>
            </a:extLst>
          </p:cNvPr>
          <p:cNvSpPr>
            <a:spLocks noGrp="1"/>
          </p:cNvSpPr>
          <p:nvPr>
            <p:ph type="dt" sz="half" idx="10"/>
          </p:nvPr>
        </p:nvSpPr>
        <p:spPr/>
        <p:txBody>
          <a:bodyPr/>
          <a:lstStyle/>
          <a:p>
            <a:fld id="{1804209A-C6D7-496B-8537-5782FDB96C12}" type="datetimeFigureOut">
              <a:rPr lang="en-US" smtClean="0"/>
              <a:t>12/5/2024</a:t>
            </a:fld>
            <a:endParaRPr lang="en-US"/>
          </a:p>
        </p:txBody>
      </p:sp>
      <p:sp>
        <p:nvSpPr>
          <p:cNvPr id="6" name="Footer Placeholder 5">
            <a:extLst>
              <a:ext uri="{FF2B5EF4-FFF2-40B4-BE49-F238E27FC236}">
                <a16:creationId xmlns:a16="http://schemas.microsoft.com/office/drawing/2014/main" id="{B86F91EE-3404-4217-A0A3-C9E2B397B1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73FBE4-DEF7-4F86-BF25-3503D58F8ABC}"/>
              </a:ext>
            </a:extLst>
          </p:cNvPr>
          <p:cNvSpPr>
            <a:spLocks noGrp="1"/>
          </p:cNvSpPr>
          <p:nvPr>
            <p:ph type="sldNum" sz="quarter" idx="12"/>
          </p:nvPr>
        </p:nvSpPr>
        <p:spPr/>
        <p:txBody>
          <a:bodyPr/>
          <a:lstStyle/>
          <a:p>
            <a:fld id="{6C87352C-6AF1-4D42-A15A-45C6FA13D254}" type="slidenum">
              <a:rPr lang="en-US" smtClean="0"/>
              <a:t>‹#›</a:t>
            </a:fld>
            <a:endParaRPr lang="en-US"/>
          </a:p>
        </p:txBody>
      </p:sp>
    </p:spTree>
    <p:extLst>
      <p:ext uri="{BB962C8B-B14F-4D97-AF65-F5344CB8AC3E}">
        <p14:creationId xmlns:p14="http://schemas.microsoft.com/office/powerpoint/2010/main" val="23555358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2E020-BD4C-4344-848C-8138D3A69A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197018-A452-4434-A6EB-6A6F848744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84A571-6865-4C63-9372-ED1496784F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DC2509-3A6D-4AE4-A63E-A9ECC5E47DBB}"/>
              </a:ext>
            </a:extLst>
          </p:cNvPr>
          <p:cNvSpPr>
            <a:spLocks noGrp="1"/>
          </p:cNvSpPr>
          <p:nvPr>
            <p:ph type="dt" sz="half" idx="10"/>
          </p:nvPr>
        </p:nvSpPr>
        <p:spPr/>
        <p:txBody>
          <a:bodyPr/>
          <a:lstStyle/>
          <a:p>
            <a:fld id="{1804209A-C6D7-496B-8537-5782FDB96C12}" type="datetimeFigureOut">
              <a:rPr lang="en-US" smtClean="0"/>
              <a:t>12/5/2024</a:t>
            </a:fld>
            <a:endParaRPr lang="en-US"/>
          </a:p>
        </p:txBody>
      </p:sp>
      <p:sp>
        <p:nvSpPr>
          <p:cNvPr id="6" name="Footer Placeholder 5">
            <a:extLst>
              <a:ext uri="{FF2B5EF4-FFF2-40B4-BE49-F238E27FC236}">
                <a16:creationId xmlns:a16="http://schemas.microsoft.com/office/drawing/2014/main" id="{EA427C3F-25C2-48A9-9D23-4341D6F19F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B3DBA2-438D-4462-A28E-7AC292EADAAD}"/>
              </a:ext>
            </a:extLst>
          </p:cNvPr>
          <p:cNvSpPr>
            <a:spLocks noGrp="1"/>
          </p:cNvSpPr>
          <p:nvPr>
            <p:ph type="sldNum" sz="quarter" idx="12"/>
          </p:nvPr>
        </p:nvSpPr>
        <p:spPr/>
        <p:txBody>
          <a:bodyPr/>
          <a:lstStyle/>
          <a:p>
            <a:fld id="{6C87352C-6AF1-4D42-A15A-45C6FA13D254}" type="slidenum">
              <a:rPr lang="en-US" smtClean="0"/>
              <a:t>‹#›</a:t>
            </a:fld>
            <a:endParaRPr lang="en-US"/>
          </a:p>
        </p:txBody>
      </p:sp>
    </p:spTree>
    <p:extLst>
      <p:ext uri="{BB962C8B-B14F-4D97-AF65-F5344CB8AC3E}">
        <p14:creationId xmlns:p14="http://schemas.microsoft.com/office/powerpoint/2010/main" val="28394991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E4C59-BFB9-4648-8769-81D7F727D9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BC954F-CF0A-4E8E-8FFC-A03842B304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63C079-FBAA-4617-9C03-2BFC538D0004}"/>
              </a:ext>
            </a:extLst>
          </p:cNvPr>
          <p:cNvSpPr>
            <a:spLocks noGrp="1"/>
          </p:cNvSpPr>
          <p:nvPr>
            <p:ph type="dt" sz="half" idx="10"/>
          </p:nvPr>
        </p:nvSpPr>
        <p:spPr/>
        <p:txBody>
          <a:bodyPr/>
          <a:lstStyle/>
          <a:p>
            <a:fld id="{1804209A-C6D7-496B-8537-5782FDB96C12}" type="datetimeFigureOut">
              <a:rPr lang="en-US" smtClean="0"/>
              <a:t>12/5/2024</a:t>
            </a:fld>
            <a:endParaRPr lang="en-US"/>
          </a:p>
        </p:txBody>
      </p:sp>
      <p:sp>
        <p:nvSpPr>
          <p:cNvPr id="5" name="Footer Placeholder 4">
            <a:extLst>
              <a:ext uri="{FF2B5EF4-FFF2-40B4-BE49-F238E27FC236}">
                <a16:creationId xmlns:a16="http://schemas.microsoft.com/office/drawing/2014/main" id="{D9ECF761-8E7C-4A50-B727-6F60869065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EF500C-A4CB-4A2A-9F5D-A3F8FFABFB54}"/>
              </a:ext>
            </a:extLst>
          </p:cNvPr>
          <p:cNvSpPr>
            <a:spLocks noGrp="1"/>
          </p:cNvSpPr>
          <p:nvPr>
            <p:ph type="sldNum" sz="quarter" idx="12"/>
          </p:nvPr>
        </p:nvSpPr>
        <p:spPr/>
        <p:txBody>
          <a:bodyPr/>
          <a:lstStyle/>
          <a:p>
            <a:fld id="{6C87352C-6AF1-4D42-A15A-45C6FA13D254}" type="slidenum">
              <a:rPr lang="en-US" smtClean="0"/>
              <a:t>‹#›</a:t>
            </a:fld>
            <a:endParaRPr lang="en-US"/>
          </a:p>
        </p:txBody>
      </p:sp>
    </p:spTree>
    <p:extLst>
      <p:ext uri="{BB962C8B-B14F-4D97-AF65-F5344CB8AC3E}">
        <p14:creationId xmlns:p14="http://schemas.microsoft.com/office/powerpoint/2010/main" val="512274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DFE6EE-C625-433F-A4C1-17FE127D07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A67B4D-7F6B-4A95-83B1-7991DDC8B9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54C59D-F805-4DE1-A743-958927DEC935}"/>
              </a:ext>
            </a:extLst>
          </p:cNvPr>
          <p:cNvSpPr>
            <a:spLocks noGrp="1"/>
          </p:cNvSpPr>
          <p:nvPr>
            <p:ph type="dt" sz="half" idx="10"/>
          </p:nvPr>
        </p:nvSpPr>
        <p:spPr/>
        <p:txBody>
          <a:bodyPr/>
          <a:lstStyle/>
          <a:p>
            <a:fld id="{1804209A-C6D7-496B-8537-5782FDB96C12}" type="datetimeFigureOut">
              <a:rPr lang="en-US" smtClean="0"/>
              <a:t>12/5/2024</a:t>
            </a:fld>
            <a:endParaRPr lang="en-US"/>
          </a:p>
        </p:txBody>
      </p:sp>
      <p:sp>
        <p:nvSpPr>
          <p:cNvPr id="5" name="Footer Placeholder 4">
            <a:extLst>
              <a:ext uri="{FF2B5EF4-FFF2-40B4-BE49-F238E27FC236}">
                <a16:creationId xmlns:a16="http://schemas.microsoft.com/office/drawing/2014/main" id="{74B82274-7ABC-4F74-A181-96FA51F2EF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708FD9-33BB-4C87-9B32-07D183E3414E}"/>
              </a:ext>
            </a:extLst>
          </p:cNvPr>
          <p:cNvSpPr>
            <a:spLocks noGrp="1"/>
          </p:cNvSpPr>
          <p:nvPr>
            <p:ph type="sldNum" sz="quarter" idx="12"/>
          </p:nvPr>
        </p:nvSpPr>
        <p:spPr/>
        <p:txBody>
          <a:bodyPr/>
          <a:lstStyle/>
          <a:p>
            <a:fld id="{6C87352C-6AF1-4D42-A15A-45C6FA13D254}" type="slidenum">
              <a:rPr lang="en-US" smtClean="0"/>
              <a:t>‹#›</a:t>
            </a:fld>
            <a:endParaRPr lang="en-US"/>
          </a:p>
        </p:txBody>
      </p:sp>
    </p:spTree>
    <p:extLst>
      <p:ext uri="{BB962C8B-B14F-4D97-AF65-F5344CB8AC3E}">
        <p14:creationId xmlns:p14="http://schemas.microsoft.com/office/powerpoint/2010/main" val="30388198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733D7A-0A6E-42AD-B3D5-B4ABAB8C89C0}"/>
              </a:ext>
            </a:extLst>
          </p:cNvPr>
          <p:cNvSpPr>
            <a:spLocks noGrp="1"/>
          </p:cNvSpPr>
          <p:nvPr>
            <p:ph idx="1"/>
          </p:nvPr>
        </p:nvSpPr>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B0CB52-10D8-4250-A12F-C1FA80B5C331}"/>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69C9A885-88C9-4C05-AFCE-22FED3FC0DB3}" type="datetimeFigureOut">
              <a:rPr lang="en-US" smtClean="0"/>
              <a:pPr/>
              <a:t>12/5/2024</a:t>
            </a:fld>
            <a:endParaRPr lang="en-US"/>
          </a:p>
        </p:txBody>
      </p:sp>
      <p:sp>
        <p:nvSpPr>
          <p:cNvPr id="5" name="Footer Placeholder 4">
            <a:extLst>
              <a:ext uri="{FF2B5EF4-FFF2-40B4-BE49-F238E27FC236}">
                <a16:creationId xmlns:a16="http://schemas.microsoft.com/office/drawing/2014/main" id="{E799DBF8-B560-4428-9C4E-CC977AC8A647}"/>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US"/>
          </a:p>
        </p:txBody>
      </p:sp>
      <p:sp>
        <p:nvSpPr>
          <p:cNvPr id="6" name="Slide Number Placeholder 5">
            <a:extLst>
              <a:ext uri="{FF2B5EF4-FFF2-40B4-BE49-F238E27FC236}">
                <a16:creationId xmlns:a16="http://schemas.microsoft.com/office/drawing/2014/main" id="{CEB6E9FA-577A-4F23-A9C4-33EF271E8FD1}"/>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F6F1116-0702-451C-8E3A-AB937AA20C81}" type="slidenum">
              <a:rPr lang="en-US" smtClean="0"/>
              <a:pPr/>
              <a:t>‹#›</a:t>
            </a:fld>
            <a:endParaRPr lang="en-US"/>
          </a:p>
        </p:txBody>
      </p:sp>
      <p:sp>
        <p:nvSpPr>
          <p:cNvPr id="7" name="Title 1">
            <a:extLst>
              <a:ext uri="{FF2B5EF4-FFF2-40B4-BE49-F238E27FC236}">
                <a16:creationId xmlns:a16="http://schemas.microsoft.com/office/drawing/2014/main" id="{3E368733-2A13-49C0-B174-3B6785DD244B}"/>
              </a:ext>
            </a:extLst>
          </p:cNvPr>
          <p:cNvSpPr txBox="1">
            <a:spLocks/>
          </p:cNvSpPr>
          <p:nvPr userDrawn="1"/>
        </p:nvSpPr>
        <p:spPr>
          <a:xfrm>
            <a:off x="293915" y="223612"/>
            <a:ext cx="11604171" cy="1325563"/>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2667" b="0" i="0" kern="1200">
                <a:solidFill>
                  <a:srgbClr val="7C0622"/>
                </a:solidFill>
                <a:latin typeface="Graphik Medium" charset="0"/>
                <a:ea typeface="Graphik Medium" charset="0"/>
                <a:cs typeface="Graphik Medium" charset="0"/>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endParaRPr kumimoji="0" lang="en-US" sz="2667" b="0" i="0" u="none" strike="noStrike" kern="1200" cap="none" spc="0" normalizeH="0" baseline="0" noProof="0" dirty="0">
              <a:ln>
                <a:noFill/>
              </a:ln>
              <a:solidFill>
                <a:srgbClr val="7C0622"/>
              </a:solidFill>
              <a:effectLst/>
              <a:uLnTx/>
              <a:uFillTx/>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8364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02135D-0581-4C2D-AFBD-ADB5BFEAB2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76481F-DA8E-4D1E-BF0E-1D93978FC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074713-0FE8-4F6C-B3A0-1C406A926B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ambria" panose="02040503050406030204" pitchFamily="18" charset="0"/>
                <a:ea typeface="Cambria" panose="02040503050406030204" pitchFamily="18" charset="0"/>
              </a:defRPr>
            </a:lvl1pPr>
          </a:lstStyle>
          <a:p>
            <a:fld id="{52A4A5FF-00F1-4B9C-80DF-298EB6626127}" type="datetimeFigureOut">
              <a:rPr lang="en-US" smtClean="0"/>
              <a:pPr/>
              <a:t>12/5/2024</a:t>
            </a:fld>
            <a:endParaRPr lang="en-US"/>
          </a:p>
        </p:txBody>
      </p:sp>
      <p:sp>
        <p:nvSpPr>
          <p:cNvPr id="5" name="Footer Placeholder 4">
            <a:extLst>
              <a:ext uri="{FF2B5EF4-FFF2-40B4-BE49-F238E27FC236}">
                <a16:creationId xmlns:a16="http://schemas.microsoft.com/office/drawing/2014/main" id="{B7D2C4C2-2EAE-4903-86C0-DC1C07D2E2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ambria" panose="02040503050406030204" pitchFamily="18" charset="0"/>
                <a:ea typeface="Cambria" panose="02040503050406030204" pitchFamily="18" charset="0"/>
              </a:defRPr>
            </a:lvl1pPr>
          </a:lstStyle>
          <a:p>
            <a:endParaRPr lang="en-US"/>
          </a:p>
        </p:txBody>
      </p:sp>
      <p:sp>
        <p:nvSpPr>
          <p:cNvPr id="6" name="Slide Number Placeholder 5">
            <a:extLst>
              <a:ext uri="{FF2B5EF4-FFF2-40B4-BE49-F238E27FC236}">
                <a16:creationId xmlns:a16="http://schemas.microsoft.com/office/drawing/2014/main" id="{B81D39BA-93CE-49B5-A504-EF7E095D4C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ambria" panose="02040503050406030204" pitchFamily="18" charset="0"/>
                <a:ea typeface="Cambria" panose="02040503050406030204" pitchFamily="18" charset="0"/>
              </a:defRPr>
            </a:lvl1pPr>
          </a:lstStyle>
          <a:p>
            <a:fld id="{460A0532-F395-4844-A4A9-A77B31D44342}" type="slidenum">
              <a:rPr lang="en-US" smtClean="0"/>
              <a:pPr/>
              <a:t>‹#›</a:t>
            </a:fld>
            <a:endParaRPr lang="en-US"/>
          </a:p>
        </p:txBody>
      </p:sp>
    </p:spTree>
    <p:extLst>
      <p:ext uri="{BB962C8B-B14F-4D97-AF65-F5344CB8AC3E}">
        <p14:creationId xmlns:p14="http://schemas.microsoft.com/office/powerpoint/2010/main" val="2184155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Cambria" panose="02040503050406030204" pitchFamily="18" charset="0"/>
          <a:ea typeface="Cambria" panose="02040503050406030204" pitchFamily="18"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9781C5-E59C-4BB0-8873-BAE364B44A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A6E6EC-8099-4621-86BD-B6DF198E7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5271C2-25A2-4664-A0AB-5B82465A65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Cambria" panose="02040503050406030204" pitchFamily="18" charset="0"/>
                <a:ea typeface="Cambria" panose="02040503050406030204" pitchFamily="18" charset="0"/>
              </a:defRPr>
            </a:lvl1pPr>
          </a:lstStyle>
          <a:p>
            <a:fld id="{1804209A-C6D7-496B-8537-5782FDB96C12}" type="datetimeFigureOut">
              <a:rPr lang="en-US" smtClean="0"/>
              <a:pPr/>
              <a:t>12/5/2024</a:t>
            </a:fld>
            <a:endParaRPr lang="en-US"/>
          </a:p>
        </p:txBody>
      </p:sp>
      <p:sp>
        <p:nvSpPr>
          <p:cNvPr id="5" name="Footer Placeholder 4">
            <a:extLst>
              <a:ext uri="{FF2B5EF4-FFF2-40B4-BE49-F238E27FC236}">
                <a16:creationId xmlns:a16="http://schemas.microsoft.com/office/drawing/2014/main" id="{3E049414-77F4-48CA-8DC1-3DC095D90F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Cambria" panose="02040503050406030204" pitchFamily="18" charset="0"/>
                <a:ea typeface="Cambria" panose="02040503050406030204" pitchFamily="18" charset="0"/>
              </a:defRPr>
            </a:lvl1pPr>
          </a:lstStyle>
          <a:p>
            <a:endParaRPr lang="en-US"/>
          </a:p>
        </p:txBody>
      </p:sp>
      <p:sp>
        <p:nvSpPr>
          <p:cNvPr id="6" name="Slide Number Placeholder 5">
            <a:extLst>
              <a:ext uri="{FF2B5EF4-FFF2-40B4-BE49-F238E27FC236}">
                <a16:creationId xmlns:a16="http://schemas.microsoft.com/office/drawing/2014/main" id="{752AD38D-6CAF-4577-964B-6FC51F2665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Cambria" panose="02040503050406030204" pitchFamily="18" charset="0"/>
                <a:ea typeface="Cambria" panose="02040503050406030204" pitchFamily="18" charset="0"/>
              </a:defRPr>
            </a:lvl1pPr>
          </a:lstStyle>
          <a:p>
            <a:fld id="{6C87352C-6AF1-4D42-A15A-45C6FA13D254}" type="slidenum">
              <a:rPr lang="en-US" smtClean="0"/>
              <a:pPr/>
              <a:t>‹#›</a:t>
            </a:fld>
            <a:endParaRPr lang="en-US"/>
          </a:p>
        </p:txBody>
      </p:sp>
    </p:spTree>
    <p:extLst>
      <p:ext uri="{BB962C8B-B14F-4D97-AF65-F5344CB8AC3E}">
        <p14:creationId xmlns:p14="http://schemas.microsoft.com/office/powerpoint/2010/main" val="13146911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Cambria" panose="02040503050406030204" pitchFamily="18" charset="0"/>
          <a:ea typeface="Cambria" panose="02040503050406030204" pitchFamily="18"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en.wikipedia.org/wiki/Broken_windows_theory"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5" Type="http://schemas.openxmlformats.org/officeDocument/2006/relationships/image" Target="NULL"/><Relationship Id="rId4" Type="http://schemas.openxmlformats.org/officeDocument/2006/relationships/image" Target="NULL"/></Relationships>
</file>

<file path=ppt/slides/_rels/slide2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5" Type="http://schemas.openxmlformats.org/officeDocument/2006/relationships/image" Target="NULL"/><Relationship Id="rId4" Type="http://schemas.openxmlformats.org/officeDocument/2006/relationships/image" Target="NULL"/></Relationships>
</file>

<file path=ppt/slides/_rels/slide2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5" Type="http://schemas.openxmlformats.org/officeDocument/2006/relationships/image" Target="NULL"/><Relationship Id="rId4" Type="http://schemas.openxmlformats.org/officeDocument/2006/relationships/image" Target="NULL"/></Relationships>
</file>

<file path=ppt/slides/_rels/slide2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5" Type="http://schemas.openxmlformats.org/officeDocument/2006/relationships/image" Target="NULL"/><Relationship Id="rId4" Type="http://schemas.openxmlformats.org/officeDocument/2006/relationships/image" Target="NULL"/></Relationships>
</file>

<file path=ppt/slides/_rels/slide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5" Type="http://schemas.openxmlformats.org/officeDocument/2006/relationships/image" Target="NULL"/><Relationship Id="rId4" Type="http://schemas.openxmlformats.org/officeDocument/2006/relationships/image" Target="NUL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3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3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3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3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3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36.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3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3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40.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4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4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44.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45.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46.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4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NUL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media/image10.png"/><Relationship Id="rId4" Type="http://schemas.openxmlformats.org/officeDocument/2006/relationships/image" Target="../media/image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13.xml"/><Relationship Id="rId4" Type="http://schemas.openxmlformats.org/officeDocument/2006/relationships/image" Target="NUL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46C8B-9AB5-4B36-A44B-C6B45DD2D01C}"/>
              </a:ext>
            </a:extLst>
          </p:cNvPr>
          <p:cNvSpPr>
            <a:spLocks noGrp="1"/>
          </p:cNvSpPr>
          <p:nvPr>
            <p:ph type="ctrTitle"/>
          </p:nvPr>
        </p:nvSpPr>
        <p:spPr>
          <a:xfrm>
            <a:off x="1524000" y="2756288"/>
            <a:ext cx="9144000" cy="2387600"/>
          </a:xfrm>
        </p:spPr>
        <p:txBody>
          <a:bodyPr>
            <a:normAutofit fontScale="90000"/>
          </a:bodyPr>
          <a:lstStyle/>
          <a:p>
            <a:r>
              <a:rPr lang="en-US" dirty="0"/>
              <a:t>INST 414: Data Science Techniques</a:t>
            </a:r>
            <a:br>
              <a:rPr lang="en-US" dirty="0"/>
            </a:br>
            <a:r>
              <a:rPr lang="en-US" dirty="0"/>
              <a:t> </a:t>
            </a:r>
            <a:br>
              <a:rPr lang="en-US" sz="4900" dirty="0"/>
            </a:br>
            <a:r>
              <a:rPr lang="en-US" sz="4900" dirty="0"/>
              <a:t>The Impact of </a:t>
            </a:r>
            <a:br>
              <a:rPr lang="en-US" sz="4900" dirty="0"/>
            </a:br>
            <a:r>
              <a:rPr lang="en-US" sz="4900" dirty="0"/>
              <a:t>Algorithms </a:t>
            </a:r>
            <a:br>
              <a:rPr lang="en-US" sz="4900" dirty="0"/>
            </a:br>
            <a:r>
              <a:rPr lang="en-US" sz="4900" dirty="0"/>
              <a:t>and </a:t>
            </a:r>
            <a:br>
              <a:rPr lang="en-US" sz="4900" dirty="0"/>
            </a:br>
            <a:r>
              <a:rPr lang="en-US" sz="4900" dirty="0"/>
              <a:t>Fairness</a:t>
            </a:r>
            <a:endParaRPr lang="en-US" dirty="0"/>
          </a:p>
        </p:txBody>
      </p:sp>
    </p:spTree>
    <p:extLst>
      <p:ext uri="{BB962C8B-B14F-4D97-AF65-F5344CB8AC3E}">
        <p14:creationId xmlns:p14="http://schemas.microsoft.com/office/powerpoint/2010/main" val="39223730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A626C-6016-4AFE-A3A3-82B8BA196E1C}"/>
              </a:ext>
            </a:extLst>
          </p:cNvPr>
          <p:cNvSpPr>
            <a:spLocks noGrp="1"/>
          </p:cNvSpPr>
          <p:nvPr>
            <p:ph type="title"/>
          </p:nvPr>
        </p:nvSpPr>
        <p:spPr>
          <a:xfrm>
            <a:off x="838200" y="2766218"/>
            <a:ext cx="10515600" cy="1325563"/>
          </a:xfrm>
        </p:spPr>
        <p:txBody>
          <a:bodyPr>
            <a:normAutofit/>
          </a:bodyPr>
          <a:lstStyle/>
          <a:p>
            <a:pPr algn="ctr"/>
            <a:r>
              <a:rPr lang="en-US" dirty="0">
                <a:solidFill>
                  <a:schemeClr val="bg1"/>
                </a:solidFill>
              </a:rPr>
              <a:t>Assessing Algorithms</a:t>
            </a:r>
          </a:p>
        </p:txBody>
      </p:sp>
    </p:spTree>
    <p:extLst>
      <p:ext uri="{BB962C8B-B14F-4D97-AF65-F5344CB8AC3E}">
        <p14:creationId xmlns:p14="http://schemas.microsoft.com/office/powerpoint/2010/main" val="1821687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5C58A-A52A-9087-B48B-4EA0095F95EA}"/>
              </a:ext>
            </a:extLst>
          </p:cNvPr>
          <p:cNvSpPr>
            <a:spLocks noGrp="1"/>
          </p:cNvSpPr>
          <p:nvPr>
            <p:ph type="title"/>
          </p:nvPr>
        </p:nvSpPr>
        <p:spPr/>
        <p:txBody>
          <a:bodyPr/>
          <a:lstStyle/>
          <a:p>
            <a:r>
              <a:rPr lang="en-US" dirty="0"/>
              <a:t>For the Final</a:t>
            </a:r>
          </a:p>
        </p:txBody>
      </p:sp>
      <p:sp>
        <p:nvSpPr>
          <p:cNvPr id="3" name="Content Placeholder 2">
            <a:extLst>
              <a:ext uri="{FF2B5EF4-FFF2-40B4-BE49-F238E27FC236}">
                <a16:creationId xmlns:a16="http://schemas.microsoft.com/office/drawing/2014/main" id="{79F30F8F-5F99-DE2B-1B4D-20A86E58B0B6}"/>
              </a:ext>
            </a:extLst>
          </p:cNvPr>
          <p:cNvSpPr>
            <a:spLocks noGrp="1"/>
          </p:cNvSpPr>
          <p:nvPr>
            <p:ph idx="1"/>
          </p:nvPr>
        </p:nvSpPr>
        <p:spPr/>
        <p:txBody>
          <a:bodyPr>
            <a:normAutofit/>
          </a:bodyPr>
          <a:lstStyle/>
          <a:p>
            <a:r>
              <a:rPr lang="en-US" dirty="0"/>
              <a:t>You have been tasked with reducing crime in your state. To do so, you will target an intervention to those who are arrested each year (about 20,000 people)</a:t>
            </a:r>
          </a:p>
          <a:p>
            <a:endParaRPr lang="en-US" dirty="0"/>
          </a:p>
          <a:p>
            <a:pPr marL="457200" lvl="1" indent="0">
              <a:buNone/>
            </a:pPr>
            <a:endParaRPr lang="en-US" dirty="0"/>
          </a:p>
          <a:p>
            <a:endParaRPr lang="en-US" dirty="0"/>
          </a:p>
        </p:txBody>
      </p:sp>
    </p:spTree>
    <p:extLst>
      <p:ext uri="{BB962C8B-B14F-4D97-AF65-F5344CB8AC3E}">
        <p14:creationId xmlns:p14="http://schemas.microsoft.com/office/powerpoint/2010/main" val="2272742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5E636-9FCD-2A16-B27B-46894C0FAED4}"/>
              </a:ext>
            </a:extLst>
          </p:cNvPr>
          <p:cNvSpPr>
            <a:spLocks noGrp="1"/>
          </p:cNvSpPr>
          <p:nvPr>
            <p:ph type="title"/>
          </p:nvPr>
        </p:nvSpPr>
        <p:spPr/>
        <p:txBody>
          <a:bodyPr/>
          <a:lstStyle/>
          <a:p>
            <a:r>
              <a:rPr lang="en-US" dirty="0"/>
              <a:t>Final</a:t>
            </a:r>
          </a:p>
        </p:txBody>
      </p:sp>
      <p:sp>
        <p:nvSpPr>
          <p:cNvPr id="3" name="Content Placeholder 2">
            <a:extLst>
              <a:ext uri="{FF2B5EF4-FFF2-40B4-BE49-F238E27FC236}">
                <a16:creationId xmlns:a16="http://schemas.microsoft.com/office/drawing/2014/main" id="{479EA93D-A416-1243-3DBA-BBC3409D30F3}"/>
              </a:ext>
            </a:extLst>
          </p:cNvPr>
          <p:cNvSpPr>
            <a:spLocks noGrp="1"/>
          </p:cNvSpPr>
          <p:nvPr>
            <p:ph idx="1"/>
          </p:nvPr>
        </p:nvSpPr>
        <p:spPr/>
        <p:txBody>
          <a:bodyPr/>
          <a:lstStyle/>
          <a:p>
            <a:r>
              <a:rPr lang="en-US" dirty="0"/>
              <a:t>Build two algorithms</a:t>
            </a:r>
          </a:p>
          <a:p>
            <a:pPr lvl="1"/>
            <a:r>
              <a:rPr lang="en-US" dirty="0"/>
              <a:t>Create two features (I have provided others)</a:t>
            </a:r>
          </a:p>
          <a:p>
            <a:pPr lvl="1"/>
            <a:r>
              <a:rPr lang="en-US" dirty="0"/>
              <a:t>Build two algorithms:</a:t>
            </a:r>
          </a:p>
          <a:p>
            <a:pPr lvl="2"/>
            <a:r>
              <a:rPr lang="en-US" dirty="0"/>
              <a:t>Predict violent rearrest</a:t>
            </a:r>
          </a:p>
          <a:p>
            <a:pPr lvl="2"/>
            <a:r>
              <a:rPr lang="en-US" dirty="0"/>
              <a:t>Predict any rearrest</a:t>
            </a:r>
          </a:p>
          <a:p>
            <a:pPr lvl="1"/>
            <a:r>
              <a:rPr lang="en-US" dirty="0"/>
              <a:t>Compute performance and fairness metrics</a:t>
            </a:r>
          </a:p>
          <a:p>
            <a:pPr lvl="1"/>
            <a:r>
              <a:rPr lang="en-US" dirty="0"/>
              <a:t>Compare social benefit of the two interventions and choose which one to implement.</a:t>
            </a:r>
          </a:p>
        </p:txBody>
      </p:sp>
    </p:spTree>
    <p:extLst>
      <p:ext uri="{BB962C8B-B14F-4D97-AF65-F5344CB8AC3E}">
        <p14:creationId xmlns:p14="http://schemas.microsoft.com/office/powerpoint/2010/main" val="4108131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7EFB8-D466-1241-CE9C-3E2570C6F941}"/>
              </a:ext>
            </a:extLst>
          </p:cNvPr>
          <p:cNvSpPr>
            <a:spLocks noGrp="1"/>
          </p:cNvSpPr>
          <p:nvPr>
            <p:ph type="title"/>
          </p:nvPr>
        </p:nvSpPr>
        <p:spPr/>
        <p:txBody>
          <a:bodyPr/>
          <a:lstStyle/>
          <a:p>
            <a:r>
              <a:rPr lang="en-US" dirty="0"/>
              <a:t>Precision Enforcement</a:t>
            </a:r>
          </a:p>
        </p:txBody>
      </p:sp>
      <p:sp>
        <p:nvSpPr>
          <p:cNvPr id="3" name="Content Placeholder 2">
            <a:extLst>
              <a:ext uri="{FF2B5EF4-FFF2-40B4-BE49-F238E27FC236}">
                <a16:creationId xmlns:a16="http://schemas.microsoft.com/office/drawing/2014/main" id="{95804A9E-ECDD-52A0-57F0-0653242A3CD0}"/>
              </a:ext>
            </a:extLst>
          </p:cNvPr>
          <p:cNvSpPr>
            <a:spLocks noGrp="1"/>
          </p:cNvSpPr>
          <p:nvPr>
            <p:ph idx="1"/>
          </p:nvPr>
        </p:nvSpPr>
        <p:spPr>
          <a:xfrm>
            <a:off x="838200" y="4680065"/>
            <a:ext cx="10515600" cy="1496898"/>
          </a:xfrm>
        </p:spPr>
        <p:txBody>
          <a:bodyPr/>
          <a:lstStyle/>
          <a:p>
            <a:pPr marL="0" indent="0">
              <a:buNone/>
            </a:pPr>
            <a:r>
              <a:rPr lang="en-US" dirty="0"/>
              <a:t>Everyone who is predicted to be high risk of a violent crime will be detained. The cost of detention is relatively high.</a:t>
            </a:r>
          </a:p>
          <a:p>
            <a:pPr marL="0" indent="0">
              <a:buNone/>
            </a:pPr>
            <a:r>
              <a:rPr lang="en-US" dirty="0"/>
              <a:t>Target a small number of people with a high-intensity intervention.</a:t>
            </a:r>
          </a:p>
        </p:txBody>
      </p:sp>
      <p:pic>
        <p:nvPicPr>
          <p:cNvPr id="5" name="Picture 4">
            <a:extLst>
              <a:ext uri="{FF2B5EF4-FFF2-40B4-BE49-F238E27FC236}">
                <a16:creationId xmlns:a16="http://schemas.microsoft.com/office/drawing/2014/main" id="{1B2925A3-B8E9-C77C-8F84-F69A03423D7C}"/>
              </a:ext>
            </a:extLst>
          </p:cNvPr>
          <p:cNvPicPr>
            <a:picLocks noChangeAspect="1"/>
          </p:cNvPicPr>
          <p:nvPr/>
        </p:nvPicPr>
        <p:blipFill>
          <a:blip r:embed="rId2"/>
          <a:stretch>
            <a:fillRect/>
          </a:stretch>
        </p:blipFill>
        <p:spPr>
          <a:xfrm>
            <a:off x="1226804" y="1690688"/>
            <a:ext cx="8375106" cy="2408129"/>
          </a:xfrm>
          <a:prstGeom prst="rect">
            <a:avLst/>
          </a:prstGeom>
        </p:spPr>
      </p:pic>
    </p:spTree>
    <p:extLst>
      <p:ext uri="{BB962C8B-B14F-4D97-AF65-F5344CB8AC3E}">
        <p14:creationId xmlns:p14="http://schemas.microsoft.com/office/powerpoint/2010/main" val="2970100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B49E7-CA20-3EBF-2952-0008C64207FA}"/>
              </a:ext>
            </a:extLst>
          </p:cNvPr>
          <p:cNvSpPr>
            <a:spLocks noGrp="1"/>
          </p:cNvSpPr>
          <p:nvPr>
            <p:ph type="title"/>
          </p:nvPr>
        </p:nvSpPr>
        <p:spPr/>
        <p:txBody>
          <a:bodyPr/>
          <a:lstStyle/>
          <a:p>
            <a:r>
              <a:rPr lang="en-US" dirty="0"/>
              <a:t>Broken Windows + Online Therapy</a:t>
            </a:r>
          </a:p>
        </p:txBody>
      </p:sp>
      <p:sp>
        <p:nvSpPr>
          <p:cNvPr id="3" name="Content Placeholder 2">
            <a:extLst>
              <a:ext uri="{FF2B5EF4-FFF2-40B4-BE49-F238E27FC236}">
                <a16:creationId xmlns:a16="http://schemas.microsoft.com/office/drawing/2014/main" id="{3F4F30E2-1AC8-5C2F-9732-F7500A3C2F6F}"/>
              </a:ext>
            </a:extLst>
          </p:cNvPr>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r>
              <a:rPr lang="en-US" dirty="0"/>
              <a:t>Everyone who is predicted to be high risk of any crime will be offered a low cost online behavioral health counseling</a:t>
            </a:r>
          </a:p>
          <a:p>
            <a:r>
              <a:rPr lang="en-US" dirty="0"/>
              <a:t>Target a large number of people with lower cost intervention</a:t>
            </a:r>
          </a:p>
        </p:txBody>
      </p:sp>
      <p:pic>
        <p:nvPicPr>
          <p:cNvPr id="5" name="Picture 4">
            <a:hlinkClick r:id="rId2"/>
            <a:extLst>
              <a:ext uri="{FF2B5EF4-FFF2-40B4-BE49-F238E27FC236}">
                <a16:creationId xmlns:a16="http://schemas.microsoft.com/office/drawing/2014/main" id="{151DD892-F9A8-0167-4D84-34F09FC62034}"/>
              </a:ext>
            </a:extLst>
          </p:cNvPr>
          <p:cNvPicPr>
            <a:picLocks noChangeAspect="1"/>
          </p:cNvPicPr>
          <p:nvPr/>
        </p:nvPicPr>
        <p:blipFill>
          <a:blip r:embed="rId3"/>
          <a:stretch>
            <a:fillRect/>
          </a:stretch>
        </p:blipFill>
        <p:spPr>
          <a:xfrm>
            <a:off x="1138760" y="1933336"/>
            <a:ext cx="9914479" cy="1943268"/>
          </a:xfrm>
          <a:prstGeom prst="rect">
            <a:avLst/>
          </a:prstGeom>
        </p:spPr>
      </p:pic>
    </p:spTree>
    <p:extLst>
      <p:ext uri="{BB962C8B-B14F-4D97-AF65-F5344CB8AC3E}">
        <p14:creationId xmlns:p14="http://schemas.microsoft.com/office/powerpoint/2010/main" val="2184994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4E9C2-FCE6-8A05-6591-1C8FC6B00818}"/>
              </a:ext>
            </a:extLst>
          </p:cNvPr>
          <p:cNvSpPr>
            <a:spLocks noGrp="1"/>
          </p:cNvSpPr>
          <p:nvPr>
            <p:ph type="title"/>
          </p:nvPr>
        </p:nvSpPr>
        <p:spPr/>
        <p:txBody>
          <a:bodyPr/>
          <a:lstStyle/>
          <a:p>
            <a:r>
              <a:rPr lang="en-US" dirty="0"/>
              <a:t>Our Example</a:t>
            </a:r>
          </a:p>
        </p:txBody>
      </p:sp>
      <p:sp>
        <p:nvSpPr>
          <p:cNvPr id="3" name="Content Placeholder 2">
            <a:extLst>
              <a:ext uri="{FF2B5EF4-FFF2-40B4-BE49-F238E27FC236}">
                <a16:creationId xmlns:a16="http://schemas.microsoft.com/office/drawing/2014/main" id="{C27F7F5B-57C2-D688-6399-52FE0EC29AB9}"/>
              </a:ext>
            </a:extLst>
          </p:cNvPr>
          <p:cNvSpPr>
            <a:spLocks noGrp="1"/>
          </p:cNvSpPr>
          <p:nvPr>
            <p:ph idx="1"/>
          </p:nvPr>
        </p:nvSpPr>
        <p:spPr/>
        <p:txBody>
          <a:bodyPr>
            <a:normAutofit lnSpcReduction="10000"/>
          </a:bodyPr>
          <a:lstStyle/>
          <a:p>
            <a:r>
              <a:rPr lang="en-US" dirty="0"/>
              <a:t>Policy Option #1</a:t>
            </a:r>
          </a:p>
          <a:p>
            <a:pPr lvl="1"/>
            <a:r>
              <a:rPr lang="en-US" dirty="0"/>
              <a:t>Algorithm: Violent Re-arrest</a:t>
            </a:r>
          </a:p>
          <a:p>
            <a:pPr lvl="1"/>
            <a:r>
              <a:rPr lang="en-US" dirty="0"/>
              <a:t>Intervention: Detention</a:t>
            </a:r>
          </a:p>
          <a:p>
            <a:pPr lvl="2"/>
            <a:r>
              <a:rPr lang="en-US" dirty="0"/>
              <a:t>Slots: 250</a:t>
            </a:r>
          </a:p>
          <a:p>
            <a:pPr lvl="2"/>
            <a:r>
              <a:rPr lang="en-US" dirty="0"/>
              <a:t>Treatment Effect: 70% reduction (on all types of rearrests)</a:t>
            </a:r>
          </a:p>
          <a:p>
            <a:endParaRPr lang="en-US" dirty="0"/>
          </a:p>
          <a:p>
            <a:r>
              <a:rPr lang="en-US" dirty="0"/>
              <a:t>Policy Option #2</a:t>
            </a:r>
          </a:p>
          <a:p>
            <a:pPr lvl="1"/>
            <a:r>
              <a:rPr lang="en-US" dirty="0"/>
              <a:t>Algorithm: Any Re-arrest</a:t>
            </a:r>
          </a:p>
          <a:p>
            <a:pPr lvl="1"/>
            <a:r>
              <a:rPr lang="en-US" dirty="0"/>
              <a:t>Intervention: Online Therapy</a:t>
            </a:r>
          </a:p>
          <a:p>
            <a:pPr lvl="2"/>
            <a:r>
              <a:rPr lang="en-US" dirty="0"/>
              <a:t>Slots: 1,000</a:t>
            </a:r>
          </a:p>
          <a:p>
            <a:pPr lvl="2"/>
            <a:r>
              <a:rPr lang="en-US" dirty="0"/>
              <a:t>Treatment Effect: 20% reduction (on all types of rearrests)</a:t>
            </a:r>
          </a:p>
          <a:p>
            <a:endParaRPr lang="en-US" dirty="0"/>
          </a:p>
        </p:txBody>
      </p:sp>
    </p:spTree>
    <p:extLst>
      <p:ext uri="{BB962C8B-B14F-4D97-AF65-F5344CB8AC3E}">
        <p14:creationId xmlns:p14="http://schemas.microsoft.com/office/powerpoint/2010/main" val="3471937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355A5-171C-337A-48CB-B526EAEDC471}"/>
              </a:ext>
            </a:extLst>
          </p:cNvPr>
          <p:cNvSpPr>
            <a:spLocks noGrp="1"/>
          </p:cNvSpPr>
          <p:nvPr>
            <p:ph type="title"/>
          </p:nvPr>
        </p:nvSpPr>
        <p:spPr/>
        <p:txBody>
          <a:bodyPr/>
          <a:lstStyle/>
          <a:p>
            <a:r>
              <a:rPr lang="en-US" dirty="0"/>
              <a:t>Other Facts</a:t>
            </a:r>
          </a:p>
        </p:txBody>
      </p:sp>
      <p:sp>
        <p:nvSpPr>
          <p:cNvPr id="3" name="Content Placeholder 2">
            <a:extLst>
              <a:ext uri="{FF2B5EF4-FFF2-40B4-BE49-F238E27FC236}">
                <a16:creationId xmlns:a16="http://schemas.microsoft.com/office/drawing/2014/main" id="{7F7AA457-4BB6-9ECB-E3D0-3FCDBD7B8F53}"/>
              </a:ext>
            </a:extLst>
          </p:cNvPr>
          <p:cNvSpPr>
            <a:spLocks noGrp="1"/>
          </p:cNvSpPr>
          <p:nvPr>
            <p:ph idx="1"/>
          </p:nvPr>
        </p:nvSpPr>
        <p:spPr/>
        <p:txBody>
          <a:bodyPr/>
          <a:lstStyle/>
          <a:p>
            <a:pPr marL="0" indent="0">
              <a:buNone/>
            </a:pPr>
            <a:r>
              <a:rPr lang="en-US" dirty="0"/>
              <a:t>We want to incorporate the fact that different crimes and different interventions have different values. </a:t>
            </a:r>
          </a:p>
          <a:p>
            <a:endParaRPr lang="en-US" dirty="0"/>
          </a:p>
          <a:p>
            <a:r>
              <a:rPr lang="en-US" dirty="0"/>
              <a:t>Social cost of a non-violent crime: $2,000</a:t>
            </a:r>
          </a:p>
          <a:p>
            <a:r>
              <a:rPr lang="en-US" dirty="0"/>
              <a:t>Social cost of a violent crime: $50,000</a:t>
            </a:r>
          </a:p>
          <a:p>
            <a:r>
              <a:rPr lang="en-US" dirty="0"/>
              <a:t>Social cost of detention: $6,000</a:t>
            </a:r>
          </a:p>
        </p:txBody>
      </p:sp>
    </p:spTree>
    <p:extLst>
      <p:ext uri="{BB962C8B-B14F-4D97-AF65-F5344CB8AC3E}">
        <p14:creationId xmlns:p14="http://schemas.microsoft.com/office/powerpoint/2010/main" val="5584353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24F4D-A5D7-21C2-94B7-B44C9EA59D44}"/>
              </a:ext>
            </a:extLst>
          </p:cNvPr>
          <p:cNvSpPr>
            <a:spLocks noGrp="1"/>
          </p:cNvSpPr>
          <p:nvPr>
            <p:ph type="title"/>
          </p:nvPr>
        </p:nvSpPr>
        <p:spPr/>
        <p:txBody>
          <a:bodyPr/>
          <a:lstStyle/>
          <a:p>
            <a:r>
              <a:rPr lang="en-US" dirty="0"/>
              <a:t>Benefit of Online Therapy</a:t>
            </a:r>
          </a:p>
        </p:txBody>
      </p:sp>
      <p:sp>
        <p:nvSpPr>
          <p:cNvPr id="3" name="Content Placeholder 2">
            <a:extLst>
              <a:ext uri="{FF2B5EF4-FFF2-40B4-BE49-F238E27FC236}">
                <a16:creationId xmlns:a16="http://schemas.microsoft.com/office/drawing/2014/main" id="{B55DD42C-8A9B-8B1D-54FA-ED8B664CAEB4}"/>
              </a:ext>
            </a:extLst>
          </p:cNvPr>
          <p:cNvSpPr>
            <a:spLocks noGrp="1"/>
          </p:cNvSpPr>
          <p:nvPr>
            <p:ph idx="1"/>
          </p:nvPr>
        </p:nvSpPr>
        <p:spPr/>
        <p:txBody>
          <a:bodyPr>
            <a:normAutofit fontScale="92500" lnSpcReduction="20000"/>
          </a:bodyPr>
          <a:lstStyle/>
          <a:p>
            <a:r>
              <a:rPr lang="en-US" dirty="0"/>
              <a:t>Number of arrests by type among High Risk </a:t>
            </a:r>
            <a:r>
              <a:rPr lang="en-US" b="1" dirty="0"/>
              <a:t>without Online Therapy</a:t>
            </a:r>
          </a:p>
          <a:p>
            <a:pPr lvl="1"/>
            <a:r>
              <a:rPr lang="en-US" dirty="0"/>
              <a:t>Nonviolent: 558</a:t>
            </a:r>
          </a:p>
          <a:p>
            <a:pPr lvl="1"/>
            <a:r>
              <a:rPr lang="en-US" dirty="0"/>
              <a:t>Violent: 96</a:t>
            </a:r>
          </a:p>
          <a:p>
            <a:pPr lvl="1"/>
            <a:endParaRPr lang="en-US" dirty="0"/>
          </a:p>
          <a:p>
            <a:r>
              <a:rPr lang="en-US" dirty="0"/>
              <a:t>Treatment effect is 20%. Meaning after intervention, number of arrests is 20% lower.</a:t>
            </a:r>
          </a:p>
          <a:p>
            <a:endParaRPr lang="en-US" dirty="0"/>
          </a:p>
          <a:p>
            <a:r>
              <a:rPr lang="en-US" dirty="0"/>
              <a:t>New-Old = Old * Treatment Effect</a:t>
            </a:r>
          </a:p>
          <a:p>
            <a:r>
              <a:rPr lang="en-US" dirty="0"/>
              <a:t>Change in number of arrests by type among High Risk </a:t>
            </a:r>
            <a:r>
              <a:rPr lang="en-US" b="1" dirty="0"/>
              <a:t>with Online Therapy</a:t>
            </a:r>
          </a:p>
          <a:p>
            <a:pPr lvl="1"/>
            <a:r>
              <a:rPr lang="en-US" dirty="0"/>
              <a:t>Nonviolent: 558 * -.2 = -112 (fewer nonviolent arrests)</a:t>
            </a:r>
          </a:p>
          <a:p>
            <a:pPr lvl="1"/>
            <a:r>
              <a:rPr lang="en-US" dirty="0"/>
              <a:t>Violent: 96 * -.2 = -19</a:t>
            </a:r>
          </a:p>
          <a:p>
            <a:endParaRPr lang="en-US" dirty="0"/>
          </a:p>
        </p:txBody>
      </p:sp>
    </p:spTree>
    <p:extLst>
      <p:ext uri="{BB962C8B-B14F-4D97-AF65-F5344CB8AC3E}">
        <p14:creationId xmlns:p14="http://schemas.microsoft.com/office/powerpoint/2010/main" val="2065190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24F4D-A5D7-21C2-94B7-B44C9EA59D44}"/>
              </a:ext>
            </a:extLst>
          </p:cNvPr>
          <p:cNvSpPr>
            <a:spLocks noGrp="1"/>
          </p:cNvSpPr>
          <p:nvPr>
            <p:ph type="title"/>
          </p:nvPr>
        </p:nvSpPr>
        <p:spPr/>
        <p:txBody>
          <a:bodyPr/>
          <a:lstStyle/>
          <a:p>
            <a:r>
              <a:rPr lang="en-US" dirty="0"/>
              <a:t>Benefit of Detention</a:t>
            </a:r>
          </a:p>
        </p:txBody>
      </p:sp>
      <p:sp>
        <p:nvSpPr>
          <p:cNvPr id="3" name="Content Placeholder 2">
            <a:extLst>
              <a:ext uri="{FF2B5EF4-FFF2-40B4-BE49-F238E27FC236}">
                <a16:creationId xmlns:a16="http://schemas.microsoft.com/office/drawing/2014/main" id="{B55DD42C-8A9B-8B1D-54FA-ED8B664CAEB4}"/>
              </a:ext>
            </a:extLst>
          </p:cNvPr>
          <p:cNvSpPr>
            <a:spLocks noGrp="1"/>
          </p:cNvSpPr>
          <p:nvPr>
            <p:ph idx="1"/>
          </p:nvPr>
        </p:nvSpPr>
        <p:spPr/>
        <p:txBody>
          <a:bodyPr>
            <a:normAutofit fontScale="92500" lnSpcReduction="10000"/>
          </a:bodyPr>
          <a:lstStyle/>
          <a:p>
            <a:r>
              <a:rPr lang="en-US" dirty="0"/>
              <a:t>Number of arrests by type among High Risk </a:t>
            </a:r>
            <a:r>
              <a:rPr lang="en-US" b="1" dirty="0"/>
              <a:t>without Detention</a:t>
            </a:r>
          </a:p>
          <a:p>
            <a:pPr lvl="1"/>
            <a:r>
              <a:rPr lang="en-US" dirty="0"/>
              <a:t>Nonviolent: 43</a:t>
            </a:r>
          </a:p>
          <a:p>
            <a:pPr lvl="1"/>
            <a:r>
              <a:rPr lang="en-US" dirty="0"/>
              <a:t>Violent: 64</a:t>
            </a:r>
          </a:p>
          <a:p>
            <a:pPr lvl="1"/>
            <a:endParaRPr lang="en-US" dirty="0"/>
          </a:p>
          <a:p>
            <a:r>
              <a:rPr lang="en-US" dirty="0"/>
              <a:t>Treatment effect is 70%. Meaning after intervention, number of arrests is 70% lower.</a:t>
            </a:r>
          </a:p>
          <a:p>
            <a:endParaRPr lang="en-US" dirty="0"/>
          </a:p>
          <a:p>
            <a:r>
              <a:rPr lang="en-US" dirty="0"/>
              <a:t>New-Old = Old * Treatment Effect</a:t>
            </a:r>
          </a:p>
          <a:p>
            <a:r>
              <a:rPr lang="en-US" dirty="0"/>
              <a:t>Change in number of arrests by type among High Risk </a:t>
            </a:r>
            <a:r>
              <a:rPr lang="en-US" b="1" dirty="0"/>
              <a:t>with Detention</a:t>
            </a:r>
          </a:p>
          <a:p>
            <a:pPr lvl="1"/>
            <a:r>
              <a:rPr lang="en-US" dirty="0"/>
              <a:t>Nonviolent: 43 * (-.7) = -30 (fewer nonviolent arrests)</a:t>
            </a:r>
          </a:p>
          <a:p>
            <a:pPr lvl="1"/>
            <a:r>
              <a:rPr lang="en-US" dirty="0"/>
              <a:t>Violent: 64 * (-.7) = -45</a:t>
            </a:r>
          </a:p>
          <a:p>
            <a:endParaRPr lang="en-US" dirty="0"/>
          </a:p>
        </p:txBody>
      </p:sp>
    </p:spTree>
    <p:extLst>
      <p:ext uri="{BB962C8B-B14F-4D97-AF65-F5344CB8AC3E}">
        <p14:creationId xmlns:p14="http://schemas.microsoft.com/office/powerpoint/2010/main" val="3895672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9840C-F66D-4559-BD37-282B4AD0D9D8}"/>
              </a:ext>
            </a:extLst>
          </p:cNvPr>
          <p:cNvSpPr>
            <a:spLocks noGrp="1"/>
          </p:cNvSpPr>
          <p:nvPr>
            <p:ph type="title"/>
          </p:nvPr>
        </p:nvSpPr>
        <p:spPr/>
        <p:txBody>
          <a:bodyPr/>
          <a:lstStyle/>
          <a:p>
            <a:r>
              <a:rPr lang="en-US" dirty="0"/>
              <a:t>Converting Benefit to Dollar Values</a:t>
            </a:r>
          </a:p>
        </p:txBody>
      </p:sp>
      <p:sp>
        <p:nvSpPr>
          <p:cNvPr id="3" name="Content Placeholder 2">
            <a:extLst>
              <a:ext uri="{FF2B5EF4-FFF2-40B4-BE49-F238E27FC236}">
                <a16:creationId xmlns:a16="http://schemas.microsoft.com/office/drawing/2014/main" id="{D7ECB00D-7E52-35E8-3D3E-E01248824EF7}"/>
              </a:ext>
            </a:extLst>
          </p:cNvPr>
          <p:cNvSpPr>
            <a:spLocks noGrp="1"/>
          </p:cNvSpPr>
          <p:nvPr>
            <p:ph idx="1"/>
          </p:nvPr>
        </p:nvSpPr>
        <p:spPr>
          <a:xfrm>
            <a:off x="838200" y="1833938"/>
            <a:ext cx="10515600" cy="4351338"/>
          </a:xfrm>
        </p:spPr>
        <p:txBody>
          <a:bodyPr/>
          <a:lstStyle/>
          <a:p>
            <a:r>
              <a:rPr lang="en-US" dirty="0"/>
              <a:t>Benefit of Intervention = Reduction in Violent Crime * Cost of Violent Crime + Reduction in </a:t>
            </a:r>
            <a:r>
              <a:rPr lang="en-US" dirty="0" err="1"/>
              <a:t>NonViolent</a:t>
            </a:r>
            <a:r>
              <a:rPr lang="en-US" dirty="0"/>
              <a:t> Crime  * Cost of </a:t>
            </a:r>
            <a:r>
              <a:rPr lang="en-US" dirty="0" err="1"/>
              <a:t>NonViolent</a:t>
            </a:r>
            <a:r>
              <a:rPr lang="en-US" dirty="0"/>
              <a:t> Crime</a:t>
            </a:r>
          </a:p>
          <a:p>
            <a:endParaRPr lang="en-US" dirty="0"/>
          </a:p>
          <a:p>
            <a:r>
              <a:rPr lang="en-US" dirty="0"/>
              <a:t>Benefit of Online Therapy = (-19) * 50000 + (-112) * 2000 = -$1.18 mil  </a:t>
            </a:r>
          </a:p>
          <a:p>
            <a:endParaRPr lang="en-US" dirty="0"/>
          </a:p>
          <a:p>
            <a:r>
              <a:rPr lang="en-US" dirty="0"/>
              <a:t>Benefit of Detention= (-45) * 50000 + (-30) * 2000 = -$2.3 mil  </a:t>
            </a:r>
          </a:p>
          <a:p>
            <a:endParaRPr lang="en-US" dirty="0"/>
          </a:p>
        </p:txBody>
      </p:sp>
    </p:spTree>
    <p:extLst>
      <p:ext uri="{BB962C8B-B14F-4D97-AF65-F5344CB8AC3E}">
        <p14:creationId xmlns:p14="http://schemas.microsoft.com/office/powerpoint/2010/main" val="159283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9C86C-8000-97A6-3CB3-385517B7EF36}"/>
              </a:ext>
            </a:extLst>
          </p:cNvPr>
          <p:cNvSpPr>
            <a:spLocks noGrp="1"/>
          </p:cNvSpPr>
          <p:nvPr>
            <p:ph type="title"/>
          </p:nvPr>
        </p:nvSpPr>
        <p:spPr/>
        <p:txBody>
          <a:bodyPr/>
          <a:lstStyle/>
          <a:p>
            <a:r>
              <a:rPr lang="en-US" dirty="0"/>
              <a:t>Cost of Detention</a:t>
            </a:r>
          </a:p>
        </p:txBody>
      </p:sp>
      <p:sp>
        <p:nvSpPr>
          <p:cNvPr id="3" name="Content Placeholder 2">
            <a:extLst>
              <a:ext uri="{FF2B5EF4-FFF2-40B4-BE49-F238E27FC236}">
                <a16:creationId xmlns:a16="http://schemas.microsoft.com/office/drawing/2014/main" id="{D7DA4E84-DD27-25ED-C5EB-6898C34060F0}"/>
              </a:ext>
            </a:extLst>
          </p:cNvPr>
          <p:cNvSpPr>
            <a:spLocks noGrp="1"/>
          </p:cNvSpPr>
          <p:nvPr>
            <p:ph idx="1"/>
          </p:nvPr>
        </p:nvSpPr>
        <p:spPr>
          <a:xfrm>
            <a:off x="829887" y="1825625"/>
            <a:ext cx="10515600" cy="4351338"/>
          </a:xfrm>
        </p:spPr>
        <p:txBody>
          <a:bodyPr>
            <a:normAutofit/>
          </a:bodyPr>
          <a:lstStyle/>
          <a:p>
            <a:r>
              <a:rPr lang="en-US" dirty="0"/>
              <a:t>Cost of Detention = Number of False Positives * Social Cost of Detention</a:t>
            </a:r>
          </a:p>
          <a:p>
            <a:endParaRPr lang="en-US" dirty="0"/>
          </a:p>
          <a:p>
            <a:r>
              <a:rPr lang="en-US" dirty="0"/>
              <a:t>Number of False Positives = Number of People Detained - Number Rearrested for Violent Charge</a:t>
            </a:r>
          </a:p>
          <a:p>
            <a:endParaRPr lang="en-US" dirty="0"/>
          </a:p>
          <a:p>
            <a:r>
              <a:rPr lang="en-US" dirty="0"/>
              <a:t>Number of False Positive  = 250 - 64 = 186 </a:t>
            </a:r>
          </a:p>
          <a:p>
            <a:pPr lvl="1"/>
            <a:endParaRPr lang="en-US" dirty="0"/>
          </a:p>
          <a:p>
            <a:r>
              <a:rPr lang="en-US" dirty="0"/>
              <a:t>Cost of Detention = 186 * 6000 = $1.1 million</a:t>
            </a:r>
          </a:p>
          <a:p>
            <a:endParaRPr lang="en-US" dirty="0"/>
          </a:p>
        </p:txBody>
      </p:sp>
    </p:spTree>
    <p:extLst>
      <p:ext uri="{BB962C8B-B14F-4D97-AF65-F5344CB8AC3E}">
        <p14:creationId xmlns:p14="http://schemas.microsoft.com/office/powerpoint/2010/main" val="20882116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5B67E-4E5C-4DFC-3315-B7763AC49BD8}"/>
              </a:ext>
            </a:extLst>
          </p:cNvPr>
          <p:cNvSpPr>
            <a:spLocks noGrp="1"/>
          </p:cNvSpPr>
          <p:nvPr>
            <p:ph type="title"/>
          </p:nvPr>
        </p:nvSpPr>
        <p:spPr/>
        <p:txBody>
          <a:bodyPr/>
          <a:lstStyle/>
          <a:p>
            <a:r>
              <a:rPr lang="en-US" dirty="0"/>
              <a:t>Compare Interventions</a:t>
            </a:r>
          </a:p>
        </p:txBody>
      </p:sp>
      <p:graphicFrame>
        <p:nvGraphicFramePr>
          <p:cNvPr id="4" name="Table 4">
            <a:extLst>
              <a:ext uri="{FF2B5EF4-FFF2-40B4-BE49-F238E27FC236}">
                <a16:creationId xmlns:a16="http://schemas.microsoft.com/office/drawing/2014/main" id="{41934983-4423-5C59-0D41-8DB7F4607A5D}"/>
              </a:ext>
            </a:extLst>
          </p:cNvPr>
          <p:cNvGraphicFramePr>
            <a:graphicFrameLocks noGrp="1"/>
          </p:cNvGraphicFramePr>
          <p:nvPr>
            <p:ph idx="1"/>
            <p:extLst>
              <p:ext uri="{D42A27DB-BD31-4B8C-83A1-F6EECF244321}">
                <p14:modId xmlns:p14="http://schemas.microsoft.com/office/powerpoint/2010/main" val="726086267"/>
              </p:ext>
            </p:extLst>
          </p:nvPr>
        </p:nvGraphicFramePr>
        <p:xfrm>
          <a:off x="838200" y="2183071"/>
          <a:ext cx="10515597" cy="32759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968614911"/>
                    </a:ext>
                  </a:extLst>
                </a:gridCol>
                <a:gridCol w="3505199">
                  <a:extLst>
                    <a:ext uri="{9D8B030D-6E8A-4147-A177-3AD203B41FA5}">
                      <a16:colId xmlns:a16="http://schemas.microsoft.com/office/drawing/2014/main" val="2152612196"/>
                    </a:ext>
                  </a:extLst>
                </a:gridCol>
                <a:gridCol w="3505199">
                  <a:extLst>
                    <a:ext uri="{9D8B030D-6E8A-4147-A177-3AD203B41FA5}">
                      <a16:colId xmlns:a16="http://schemas.microsoft.com/office/drawing/2014/main" val="935460308"/>
                    </a:ext>
                  </a:extLst>
                </a:gridCol>
              </a:tblGrid>
              <a:tr h="527172">
                <a:tc>
                  <a:txBody>
                    <a:bodyPr/>
                    <a:lstStyle/>
                    <a:p>
                      <a:endParaRPr lang="en-US"/>
                    </a:p>
                  </a:txBody>
                  <a:tcPr/>
                </a:tc>
                <a:tc>
                  <a:txBody>
                    <a:bodyPr/>
                    <a:lstStyle/>
                    <a:p>
                      <a:r>
                        <a:rPr lang="en-US" dirty="0"/>
                        <a:t>Online Therapy</a:t>
                      </a:r>
                    </a:p>
                  </a:txBody>
                  <a:tcPr/>
                </a:tc>
                <a:tc>
                  <a:txBody>
                    <a:bodyPr/>
                    <a:lstStyle/>
                    <a:p>
                      <a:r>
                        <a:rPr lang="en-US" dirty="0"/>
                        <a:t>Detention</a:t>
                      </a:r>
                    </a:p>
                  </a:txBody>
                  <a:tcPr/>
                </a:tc>
                <a:extLst>
                  <a:ext uri="{0D108BD9-81ED-4DB2-BD59-A6C34878D82A}">
                    <a16:rowId xmlns:a16="http://schemas.microsoft.com/office/drawing/2014/main" val="3069775267"/>
                  </a:ext>
                </a:extLst>
              </a:tr>
              <a:tr h="527172">
                <a:tc>
                  <a:txBody>
                    <a:bodyPr/>
                    <a:lstStyle/>
                    <a:p>
                      <a:r>
                        <a:rPr lang="en-US" dirty="0"/>
                        <a:t>Slots</a:t>
                      </a:r>
                    </a:p>
                  </a:txBody>
                  <a:tcPr/>
                </a:tc>
                <a:tc>
                  <a:txBody>
                    <a:bodyPr/>
                    <a:lstStyle/>
                    <a:p>
                      <a:r>
                        <a:rPr lang="en-US" dirty="0"/>
                        <a:t>1,000</a:t>
                      </a:r>
                    </a:p>
                  </a:txBody>
                  <a:tcPr/>
                </a:tc>
                <a:tc>
                  <a:txBody>
                    <a:bodyPr/>
                    <a:lstStyle/>
                    <a:p>
                      <a:r>
                        <a:rPr lang="en-US" dirty="0"/>
                        <a:t>250</a:t>
                      </a:r>
                    </a:p>
                  </a:txBody>
                  <a:tcPr/>
                </a:tc>
                <a:extLst>
                  <a:ext uri="{0D108BD9-81ED-4DB2-BD59-A6C34878D82A}">
                    <a16:rowId xmlns:a16="http://schemas.microsoft.com/office/drawing/2014/main" val="3927902574"/>
                  </a:ext>
                </a:extLst>
              </a:tr>
              <a:tr h="527172">
                <a:tc>
                  <a:txBody>
                    <a:bodyPr/>
                    <a:lstStyle/>
                    <a:p>
                      <a:r>
                        <a:rPr lang="en-US" dirty="0"/>
                        <a:t>Treatment Effect</a:t>
                      </a:r>
                    </a:p>
                  </a:txBody>
                  <a:tcPr/>
                </a:tc>
                <a:tc>
                  <a:txBody>
                    <a:bodyPr/>
                    <a:lstStyle/>
                    <a:p>
                      <a:r>
                        <a:rPr lang="en-US" dirty="0"/>
                        <a:t>-.2</a:t>
                      </a:r>
                    </a:p>
                  </a:txBody>
                  <a:tcPr/>
                </a:tc>
                <a:tc>
                  <a:txBody>
                    <a:bodyPr/>
                    <a:lstStyle/>
                    <a:p>
                      <a:r>
                        <a:rPr lang="en-US" dirty="0"/>
                        <a:t>-.7</a:t>
                      </a:r>
                    </a:p>
                  </a:txBody>
                  <a:tcPr/>
                </a:tc>
                <a:extLst>
                  <a:ext uri="{0D108BD9-81ED-4DB2-BD59-A6C34878D82A}">
                    <a16:rowId xmlns:a16="http://schemas.microsoft.com/office/drawing/2014/main" val="1789362635"/>
                  </a:ext>
                </a:extLst>
              </a:tr>
              <a:tr h="441652">
                <a:tc>
                  <a:txBody>
                    <a:bodyPr/>
                    <a:lstStyle/>
                    <a:p>
                      <a:r>
                        <a:rPr lang="en-US" dirty="0"/>
                        <a:t>Social Benefit </a:t>
                      </a:r>
                    </a:p>
                  </a:txBody>
                  <a:tcPr/>
                </a:tc>
                <a:tc>
                  <a:txBody>
                    <a:bodyPr/>
                    <a:lstStyle/>
                    <a:p>
                      <a:r>
                        <a:rPr lang="en-US" dirty="0"/>
                        <a:t>$1.18 million</a:t>
                      </a:r>
                    </a:p>
                    <a:p>
                      <a:endParaRPr lang="en-US" dirty="0"/>
                    </a:p>
                  </a:txBody>
                  <a:tcPr/>
                </a:tc>
                <a:tc>
                  <a:txBody>
                    <a:bodyPr/>
                    <a:lstStyle/>
                    <a:p>
                      <a:r>
                        <a:rPr lang="en-US" dirty="0"/>
                        <a:t>$2.3 million</a:t>
                      </a:r>
                    </a:p>
                  </a:txBody>
                  <a:tcPr/>
                </a:tc>
                <a:extLst>
                  <a:ext uri="{0D108BD9-81ED-4DB2-BD59-A6C34878D82A}">
                    <a16:rowId xmlns:a16="http://schemas.microsoft.com/office/drawing/2014/main" val="248961178"/>
                  </a:ext>
                </a:extLst>
              </a:tr>
              <a:tr h="527172">
                <a:tc>
                  <a:txBody>
                    <a:bodyPr/>
                    <a:lstStyle/>
                    <a:p>
                      <a:r>
                        <a:rPr lang="en-US" dirty="0"/>
                        <a:t>Social Cost</a:t>
                      </a:r>
                    </a:p>
                  </a:txBody>
                  <a:tcPr/>
                </a:tc>
                <a:tc>
                  <a:txBody>
                    <a:bodyPr/>
                    <a:lstStyle/>
                    <a:p>
                      <a:r>
                        <a:rPr lang="en-US" dirty="0"/>
                        <a:t>$0</a:t>
                      </a:r>
                    </a:p>
                  </a:txBody>
                  <a:tcPr/>
                </a:tc>
                <a:tc>
                  <a:txBody>
                    <a:bodyPr/>
                    <a:lstStyle/>
                    <a:p>
                      <a:r>
                        <a:rPr lang="en-US" dirty="0"/>
                        <a:t>$1.1 million</a:t>
                      </a:r>
                    </a:p>
                  </a:txBody>
                  <a:tcPr/>
                </a:tc>
                <a:extLst>
                  <a:ext uri="{0D108BD9-81ED-4DB2-BD59-A6C34878D82A}">
                    <a16:rowId xmlns:a16="http://schemas.microsoft.com/office/drawing/2014/main" val="3576422018"/>
                  </a:ext>
                </a:extLst>
              </a:tr>
              <a:tr h="527172">
                <a:tc>
                  <a:txBody>
                    <a:bodyPr/>
                    <a:lstStyle/>
                    <a:p>
                      <a:r>
                        <a:rPr lang="en-US" dirty="0"/>
                        <a:t>Total Benefit</a:t>
                      </a:r>
                    </a:p>
                  </a:txBody>
                  <a:tcPr/>
                </a:tc>
                <a:tc>
                  <a:txBody>
                    <a:bodyPr/>
                    <a:lstStyle/>
                    <a:p>
                      <a:r>
                        <a:rPr lang="en-US" dirty="0"/>
                        <a:t>$1.18 million</a:t>
                      </a:r>
                    </a:p>
                  </a:txBody>
                  <a:tcPr/>
                </a:tc>
                <a:tc>
                  <a:txBody>
                    <a:bodyPr/>
                    <a:lstStyle/>
                    <a:p>
                      <a:r>
                        <a:rPr lang="en-US" dirty="0"/>
                        <a:t>$1.2 million</a:t>
                      </a:r>
                    </a:p>
                  </a:txBody>
                  <a:tcPr/>
                </a:tc>
                <a:extLst>
                  <a:ext uri="{0D108BD9-81ED-4DB2-BD59-A6C34878D82A}">
                    <a16:rowId xmlns:a16="http://schemas.microsoft.com/office/drawing/2014/main" val="1514752970"/>
                  </a:ext>
                </a:extLst>
              </a:tr>
            </a:tbl>
          </a:graphicData>
        </a:graphic>
      </p:graphicFrame>
    </p:spTree>
    <p:extLst>
      <p:ext uri="{BB962C8B-B14F-4D97-AF65-F5344CB8AC3E}">
        <p14:creationId xmlns:p14="http://schemas.microsoft.com/office/powerpoint/2010/main" val="3670910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AF626-037E-62C4-F050-7C5A838C4687}"/>
              </a:ext>
            </a:extLst>
          </p:cNvPr>
          <p:cNvSpPr>
            <a:spLocks noGrp="1"/>
          </p:cNvSpPr>
          <p:nvPr>
            <p:ph type="title"/>
          </p:nvPr>
        </p:nvSpPr>
        <p:spPr/>
        <p:txBody>
          <a:bodyPr/>
          <a:lstStyle/>
          <a:p>
            <a:r>
              <a:rPr lang="en-US" dirty="0"/>
              <a:t>Fairness</a:t>
            </a:r>
          </a:p>
        </p:txBody>
      </p:sp>
      <p:graphicFrame>
        <p:nvGraphicFramePr>
          <p:cNvPr id="4" name="Table 4">
            <a:extLst>
              <a:ext uri="{FF2B5EF4-FFF2-40B4-BE49-F238E27FC236}">
                <a16:creationId xmlns:a16="http://schemas.microsoft.com/office/drawing/2014/main" id="{5ACECCBF-7C52-9ECC-3B45-8F807A7F9A88}"/>
              </a:ext>
            </a:extLst>
          </p:cNvPr>
          <p:cNvGraphicFramePr>
            <a:graphicFrameLocks noGrp="1"/>
          </p:cNvGraphicFramePr>
          <p:nvPr>
            <p:ph idx="1"/>
            <p:extLst>
              <p:ext uri="{D42A27DB-BD31-4B8C-83A1-F6EECF244321}">
                <p14:modId xmlns:p14="http://schemas.microsoft.com/office/powerpoint/2010/main" val="1783964609"/>
              </p:ext>
            </p:extLst>
          </p:nvPr>
        </p:nvGraphicFramePr>
        <p:xfrm>
          <a:off x="2533997" y="1825625"/>
          <a:ext cx="5907036" cy="1483360"/>
        </p:xfrm>
        <a:graphic>
          <a:graphicData uri="http://schemas.openxmlformats.org/drawingml/2006/table">
            <a:tbl>
              <a:tblPr firstRow="1" bandRow="1">
                <a:tableStyleId>{5C22544A-7EE6-4342-B048-85BDC9FD1C3A}</a:tableStyleId>
              </a:tblPr>
              <a:tblGrid>
                <a:gridCol w="1969012">
                  <a:extLst>
                    <a:ext uri="{9D8B030D-6E8A-4147-A177-3AD203B41FA5}">
                      <a16:colId xmlns:a16="http://schemas.microsoft.com/office/drawing/2014/main" val="3203576287"/>
                    </a:ext>
                  </a:extLst>
                </a:gridCol>
                <a:gridCol w="1969012">
                  <a:extLst>
                    <a:ext uri="{9D8B030D-6E8A-4147-A177-3AD203B41FA5}">
                      <a16:colId xmlns:a16="http://schemas.microsoft.com/office/drawing/2014/main" val="3220666630"/>
                    </a:ext>
                  </a:extLst>
                </a:gridCol>
                <a:gridCol w="1969012">
                  <a:extLst>
                    <a:ext uri="{9D8B030D-6E8A-4147-A177-3AD203B41FA5}">
                      <a16:colId xmlns:a16="http://schemas.microsoft.com/office/drawing/2014/main" val="2129953107"/>
                    </a:ext>
                  </a:extLst>
                </a:gridCol>
              </a:tblGrid>
              <a:tr h="370840">
                <a:tc>
                  <a:txBody>
                    <a:bodyPr/>
                    <a:lstStyle/>
                    <a:p>
                      <a:pPr algn="ctr"/>
                      <a:r>
                        <a:rPr lang="en-US" dirty="0"/>
                        <a:t>Measure</a:t>
                      </a:r>
                    </a:p>
                  </a:txBody>
                  <a:tcPr anchor="ctr"/>
                </a:tc>
                <a:tc>
                  <a:txBody>
                    <a:bodyPr/>
                    <a:lstStyle/>
                    <a:p>
                      <a:pPr algn="ctr"/>
                      <a:r>
                        <a:rPr lang="en-US" dirty="0"/>
                        <a:t>Race = 0</a:t>
                      </a:r>
                    </a:p>
                  </a:txBody>
                  <a:tcPr anchor="ctr"/>
                </a:tc>
                <a:tc>
                  <a:txBody>
                    <a:bodyPr/>
                    <a:lstStyle/>
                    <a:p>
                      <a:pPr algn="ctr"/>
                      <a:r>
                        <a:rPr lang="en-US" dirty="0"/>
                        <a:t>Race = 1</a:t>
                      </a:r>
                    </a:p>
                  </a:txBody>
                  <a:tcPr anchor="ctr"/>
                </a:tc>
                <a:extLst>
                  <a:ext uri="{0D108BD9-81ED-4DB2-BD59-A6C34878D82A}">
                    <a16:rowId xmlns:a16="http://schemas.microsoft.com/office/drawing/2014/main" val="2817748320"/>
                  </a:ext>
                </a:extLst>
              </a:tr>
              <a:tr h="370840">
                <a:tc>
                  <a:txBody>
                    <a:bodyPr/>
                    <a:lstStyle/>
                    <a:p>
                      <a:pPr algn="ctr"/>
                      <a:r>
                        <a:rPr lang="en-US" dirty="0"/>
                        <a:t>PPV Balance</a:t>
                      </a:r>
                    </a:p>
                  </a:txBody>
                  <a:tcPr anchor="ctr"/>
                </a:tc>
                <a:tc>
                  <a:txBody>
                    <a:bodyPr/>
                    <a:lstStyle/>
                    <a:p>
                      <a:pPr algn="ctr"/>
                      <a:r>
                        <a:rPr lang="en-US" dirty="0"/>
                        <a:t>85%</a:t>
                      </a:r>
                    </a:p>
                  </a:txBody>
                  <a:tcPr anchor="ctr"/>
                </a:tc>
                <a:tc>
                  <a:txBody>
                    <a:bodyPr/>
                    <a:lstStyle/>
                    <a:p>
                      <a:pPr algn="ctr"/>
                      <a:r>
                        <a:rPr lang="en-US" dirty="0"/>
                        <a:t>39%</a:t>
                      </a:r>
                    </a:p>
                  </a:txBody>
                  <a:tcPr anchor="ctr"/>
                </a:tc>
                <a:extLst>
                  <a:ext uri="{0D108BD9-81ED-4DB2-BD59-A6C34878D82A}">
                    <a16:rowId xmlns:a16="http://schemas.microsoft.com/office/drawing/2014/main" val="242947546"/>
                  </a:ext>
                </a:extLst>
              </a:tr>
              <a:tr h="370840">
                <a:tc>
                  <a:txBody>
                    <a:bodyPr/>
                    <a:lstStyle/>
                    <a:p>
                      <a:pPr algn="ctr"/>
                      <a:r>
                        <a:rPr lang="en-US" dirty="0"/>
                        <a:t>FPR Balance</a:t>
                      </a:r>
                    </a:p>
                  </a:txBody>
                  <a:tcPr anchor="ctr"/>
                </a:tc>
                <a:tc>
                  <a:txBody>
                    <a:bodyPr/>
                    <a:lstStyle/>
                    <a:p>
                      <a:pPr algn="ctr"/>
                      <a:r>
                        <a:rPr lang="en-US" dirty="0"/>
                        <a:t>9%</a:t>
                      </a:r>
                    </a:p>
                  </a:txBody>
                  <a:tcPr anchor="ctr"/>
                </a:tc>
                <a:tc>
                  <a:txBody>
                    <a:bodyPr/>
                    <a:lstStyle/>
                    <a:p>
                      <a:pPr algn="ctr"/>
                      <a:r>
                        <a:rPr lang="en-US" dirty="0"/>
                        <a:t>18%</a:t>
                      </a:r>
                    </a:p>
                  </a:txBody>
                  <a:tcPr anchor="ctr"/>
                </a:tc>
                <a:extLst>
                  <a:ext uri="{0D108BD9-81ED-4DB2-BD59-A6C34878D82A}">
                    <a16:rowId xmlns:a16="http://schemas.microsoft.com/office/drawing/2014/main" val="3683622247"/>
                  </a:ext>
                </a:extLst>
              </a:tr>
              <a:tr h="370840">
                <a:tc>
                  <a:txBody>
                    <a:bodyPr/>
                    <a:lstStyle/>
                    <a:p>
                      <a:pPr algn="ctr"/>
                      <a:r>
                        <a:rPr lang="en-US" dirty="0"/>
                        <a:t>FNR Balance</a:t>
                      </a:r>
                    </a:p>
                  </a:txBody>
                  <a:tcPr anchor="ctr"/>
                </a:tc>
                <a:tc>
                  <a:txBody>
                    <a:bodyPr/>
                    <a:lstStyle/>
                    <a:p>
                      <a:pPr algn="ctr"/>
                      <a:r>
                        <a:rPr lang="en-US" dirty="0"/>
                        <a:t>51%</a:t>
                      </a:r>
                    </a:p>
                  </a:txBody>
                  <a:tcPr anchor="ctr"/>
                </a:tc>
                <a:tc>
                  <a:txBody>
                    <a:bodyPr/>
                    <a:lstStyle/>
                    <a:p>
                      <a:pPr algn="ctr"/>
                      <a:r>
                        <a:rPr lang="en-US" dirty="0"/>
                        <a:t>73%</a:t>
                      </a:r>
                    </a:p>
                  </a:txBody>
                  <a:tcPr anchor="ctr"/>
                </a:tc>
                <a:extLst>
                  <a:ext uri="{0D108BD9-81ED-4DB2-BD59-A6C34878D82A}">
                    <a16:rowId xmlns:a16="http://schemas.microsoft.com/office/drawing/2014/main" val="2968170178"/>
                  </a:ext>
                </a:extLst>
              </a:tr>
            </a:tbl>
          </a:graphicData>
        </a:graphic>
      </p:graphicFrame>
      <p:graphicFrame>
        <p:nvGraphicFramePr>
          <p:cNvPr id="5" name="Table 4">
            <a:extLst>
              <a:ext uri="{FF2B5EF4-FFF2-40B4-BE49-F238E27FC236}">
                <a16:creationId xmlns:a16="http://schemas.microsoft.com/office/drawing/2014/main" id="{3E35ACEB-60EE-DF51-22E1-73647AFA468B}"/>
              </a:ext>
            </a:extLst>
          </p:cNvPr>
          <p:cNvGraphicFramePr>
            <a:graphicFrameLocks/>
          </p:cNvGraphicFramePr>
          <p:nvPr>
            <p:extLst>
              <p:ext uri="{D42A27DB-BD31-4B8C-83A1-F6EECF244321}">
                <p14:modId xmlns:p14="http://schemas.microsoft.com/office/powerpoint/2010/main" val="3847315060"/>
              </p:ext>
            </p:extLst>
          </p:nvPr>
        </p:nvGraphicFramePr>
        <p:xfrm>
          <a:off x="2533997" y="4338836"/>
          <a:ext cx="5907036" cy="1483360"/>
        </p:xfrm>
        <a:graphic>
          <a:graphicData uri="http://schemas.openxmlformats.org/drawingml/2006/table">
            <a:tbl>
              <a:tblPr firstRow="1" bandRow="1">
                <a:tableStyleId>{5C22544A-7EE6-4342-B048-85BDC9FD1C3A}</a:tableStyleId>
              </a:tblPr>
              <a:tblGrid>
                <a:gridCol w="1969012">
                  <a:extLst>
                    <a:ext uri="{9D8B030D-6E8A-4147-A177-3AD203B41FA5}">
                      <a16:colId xmlns:a16="http://schemas.microsoft.com/office/drawing/2014/main" val="3203576287"/>
                    </a:ext>
                  </a:extLst>
                </a:gridCol>
                <a:gridCol w="1969012">
                  <a:extLst>
                    <a:ext uri="{9D8B030D-6E8A-4147-A177-3AD203B41FA5}">
                      <a16:colId xmlns:a16="http://schemas.microsoft.com/office/drawing/2014/main" val="3220666630"/>
                    </a:ext>
                  </a:extLst>
                </a:gridCol>
                <a:gridCol w="1969012">
                  <a:extLst>
                    <a:ext uri="{9D8B030D-6E8A-4147-A177-3AD203B41FA5}">
                      <a16:colId xmlns:a16="http://schemas.microsoft.com/office/drawing/2014/main" val="2129953107"/>
                    </a:ext>
                  </a:extLst>
                </a:gridCol>
              </a:tblGrid>
              <a:tr h="370840">
                <a:tc>
                  <a:txBody>
                    <a:bodyPr/>
                    <a:lstStyle/>
                    <a:p>
                      <a:pPr algn="ctr"/>
                      <a:r>
                        <a:rPr lang="en-US" dirty="0"/>
                        <a:t>Measure</a:t>
                      </a:r>
                    </a:p>
                  </a:txBody>
                  <a:tcPr anchor="ctr"/>
                </a:tc>
                <a:tc>
                  <a:txBody>
                    <a:bodyPr/>
                    <a:lstStyle/>
                    <a:p>
                      <a:pPr algn="ctr"/>
                      <a:r>
                        <a:rPr lang="en-US" dirty="0"/>
                        <a:t>Race = 0</a:t>
                      </a:r>
                    </a:p>
                  </a:txBody>
                  <a:tcPr anchor="ctr"/>
                </a:tc>
                <a:tc>
                  <a:txBody>
                    <a:bodyPr/>
                    <a:lstStyle/>
                    <a:p>
                      <a:pPr algn="ctr"/>
                      <a:r>
                        <a:rPr lang="en-US" dirty="0"/>
                        <a:t>Race = 1</a:t>
                      </a:r>
                    </a:p>
                  </a:txBody>
                  <a:tcPr anchor="ctr"/>
                </a:tc>
                <a:extLst>
                  <a:ext uri="{0D108BD9-81ED-4DB2-BD59-A6C34878D82A}">
                    <a16:rowId xmlns:a16="http://schemas.microsoft.com/office/drawing/2014/main" val="2817748320"/>
                  </a:ext>
                </a:extLst>
              </a:tr>
              <a:tr h="370840">
                <a:tc>
                  <a:txBody>
                    <a:bodyPr/>
                    <a:lstStyle/>
                    <a:p>
                      <a:pPr algn="ctr"/>
                      <a:r>
                        <a:rPr lang="en-US" dirty="0"/>
                        <a:t>PPV Balance</a:t>
                      </a:r>
                    </a:p>
                  </a:txBody>
                  <a:tcPr anchor="ctr"/>
                </a:tc>
                <a:tc>
                  <a:txBody>
                    <a:bodyPr/>
                    <a:lstStyle/>
                    <a:p>
                      <a:pPr algn="ctr"/>
                      <a:r>
                        <a:rPr lang="en-US" dirty="0"/>
                        <a:t>36%</a:t>
                      </a:r>
                    </a:p>
                  </a:txBody>
                  <a:tcPr anchor="ctr"/>
                </a:tc>
                <a:tc>
                  <a:txBody>
                    <a:bodyPr/>
                    <a:lstStyle/>
                    <a:p>
                      <a:pPr algn="ctr"/>
                      <a:r>
                        <a:rPr lang="en-US" dirty="0"/>
                        <a:t>21%</a:t>
                      </a:r>
                    </a:p>
                  </a:txBody>
                  <a:tcPr anchor="ctr"/>
                </a:tc>
                <a:extLst>
                  <a:ext uri="{0D108BD9-81ED-4DB2-BD59-A6C34878D82A}">
                    <a16:rowId xmlns:a16="http://schemas.microsoft.com/office/drawing/2014/main" val="242947546"/>
                  </a:ext>
                </a:extLst>
              </a:tr>
              <a:tr h="370840">
                <a:tc>
                  <a:txBody>
                    <a:bodyPr/>
                    <a:lstStyle/>
                    <a:p>
                      <a:pPr algn="ctr"/>
                      <a:r>
                        <a:rPr lang="en-US" dirty="0"/>
                        <a:t>FPR Balance</a:t>
                      </a:r>
                    </a:p>
                  </a:txBody>
                  <a:tcPr anchor="ctr"/>
                </a:tc>
                <a:tc>
                  <a:txBody>
                    <a:bodyPr/>
                    <a:lstStyle/>
                    <a:p>
                      <a:pPr algn="ctr"/>
                      <a:r>
                        <a:rPr lang="en-US" dirty="0"/>
                        <a:t>87%</a:t>
                      </a:r>
                    </a:p>
                  </a:txBody>
                  <a:tcPr anchor="ctr"/>
                </a:tc>
                <a:tc>
                  <a:txBody>
                    <a:bodyPr/>
                    <a:lstStyle/>
                    <a:p>
                      <a:pPr algn="ctr"/>
                      <a:r>
                        <a:rPr lang="en-US" dirty="0"/>
                        <a:t>82%</a:t>
                      </a:r>
                    </a:p>
                  </a:txBody>
                  <a:tcPr anchor="ctr"/>
                </a:tc>
                <a:extLst>
                  <a:ext uri="{0D108BD9-81ED-4DB2-BD59-A6C34878D82A}">
                    <a16:rowId xmlns:a16="http://schemas.microsoft.com/office/drawing/2014/main" val="3683622247"/>
                  </a:ext>
                </a:extLst>
              </a:tr>
              <a:tr h="370840">
                <a:tc>
                  <a:txBody>
                    <a:bodyPr/>
                    <a:lstStyle/>
                    <a:p>
                      <a:pPr algn="ctr"/>
                      <a:r>
                        <a:rPr lang="en-US" dirty="0"/>
                        <a:t>FNR Balance</a:t>
                      </a:r>
                    </a:p>
                  </a:txBody>
                  <a:tcPr anchor="ctr"/>
                </a:tc>
                <a:tc>
                  <a:txBody>
                    <a:bodyPr/>
                    <a:lstStyle/>
                    <a:p>
                      <a:pPr algn="ctr"/>
                      <a:r>
                        <a:rPr lang="en-US" dirty="0"/>
                        <a:t>3%</a:t>
                      </a:r>
                    </a:p>
                  </a:txBody>
                  <a:tcPr anchor="ctr"/>
                </a:tc>
                <a:tc>
                  <a:txBody>
                    <a:bodyPr/>
                    <a:lstStyle/>
                    <a:p>
                      <a:pPr algn="ctr"/>
                      <a:r>
                        <a:rPr lang="en-US" dirty="0"/>
                        <a:t>8%</a:t>
                      </a:r>
                    </a:p>
                  </a:txBody>
                  <a:tcPr anchor="ctr"/>
                </a:tc>
                <a:extLst>
                  <a:ext uri="{0D108BD9-81ED-4DB2-BD59-A6C34878D82A}">
                    <a16:rowId xmlns:a16="http://schemas.microsoft.com/office/drawing/2014/main" val="2968170178"/>
                  </a:ext>
                </a:extLst>
              </a:tr>
            </a:tbl>
          </a:graphicData>
        </a:graphic>
      </p:graphicFrame>
      <p:sp>
        <p:nvSpPr>
          <p:cNvPr id="6" name="TextBox 5">
            <a:extLst>
              <a:ext uri="{FF2B5EF4-FFF2-40B4-BE49-F238E27FC236}">
                <a16:creationId xmlns:a16="http://schemas.microsoft.com/office/drawing/2014/main" id="{5FED2D6F-9172-48E4-F6B2-8DCEBDDB8895}"/>
              </a:ext>
            </a:extLst>
          </p:cNvPr>
          <p:cNvSpPr txBox="1"/>
          <p:nvPr/>
        </p:nvSpPr>
        <p:spPr>
          <a:xfrm>
            <a:off x="4738253" y="1321356"/>
            <a:ext cx="2227811"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Online Therapy</a:t>
            </a:r>
          </a:p>
        </p:txBody>
      </p:sp>
      <p:sp>
        <p:nvSpPr>
          <p:cNvPr id="7" name="TextBox 6">
            <a:extLst>
              <a:ext uri="{FF2B5EF4-FFF2-40B4-BE49-F238E27FC236}">
                <a16:creationId xmlns:a16="http://schemas.microsoft.com/office/drawing/2014/main" id="{0AB7CAC7-89AA-4296-ED02-194ED5D7C390}"/>
              </a:ext>
            </a:extLst>
          </p:cNvPr>
          <p:cNvSpPr txBox="1"/>
          <p:nvPr/>
        </p:nvSpPr>
        <p:spPr>
          <a:xfrm>
            <a:off x="4946072" y="3843250"/>
            <a:ext cx="2227811"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Detention</a:t>
            </a:r>
          </a:p>
        </p:txBody>
      </p:sp>
    </p:spTree>
    <p:extLst>
      <p:ext uri="{BB962C8B-B14F-4D97-AF65-F5344CB8AC3E}">
        <p14:creationId xmlns:p14="http://schemas.microsoft.com/office/powerpoint/2010/main" val="2014908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9A17E-4494-0D98-54D9-E87C9E204EF5}"/>
              </a:ext>
            </a:extLst>
          </p:cNvPr>
          <p:cNvSpPr>
            <a:spLocks noGrp="1"/>
          </p:cNvSpPr>
          <p:nvPr>
            <p:ph type="title"/>
          </p:nvPr>
        </p:nvSpPr>
        <p:spPr/>
        <p:txBody>
          <a:bodyPr/>
          <a:lstStyle/>
          <a:p>
            <a:r>
              <a:rPr lang="en-US" dirty="0"/>
              <a:t>Who Gets the Benefit/Who Suffers the Cost?</a:t>
            </a:r>
          </a:p>
        </p:txBody>
      </p:sp>
      <p:sp>
        <p:nvSpPr>
          <p:cNvPr id="3" name="Content Placeholder 2">
            <a:extLst>
              <a:ext uri="{FF2B5EF4-FFF2-40B4-BE49-F238E27FC236}">
                <a16:creationId xmlns:a16="http://schemas.microsoft.com/office/drawing/2014/main" id="{31CE8C2F-340D-5409-6346-4EF55FDF2A3A}"/>
              </a:ext>
            </a:extLst>
          </p:cNvPr>
          <p:cNvSpPr>
            <a:spLocks noGrp="1"/>
          </p:cNvSpPr>
          <p:nvPr>
            <p:ph idx="1"/>
          </p:nvPr>
        </p:nvSpPr>
        <p:spPr/>
        <p:txBody>
          <a:bodyPr/>
          <a:lstStyle/>
          <a:p>
            <a:r>
              <a:rPr lang="en-US" dirty="0"/>
              <a:t>Questions to ask yourself</a:t>
            </a:r>
          </a:p>
          <a:p>
            <a:pPr lvl="1"/>
            <a:r>
              <a:rPr lang="en-US" dirty="0"/>
              <a:t>For online therapy, since it’s a benefit, is the benefit equally distributed between Race = 0 and Race = 1?</a:t>
            </a:r>
          </a:p>
          <a:p>
            <a:pPr lvl="2"/>
            <a:r>
              <a:rPr lang="en-US" dirty="0"/>
              <a:t>Share in population is 50/50, but share among those predicted high risk is 60/40. So benefit goes more to Race = 0. </a:t>
            </a:r>
          </a:p>
          <a:p>
            <a:pPr lvl="3"/>
            <a:endParaRPr lang="en-US" dirty="0"/>
          </a:p>
          <a:p>
            <a:pPr lvl="1"/>
            <a:r>
              <a:rPr lang="en-US" dirty="0"/>
              <a:t>For detention, since it takes away freedoms, we can look at who is more likely to get detained</a:t>
            </a:r>
          </a:p>
          <a:p>
            <a:pPr lvl="2"/>
            <a:r>
              <a:rPr lang="en-US" dirty="0"/>
              <a:t>Share in population is 50/50, but share among those predicted high risk is 67/33. So Race=0 more likely to bear cost. (Similar Story with FP rate) </a:t>
            </a:r>
          </a:p>
        </p:txBody>
      </p:sp>
    </p:spTree>
    <p:extLst>
      <p:ext uri="{BB962C8B-B14F-4D97-AF65-F5344CB8AC3E}">
        <p14:creationId xmlns:p14="http://schemas.microsoft.com/office/powerpoint/2010/main" val="38379484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6A65-426D-32D4-D118-A3D92AC86303}"/>
              </a:ext>
            </a:extLst>
          </p:cNvPr>
          <p:cNvSpPr>
            <a:spLocks noGrp="1"/>
          </p:cNvSpPr>
          <p:nvPr>
            <p:ph type="title"/>
          </p:nvPr>
        </p:nvSpPr>
        <p:spPr/>
        <p:txBody>
          <a:bodyPr/>
          <a:lstStyle/>
          <a:p>
            <a:r>
              <a:rPr lang="en-US" dirty="0"/>
              <a:t>Upshot</a:t>
            </a:r>
          </a:p>
        </p:txBody>
      </p:sp>
      <p:sp>
        <p:nvSpPr>
          <p:cNvPr id="3" name="Content Placeholder 2">
            <a:extLst>
              <a:ext uri="{FF2B5EF4-FFF2-40B4-BE49-F238E27FC236}">
                <a16:creationId xmlns:a16="http://schemas.microsoft.com/office/drawing/2014/main" id="{14EEAEE9-7EAB-D67B-EB4D-5A16F249BE8C}"/>
              </a:ext>
            </a:extLst>
          </p:cNvPr>
          <p:cNvSpPr>
            <a:spLocks noGrp="1"/>
          </p:cNvSpPr>
          <p:nvPr>
            <p:ph idx="1"/>
          </p:nvPr>
        </p:nvSpPr>
        <p:spPr/>
        <p:txBody>
          <a:bodyPr/>
          <a:lstStyle/>
          <a:p>
            <a:r>
              <a:rPr lang="en-US" dirty="0"/>
              <a:t>If you use the dollar-conversion method, the two interventions have similar benefits.</a:t>
            </a:r>
          </a:p>
          <a:p>
            <a:endParaRPr lang="en-US" dirty="0"/>
          </a:p>
          <a:p>
            <a:r>
              <a:rPr lang="en-US" dirty="0"/>
              <a:t>Where they differ is which subgroup gets the costs and benefits.</a:t>
            </a:r>
          </a:p>
          <a:p>
            <a:endParaRPr lang="en-US" dirty="0"/>
          </a:p>
          <a:p>
            <a:r>
              <a:rPr lang="en-US" dirty="0"/>
              <a:t>For the final, you will consider the tradeoffs between social value of the interventions along with how the benefit is distributed among groups in order to decide which one to implement.</a:t>
            </a:r>
          </a:p>
          <a:p>
            <a:endParaRPr lang="en-US" dirty="0"/>
          </a:p>
        </p:txBody>
      </p:sp>
    </p:spTree>
    <p:extLst>
      <p:ext uri="{BB962C8B-B14F-4D97-AF65-F5344CB8AC3E}">
        <p14:creationId xmlns:p14="http://schemas.microsoft.com/office/powerpoint/2010/main" val="74808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A626C-6016-4AFE-A3A3-82B8BA196E1C}"/>
              </a:ext>
            </a:extLst>
          </p:cNvPr>
          <p:cNvSpPr>
            <a:spLocks noGrp="1"/>
          </p:cNvSpPr>
          <p:nvPr>
            <p:ph type="title"/>
          </p:nvPr>
        </p:nvSpPr>
        <p:spPr>
          <a:xfrm>
            <a:off x="838200" y="2766218"/>
            <a:ext cx="10515600" cy="1325563"/>
          </a:xfrm>
        </p:spPr>
        <p:txBody>
          <a:bodyPr>
            <a:normAutofit/>
          </a:bodyPr>
          <a:lstStyle/>
          <a:p>
            <a:pPr algn="ctr"/>
            <a:r>
              <a:rPr lang="en-US" dirty="0">
                <a:solidFill>
                  <a:schemeClr val="bg1"/>
                </a:solidFill>
              </a:rPr>
              <a:t>Bias in Predictions and </a:t>
            </a:r>
            <a:br>
              <a:rPr lang="en-US" dirty="0">
                <a:solidFill>
                  <a:schemeClr val="bg1"/>
                </a:solidFill>
              </a:rPr>
            </a:br>
            <a:r>
              <a:rPr lang="en-US" dirty="0">
                <a:solidFill>
                  <a:schemeClr val="bg1"/>
                </a:solidFill>
              </a:rPr>
              <a:t>the Importance of Base Rates</a:t>
            </a:r>
          </a:p>
        </p:txBody>
      </p:sp>
    </p:spTree>
    <p:extLst>
      <p:ext uri="{BB962C8B-B14F-4D97-AF65-F5344CB8AC3E}">
        <p14:creationId xmlns:p14="http://schemas.microsoft.com/office/powerpoint/2010/main" val="38674023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E1A6C-BFFA-4B1A-987D-3E9A54FAA82B}"/>
              </a:ext>
            </a:extLst>
          </p:cNvPr>
          <p:cNvSpPr>
            <a:spLocks noGrp="1"/>
          </p:cNvSpPr>
          <p:nvPr>
            <p:ph type="title"/>
          </p:nvPr>
        </p:nvSpPr>
        <p:spPr/>
        <p:txBody>
          <a:bodyPr/>
          <a:lstStyle/>
          <a:p>
            <a:r>
              <a:rPr lang="en-US" dirty="0"/>
              <a:t>What Do We Mean by Bias?</a:t>
            </a:r>
          </a:p>
        </p:txBody>
      </p:sp>
      <p:sp>
        <p:nvSpPr>
          <p:cNvPr id="3" name="Content Placeholder 2">
            <a:extLst>
              <a:ext uri="{FF2B5EF4-FFF2-40B4-BE49-F238E27FC236}">
                <a16:creationId xmlns:a16="http://schemas.microsoft.com/office/drawing/2014/main" id="{4223BC20-96BF-4CEB-AC61-4A6F0D55E0F8}"/>
              </a:ext>
            </a:extLst>
          </p:cNvPr>
          <p:cNvSpPr>
            <a:spLocks noGrp="1"/>
          </p:cNvSpPr>
          <p:nvPr>
            <p:ph idx="1"/>
          </p:nvPr>
        </p:nvSpPr>
        <p:spPr/>
        <p:txBody>
          <a:bodyPr/>
          <a:lstStyle/>
          <a:p>
            <a:r>
              <a:rPr lang="en-US" dirty="0"/>
              <a:t>Define a “fairness criterion” </a:t>
            </a:r>
          </a:p>
          <a:p>
            <a:pPr lvl="1"/>
            <a:r>
              <a:rPr lang="en-US" dirty="0"/>
              <a:t>For example, that False Positive Rates should be balanced between groups (race, gender, age, </a:t>
            </a:r>
            <a:r>
              <a:rPr lang="en-US" dirty="0" err="1"/>
              <a:t>etc</a:t>
            </a:r>
            <a:r>
              <a:rPr lang="en-US" dirty="0"/>
              <a:t>)</a:t>
            </a:r>
          </a:p>
          <a:p>
            <a:pPr lvl="1"/>
            <a:r>
              <a:rPr lang="en-US" dirty="0"/>
              <a:t>Could be more than one</a:t>
            </a:r>
          </a:p>
          <a:p>
            <a:pPr lvl="1"/>
            <a:endParaRPr lang="en-US" dirty="0"/>
          </a:p>
          <a:p>
            <a:r>
              <a:rPr lang="en-US" dirty="0"/>
              <a:t>If the criteria are not balanced, we’ll call this biased or unfair for today’s discussion.</a:t>
            </a:r>
          </a:p>
          <a:p>
            <a:endParaRPr lang="en-US" dirty="0"/>
          </a:p>
          <a:p>
            <a:r>
              <a:rPr lang="en-US" dirty="0">
                <a:solidFill>
                  <a:srgbClr val="FF0000"/>
                </a:solidFill>
              </a:rPr>
              <a:t>There are infinite definitions of bias, so no claim that this is the only way to measure it</a:t>
            </a:r>
          </a:p>
        </p:txBody>
      </p:sp>
    </p:spTree>
    <p:extLst>
      <p:ext uri="{BB962C8B-B14F-4D97-AF65-F5344CB8AC3E}">
        <p14:creationId xmlns:p14="http://schemas.microsoft.com/office/powerpoint/2010/main" val="981126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39E7E-34E6-4410-9E68-9F8F56130CB4}"/>
              </a:ext>
            </a:extLst>
          </p:cNvPr>
          <p:cNvSpPr>
            <a:spLocks noGrp="1"/>
          </p:cNvSpPr>
          <p:nvPr>
            <p:ph type="title"/>
          </p:nvPr>
        </p:nvSpPr>
        <p:spPr/>
        <p:txBody>
          <a:bodyPr/>
          <a:lstStyle/>
          <a:p>
            <a:r>
              <a:rPr lang="en-US" dirty="0"/>
              <a:t>Our Data</a:t>
            </a:r>
          </a:p>
        </p:txBody>
      </p:sp>
      <p:sp>
        <p:nvSpPr>
          <p:cNvPr id="3" name="Content Placeholder 2">
            <a:extLst>
              <a:ext uri="{FF2B5EF4-FFF2-40B4-BE49-F238E27FC236}">
                <a16:creationId xmlns:a16="http://schemas.microsoft.com/office/drawing/2014/main" id="{789BC741-AFD6-490A-9F42-8D453E945593}"/>
              </a:ext>
            </a:extLst>
          </p:cNvPr>
          <p:cNvSpPr>
            <a:spLocks noGrp="1"/>
          </p:cNvSpPr>
          <p:nvPr>
            <p:ph idx="1"/>
          </p:nvPr>
        </p:nvSpPr>
        <p:spPr/>
        <p:txBody>
          <a:bodyPr/>
          <a:lstStyle/>
          <a:p>
            <a:r>
              <a:rPr lang="en-US" dirty="0"/>
              <a:t>Will be coming from police arrests</a:t>
            </a:r>
          </a:p>
          <a:p>
            <a:endParaRPr lang="en-US" dirty="0"/>
          </a:p>
          <a:p>
            <a:r>
              <a:rPr lang="en-US" dirty="0"/>
              <a:t>So we will either want to predict arrest in the future (next year)</a:t>
            </a:r>
          </a:p>
          <a:p>
            <a:endParaRPr lang="en-US" dirty="0"/>
          </a:p>
          <a:p>
            <a:r>
              <a:rPr lang="en-US" dirty="0"/>
              <a:t>Or use arrest data to predict another outcome (likelihood of dropping out of high school)</a:t>
            </a:r>
          </a:p>
          <a:p>
            <a:endParaRPr lang="en-US" dirty="0"/>
          </a:p>
          <a:p>
            <a:r>
              <a:rPr lang="en-US" dirty="0"/>
              <a:t>Or you could use arrest data as a predictor (X) or outcome to predict (Y)</a:t>
            </a:r>
          </a:p>
        </p:txBody>
      </p:sp>
    </p:spTree>
    <p:extLst>
      <p:ext uri="{BB962C8B-B14F-4D97-AF65-F5344CB8AC3E}">
        <p14:creationId xmlns:p14="http://schemas.microsoft.com/office/powerpoint/2010/main" val="2129432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039ED-9BAD-453D-880A-07999242B05F}"/>
              </a:ext>
            </a:extLst>
          </p:cNvPr>
          <p:cNvSpPr>
            <a:spLocks noGrp="1"/>
          </p:cNvSpPr>
          <p:nvPr>
            <p:ph type="title"/>
          </p:nvPr>
        </p:nvSpPr>
        <p:spPr/>
        <p:txBody>
          <a:bodyPr/>
          <a:lstStyle/>
          <a:p>
            <a:r>
              <a:rPr lang="en-US" dirty="0"/>
              <a:t>Where Does Bias Come From? </a:t>
            </a:r>
          </a:p>
        </p:txBody>
      </p:sp>
      <p:sp>
        <p:nvSpPr>
          <p:cNvPr id="4" name="Rectangle 3">
            <a:extLst>
              <a:ext uri="{FF2B5EF4-FFF2-40B4-BE49-F238E27FC236}">
                <a16:creationId xmlns:a16="http://schemas.microsoft.com/office/drawing/2014/main" id="{FAB5D880-1729-47E7-99B4-A7D4FA2B2FCD}"/>
              </a:ext>
            </a:extLst>
          </p:cNvPr>
          <p:cNvSpPr/>
          <p:nvPr/>
        </p:nvSpPr>
        <p:spPr>
          <a:xfrm>
            <a:off x="8236149" y="2940498"/>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cxnSp>
        <p:nvCxnSpPr>
          <p:cNvPr id="10" name="Straight Arrow Connector 9">
            <a:extLst>
              <a:ext uri="{FF2B5EF4-FFF2-40B4-BE49-F238E27FC236}">
                <a16:creationId xmlns:a16="http://schemas.microsoft.com/office/drawing/2014/main" id="{6D28354E-5F68-49C4-9E54-C980BFC29244}"/>
              </a:ext>
            </a:extLst>
          </p:cNvPr>
          <p:cNvCxnSpPr>
            <a:cxnSpLocks/>
            <a:stCxn id="18" idx="3"/>
            <a:endCxn id="17" idx="1"/>
          </p:cNvCxnSpPr>
          <p:nvPr/>
        </p:nvCxnSpPr>
        <p:spPr>
          <a:xfrm flipV="1">
            <a:off x="2284581" y="2654183"/>
            <a:ext cx="1239470" cy="1325803"/>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8714EC3-DF6E-4E7D-8FAC-523A324C9F3C}"/>
              </a:ext>
            </a:extLst>
          </p:cNvPr>
          <p:cNvCxnSpPr>
            <a:cxnSpLocks/>
            <a:stCxn id="18" idx="3"/>
            <a:endCxn id="20" idx="1"/>
          </p:cNvCxnSpPr>
          <p:nvPr/>
        </p:nvCxnSpPr>
        <p:spPr>
          <a:xfrm>
            <a:off x="2284581" y="3979986"/>
            <a:ext cx="1281152" cy="1544057"/>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BDF326A-FB46-41E6-882F-F0B6AB5A9F56}"/>
              </a:ext>
            </a:extLst>
          </p:cNvPr>
          <p:cNvSpPr/>
          <p:nvPr/>
        </p:nvSpPr>
        <p:spPr>
          <a:xfrm>
            <a:off x="424958" y="3580578"/>
            <a:ext cx="1859623" cy="798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 Committed </a:t>
            </a:r>
          </a:p>
        </p:txBody>
      </p:sp>
      <p:sp>
        <p:nvSpPr>
          <p:cNvPr id="19" name="Rectangle 18">
            <a:extLst>
              <a:ext uri="{FF2B5EF4-FFF2-40B4-BE49-F238E27FC236}">
                <a16:creationId xmlns:a16="http://schemas.microsoft.com/office/drawing/2014/main" id="{3406F41C-2101-4BA4-B529-913DC4D1EC2B}"/>
              </a:ext>
            </a:extLst>
          </p:cNvPr>
          <p:cNvSpPr/>
          <p:nvPr/>
        </p:nvSpPr>
        <p:spPr>
          <a:xfrm>
            <a:off x="8236150" y="1614935"/>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17" name="Rectangle 16">
            <a:extLst>
              <a:ext uri="{FF2B5EF4-FFF2-40B4-BE49-F238E27FC236}">
                <a16:creationId xmlns:a16="http://schemas.microsoft.com/office/drawing/2014/main" id="{DFEEE8A5-E50D-43AA-9824-A6FA79D24CD0}"/>
              </a:ext>
            </a:extLst>
          </p:cNvPr>
          <p:cNvSpPr/>
          <p:nvPr/>
        </p:nvSpPr>
        <p:spPr>
          <a:xfrm>
            <a:off x="3524051" y="2254775"/>
            <a:ext cx="1859623" cy="798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 Reported</a:t>
            </a:r>
          </a:p>
        </p:txBody>
      </p:sp>
      <p:sp>
        <p:nvSpPr>
          <p:cNvPr id="20" name="Rectangle 19">
            <a:extLst>
              <a:ext uri="{FF2B5EF4-FFF2-40B4-BE49-F238E27FC236}">
                <a16:creationId xmlns:a16="http://schemas.microsoft.com/office/drawing/2014/main" id="{E6E4B6AB-7903-4731-B13C-2D881C97C2FD}"/>
              </a:ext>
            </a:extLst>
          </p:cNvPr>
          <p:cNvSpPr/>
          <p:nvPr/>
        </p:nvSpPr>
        <p:spPr>
          <a:xfrm>
            <a:off x="3565733" y="5124635"/>
            <a:ext cx="1859623" cy="798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 Not Reported</a:t>
            </a:r>
          </a:p>
        </p:txBody>
      </p:sp>
      <p:cxnSp>
        <p:nvCxnSpPr>
          <p:cNvPr id="24" name="Straight Arrow Connector 23">
            <a:extLst>
              <a:ext uri="{FF2B5EF4-FFF2-40B4-BE49-F238E27FC236}">
                <a16:creationId xmlns:a16="http://schemas.microsoft.com/office/drawing/2014/main" id="{CDF22341-383B-4FF5-8EB2-0D2F2E7ECA71}"/>
              </a:ext>
            </a:extLst>
          </p:cNvPr>
          <p:cNvCxnSpPr>
            <a:cxnSpLocks/>
            <a:stCxn id="17" idx="3"/>
            <a:endCxn id="19" idx="1"/>
          </p:cNvCxnSpPr>
          <p:nvPr/>
        </p:nvCxnSpPr>
        <p:spPr>
          <a:xfrm flipV="1">
            <a:off x="5383674" y="1934975"/>
            <a:ext cx="2852476" cy="719208"/>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26AA689-FE6F-4974-9254-28A43737650E}"/>
              </a:ext>
            </a:extLst>
          </p:cNvPr>
          <p:cNvCxnSpPr>
            <a:cxnSpLocks/>
            <a:stCxn id="17" idx="3"/>
            <a:endCxn id="4" idx="1"/>
          </p:cNvCxnSpPr>
          <p:nvPr/>
        </p:nvCxnSpPr>
        <p:spPr>
          <a:xfrm>
            <a:off x="5383674" y="2654183"/>
            <a:ext cx="2852475" cy="606355"/>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CFC7D99B-5581-4F19-821E-18EBE824FB46}"/>
              </a:ext>
            </a:extLst>
          </p:cNvPr>
          <p:cNvSpPr/>
          <p:nvPr/>
        </p:nvSpPr>
        <p:spPr>
          <a:xfrm>
            <a:off x="8236148" y="5729502"/>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36" name="Rectangle 35">
            <a:extLst>
              <a:ext uri="{FF2B5EF4-FFF2-40B4-BE49-F238E27FC236}">
                <a16:creationId xmlns:a16="http://schemas.microsoft.com/office/drawing/2014/main" id="{BC53DEA1-63B5-4028-9AD2-EA8C3EDCB2BD}"/>
              </a:ext>
            </a:extLst>
          </p:cNvPr>
          <p:cNvSpPr/>
          <p:nvPr/>
        </p:nvSpPr>
        <p:spPr>
          <a:xfrm>
            <a:off x="8236149" y="4403939"/>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cxnSp>
        <p:nvCxnSpPr>
          <p:cNvPr id="37" name="Straight Arrow Connector 36">
            <a:extLst>
              <a:ext uri="{FF2B5EF4-FFF2-40B4-BE49-F238E27FC236}">
                <a16:creationId xmlns:a16="http://schemas.microsoft.com/office/drawing/2014/main" id="{66C25F5E-2D6F-4FDD-80E8-BD28A605F91A}"/>
              </a:ext>
            </a:extLst>
          </p:cNvPr>
          <p:cNvCxnSpPr>
            <a:cxnSpLocks/>
            <a:stCxn id="20" idx="3"/>
            <a:endCxn id="36" idx="1"/>
          </p:cNvCxnSpPr>
          <p:nvPr/>
        </p:nvCxnSpPr>
        <p:spPr>
          <a:xfrm flipV="1">
            <a:off x="5425356" y="4723979"/>
            <a:ext cx="2810793" cy="800064"/>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573100DF-708E-4F5D-8035-8B61CC32D86E}"/>
              </a:ext>
            </a:extLst>
          </p:cNvPr>
          <p:cNvCxnSpPr>
            <a:cxnSpLocks/>
            <a:stCxn id="20" idx="3"/>
            <a:endCxn id="32" idx="1"/>
          </p:cNvCxnSpPr>
          <p:nvPr/>
        </p:nvCxnSpPr>
        <p:spPr>
          <a:xfrm>
            <a:off x="5425356" y="5524043"/>
            <a:ext cx="2810792" cy="525499"/>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0B673C7-E6AF-4306-94C2-F1F2D8DFC20F}"/>
                  </a:ext>
                </a:extLst>
              </p:cNvPr>
              <p:cNvSpPr txBox="1"/>
              <p:nvPr/>
            </p:nvSpPr>
            <p:spPr>
              <a:xfrm>
                <a:off x="613003" y="2898901"/>
                <a:ext cx="277570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𝑅𝑒𝑝𝑜𝑟𝑡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e>
                      </m:d>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9" name="TextBox 38">
                <a:extLst>
                  <a:ext uri="{FF2B5EF4-FFF2-40B4-BE49-F238E27FC236}">
                    <a16:creationId xmlns:a16="http://schemas.microsoft.com/office/drawing/2014/main" id="{B0B673C7-E6AF-4306-94C2-F1F2D8DFC20F}"/>
                  </a:ext>
                </a:extLst>
              </p:cNvPr>
              <p:cNvSpPr txBox="1">
                <a:spLocks noRot="1" noChangeAspect="1" noMove="1" noResize="1" noEditPoints="1" noAdjustHandles="1" noChangeArrowheads="1" noChangeShapeType="1" noTextEdit="1"/>
              </p:cNvSpPr>
              <p:nvPr/>
            </p:nvSpPr>
            <p:spPr>
              <a:xfrm>
                <a:off x="613003" y="2898901"/>
                <a:ext cx="2775704" cy="261610"/>
              </a:xfrm>
              <a:prstGeom prst="rect">
                <a:avLst/>
              </a:prstGeom>
              <a:blipFill>
                <a:blip r:embed="rId2"/>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5A812A2-2DA7-43BE-8499-DBE8CD319897}"/>
                  </a:ext>
                </a:extLst>
              </p:cNvPr>
              <p:cNvSpPr txBox="1"/>
              <p:nvPr/>
            </p:nvSpPr>
            <p:spPr>
              <a:xfrm>
                <a:off x="580769" y="5044019"/>
                <a:ext cx="277570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𝑅𝑒𝑝𝑜𝑟𝑡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e>
                      </m:d>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1" name="TextBox 20">
                <a:extLst>
                  <a:ext uri="{FF2B5EF4-FFF2-40B4-BE49-F238E27FC236}">
                    <a16:creationId xmlns:a16="http://schemas.microsoft.com/office/drawing/2014/main" id="{35A812A2-2DA7-43BE-8499-DBE8CD319897}"/>
                  </a:ext>
                </a:extLst>
              </p:cNvPr>
              <p:cNvSpPr txBox="1">
                <a:spLocks noRot="1" noChangeAspect="1" noMove="1" noResize="1" noEditPoints="1" noAdjustHandles="1" noChangeArrowheads="1" noChangeShapeType="1" noTextEdit="1"/>
              </p:cNvSpPr>
              <p:nvPr/>
            </p:nvSpPr>
            <p:spPr>
              <a:xfrm>
                <a:off x="580769" y="5044019"/>
                <a:ext cx="2775704" cy="261610"/>
              </a:xfrm>
              <a:prstGeom prst="rect">
                <a:avLst/>
              </a:prstGeom>
              <a:blipFill>
                <a:blip r:embed="rId3"/>
                <a:stretch>
                  <a:fillRect b="-46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0D96758-BAF6-4CD8-8B20-4213E840AFD8}"/>
                  </a:ext>
                </a:extLst>
              </p:cNvPr>
              <p:cNvSpPr txBox="1"/>
              <p:nvPr/>
            </p:nvSpPr>
            <p:spPr>
              <a:xfrm>
                <a:off x="5061704" y="1841926"/>
                <a:ext cx="277570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𝑅𝑒𝑝𝑜𝑟𝑡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d>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2" name="TextBox 21">
                <a:extLst>
                  <a:ext uri="{FF2B5EF4-FFF2-40B4-BE49-F238E27FC236}">
                    <a16:creationId xmlns:a16="http://schemas.microsoft.com/office/drawing/2014/main" id="{50D96758-BAF6-4CD8-8B20-4213E840AFD8}"/>
                  </a:ext>
                </a:extLst>
              </p:cNvPr>
              <p:cNvSpPr txBox="1">
                <a:spLocks noRot="1" noChangeAspect="1" noMove="1" noResize="1" noEditPoints="1" noAdjustHandles="1" noChangeArrowheads="1" noChangeShapeType="1" noTextEdit="1"/>
              </p:cNvSpPr>
              <p:nvPr/>
            </p:nvSpPr>
            <p:spPr>
              <a:xfrm>
                <a:off x="5061704" y="1841926"/>
                <a:ext cx="2775704" cy="261610"/>
              </a:xfrm>
              <a:prstGeom prst="rect">
                <a:avLst/>
              </a:prstGeom>
              <a:blipFill>
                <a:blip r:embed="rId4"/>
                <a:stretch>
                  <a:fillRect b="-46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EFB6F50-6CD2-4149-A1FA-99358F668D30}"/>
                  </a:ext>
                </a:extLst>
              </p:cNvPr>
              <p:cNvSpPr txBox="1"/>
              <p:nvPr/>
            </p:nvSpPr>
            <p:spPr>
              <a:xfrm>
                <a:off x="5061704" y="3218270"/>
                <a:ext cx="277570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𝑅𝑒𝑝𝑜𝑟𝑡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d>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3" name="TextBox 22">
                <a:extLst>
                  <a:ext uri="{FF2B5EF4-FFF2-40B4-BE49-F238E27FC236}">
                    <a16:creationId xmlns:a16="http://schemas.microsoft.com/office/drawing/2014/main" id="{8EFB6F50-6CD2-4149-A1FA-99358F668D30}"/>
                  </a:ext>
                </a:extLst>
              </p:cNvPr>
              <p:cNvSpPr txBox="1">
                <a:spLocks noRot="1" noChangeAspect="1" noMove="1" noResize="1" noEditPoints="1" noAdjustHandles="1" noChangeArrowheads="1" noChangeShapeType="1" noTextEdit="1"/>
              </p:cNvSpPr>
              <p:nvPr/>
            </p:nvSpPr>
            <p:spPr>
              <a:xfrm>
                <a:off x="5061704" y="3218270"/>
                <a:ext cx="2775704" cy="261610"/>
              </a:xfrm>
              <a:prstGeom prst="rect">
                <a:avLst/>
              </a:prstGeom>
              <a:blipFill>
                <a:blip r:embed="rId5"/>
                <a:stretch>
                  <a:fillRect b="-46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ED1EDE1-E917-44FF-A85C-8F4457C22ED4}"/>
                  </a:ext>
                </a:extLst>
              </p:cNvPr>
              <p:cNvSpPr txBox="1"/>
              <p:nvPr/>
            </p:nvSpPr>
            <p:spPr>
              <a:xfrm>
                <a:off x="5058832" y="4651256"/>
                <a:ext cx="277570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𝑅𝑒𝑝𝑜𝑟𝑡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5" name="TextBox 24">
                <a:extLst>
                  <a:ext uri="{FF2B5EF4-FFF2-40B4-BE49-F238E27FC236}">
                    <a16:creationId xmlns:a16="http://schemas.microsoft.com/office/drawing/2014/main" id="{6ED1EDE1-E917-44FF-A85C-8F4457C22ED4}"/>
                  </a:ext>
                </a:extLst>
              </p:cNvPr>
              <p:cNvSpPr txBox="1">
                <a:spLocks noRot="1" noChangeAspect="1" noMove="1" noResize="1" noEditPoints="1" noAdjustHandles="1" noChangeArrowheads="1" noChangeShapeType="1" noTextEdit="1"/>
              </p:cNvSpPr>
              <p:nvPr/>
            </p:nvSpPr>
            <p:spPr>
              <a:xfrm>
                <a:off x="5058832" y="4651256"/>
                <a:ext cx="2775704" cy="261610"/>
              </a:xfrm>
              <a:prstGeom prst="rect">
                <a:avLst/>
              </a:prstGeom>
              <a:blipFill>
                <a:blip r:embed="rId6"/>
                <a:stretch>
                  <a:fillRect b="-46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E501B58-F894-4AC4-8DD7-4E121FA9634C}"/>
                  </a:ext>
                </a:extLst>
              </p:cNvPr>
              <p:cNvSpPr txBox="1"/>
              <p:nvPr/>
            </p:nvSpPr>
            <p:spPr>
              <a:xfrm>
                <a:off x="5058832" y="6027600"/>
                <a:ext cx="277570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𝑅𝑒𝑝𝑜𝑟𝑡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6" name="TextBox 25">
                <a:extLst>
                  <a:ext uri="{FF2B5EF4-FFF2-40B4-BE49-F238E27FC236}">
                    <a16:creationId xmlns:a16="http://schemas.microsoft.com/office/drawing/2014/main" id="{3E501B58-F894-4AC4-8DD7-4E121FA9634C}"/>
                  </a:ext>
                </a:extLst>
              </p:cNvPr>
              <p:cNvSpPr txBox="1">
                <a:spLocks noRot="1" noChangeAspect="1" noMove="1" noResize="1" noEditPoints="1" noAdjustHandles="1" noChangeArrowheads="1" noChangeShapeType="1" noTextEdit="1"/>
              </p:cNvSpPr>
              <p:nvPr/>
            </p:nvSpPr>
            <p:spPr>
              <a:xfrm>
                <a:off x="5058832" y="6027600"/>
                <a:ext cx="2775704" cy="261610"/>
              </a:xfrm>
              <a:prstGeom prst="rect">
                <a:avLst/>
              </a:prstGeom>
              <a:blipFill>
                <a:blip r:embed="rId7"/>
                <a:stretch>
                  <a:fillRect b="-4651"/>
                </a:stretch>
              </a:blipFill>
            </p:spPr>
            <p:txBody>
              <a:bodyPr/>
              <a:lstStyle/>
              <a:p>
                <a:r>
                  <a:rPr lang="en-US">
                    <a:noFill/>
                  </a:rPr>
                  <a:t> </a:t>
                </a:r>
              </a:p>
            </p:txBody>
          </p:sp>
        </mc:Fallback>
      </mc:AlternateContent>
    </p:spTree>
    <p:extLst>
      <p:ext uri="{BB962C8B-B14F-4D97-AF65-F5344CB8AC3E}">
        <p14:creationId xmlns:p14="http://schemas.microsoft.com/office/powerpoint/2010/main" val="3076748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039ED-9BAD-453D-880A-07999242B05F}"/>
              </a:ext>
            </a:extLst>
          </p:cNvPr>
          <p:cNvSpPr>
            <a:spLocks noGrp="1"/>
          </p:cNvSpPr>
          <p:nvPr>
            <p:ph type="title"/>
          </p:nvPr>
        </p:nvSpPr>
        <p:spPr/>
        <p:txBody>
          <a:bodyPr/>
          <a:lstStyle/>
          <a:p>
            <a:r>
              <a:rPr lang="en-US" dirty="0"/>
              <a:t>Where Does Bias Come From? </a:t>
            </a:r>
          </a:p>
        </p:txBody>
      </p:sp>
      <p:sp>
        <p:nvSpPr>
          <p:cNvPr id="4" name="Rectangle 3">
            <a:extLst>
              <a:ext uri="{FF2B5EF4-FFF2-40B4-BE49-F238E27FC236}">
                <a16:creationId xmlns:a16="http://schemas.microsoft.com/office/drawing/2014/main" id="{FAB5D880-1729-47E7-99B4-A7D4FA2B2FCD}"/>
              </a:ext>
            </a:extLst>
          </p:cNvPr>
          <p:cNvSpPr/>
          <p:nvPr/>
        </p:nvSpPr>
        <p:spPr>
          <a:xfrm>
            <a:off x="6648886" y="3118380"/>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19" name="Rectangle 18">
            <a:extLst>
              <a:ext uri="{FF2B5EF4-FFF2-40B4-BE49-F238E27FC236}">
                <a16:creationId xmlns:a16="http://schemas.microsoft.com/office/drawing/2014/main" id="{3406F41C-2101-4BA4-B529-913DC4D1EC2B}"/>
              </a:ext>
            </a:extLst>
          </p:cNvPr>
          <p:cNvSpPr/>
          <p:nvPr/>
        </p:nvSpPr>
        <p:spPr>
          <a:xfrm>
            <a:off x="6648885" y="2023860"/>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17" name="Rectangle 16">
            <a:extLst>
              <a:ext uri="{FF2B5EF4-FFF2-40B4-BE49-F238E27FC236}">
                <a16:creationId xmlns:a16="http://schemas.microsoft.com/office/drawing/2014/main" id="{DFEEE8A5-E50D-43AA-9824-A6FA79D24CD0}"/>
              </a:ext>
            </a:extLst>
          </p:cNvPr>
          <p:cNvSpPr/>
          <p:nvPr/>
        </p:nvSpPr>
        <p:spPr>
          <a:xfrm>
            <a:off x="1916995" y="2416012"/>
            <a:ext cx="1859623" cy="798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a:t>
            </a:r>
          </a:p>
        </p:txBody>
      </p:sp>
      <p:cxnSp>
        <p:nvCxnSpPr>
          <p:cNvPr id="24" name="Straight Arrow Connector 23">
            <a:extLst>
              <a:ext uri="{FF2B5EF4-FFF2-40B4-BE49-F238E27FC236}">
                <a16:creationId xmlns:a16="http://schemas.microsoft.com/office/drawing/2014/main" id="{CDF22341-383B-4FF5-8EB2-0D2F2E7ECA71}"/>
              </a:ext>
            </a:extLst>
          </p:cNvPr>
          <p:cNvCxnSpPr>
            <a:cxnSpLocks/>
            <a:stCxn id="17" idx="3"/>
            <a:endCxn id="19" idx="1"/>
          </p:cNvCxnSpPr>
          <p:nvPr/>
        </p:nvCxnSpPr>
        <p:spPr>
          <a:xfrm flipV="1">
            <a:off x="3776618" y="2343900"/>
            <a:ext cx="2872267" cy="47152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26AA689-FE6F-4974-9254-28A43737650E}"/>
              </a:ext>
            </a:extLst>
          </p:cNvPr>
          <p:cNvCxnSpPr>
            <a:cxnSpLocks/>
            <a:stCxn id="17" idx="3"/>
            <a:endCxn id="4" idx="1"/>
          </p:cNvCxnSpPr>
          <p:nvPr/>
        </p:nvCxnSpPr>
        <p:spPr>
          <a:xfrm>
            <a:off x="3776618" y="2815420"/>
            <a:ext cx="2872268" cy="6230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0D96758-BAF6-4CD8-8B20-4213E840AFD8}"/>
                  </a:ext>
                </a:extLst>
              </p:cNvPr>
              <p:cNvSpPr txBox="1"/>
              <p:nvPr/>
            </p:nvSpPr>
            <p:spPr>
              <a:xfrm>
                <a:off x="3635467" y="2082290"/>
                <a:ext cx="277570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4472C4"/>
                              </a:solidFill>
                              <a:effectLst/>
                              <a:uLnTx/>
                              <a:uFillTx/>
                              <a:latin typeface="Cambria Math" panose="02040503050406030204" pitchFamily="18" charset="0"/>
                              <a:ea typeface="+mn-ea"/>
                              <a:cs typeface="+mn-cs"/>
                            </a:rPr>
                            <m:t>𝐴</m:t>
                          </m:r>
                        </m:e>
                      </m:d>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2" name="TextBox 21">
                <a:extLst>
                  <a:ext uri="{FF2B5EF4-FFF2-40B4-BE49-F238E27FC236}">
                    <a16:creationId xmlns:a16="http://schemas.microsoft.com/office/drawing/2014/main" id="{50D96758-BAF6-4CD8-8B20-4213E840AFD8}"/>
                  </a:ext>
                </a:extLst>
              </p:cNvPr>
              <p:cNvSpPr txBox="1">
                <a:spLocks noRot="1" noChangeAspect="1" noMove="1" noResize="1" noEditPoints="1" noAdjustHandles="1" noChangeArrowheads="1" noChangeShapeType="1" noTextEdit="1"/>
              </p:cNvSpPr>
              <p:nvPr/>
            </p:nvSpPr>
            <p:spPr>
              <a:xfrm>
                <a:off x="3635467" y="2082290"/>
                <a:ext cx="2775704" cy="26161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EFB6F50-6CD2-4149-A1FA-99358F668D30}"/>
                  </a:ext>
                </a:extLst>
              </p:cNvPr>
              <p:cNvSpPr txBox="1"/>
              <p:nvPr/>
            </p:nvSpPr>
            <p:spPr>
              <a:xfrm>
                <a:off x="3635467" y="3555543"/>
                <a:ext cx="277570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4472C4"/>
                              </a:solidFill>
                              <a:effectLst/>
                              <a:uLnTx/>
                              <a:uFillTx/>
                              <a:latin typeface="Cambria Math" panose="02040503050406030204" pitchFamily="18" charset="0"/>
                              <a:ea typeface="+mn-ea"/>
                              <a:cs typeface="+mn-cs"/>
                            </a:rPr>
                            <m:t>𝐴</m:t>
                          </m:r>
                        </m:e>
                      </m:d>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3" name="TextBox 22">
                <a:extLst>
                  <a:ext uri="{FF2B5EF4-FFF2-40B4-BE49-F238E27FC236}">
                    <a16:creationId xmlns:a16="http://schemas.microsoft.com/office/drawing/2014/main" id="{8EFB6F50-6CD2-4149-A1FA-99358F668D30}"/>
                  </a:ext>
                </a:extLst>
              </p:cNvPr>
              <p:cNvSpPr txBox="1">
                <a:spLocks noRot="1" noChangeAspect="1" noMove="1" noResize="1" noEditPoints="1" noAdjustHandles="1" noChangeArrowheads="1" noChangeShapeType="1" noTextEdit="1"/>
              </p:cNvSpPr>
              <p:nvPr/>
            </p:nvSpPr>
            <p:spPr>
              <a:xfrm>
                <a:off x="3635467" y="3555543"/>
                <a:ext cx="2775704" cy="261610"/>
              </a:xfrm>
              <a:prstGeom prst="rect">
                <a:avLst/>
              </a:prstGeom>
              <a:blipFill>
                <a:blip r:embed="rId3"/>
                <a:stretch>
                  <a:fillRect/>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F42497D3-EC5B-4A4F-999E-6AF47B352B5B}"/>
              </a:ext>
            </a:extLst>
          </p:cNvPr>
          <p:cNvSpPr/>
          <p:nvPr/>
        </p:nvSpPr>
        <p:spPr>
          <a:xfrm>
            <a:off x="6648885" y="5794102"/>
            <a:ext cx="1859623" cy="6400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28" name="Rectangle 27">
            <a:extLst>
              <a:ext uri="{FF2B5EF4-FFF2-40B4-BE49-F238E27FC236}">
                <a16:creationId xmlns:a16="http://schemas.microsoft.com/office/drawing/2014/main" id="{8F7CF451-8A18-4ADD-AF27-77E1B5D30F9F}"/>
              </a:ext>
            </a:extLst>
          </p:cNvPr>
          <p:cNvSpPr/>
          <p:nvPr/>
        </p:nvSpPr>
        <p:spPr>
          <a:xfrm>
            <a:off x="6648884" y="4699582"/>
            <a:ext cx="1859623" cy="6400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29" name="Rectangle 28">
            <a:extLst>
              <a:ext uri="{FF2B5EF4-FFF2-40B4-BE49-F238E27FC236}">
                <a16:creationId xmlns:a16="http://schemas.microsoft.com/office/drawing/2014/main" id="{BDE938B4-1C37-4229-B681-285CF5F49775}"/>
              </a:ext>
            </a:extLst>
          </p:cNvPr>
          <p:cNvSpPr/>
          <p:nvPr/>
        </p:nvSpPr>
        <p:spPr>
          <a:xfrm>
            <a:off x="1916994" y="5091734"/>
            <a:ext cx="1859623" cy="79881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a:t>
            </a:r>
          </a:p>
        </p:txBody>
      </p:sp>
      <p:cxnSp>
        <p:nvCxnSpPr>
          <p:cNvPr id="31" name="Straight Arrow Connector 30">
            <a:extLst>
              <a:ext uri="{FF2B5EF4-FFF2-40B4-BE49-F238E27FC236}">
                <a16:creationId xmlns:a16="http://schemas.microsoft.com/office/drawing/2014/main" id="{DDE6BD9B-86CD-4A26-9D92-53768AD501E0}"/>
              </a:ext>
            </a:extLst>
          </p:cNvPr>
          <p:cNvCxnSpPr>
            <a:cxnSpLocks/>
            <a:stCxn id="29" idx="3"/>
            <a:endCxn id="28" idx="1"/>
          </p:cNvCxnSpPr>
          <p:nvPr/>
        </p:nvCxnSpPr>
        <p:spPr>
          <a:xfrm flipV="1">
            <a:off x="3776617" y="5019622"/>
            <a:ext cx="2872267" cy="47152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C5F9AE4-F3E5-4F92-B99B-05F7FE3B7311}"/>
              </a:ext>
            </a:extLst>
          </p:cNvPr>
          <p:cNvCxnSpPr>
            <a:cxnSpLocks/>
            <a:stCxn id="29" idx="3"/>
            <a:endCxn id="27" idx="1"/>
          </p:cNvCxnSpPr>
          <p:nvPr/>
        </p:nvCxnSpPr>
        <p:spPr>
          <a:xfrm>
            <a:off x="3776617" y="5491142"/>
            <a:ext cx="2872268" cy="6230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2A17463-BBD4-4BB7-B90E-5583ECEFD6AC}"/>
                  </a:ext>
                </a:extLst>
              </p:cNvPr>
              <p:cNvSpPr txBox="1"/>
              <p:nvPr/>
            </p:nvSpPr>
            <p:spPr>
              <a:xfrm>
                <a:off x="3635466" y="4758012"/>
                <a:ext cx="277570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ED7D31"/>
                              </a:solidFill>
                              <a:effectLst/>
                              <a:uLnTx/>
                              <a:uFillTx/>
                              <a:latin typeface="Cambria Math" panose="02040503050406030204" pitchFamily="18" charset="0"/>
                              <a:ea typeface="+mn-ea"/>
                              <a:cs typeface="+mn-cs"/>
                            </a:rPr>
                            <m:t>𝐵</m:t>
                          </m:r>
                        </m:e>
                      </m:d>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4" name="TextBox 33">
                <a:extLst>
                  <a:ext uri="{FF2B5EF4-FFF2-40B4-BE49-F238E27FC236}">
                    <a16:creationId xmlns:a16="http://schemas.microsoft.com/office/drawing/2014/main" id="{82A17463-BBD4-4BB7-B90E-5583ECEFD6AC}"/>
                  </a:ext>
                </a:extLst>
              </p:cNvPr>
              <p:cNvSpPr txBox="1">
                <a:spLocks noRot="1" noChangeAspect="1" noMove="1" noResize="1" noEditPoints="1" noAdjustHandles="1" noChangeArrowheads="1" noChangeShapeType="1" noTextEdit="1"/>
              </p:cNvSpPr>
              <p:nvPr/>
            </p:nvSpPr>
            <p:spPr>
              <a:xfrm>
                <a:off x="3635466" y="4758012"/>
                <a:ext cx="2775704" cy="26161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6C0675F-8180-4B58-AC0D-DBE24D15093D}"/>
                  </a:ext>
                </a:extLst>
              </p:cNvPr>
              <p:cNvSpPr txBox="1"/>
              <p:nvPr/>
            </p:nvSpPr>
            <p:spPr>
              <a:xfrm>
                <a:off x="3635466" y="6231265"/>
                <a:ext cx="277570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ED7D31"/>
                              </a:solidFill>
                              <a:effectLst/>
                              <a:uLnTx/>
                              <a:uFillTx/>
                              <a:latin typeface="Cambria Math" panose="02040503050406030204" pitchFamily="18" charset="0"/>
                              <a:ea typeface="+mn-ea"/>
                              <a:cs typeface="+mn-cs"/>
                            </a:rPr>
                            <m:t>𝐵</m:t>
                          </m:r>
                        </m:e>
                      </m:d>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46C0675F-8180-4B58-AC0D-DBE24D15093D}"/>
                  </a:ext>
                </a:extLst>
              </p:cNvPr>
              <p:cNvSpPr txBox="1">
                <a:spLocks noRot="1" noChangeAspect="1" noMove="1" noResize="1" noEditPoints="1" noAdjustHandles="1" noChangeArrowheads="1" noChangeShapeType="1" noTextEdit="1"/>
              </p:cNvSpPr>
              <p:nvPr/>
            </p:nvSpPr>
            <p:spPr>
              <a:xfrm>
                <a:off x="3635466" y="6231265"/>
                <a:ext cx="2775704" cy="26161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19812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039ED-9BAD-453D-880A-07999242B05F}"/>
              </a:ext>
            </a:extLst>
          </p:cNvPr>
          <p:cNvSpPr>
            <a:spLocks noGrp="1"/>
          </p:cNvSpPr>
          <p:nvPr>
            <p:ph type="title"/>
          </p:nvPr>
        </p:nvSpPr>
        <p:spPr/>
        <p:txBody>
          <a:bodyPr/>
          <a:lstStyle/>
          <a:p>
            <a:r>
              <a:rPr lang="en-US" dirty="0"/>
              <a:t>Where Does Bias Come From? Scenario 1</a:t>
            </a:r>
          </a:p>
        </p:txBody>
      </p:sp>
      <p:sp>
        <p:nvSpPr>
          <p:cNvPr id="4" name="Rectangle 3">
            <a:extLst>
              <a:ext uri="{FF2B5EF4-FFF2-40B4-BE49-F238E27FC236}">
                <a16:creationId xmlns:a16="http://schemas.microsoft.com/office/drawing/2014/main" id="{FAB5D880-1729-47E7-99B4-A7D4FA2B2FCD}"/>
              </a:ext>
            </a:extLst>
          </p:cNvPr>
          <p:cNvSpPr/>
          <p:nvPr/>
        </p:nvSpPr>
        <p:spPr>
          <a:xfrm>
            <a:off x="5777621" y="3118380"/>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19" name="Rectangle 18">
            <a:extLst>
              <a:ext uri="{FF2B5EF4-FFF2-40B4-BE49-F238E27FC236}">
                <a16:creationId xmlns:a16="http://schemas.microsoft.com/office/drawing/2014/main" id="{3406F41C-2101-4BA4-B529-913DC4D1EC2B}"/>
              </a:ext>
            </a:extLst>
          </p:cNvPr>
          <p:cNvSpPr/>
          <p:nvPr/>
        </p:nvSpPr>
        <p:spPr>
          <a:xfrm>
            <a:off x="5777620" y="2023860"/>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17" name="Rectangle 16">
            <a:extLst>
              <a:ext uri="{FF2B5EF4-FFF2-40B4-BE49-F238E27FC236}">
                <a16:creationId xmlns:a16="http://schemas.microsoft.com/office/drawing/2014/main" id="{DFEEE8A5-E50D-43AA-9824-A6FA79D24CD0}"/>
              </a:ext>
            </a:extLst>
          </p:cNvPr>
          <p:cNvSpPr/>
          <p:nvPr/>
        </p:nvSpPr>
        <p:spPr>
          <a:xfrm>
            <a:off x="1045730" y="2416012"/>
            <a:ext cx="1859623" cy="798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a:t>
            </a:r>
          </a:p>
        </p:txBody>
      </p:sp>
      <p:cxnSp>
        <p:nvCxnSpPr>
          <p:cNvPr id="24" name="Straight Arrow Connector 23">
            <a:extLst>
              <a:ext uri="{FF2B5EF4-FFF2-40B4-BE49-F238E27FC236}">
                <a16:creationId xmlns:a16="http://schemas.microsoft.com/office/drawing/2014/main" id="{CDF22341-383B-4FF5-8EB2-0D2F2E7ECA71}"/>
              </a:ext>
            </a:extLst>
          </p:cNvPr>
          <p:cNvCxnSpPr>
            <a:cxnSpLocks/>
            <a:stCxn id="17" idx="3"/>
            <a:endCxn id="19" idx="1"/>
          </p:cNvCxnSpPr>
          <p:nvPr/>
        </p:nvCxnSpPr>
        <p:spPr>
          <a:xfrm flipV="1">
            <a:off x="2905353" y="2343900"/>
            <a:ext cx="2872267" cy="47152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26AA689-FE6F-4974-9254-28A43737650E}"/>
              </a:ext>
            </a:extLst>
          </p:cNvPr>
          <p:cNvCxnSpPr>
            <a:cxnSpLocks/>
            <a:stCxn id="17" idx="3"/>
            <a:endCxn id="4" idx="1"/>
          </p:cNvCxnSpPr>
          <p:nvPr/>
        </p:nvCxnSpPr>
        <p:spPr>
          <a:xfrm>
            <a:off x="2905353" y="2815420"/>
            <a:ext cx="2872268" cy="6230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0D96758-BAF6-4CD8-8B20-4213E840AFD8}"/>
                  </a:ext>
                </a:extLst>
              </p:cNvPr>
              <p:cNvSpPr txBox="1"/>
              <p:nvPr/>
            </p:nvSpPr>
            <p:spPr>
              <a:xfrm>
                <a:off x="7836524" y="2246189"/>
                <a:ext cx="330974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4472C4"/>
                            </a:solidFill>
                            <a:effectLst/>
                            <a:uLnTx/>
                            <a:uFillTx/>
                            <a:latin typeface="Cambria Math" panose="02040503050406030204" pitchFamily="18" charset="0"/>
                            <a:ea typeface="+mn-ea"/>
                            <a:cs typeface="+mn-cs"/>
                          </a:rPr>
                          <m:t>𝐴</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=50%</m:t>
                    </m:r>
                  </m:oMath>
                </a14:m>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mc:Choice>
        <mc:Fallback xmlns="">
          <p:sp>
            <p:nvSpPr>
              <p:cNvPr id="22" name="TextBox 21">
                <a:extLst>
                  <a:ext uri="{FF2B5EF4-FFF2-40B4-BE49-F238E27FC236}">
                    <a16:creationId xmlns:a16="http://schemas.microsoft.com/office/drawing/2014/main" id="{50D96758-BAF6-4CD8-8B20-4213E840AFD8}"/>
                  </a:ext>
                </a:extLst>
              </p:cNvPr>
              <p:cNvSpPr txBox="1">
                <a:spLocks noRot="1" noChangeAspect="1" noMove="1" noResize="1" noEditPoints="1" noAdjustHandles="1" noChangeArrowheads="1" noChangeShapeType="1" noTextEdit="1"/>
              </p:cNvSpPr>
              <p:nvPr/>
            </p:nvSpPr>
            <p:spPr>
              <a:xfrm>
                <a:off x="7836524" y="2246189"/>
                <a:ext cx="3309746" cy="26161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EFB6F50-6CD2-4149-A1FA-99358F668D30}"/>
                  </a:ext>
                </a:extLst>
              </p:cNvPr>
              <p:cNvSpPr txBox="1"/>
              <p:nvPr/>
            </p:nvSpPr>
            <p:spPr>
              <a:xfrm>
                <a:off x="7836523" y="3260406"/>
                <a:ext cx="2998253"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4472C4"/>
                              </a:solidFill>
                              <a:effectLst/>
                              <a:uLnTx/>
                              <a:uFillTx/>
                              <a:latin typeface="Cambria Math" panose="02040503050406030204" pitchFamily="18" charset="0"/>
                              <a:ea typeface="+mn-ea"/>
                              <a:cs typeface="+mn-cs"/>
                            </a:rPr>
                            <m:t>𝐴</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3" name="TextBox 22">
                <a:extLst>
                  <a:ext uri="{FF2B5EF4-FFF2-40B4-BE49-F238E27FC236}">
                    <a16:creationId xmlns:a16="http://schemas.microsoft.com/office/drawing/2014/main" id="{8EFB6F50-6CD2-4149-A1FA-99358F668D30}"/>
                  </a:ext>
                </a:extLst>
              </p:cNvPr>
              <p:cNvSpPr txBox="1">
                <a:spLocks noRot="1" noChangeAspect="1" noMove="1" noResize="1" noEditPoints="1" noAdjustHandles="1" noChangeArrowheads="1" noChangeShapeType="1" noTextEdit="1"/>
              </p:cNvSpPr>
              <p:nvPr/>
            </p:nvSpPr>
            <p:spPr>
              <a:xfrm>
                <a:off x="7836523" y="3260406"/>
                <a:ext cx="2998253" cy="261610"/>
              </a:xfrm>
              <a:prstGeom prst="rect">
                <a:avLst/>
              </a:prstGeom>
              <a:blipFill>
                <a:blip r:embed="rId3"/>
                <a:stretch>
                  <a:fillRect/>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F42497D3-EC5B-4A4F-999E-6AF47B352B5B}"/>
              </a:ext>
            </a:extLst>
          </p:cNvPr>
          <p:cNvSpPr/>
          <p:nvPr/>
        </p:nvSpPr>
        <p:spPr>
          <a:xfrm>
            <a:off x="5777620" y="5794102"/>
            <a:ext cx="1859623" cy="6400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28" name="Rectangle 27">
            <a:extLst>
              <a:ext uri="{FF2B5EF4-FFF2-40B4-BE49-F238E27FC236}">
                <a16:creationId xmlns:a16="http://schemas.microsoft.com/office/drawing/2014/main" id="{8F7CF451-8A18-4ADD-AF27-77E1B5D30F9F}"/>
              </a:ext>
            </a:extLst>
          </p:cNvPr>
          <p:cNvSpPr/>
          <p:nvPr/>
        </p:nvSpPr>
        <p:spPr>
          <a:xfrm>
            <a:off x="5777619" y="4699582"/>
            <a:ext cx="1859623" cy="6400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29" name="Rectangle 28">
            <a:extLst>
              <a:ext uri="{FF2B5EF4-FFF2-40B4-BE49-F238E27FC236}">
                <a16:creationId xmlns:a16="http://schemas.microsoft.com/office/drawing/2014/main" id="{BDE938B4-1C37-4229-B681-285CF5F49775}"/>
              </a:ext>
            </a:extLst>
          </p:cNvPr>
          <p:cNvSpPr/>
          <p:nvPr/>
        </p:nvSpPr>
        <p:spPr>
          <a:xfrm>
            <a:off x="1045729" y="5091734"/>
            <a:ext cx="1859623" cy="79881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a:t>
            </a:r>
          </a:p>
        </p:txBody>
      </p:sp>
      <p:cxnSp>
        <p:nvCxnSpPr>
          <p:cNvPr id="31" name="Straight Arrow Connector 30">
            <a:extLst>
              <a:ext uri="{FF2B5EF4-FFF2-40B4-BE49-F238E27FC236}">
                <a16:creationId xmlns:a16="http://schemas.microsoft.com/office/drawing/2014/main" id="{DDE6BD9B-86CD-4A26-9D92-53768AD501E0}"/>
              </a:ext>
            </a:extLst>
          </p:cNvPr>
          <p:cNvCxnSpPr>
            <a:cxnSpLocks/>
            <a:stCxn id="29" idx="3"/>
            <a:endCxn id="28" idx="1"/>
          </p:cNvCxnSpPr>
          <p:nvPr/>
        </p:nvCxnSpPr>
        <p:spPr>
          <a:xfrm flipV="1">
            <a:off x="2905352" y="5019622"/>
            <a:ext cx="2872267" cy="47152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C5F9AE4-F3E5-4F92-B99B-05F7FE3B7311}"/>
              </a:ext>
            </a:extLst>
          </p:cNvPr>
          <p:cNvCxnSpPr>
            <a:cxnSpLocks/>
            <a:stCxn id="29" idx="3"/>
            <a:endCxn id="27" idx="1"/>
          </p:cNvCxnSpPr>
          <p:nvPr/>
        </p:nvCxnSpPr>
        <p:spPr>
          <a:xfrm>
            <a:off x="2905352" y="5491142"/>
            <a:ext cx="2872268" cy="6230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2A17463-BBD4-4BB7-B90E-5583ECEFD6AC}"/>
                  </a:ext>
                </a:extLst>
              </p:cNvPr>
              <p:cNvSpPr txBox="1"/>
              <p:nvPr/>
            </p:nvSpPr>
            <p:spPr>
              <a:xfrm>
                <a:off x="7836523" y="4939492"/>
                <a:ext cx="316215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ED7D31"/>
                              </a:solidFill>
                              <a:effectLst/>
                              <a:uLnTx/>
                              <a:uFillTx/>
                              <a:latin typeface="Cambria Math" panose="02040503050406030204" pitchFamily="18" charset="0"/>
                              <a:ea typeface="+mn-ea"/>
                              <a:cs typeface="+mn-cs"/>
                            </a:rPr>
                            <m:t>𝐵</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4" name="TextBox 33">
                <a:extLst>
                  <a:ext uri="{FF2B5EF4-FFF2-40B4-BE49-F238E27FC236}">
                    <a16:creationId xmlns:a16="http://schemas.microsoft.com/office/drawing/2014/main" id="{82A17463-BBD4-4BB7-B90E-5583ECEFD6AC}"/>
                  </a:ext>
                </a:extLst>
              </p:cNvPr>
              <p:cNvSpPr txBox="1">
                <a:spLocks noRot="1" noChangeAspect="1" noMove="1" noResize="1" noEditPoints="1" noAdjustHandles="1" noChangeArrowheads="1" noChangeShapeType="1" noTextEdit="1"/>
              </p:cNvSpPr>
              <p:nvPr/>
            </p:nvSpPr>
            <p:spPr>
              <a:xfrm>
                <a:off x="7836523" y="4939492"/>
                <a:ext cx="3162155" cy="26161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6C0675F-8180-4B58-AC0D-DBE24D15093D}"/>
                  </a:ext>
                </a:extLst>
              </p:cNvPr>
              <p:cNvSpPr txBox="1"/>
              <p:nvPr/>
            </p:nvSpPr>
            <p:spPr>
              <a:xfrm>
                <a:off x="7836524" y="5983337"/>
                <a:ext cx="309314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ED7D31"/>
                              </a:solidFill>
                              <a:effectLst/>
                              <a:uLnTx/>
                              <a:uFillTx/>
                              <a:latin typeface="Cambria Math" panose="02040503050406030204" pitchFamily="18" charset="0"/>
                              <a:ea typeface="+mn-ea"/>
                              <a:cs typeface="+mn-cs"/>
                            </a:rPr>
                            <m:t>𝐵</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46C0675F-8180-4B58-AC0D-DBE24D15093D}"/>
                  </a:ext>
                </a:extLst>
              </p:cNvPr>
              <p:cNvSpPr txBox="1">
                <a:spLocks noRot="1" noChangeAspect="1" noMove="1" noResize="1" noEditPoints="1" noAdjustHandles="1" noChangeArrowheads="1" noChangeShapeType="1" noTextEdit="1"/>
              </p:cNvSpPr>
              <p:nvPr/>
            </p:nvSpPr>
            <p:spPr>
              <a:xfrm>
                <a:off x="7836524" y="5983337"/>
                <a:ext cx="3093144" cy="26161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18602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039ED-9BAD-453D-880A-07999242B05F}"/>
              </a:ext>
            </a:extLst>
          </p:cNvPr>
          <p:cNvSpPr>
            <a:spLocks noGrp="1"/>
          </p:cNvSpPr>
          <p:nvPr>
            <p:ph type="title"/>
          </p:nvPr>
        </p:nvSpPr>
        <p:spPr/>
        <p:txBody>
          <a:bodyPr/>
          <a:lstStyle/>
          <a:p>
            <a:r>
              <a:rPr lang="en-US" dirty="0"/>
              <a:t>Where Does Bias Come From? Scenario 1</a:t>
            </a:r>
          </a:p>
        </p:txBody>
      </p:sp>
      <p:sp>
        <p:nvSpPr>
          <p:cNvPr id="4" name="Rectangle 3">
            <a:extLst>
              <a:ext uri="{FF2B5EF4-FFF2-40B4-BE49-F238E27FC236}">
                <a16:creationId xmlns:a16="http://schemas.microsoft.com/office/drawing/2014/main" id="{FAB5D880-1729-47E7-99B4-A7D4FA2B2FCD}"/>
              </a:ext>
            </a:extLst>
          </p:cNvPr>
          <p:cNvSpPr/>
          <p:nvPr/>
        </p:nvSpPr>
        <p:spPr>
          <a:xfrm>
            <a:off x="5777621" y="3118380"/>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19" name="Rectangle 18">
            <a:extLst>
              <a:ext uri="{FF2B5EF4-FFF2-40B4-BE49-F238E27FC236}">
                <a16:creationId xmlns:a16="http://schemas.microsoft.com/office/drawing/2014/main" id="{3406F41C-2101-4BA4-B529-913DC4D1EC2B}"/>
              </a:ext>
            </a:extLst>
          </p:cNvPr>
          <p:cNvSpPr/>
          <p:nvPr/>
        </p:nvSpPr>
        <p:spPr>
          <a:xfrm>
            <a:off x="5777620" y="2023860"/>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17" name="Rectangle 16">
            <a:extLst>
              <a:ext uri="{FF2B5EF4-FFF2-40B4-BE49-F238E27FC236}">
                <a16:creationId xmlns:a16="http://schemas.microsoft.com/office/drawing/2014/main" id="{DFEEE8A5-E50D-43AA-9824-A6FA79D24CD0}"/>
              </a:ext>
            </a:extLst>
          </p:cNvPr>
          <p:cNvSpPr/>
          <p:nvPr/>
        </p:nvSpPr>
        <p:spPr>
          <a:xfrm>
            <a:off x="1045730" y="2416012"/>
            <a:ext cx="1859623" cy="798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a:t>
            </a:r>
          </a:p>
        </p:txBody>
      </p:sp>
      <p:cxnSp>
        <p:nvCxnSpPr>
          <p:cNvPr id="24" name="Straight Arrow Connector 23">
            <a:extLst>
              <a:ext uri="{FF2B5EF4-FFF2-40B4-BE49-F238E27FC236}">
                <a16:creationId xmlns:a16="http://schemas.microsoft.com/office/drawing/2014/main" id="{CDF22341-383B-4FF5-8EB2-0D2F2E7ECA71}"/>
              </a:ext>
            </a:extLst>
          </p:cNvPr>
          <p:cNvCxnSpPr>
            <a:cxnSpLocks/>
            <a:stCxn id="17" idx="3"/>
            <a:endCxn id="19" idx="1"/>
          </p:cNvCxnSpPr>
          <p:nvPr/>
        </p:nvCxnSpPr>
        <p:spPr>
          <a:xfrm flipV="1">
            <a:off x="2905353" y="2343900"/>
            <a:ext cx="2872267" cy="47152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26AA689-FE6F-4974-9254-28A43737650E}"/>
              </a:ext>
            </a:extLst>
          </p:cNvPr>
          <p:cNvCxnSpPr>
            <a:cxnSpLocks/>
            <a:stCxn id="17" idx="3"/>
            <a:endCxn id="4" idx="1"/>
          </p:cNvCxnSpPr>
          <p:nvPr/>
        </p:nvCxnSpPr>
        <p:spPr>
          <a:xfrm>
            <a:off x="2905353" y="2815420"/>
            <a:ext cx="2872268" cy="6230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0D96758-BAF6-4CD8-8B20-4213E840AFD8}"/>
                  </a:ext>
                </a:extLst>
              </p:cNvPr>
              <p:cNvSpPr txBox="1"/>
              <p:nvPr/>
            </p:nvSpPr>
            <p:spPr>
              <a:xfrm>
                <a:off x="7836524" y="2246189"/>
                <a:ext cx="330974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4472C4"/>
                            </a:solidFill>
                            <a:effectLst/>
                            <a:uLnTx/>
                            <a:uFillTx/>
                            <a:latin typeface="Cambria Math" panose="02040503050406030204" pitchFamily="18" charset="0"/>
                            <a:ea typeface="+mn-ea"/>
                            <a:cs typeface="+mn-cs"/>
                          </a:rPr>
                          <m:t>𝐴</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=50%</m:t>
                    </m:r>
                  </m:oMath>
                </a14:m>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mc:Choice>
        <mc:Fallback xmlns="">
          <p:sp>
            <p:nvSpPr>
              <p:cNvPr id="22" name="TextBox 21">
                <a:extLst>
                  <a:ext uri="{FF2B5EF4-FFF2-40B4-BE49-F238E27FC236}">
                    <a16:creationId xmlns:a16="http://schemas.microsoft.com/office/drawing/2014/main" id="{50D96758-BAF6-4CD8-8B20-4213E840AFD8}"/>
                  </a:ext>
                </a:extLst>
              </p:cNvPr>
              <p:cNvSpPr txBox="1">
                <a:spLocks noRot="1" noChangeAspect="1" noMove="1" noResize="1" noEditPoints="1" noAdjustHandles="1" noChangeArrowheads="1" noChangeShapeType="1" noTextEdit="1"/>
              </p:cNvSpPr>
              <p:nvPr/>
            </p:nvSpPr>
            <p:spPr>
              <a:xfrm>
                <a:off x="7836524" y="2246189"/>
                <a:ext cx="3309746" cy="26161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EFB6F50-6CD2-4149-A1FA-99358F668D30}"/>
                  </a:ext>
                </a:extLst>
              </p:cNvPr>
              <p:cNvSpPr txBox="1"/>
              <p:nvPr/>
            </p:nvSpPr>
            <p:spPr>
              <a:xfrm>
                <a:off x="7836523" y="3260406"/>
                <a:ext cx="2998253"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4472C4"/>
                              </a:solidFill>
                              <a:effectLst/>
                              <a:uLnTx/>
                              <a:uFillTx/>
                              <a:latin typeface="Cambria Math" panose="02040503050406030204" pitchFamily="18" charset="0"/>
                              <a:ea typeface="+mn-ea"/>
                              <a:cs typeface="+mn-cs"/>
                            </a:rPr>
                            <m:t>𝐴</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3" name="TextBox 22">
                <a:extLst>
                  <a:ext uri="{FF2B5EF4-FFF2-40B4-BE49-F238E27FC236}">
                    <a16:creationId xmlns:a16="http://schemas.microsoft.com/office/drawing/2014/main" id="{8EFB6F50-6CD2-4149-A1FA-99358F668D30}"/>
                  </a:ext>
                </a:extLst>
              </p:cNvPr>
              <p:cNvSpPr txBox="1">
                <a:spLocks noRot="1" noChangeAspect="1" noMove="1" noResize="1" noEditPoints="1" noAdjustHandles="1" noChangeArrowheads="1" noChangeShapeType="1" noTextEdit="1"/>
              </p:cNvSpPr>
              <p:nvPr/>
            </p:nvSpPr>
            <p:spPr>
              <a:xfrm>
                <a:off x="7836523" y="3260406"/>
                <a:ext cx="2998253" cy="261610"/>
              </a:xfrm>
              <a:prstGeom prst="rect">
                <a:avLst/>
              </a:prstGeom>
              <a:blipFill>
                <a:blip r:embed="rId3"/>
                <a:stretch>
                  <a:fillRect/>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F42497D3-EC5B-4A4F-999E-6AF47B352B5B}"/>
              </a:ext>
            </a:extLst>
          </p:cNvPr>
          <p:cNvSpPr/>
          <p:nvPr/>
        </p:nvSpPr>
        <p:spPr>
          <a:xfrm>
            <a:off x="5777620" y="5794102"/>
            <a:ext cx="1859623" cy="6400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28" name="Rectangle 27">
            <a:extLst>
              <a:ext uri="{FF2B5EF4-FFF2-40B4-BE49-F238E27FC236}">
                <a16:creationId xmlns:a16="http://schemas.microsoft.com/office/drawing/2014/main" id="{8F7CF451-8A18-4ADD-AF27-77E1B5D30F9F}"/>
              </a:ext>
            </a:extLst>
          </p:cNvPr>
          <p:cNvSpPr/>
          <p:nvPr/>
        </p:nvSpPr>
        <p:spPr>
          <a:xfrm>
            <a:off x="5777619" y="4699582"/>
            <a:ext cx="1859623" cy="6400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29" name="Rectangle 28">
            <a:extLst>
              <a:ext uri="{FF2B5EF4-FFF2-40B4-BE49-F238E27FC236}">
                <a16:creationId xmlns:a16="http://schemas.microsoft.com/office/drawing/2014/main" id="{BDE938B4-1C37-4229-B681-285CF5F49775}"/>
              </a:ext>
            </a:extLst>
          </p:cNvPr>
          <p:cNvSpPr/>
          <p:nvPr/>
        </p:nvSpPr>
        <p:spPr>
          <a:xfrm>
            <a:off x="1045729" y="5091734"/>
            <a:ext cx="1859623" cy="79881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a:t>
            </a:r>
          </a:p>
        </p:txBody>
      </p:sp>
      <p:cxnSp>
        <p:nvCxnSpPr>
          <p:cNvPr id="31" name="Straight Arrow Connector 30">
            <a:extLst>
              <a:ext uri="{FF2B5EF4-FFF2-40B4-BE49-F238E27FC236}">
                <a16:creationId xmlns:a16="http://schemas.microsoft.com/office/drawing/2014/main" id="{DDE6BD9B-86CD-4A26-9D92-53768AD501E0}"/>
              </a:ext>
            </a:extLst>
          </p:cNvPr>
          <p:cNvCxnSpPr>
            <a:cxnSpLocks/>
            <a:stCxn id="29" idx="3"/>
            <a:endCxn id="28" idx="1"/>
          </p:cNvCxnSpPr>
          <p:nvPr/>
        </p:nvCxnSpPr>
        <p:spPr>
          <a:xfrm flipV="1">
            <a:off x="2905352" y="5019622"/>
            <a:ext cx="2872267" cy="47152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C5F9AE4-F3E5-4F92-B99B-05F7FE3B7311}"/>
              </a:ext>
            </a:extLst>
          </p:cNvPr>
          <p:cNvCxnSpPr>
            <a:cxnSpLocks/>
            <a:stCxn id="29" idx="3"/>
            <a:endCxn id="27" idx="1"/>
          </p:cNvCxnSpPr>
          <p:nvPr/>
        </p:nvCxnSpPr>
        <p:spPr>
          <a:xfrm>
            <a:off x="2905352" y="5491142"/>
            <a:ext cx="2872268" cy="6230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2A17463-BBD4-4BB7-B90E-5583ECEFD6AC}"/>
                  </a:ext>
                </a:extLst>
              </p:cNvPr>
              <p:cNvSpPr txBox="1"/>
              <p:nvPr/>
            </p:nvSpPr>
            <p:spPr>
              <a:xfrm>
                <a:off x="7836523" y="4939492"/>
                <a:ext cx="316215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ED7D31"/>
                              </a:solidFill>
                              <a:effectLst/>
                              <a:uLnTx/>
                              <a:uFillTx/>
                              <a:latin typeface="Cambria Math" panose="02040503050406030204" pitchFamily="18" charset="0"/>
                              <a:ea typeface="+mn-ea"/>
                              <a:cs typeface="+mn-cs"/>
                            </a:rPr>
                            <m:t>𝐵</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4" name="TextBox 33">
                <a:extLst>
                  <a:ext uri="{FF2B5EF4-FFF2-40B4-BE49-F238E27FC236}">
                    <a16:creationId xmlns:a16="http://schemas.microsoft.com/office/drawing/2014/main" id="{82A17463-BBD4-4BB7-B90E-5583ECEFD6AC}"/>
                  </a:ext>
                </a:extLst>
              </p:cNvPr>
              <p:cNvSpPr txBox="1">
                <a:spLocks noRot="1" noChangeAspect="1" noMove="1" noResize="1" noEditPoints="1" noAdjustHandles="1" noChangeArrowheads="1" noChangeShapeType="1" noTextEdit="1"/>
              </p:cNvSpPr>
              <p:nvPr/>
            </p:nvSpPr>
            <p:spPr>
              <a:xfrm>
                <a:off x="7836523" y="4939492"/>
                <a:ext cx="3162155" cy="26161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6C0675F-8180-4B58-AC0D-DBE24D15093D}"/>
                  </a:ext>
                </a:extLst>
              </p:cNvPr>
              <p:cNvSpPr txBox="1"/>
              <p:nvPr/>
            </p:nvSpPr>
            <p:spPr>
              <a:xfrm>
                <a:off x="7836524" y="5983337"/>
                <a:ext cx="309314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ED7D31"/>
                              </a:solidFill>
                              <a:effectLst/>
                              <a:uLnTx/>
                              <a:uFillTx/>
                              <a:latin typeface="Cambria Math" panose="02040503050406030204" pitchFamily="18" charset="0"/>
                              <a:ea typeface="+mn-ea"/>
                              <a:cs typeface="+mn-cs"/>
                            </a:rPr>
                            <m:t>𝐵</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46C0675F-8180-4B58-AC0D-DBE24D15093D}"/>
                  </a:ext>
                </a:extLst>
              </p:cNvPr>
              <p:cNvSpPr txBox="1">
                <a:spLocks noRot="1" noChangeAspect="1" noMove="1" noResize="1" noEditPoints="1" noAdjustHandles="1" noChangeArrowheads="1" noChangeShapeType="1" noTextEdit="1"/>
              </p:cNvSpPr>
              <p:nvPr/>
            </p:nvSpPr>
            <p:spPr>
              <a:xfrm>
                <a:off x="7836524" y="5983337"/>
                <a:ext cx="3093144" cy="261610"/>
              </a:xfrm>
              <a:prstGeom prst="rect">
                <a:avLst/>
              </a:prstGeom>
              <a:blipFill>
                <a:blip r:embed="rId5"/>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3F2F8A1-9424-4F1D-821E-1287A93594C1}"/>
              </a:ext>
            </a:extLst>
          </p:cNvPr>
          <p:cNvSpPr txBox="1"/>
          <p:nvPr/>
        </p:nvSpPr>
        <p:spPr>
          <a:xfrm>
            <a:off x="1311217" y="4019909"/>
            <a:ext cx="904048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In this scenario, one group is more likely to be re-arrested given that they committed a crime</a:t>
            </a:r>
          </a:p>
        </p:txBody>
      </p:sp>
    </p:spTree>
    <p:extLst>
      <p:ext uri="{BB962C8B-B14F-4D97-AF65-F5344CB8AC3E}">
        <p14:creationId xmlns:p14="http://schemas.microsoft.com/office/powerpoint/2010/main" val="3565734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039ED-9BAD-453D-880A-07999242B05F}"/>
              </a:ext>
            </a:extLst>
          </p:cNvPr>
          <p:cNvSpPr>
            <a:spLocks noGrp="1"/>
          </p:cNvSpPr>
          <p:nvPr>
            <p:ph type="title"/>
          </p:nvPr>
        </p:nvSpPr>
        <p:spPr/>
        <p:txBody>
          <a:bodyPr/>
          <a:lstStyle/>
          <a:p>
            <a:r>
              <a:rPr lang="en-US" dirty="0"/>
              <a:t>Where Does Bias Come From? Scenario 2</a:t>
            </a:r>
          </a:p>
        </p:txBody>
      </p:sp>
      <p:sp>
        <p:nvSpPr>
          <p:cNvPr id="4" name="Rectangle 3">
            <a:extLst>
              <a:ext uri="{FF2B5EF4-FFF2-40B4-BE49-F238E27FC236}">
                <a16:creationId xmlns:a16="http://schemas.microsoft.com/office/drawing/2014/main" id="{FAB5D880-1729-47E7-99B4-A7D4FA2B2FCD}"/>
              </a:ext>
            </a:extLst>
          </p:cNvPr>
          <p:cNvSpPr/>
          <p:nvPr/>
        </p:nvSpPr>
        <p:spPr>
          <a:xfrm>
            <a:off x="5777621" y="3118380"/>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19" name="Rectangle 18">
            <a:extLst>
              <a:ext uri="{FF2B5EF4-FFF2-40B4-BE49-F238E27FC236}">
                <a16:creationId xmlns:a16="http://schemas.microsoft.com/office/drawing/2014/main" id="{3406F41C-2101-4BA4-B529-913DC4D1EC2B}"/>
              </a:ext>
            </a:extLst>
          </p:cNvPr>
          <p:cNvSpPr/>
          <p:nvPr/>
        </p:nvSpPr>
        <p:spPr>
          <a:xfrm>
            <a:off x="5777620" y="2023860"/>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17" name="Rectangle 16">
            <a:extLst>
              <a:ext uri="{FF2B5EF4-FFF2-40B4-BE49-F238E27FC236}">
                <a16:creationId xmlns:a16="http://schemas.microsoft.com/office/drawing/2014/main" id="{DFEEE8A5-E50D-43AA-9824-A6FA79D24CD0}"/>
              </a:ext>
            </a:extLst>
          </p:cNvPr>
          <p:cNvSpPr/>
          <p:nvPr/>
        </p:nvSpPr>
        <p:spPr>
          <a:xfrm>
            <a:off x="1045730" y="2416012"/>
            <a:ext cx="1859623" cy="798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a:t>
            </a:r>
          </a:p>
        </p:txBody>
      </p:sp>
      <p:cxnSp>
        <p:nvCxnSpPr>
          <p:cNvPr id="24" name="Straight Arrow Connector 23">
            <a:extLst>
              <a:ext uri="{FF2B5EF4-FFF2-40B4-BE49-F238E27FC236}">
                <a16:creationId xmlns:a16="http://schemas.microsoft.com/office/drawing/2014/main" id="{CDF22341-383B-4FF5-8EB2-0D2F2E7ECA71}"/>
              </a:ext>
            </a:extLst>
          </p:cNvPr>
          <p:cNvCxnSpPr>
            <a:cxnSpLocks/>
            <a:stCxn id="17" idx="3"/>
            <a:endCxn id="19" idx="1"/>
          </p:cNvCxnSpPr>
          <p:nvPr/>
        </p:nvCxnSpPr>
        <p:spPr>
          <a:xfrm flipV="1">
            <a:off x="2905353" y="2343900"/>
            <a:ext cx="2872267" cy="47152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26AA689-FE6F-4974-9254-28A43737650E}"/>
              </a:ext>
            </a:extLst>
          </p:cNvPr>
          <p:cNvCxnSpPr>
            <a:cxnSpLocks/>
            <a:stCxn id="17" idx="3"/>
            <a:endCxn id="4" idx="1"/>
          </p:cNvCxnSpPr>
          <p:nvPr/>
        </p:nvCxnSpPr>
        <p:spPr>
          <a:xfrm>
            <a:off x="2905353" y="2815420"/>
            <a:ext cx="2872268" cy="6230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0D96758-BAF6-4CD8-8B20-4213E840AFD8}"/>
                  </a:ext>
                </a:extLst>
              </p:cNvPr>
              <p:cNvSpPr txBox="1"/>
              <p:nvPr/>
            </p:nvSpPr>
            <p:spPr>
              <a:xfrm>
                <a:off x="7836524" y="2246189"/>
                <a:ext cx="330974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4472C4"/>
                            </a:solidFill>
                            <a:effectLst/>
                            <a:uLnTx/>
                            <a:uFillTx/>
                            <a:latin typeface="Cambria Math" panose="02040503050406030204" pitchFamily="18" charset="0"/>
                            <a:ea typeface="+mn-ea"/>
                            <a:cs typeface="+mn-cs"/>
                          </a:rPr>
                          <m:t>𝐴</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=100%</m:t>
                    </m:r>
                  </m:oMath>
                </a14:m>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mc:Choice>
        <mc:Fallback xmlns="">
          <p:sp>
            <p:nvSpPr>
              <p:cNvPr id="22" name="TextBox 21">
                <a:extLst>
                  <a:ext uri="{FF2B5EF4-FFF2-40B4-BE49-F238E27FC236}">
                    <a16:creationId xmlns:a16="http://schemas.microsoft.com/office/drawing/2014/main" id="{50D96758-BAF6-4CD8-8B20-4213E840AFD8}"/>
                  </a:ext>
                </a:extLst>
              </p:cNvPr>
              <p:cNvSpPr txBox="1">
                <a:spLocks noRot="1" noChangeAspect="1" noMove="1" noResize="1" noEditPoints="1" noAdjustHandles="1" noChangeArrowheads="1" noChangeShapeType="1" noTextEdit="1"/>
              </p:cNvSpPr>
              <p:nvPr/>
            </p:nvSpPr>
            <p:spPr>
              <a:xfrm>
                <a:off x="7836524" y="2246189"/>
                <a:ext cx="3309746" cy="26161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EFB6F50-6CD2-4149-A1FA-99358F668D30}"/>
                  </a:ext>
                </a:extLst>
              </p:cNvPr>
              <p:cNvSpPr txBox="1"/>
              <p:nvPr/>
            </p:nvSpPr>
            <p:spPr>
              <a:xfrm>
                <a:off x="7836523" y="3260406"/>
                <a:ext cx="2998253"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4472C4"/>
                              </a:solidFill>
                              <a:effectLst/>
                              <a:uLnTx/>
                              <a:uFillTx/>
                              <a:latin typeface="Cambria Math" panose="02040503050406030204" pitchFamily="18" charset="0"/>
                              <a:ea typeface="+mn-ea"/>
                              <a:cs typeface="+mn-cs"/>
                            </a:rPr>
                            <m:t>𝐴</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3" name="TextBox 22">
                <a:extLst>
                  <a:ext uri="{FF2B5EF4-FFF2-40B4-BE49-F238E27FC236}">
                    <a16:creationId xmlns:a16="http://schemas.microsoft.com/office/drawing/2014/main" id="{8EFB6F50-6CD2-4149-A1FA-99358F668D30}"/>
                  </a:ext>
                </a:extLst>
              </p:cNvPr>
              <p:cNvSpPr txBox="1">
                <a:spLocks noRot="1" noChangeAspect="1" noMove="1" noResize="1" noEditPoints="1" noAdjustHandles="1" noChangeArrowheads="1" noChangeShapeType="1" noTextEdit="1"/>
              </p:cNvSpPr>
              <p:nvPr/>
            </p:nvSpPr>
            <p:spPr>
              <a:xfrm>
                <a:off x="7836523" y="3260406"/>
                <a:ext cx="2998253" cy="261610"/>
              </a:xfrm>
              <a:prstGeom prst="rect">
                <a:avLst/>
              </a:prstGeom>
              <a:blipFill>
                <a:blip r:embed="rId3"/>
                <a:stretch>
                  <a:fillRect/>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F42497D3-EC5B-4A4F-999E-6AF47B352B5B}"/>
              </a:ext>
            </a:extLst>
          </p:cNvPr>
          <p:cNvSpPr/>
          <p:nvPr/>
        </p:nvSpPr>
        <p:spPr>
          <a:xfrm>
            <a:off x="5777620" y="5794102"/>
            <a:ext cx="1859623" cy="6400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28" name="Rectangle 27">
            <a:extLst>
              <a:ext uri="{FF2B5EF4-FFF2-40B4-BE49-F238E27FC236}">
                <a16:creationId xmlns:a16="http://schemas.microsoft.com/office/drawing/2014/main" id="{8F7CF451-8A18-4ADD-AF27-77E1B5D30F9F}"/>
              </a:ext>
            </a:extLst>
          </p:cNvPr>
          <p:cNvSpPr/>
          <p:nvPr/>
        </p:nvSpPr>
        <p:spPr>
          <a:xfrm>
            <a:off x="5777619" y="4699582"/>
            <a:ext cx="1859623" cy="6400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29" name="Rectangle 28">
            <a:extLst>
              <a:ext uri="{FF2B5EF4-FFF2-40B4-BE49-F238E27FC236}">
                <a16:creationId xmlns:a16="http://schemas.microsoft.com/office/drawing/2014/main" id="{BDE938B4-1C37-4229-B681-285CF5F49775}"/>
              </a:ext>
            </a:extLst>
          </p:cNvPr>
          <p:cNvSpPr/>
          <p:nvPr/>
        </p:nvSpPr>
        <p:spPr>
          <a:xfrm>
            <a:off x="1045729" y="5091734"/>
            <a:ext cx="1859623" cy="79881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a:t>
            </a:r>
          </a:p>
        </p:txBody>
      </p:sp>
      <p:cxnSp>
        <p:nvCxnSpPr>
          <p:cNvPr id="31" name="Straight Arrow Connector 30">
            <a:extLst>
              <a:ext uri="{FF2B5EF4-FFF2-40B4-BE49-F238E27FC236}">
                <a16:creationId xmlns:a16="http://schemas.microsoft.com/office/drawing/2014/main" id="{DDE6BD9B-86CD-4A26-9D92-53768AD501E0}"/>
              </a:ext>
            </a:extLst>
          </p:cNvPr>
          <p:cNvCxnSpPr>
            <a:cxnSpLocks/>
            <a:stCxn id="29" idx="3"/>
            <a:endCxn id="28" idx="1"/>
          </p:cNvCxnSpPr>
          <p:nvPr/>
        </p:nvCxnSpPr>
        <p:spPr>
          <a:xfrm flipV="1">
            <a:off x="2905352" y="5019622"/>
            <a:ext cx="2872267" cy="47152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C5F9AE4-F3E5-4F92-B99B-05F7FE3B7311}"/>
              </a:ext>
            </a:extLst>
          </p:cNvPr>
          <p:cNvCxnSpPr>
            <a:cxnSpLocks/>
            <a:stCxn id="29" idx="3"/>
            <a:endCxn id="27" idx="1"/>
          </p:cNvCxnSpPr>
          <p:nvPr/>
        </p:nvCxnSpPr>
        <p:spPr>
          <a:xfrm>
            <a:off x="2905352" y="5491142"/>
            <a:ext cx="2872268" cy="6230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2A17463-BBD4-4BB7-B90E-5583ECEFD6AC}"/>
                  </a:ext>
                </a:extLst>
              </p:cNvPr>
              <p:cNvSpPr txBox="1"/>
              <p:nvPr/>
            </p:nvSpPr>
            <p:spPr>
              <a:xfrm>
                <a:off x="7836523" y="4939492"/>
                <a:ext cx="316215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ED7D31"/>
                              </a:solidFill>
                              <a:effectLst/>
                              <a:uLnTx/>
                              <a:uFillTx/>
                              <a:latin typeface="Cambria Math" panose="02040503050406030204" pitchFamily="18" charset="0"/>
                              <a:ea typeface="+mn-ea"/>
                              <a:cs typeface="+mn-cs"/>
                            </a:rPr>
                            <m:t>𝐵</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4" name="TextBox 33">
                <a:extLst>
                  <a:ext uri="{FF2B5EF4-FFF2-40B4-BE49-F238E27FC236}">
                    <a16:creationId xmlns:a16="http://schemas.microsoft.com/office/drawing/2014/main" id="{82A17463-BBD4-4BB7-B90E-5583ECEFD6AC}"/>
                  </a:ext>
                </a:extLst>
              </p:cNvPr>
              <p:cNvSpPr txBox="1">
                <a:spLocks noRot="1" noChangeAspect="1" noMove="1" noResize="1" noEditPoints="1" noAdjustHandles="1" noChangeArrowheads="1" noChangeShapeType="1" noTextEdit="1"/>
              </p:cNvSpPr>
              <p:nvPr/>
            </p:nvSpPr>
            <p:spPr>
              <a:xfrm>
                <a:off x="7836523" y="4939492"/>
                <a:ext cx="3162155" cy="26161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6C0675F-8180-4B58-AC0D-DBE24D15093D}"/>
                  </a:ext>
                </a:extLst>
              </p:cNvPr>
              <p:cNvSpPr txBox="1"/>
              <p:nvPr/>
            </p:nvSpPr>
            <p:spPr>
              <a:xfrm>
                <a:off x="7836524" y="5983337"/>
                <a:ext cx="309314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ED7D31"/>
                              </a:solidFill>
                              <a:effectLst/>
                              <a:uLnTx/>
                              <a:uFillTx/>
                              <a:latin typeface="Cambria Math" panose="02040503050406030204" pitchFamily="18" charset="0"/>
                              <a:ea typeface="+mn-ea"/>
                              <a:cs typeface="+mn-cs"/>
                            </a:rPr>
                            <m:t>𝐵</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46C0675F-8180-4B58-AC0D-DBE24D15093D}"/>
                  </a:ext>
                </a:extLst>
              </p:cNvPr>
              <p:cNvSpPr txBox="1">
                <a:spLocks noRot="1" noChangeAspect="1" noMove="1" noResize="1" noEditPoints="1" noAdjustHandles="1" noChangeArrowheads="1" noChangeShapeType="1" noTextEdit="1"/>
              </p:cNvSpPr>
              <p:nvPr/>
            </p:nvSpPr>
            <p:spPr>
              <a:xfrm>
                <a:off x="7836524" y="5983337"/>
                <a:ext cx="3093144" cy="26161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93938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039ED-9BAD-453D-880A-07999242B05F}"/>
              </a:ext>
            </a:extLst>
          </p:cNvPr>
          <p:cNvSpPr>
            <a:spLocks noGrp="1"/>
          </p:cNvSpPr>
          <p:nvPr>
            <p:ph type="title"/>
          </p:nvPr>
        </p:nvSpPr>
        <p:spPr/>
        <p:txBody>
          <a:bodyPr/>
          <a:lstStyle/>
          <a:p>
            <a:r>
              <a:rPr lang="en-US" dirty="0"/>
              <a:t>No Differences in Measurement</a:t>
            </a:r>
          </a:p>
        </p:txBody>
      </p:sp>
      <p:sp>
        <p:nvSpPr>
          <p:cNvPr id="4" name="Rectangle 3">
            <a:extLst>
              <a:ext uri="{FF2B5EF4-FFF2-40B4-BE49-F238E27FC236}">
                <a16:creationId xmlns:a16="http://schemas.microsoft.com/office/drawing/2014/main" id="{FAB5D880-1729-47E7-99B4-A7D4FA2B2FCD}"/>
              </a:ext>
            </a:extLst>
          </p:cNvPr>
          <p:cNvSpPr/>
          <p:nvPr/>
        </p:nvSpPr>
        <p:spPr>
          <a:xfrm>
            <a:off x="5777621" y="3118380"/>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19" name="Rectangle 18">
            <a:extLst>
              <a:ext uri="{FF2B5EF4-FFF2-40B4-BE49-F238E27FC236}">
                <a16:creationId xmlns:a16="http://schemas.microsoft.com/office/drawing/2014/main" id="{3406F41C-2101-4BA4-B529-913DC4D1EC2B}"/>
              </a:ext>
            </a:extLst>
          </p:cNvPr>
          <p:cNvSpPr/>
          <p:nvPr/>
        </p:nvSpPr>
        <p:spPr>
          <a:xfrm>
            <a:off x="5777620" y="2023860"/>
            <a:ext cx="1859623"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17" name="Rectangle 16">
            <a:extLst>
              <a:ext uri="{FF2B5EF4-FFF2-40B4-BE49-F238E27FC236}">
                <a16:creationId xmlns:a16="http://schemas.microsoft.com/office/drawing/2014/main" id="{DFEEE8A5-E50D-43AA-9824-A6FA79D24CD0}"/>
              </a:ext>
            </a:extLst>
          </p:cNvPr>
          <p:cNvSpPr/>
          <p:nvPr/>
        </p:nvSpPr>
        <p:spPr>
          <a:xfrm>
            <a:off x="1045730" y="2416012"/>
            <a:ext cx="1859623" cy="7988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a:t>
            </a:r>
          </a:p>
        </p:txBody>
      </p:sp>
      <p:cxnSp>
        <p:nvCxnSpPr>
          <p:cNvPr id="24" name="Straight Arrow Connector 23">
            <a:extLst>
              <a:ext uri="{FF2B5EF4-FFF2-40B4-BE49-F238E27FC236}">
                <a16:creationId xmlns:a16="http://schemas.microsoft.com/office/drawing/2014/main" id="{CDF22341-383B-4FF5-8EB2-0D2F2E7ECA71}"/>
              </a:ext>
            </a:extLst>
          </p:cNvPr>
          <p:cNvCxnSpPr>
            <a:cxnSpLocks/>
            <a:stCxn id="17" idx="3"/>
            <a:endCxn id="19" idx="1"/>
          </p:cNvCxnSpPr>
          <p:nvPr/>
        </p:nvCxnSpPr>
        <p:spPr>
          <a:xfrm flipV="1">
            <a:off x="2905353" y="2343900"/>
            <a:ext cx="2872267" cy="47152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26AA689-FE6F-4974-9254-28A43737650E}"/>
              </a:ext>
            </a:extLst>
          </p:cNvPr>
          <p:cNvCxnSpPr>
            <a:cxnSpLocks/>
            <a:stCxn id="17" idx="3"/>
            <a:endCxn id="4" idx="1"/>
          </p:cNvCxnSpPr>
          <p:nvPr/>
        </p:nvCxnSpPr>
        <p:spPr>
          <a:xfrm>
            <a:off x="2905353" y="2815420"/>
            <a:ext cx="2872268" cy="6230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0D96758-BAF6-4CD8-8B20-4213E840AFD8}"/>
                  </a:ext>
                </a:extLst>
              </p:cNvPr>
              <p:cNvSpPr txBox="1"/>
              <p:nvPr/>
            </p:nvSpPr>
            <p:spPr>
              <a:xfrm>
                <a:off x="7836524" y="2246189"/>
                <a:ext cx="330974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4472C4"/>
                            </a:solidFill>
                            <a:effectLst/>
                            <a:uLnTx/>
                            <a:uFillTx/>
                            <a:latin typeface="Cambria Math" panose="02040503050406030204" pitchFamily="18" charset="0"/>
                            <a:ea typeface="+mn-ea"/>
                            <a:cs typeface="+mn-cs"/>
                          </a:rPr>
                          <m:t>𝐴</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=100%</m:t>
                    </m:r>
                  </m:oMath>
                </a14:m>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mc:Choice>
        <mc:Fallback xmlns="">
          <p:sp>
            <p:nvSpPr>
              <p:cNvPr id="22" name="TextBox 21">
                <a:extLst>
                  <a:ext uri="{FF2B5EF4-FFF2-40B4-BE49-F238E27FC236}">
                    <a16:creationId xmlns:a16="http://schemas.microsoft.com/office/drawing/2014/main" id="{50D96758-BAF6-4CD8-8B20-4213E840AFD8}"/>
                  </a:ext>
                </a:extLst>
              </p:cNvPr>
              <p:cNvSpPr txBox="1">
                <a:spLocks noRot="1" noChangeAspect="1" noMove="1" noResize="1" noEditPoints="1" noAdjustHandles="1" noChangeArrowheads="1" noChangeShapeType="1" noTextEdit="1"/>
              </p:cNvSpPr>
              <p:nvPr/>
            </p:nvSpPr>
            <p:spPr>
              <a:xfrm>
                <a:off x="7836524" y="2246189"/>
                <a:ext cx="3309746" cy="26161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EFB6F50-6CD2-4149-A1FA-99358F668D30}"/>
                  </a:ext>
                </a:extLst>
              </p:cNvPr>
              <p:cNvSpPr txBox="1"/>
              <p:nvPr/>
            </p:nvSpPr>
            <p:spPr>
              <a:xfrm>
                <a:off x="7836523" y="3260406"/>
                <a:ext cx="2998253"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4472C4"/>
                              </a:solidFill>
                              <a:effectLst/>
                              <a:uLnTx/>
                              <a:uFillTx/>
                              <a:latin typeface="Cambria Math" panose="02040503050406030204" pitchFamily="18" charset="0"/>
                              <a:ea typeface="+mn-ea"/>
                              <a:cs typeface="+mn-cs"/>
                            </a:rPr>
                            <m:t>𝐴</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23" name="TextBox 22">
                <a:extLst>
                  <a:ext uri="{FF2B5EF4-FFF2-40B4-BE49-F238E27FC236}">
                    <a16:creationId xmlns:a16="http://schemas.microsoft.com/office/drawing/2014/main" id="{8EFB6F50-6CD2-4149-A1FA-99358F668D30}"/>
                  </a:ext>
                </a:extLst>
              </p:cNvPr>
              <p:cNvSpPr txBox="1">
                <a:spLocks noRot="1" noChangeAspect="1" noMove="1" noResize="1" noEditPoints="1" noAdjustHandles="1" noChangeArrowheads="1" noChangeShapeType="1" noTextEdit="1"/>
              </p:cNvSpPr>
              <p:nvPr/>
            </p:nvSpPr>
            <p:spPr>
              <a:xfrm>
                <a:off x="7836523" y="3260406"/>
                <a:ext cx="2998253" cy="261610"/>
              </a:xfrm>
              <a:prstGeom prst="rect">
                <a:avLst/>
              </a:prstGeom>
              <a:blipFill>
                <a:blip r:embed="rId3"/>
                <a:stretch>
                  <a:fillRect/>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F42497D3-EC5B-4A4F-999E-6AF47B352B5B}"/>
              </a:ext>
            </a:extLst>
          </p:cNvPr>
          <p:cNvSpPr/>
          <p:nvPr/>
        </p:nvSpPr>
        <p:spPr>
          <a:xfrm>
            <a:off x="5777620" y="5794102"/>
            <a:ext cx="1859623" cy="6400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Not Arrested</a:t>
            </a:r>
          </a:p>
        </p:txBody>
      </p:sp>
      <p:sp>
        <p:nvSpPr>
          <p:cNvPr id="28" name="Rectangle 27">
            <a:extLst>
              <a:ext uri="{FF2B5EF4-FFF2-40B4-BE49-F238E27FC236}">
                <a16:creationId xmlns:a16="http://schemas.microsoft.com/office/drawing/2014/main" id="{8F7CF451-8A18-4ADD-AF27-77E1B5D30F9F}"/>
              </a:ext>
            </a:extLst>
          </p:cNvPr>
          <p:cNvSpPr/>
          <p:nvPr/>
        </p:nvSpPr>
        <p:spPr>
          <a:xfrm>
            <a:off x="5777619" y="4699582"/>
            <a:ext cx="1859623" cy="6400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Arrested</a:t>
            </a:r>
          </a:p>
        </p:txBody>
      </p:sp>
      <p:sp>
        <p:nvSpPr>
          <p:cNvPr id="29" name="Rectangle 28">
            <a:extLst>
              <a:ext uri="{FF2B5EF4-FFF2-40B4-BE49-F238E27FC236}">
                <a16:creationId xmlns:a16="http://schemas.microsoft.com/office/drawing/2014/main" id="{BDE938B4-1C37-4229-B681-285CF5F49775}"/>
              </a:ext>
            </a:extLst>
          </p:cNvPr>
          <p:cNvSpPr/>
          <p:nvPr/>
        </p:nvSpPr>
        <p:spPr>
          <a:xfrm>
            <a:off x="1045729" y="5091734"/>
            <a:ext cx="1859623" cy="798816"/>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Crime</a:t>
            </a:r>
          </a:p>
        </p:txBody>
      </p:sp>
      <p:cxnSp>
        <p:nvCxnSpPr>
          <p:cNvPr id="31" name="Straight Arrow Connector 30">
            <a:extLst>
              <a:ext uri="{FF2B5EF4-FFF2-40B4-BE49-F238E27FC236}">
                <a16:creationId xmlns:a16="http://schemas.microsoft.com/office/drawing/2014/main" id="{DDE6BD9B-86CD-4A26-9D92-53768AD501E0}"/>
              </a:ext>
            </a:extLst>
          </p:cNvPr>
          <p:cNvCxnSpPr>
            <a:cxnSpLocks/>
            <a:stCxn id="29" idx="3"/>
            <a:endCxn id="28" idx="1"/>
          </p:cNvCxnSpPr>
          <p:nvPr/>
        </p:nvCxnSpPr>
        <p:spPr>
          <a:xfrm flipV="1">
            <a:off x="2905352" y="5019622"/>
            <a:ext cx="2872267" cy="47152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C5F9AE4-F3E5-4F92-B99B-05F7FE3B7311}"/>
              </a:ext>
            </a:extLst>
          </p:cNvPr>
          <p:cNvCxnSpPr>
            <a:cxnSpLocks/>
            <a:stCxn id="29" idx="3"/>
            <a:endCxn id="27" idx="1"/>
          </p:cNvCxnSpPr>
          <p:nvPr/>
        </p:nvCxnSpPr>
        <p:spPr>
          <a:xfrm>
            <a:off x="2905352" y="5491142"/>
            <a:ext cx="2872268" cy="6230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2A17463-BBD4-4BB7-B90E-5583ECEFD6AC}"/>
                  </a:ext>
                </a:extLst>
              </p:cNvPr>
              <p:cNvSpPr txBox="1"/>
              <p:nvPr/>
            </p:nvSpPr>
            <p:spPr>
              <a:xfrm>
                <a:off x="7836523" y="4939492"/>
                <a:ext cx="316215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ED7D31"/>
                              </a:solidFill>
                              <a:effectLst/>
                              <a:uLnTx/>
                              <a:uFillTx/>
                              <a:latin typeface="Cambria Math" panose="02040503050406030204" pitchFamily="18" charset="0"/>
                              <a:ea typeface="+mn-ea"/>
                              <a:cs typeface="+mn-cs"/>
                            </a:rPr>
                            <m:t>𝐵</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4" name="TextBox 33">
                <a:extLst>
                  <a:ext uri="{FF2B5EF4-FFF2-40B4-BE49-F238E27FC236}">
                    <a16:creationId xmlns:a16="http://schemas.microsoft.com/office/drawing/2014/main" id="{82A17463-BBD4-4BB7-B90E-5583ECEFD6AC}"/>
                  </a:ext>
                </a:extLst>
              </p:cNvPr>
              <p:cNvSpPr txBox="1">
                <a:spLocks noRot="1" noChangeAspect="1" noMove="1" noResize="1" noEditPoints="1" noAdjustHandles="1" noChangeArrowheads="1" noChangeShapeType="1" noTextEdit="1"/>
              </p:cNvSpPr>
              <p:nvPr/>
            </p:nvSpPr>
            <p:spPr>
              <a:xfrm>
                <a:off x="7836523" y="4939492"/>
                <a:ext cx="3162155" cy="26161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6C0675F-8180-4B58-AC0D-DBE24D15093D}"/>
                  </a:ext>
                </a:extLst>
              </p:cNvPr>
              <p:cNvSpPr txBox="1"/>
              <p:nvPr/>
            </p:nvSpPr>
            <p:spPr>
              <a:xfrm>
                <a:off x="7836524" y="5983337"/>
                <a:ext cx="309314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𝐴𝑟𝑟𝑒𝑠𝑡</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e>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𝐶𝑟𝑖𝑚𝑒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100" b="0" i="1" u="none" strike="noStrike" kern="1200" cap="none" spc="0" normalizeH="0" baseline="0" noProof="0" smtClean="0">
                              <a:ln>
                                <a:noFill/>
                              </a:ln>
                              <a:solidFill>
                                <a:srgbClr val="ED7D31"/>
                              </a:solidFill>
                              <a:effectLst/>
                              <a:uLnTx/>
                              <a:uFillTx/>
                              <a:latin typeface="Cambria Math" panose="02040503050406030204" pitchFamily="18" charset="0"/>
                              <a:ea typeface="+mn-ea"/>
                              <a:cs typeface="+mn-cs"/>
                            </a:rPr>
                            <m:t>𝐵</m:t>
                          </m:r>
                        </m:e>
                      </m:d>
                      <m:r>
                        <a:rPr kumimoji="0" lang="en-US" sz="11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oMath>
                  </m:oMathPara>
                </a14:m>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5" name="TextBox 34">
                <a:extLst>
                  <a:ext uri="{FF2B5EF4-FFF2-40B4-BE49-F238E27FC236}">
                    <a16:creationId xmlns:a16="http://schemas.microsoft.com/office/drawing/2014/main" id="{46C0675F-8180-4B58-AC0D-DBE24D15093D}"/>
                  </a:ext>
                </a:extLst>
              </p:cNvPr>
              <p:cNvSpPr txBox="1">
                <a:spLocks noRot="1" noChangeAspect="1" noMove="1" noResize="1" noEditPoints="1" noAdjustHandles="1" noChangeArrowheads="1" noChangeShapeType="1" noTextEdit="1"/>
              </p:cNvSpPr>
              <p:nvPr/>
            </p:nvSpPr>
            <p:spPr>
              <a:xfrm>
                <a:off x="7836524" y="5983337"/>
                <a:ext cx="3093144" cy="261610"/>
              </a:xfrm>
              <a:prstGeom prst="rect">
                <a:avLst/>
              </a:prstGeom>
              <a:blipFill>
                <a:blip r:embed="rId5"/>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287A1B18-6D8E-4BC6-A9DA-0366401DCC0F}"/>
              </a:ext>
            </a:extLst>
          </p:cNvPr>
          <p:cNvSpPr txBox="1"/>
          <p:nvPr/>
        </p:nvSpPr>
        <p:spPr>
          <a:xfrm>
            <a:off x="1311217" y="4019909"/>
            <a:ext cx="904048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In this scenario, both groups are always arrested if they have committed a crime.</a:t>
            </a:r>
          </a:p>
        </p:txBody>
      </p:sp>
    </p:spTree>
    <p:extLst>
      <p:ext uri="{BB962C8B-B14F-4D97-AF65-F5344CB8AC3E}">
        <p14:creationId xmlns:p14="http://schemas.microsoft.com/office/powerpoint/2010/main" val="1806080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879DC-FB41-40E1-B29B-2120C348F2CA}"/>
              </a:ext>
            </a:extLst>
          </p:cNvPr>
          <p:cNvSpPr>
            <a:spLocks noGrp="1"/>
          </p:cNvSpPr>
          <p:nvPr>
            <p:ph type="title"/>
          </p:nvPr>
        </p:nvSpPr>
        <p:spPr/>
        <p:txBody>
          <a:bodyPr/>
          <a:lstStyle/>
          <a:p>
            <a:r>
              <a:rPr lang="en-US" dirty="0"/>
              <a:t>What Leads to Bias </a:t>
            </a:r>
          </a:p>
        </p:txBody>
      </p:sp>
      <p:sp>
        <p:nvSpPr>
          <p:cNvPr id="3" name="Content Placeholder 2">
            <a:extLst>
              <a:ext uri="{FF2B5EF4-FFF2-40B4-BE49-F238E27FC236}">
                <a16:creationId xmlns:a16="http://schemas.microsoft.com/office/drawing/2014/main" id="{C8A163CE-D818-48F4-8FB5-20846D19249B}"/>
              </a:ext>
            </a:extLst>
          </p:cNvPr>
          <p:cNvSpPr>
            <a:spLocks noGrp="1"/>
          </p:cNvSpPr>
          <p:nvPr>
            <p:ph idx="1"/>
          </p:nvPr>
        </p:nvSpPr>
        <p:spPr>
          <a:xfrm>
            <a:off x="838200" y="1825625"/>
            <a:ext cx="10515600" cy="4351338"/>
          </a:xfrm>
        </p:spPr>
        <p:txBody>
          <a:bodyPr/>
          <a:lstStyle/>
          <a:p>
            <a:r>
              <a:rPr lang="en-US" dirty="0"/>
              <a:t>We are going to imagine a world where everything is measured perfectly</a:t>
            </a:r>
          </a:p>
          <a:p>
            <a:endParaRPr lang="en-US" dirty="0"/>
          </a:p>
          <a:p>
            <a:r>
              <a:rPr lang="en-US" dirty="0"/>
              <a:t>We are going to compare two subgroups: race=0 and race=1</a:t>
            </a:r>
          </a:p>
          <a:p>
            <a:endParaRPr lang="en-US" dirty="0"/>
          </a:p>
          <a:p>
            <a:r>
              <a:rPr lang="en-US" dirty="0"/>
              <a:t>One subgroup will have a higher arrest rate than the other one</a:t>
            </a:r>
          </a:p>
          <a:p>
            <a:pPr lvl="1"/>
            <a:r>
              <a:rPr lang="en-US" dirty="0"/>
              <a:t>Why is there a difference in re-arrest rate?</a:t>
            </a:r>
          </a:p>
          <a:p>
            <a:pPr lvl="2"/>
            <a:r>
              <a:rPr lang="en-US" dirty="0"/>
              <a:t>Important for real-world discussions</a:t>
            </a:r>
          </a:p>
          <a:p>
            <a:pPr lvl="2"/>
            <a:r>
              <a:rPr lang="en-US" dirty="0"/>
              <a:t>Today we primarily care about the math</a:t>
            </a:r>
          </a:p>
          <a:p>
            <a:endParaRPr lang="en-US" dirty="0"/>
          </a:p>
          <a:p>
            <a:pPr marL="0" indent="0">
              <a:buNone/>
            </a:pPr>
            <a:endParaRPr lang="en-US" dirty="0"/>
          </a:p>
        </p:txBody>
      </p:sp>
    </p:spTree>
    <p:extLst>
      <p:ext uri="{BB962C8B-B14F-4D97-AF65-F5344CB8AC3E}">
        <p14:creationId xmlns:p14="http://schemas.microsoft.com/office/powerpoint/2010/main" val="4032345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8407-CF74-4561-9452-79C2CFA59D19}"/>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AD4415-DD33-4D81-9136-957FCE0321AD}"/>
                  </a:ext>
                </a:extLst>
              </p:cNvPr>
              <p:cNvSpPr>
                <a:spLocks noGrp="1"/>
              </p:cNvSpPr>
              <p:nvPr>
                <p:ph idx="1"/>
              </p:nvPr>
            </p:nvSpPr>
            <p:spPr>
              <a:xfrm>
                <a:off x="838200" y="1825625"/>
                <a:ext cx="6137953" cy="4351338"/>
              </a:xfrm>
            </p:spPr>
            <p:txBody>
              <a:bodyPr>
                <a:normAutofit lnSpcReduction="10000"/>
              </a:bodyPr>
              <a:lstStyle/>
              <a:p>
                <a:r>
                  <a:rPr lang="en-US" dirty="0"/>
                  <a:t>Predicting arrest in 2021 (</a:t>
                </a:r>
                <a14:m>
                  <m:oMath xmlns:m="http://schemas.openxmlformats.org/officeDocument/2006/math">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oMath>
                </a14:m>
                <a:endParaRPr lang="en-US" dirty="0"/>
              </a:p>
              <a:p>
                <a:endParaRPr lang="en-US" dirty="0"/>
              </a:p>
              <a:p>
                <a:r>
                  <a:rPr lang="en-US" dirty="0"/>
                  <a:t>Models:</a:t>
                </a:r>
              </a:p>
              <a:p>
                <a:pPr lvl="1"/>
                <a:r>
                  <a:rPr lang="en-US" b="0" dirty="0"/>
                  <a:t>1) No predictors</a:t>
                </a:r>
              </a:p>
              <a:p>
                <a:pPr lvl="1"/>
                <a:r>
                  <a:rPr lang="en-US" dirty="0"/>
                  <a:t>2) + </a:t>
                </a:r>
                <a:r>
                  <a:rPr lang="en-US" b="0" dirty="0"/>
                  <a:t>Arrest in 2020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m:t>
                    </m:r>
                  </m:oMath>
                </a14:m>
                <a:endParaRPr lang="en-US" dirty="0"/>
              </a:p>
              <a:p>
                <a:pPr lvl="1"/>
                <a:r>
                  <a:rPr lang="en-US" dirty="0"/>
                  <a:t>3) + Defendant’s race (</a:t>
                </a:r>
                <a14:m>
                  <m:oMath xmlns:m="http://schemas.openxmlformats.org/officeDocument/2006/math">
                    <m:r>
                      <a:rPr lang="en-US" b="0" i="1" smtClean="0">
                        <a:latin typeface="Cambria Math" panose="02040503050406030204" pitchFamily="18" charset="0"/>
                      </a:rPr>
                      <m:t>𝑟𝑎𝑐𝑒</m:t>
                    </m:r>
                    <m:r>
                      <a:rPr lang="en-US" b="0" i="1" smtClean="0">
                        <a:latin typeface="Cambria Math" panose="02040503050406030204" pitchFamily="18" charset="0"/>
                      </a:rPr>
                      <m:t>)</m:t>
                    </m:r>
                  </m:oMath>
                </a14:m>
                <a:endParaRPr lang="en-US" dirty="0"/>
              </a:p>
              <a:p>
                <a:pPr lvl="1"/>
                <a:r>
                  <a:rPr lang="en-US" dirty="0"/>
                  <a:t>4) + Interaction (</a:t>
                </a:r>
                <a14:m>
                  <m:oMath xmlns:m="http://schemas.openxmlformats.org/officeDocument/2006/math">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 ∗</m:t>
                    </m:r>
                    <m:r>
                      <a:rPr lang="en-US" b="0" i="1" smtClean="0">
                        <a:latin typeface="Cambria Math" panose="02040503050406030204" pitchFamily="18" charset="0"/>
                      </a:rPr>
                      <m:t>𝑟𝑎𝑐𝑒</m:t>
                    </m:r>
                    <m:r>
                      <a:rPr lang="en-US" b="0" i="1" smtClean="0">
                        <a:latin typeface="Cambria Math" panose="02040503050406030204" pitchFamily="18" charset="0"/>
                      </a:rPr>
                      <m:t>)</m:t>
                    </m:r>
                  </m:oMath>
                </a14:m>
                <a:endParaRPr lang="en-US" dirty="0"/>
              </a:p>
              <a:p>
                <a:pPr lvl="1"/>
                <a:endParaRPr lang="en-US" dirty="0"/>
              </a:p>
              <a:p>
                <a:r>
                  <a:rPr lang="en-US" dirty="0"/>
                  <a:t>Ordinary Least Squares</a:t>
                </a:r>
              </a:p>
              <a:p>
                <a:endParaRPr lang="en-US" dirty="0"/>
              </a:p>
            </p:txBody>
          </p:sp>
        </mc:Choice>
        <mc:Fallback xmlns="">
          <p:sp>
            <p:nvSpPr>
              <p:cNvPr id="3" name="Content Placeholder 2">
                <a:extLst>
                  <a:ext uri="{FF2B5EF4-FFF2-40B4-BE49-F238E27FC236}">
                    <a16:creationId xmlns:a16="http://schemas.microsoft.com/office/drawing/2014/main" id="{14AD4415-DD33-4D81-9136-957FCE0321AD}"/>
                  </a:ext>
                </a:extLst>
              </p:cNvPr>
              <p:cNvSpPr>
                <a:spLocks noGrp="1" noRot="1" noChangeAspect="1" noMove="1" noResize="1" noEditPoints="1" noAdjustHandles="1" noChangeArrowheads="1" noChangeShapeType="1" noTextEdit="1"/>
              </p:cNvSpPr>
              <p:nvPr>
                <p:ph idx="1"/>
              </p:nvPr>
            </p:nvSpPr>
            <p:spPr>
              <a:xfrm>
                <a:off x="838200" y="1825625"/>
                <a:ext cx="6137953" cy="4351338"/>
              </a:xfrm>
              <a:blipFill>
                <a:blip r:embed="rId2"/>
                <a:stretch>
                  <a:fillRect l="-1789" t="-3361"/>
                </a:stretch>
              </a:blipFill>
            </p:spPr>
            <p:txBody>
              <a:bodyPr/>
              <a:lstStyle/>
              <a:p>
                <a:r>
                  <a:rPr lang="en-US">
                    <a:noFill/>
                  </a:rPr>
                  <a:t> </a:t>
                </a:r>
              </a:p>
            </p:txBody>
          </p:sp>
        </mc:Fallback>
      </mc:AlternateContent>
    </p:spTree>
    <p:extLst>
      <p:ext uri="{BB962C8B-B14F-4D97-AF65-F5344CB8AC3E}">
        <p14:creationId xmlns:p14="http://schemas.microsoft.com/office/powerpoint/2010/main" val="2340234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8407-CF74-4561-9452-79C2CFA59D19}"/>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AD4415-DD33-4D81-9136-957FCE0321AD}"/>
                  </a:ext>
                </a:extLst>
              </p:cNvPr>
              <p:cNvSpPr>
                <a:spLocks noGrp="1"/>
              </p:cNvSpPr>
              <p:nvPr>
                <p:ph idx="1"/>
              </p:nvPr>
            </p:nvSpPr>
            <p:spPr>
              <a:xfrm>
                <a:off x="838200" y="1825625"/>
                <a:ext cx="9918940" cy="4351338"/>
              </a:xfrm>
            </p:spPr>
            <p:txBody>
              <a:bodyPr>
                <a:normAutofit fontScale="92500" lnSpcReduction="10000"/>
              </a:bodyPr>
              <a:lstStyle/>
              <a:p>
                <a:r>
                  <a:rPr lang="en-US" dirty="0"/>
                  <a:t>Models:</a:t>
                </a:r>
              </a:p>
              <a:p>
                <a:pPr lvl="1"/>
                <a:r>
                  <a:rPr lang="en-US" b="0" dirty="0"/>
                  <a:t>1) No predictors</a:t>
                </a:r>
              </a:p>
              <a:p>
                <a:pPr lvl="2"/>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i="1">
                            <a:latin typeface="Cambria Math" panose="02040503050406030204" pitchFamily="18" charset="0"/>
                          </a:rPr>
                          <m:t>|</m:t>
                        </m:r>
                        <m:r>
                          <a:rPr lang="en-US" i="1">
                            <a:latin typeface="Cambria Math" panose="02040503050406030204" pitchFamily="18" charset="0"/>
                          </a:rPr>
                          <m:t>𝑝𝑟𝑒𝑑𝑠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oMath>
                </a14:m>
                <a:r>
                  <a:rPr lang="en-US" dirty="0"/>
                  <a:t> </a:t>
                </a:r>
                <a:endParaRPr lang="en-US" b="0" dirty="0"/>
              </a:p>
              <a:p>
                <a:pPr lvl="1"/>
                <a:r>
                  <a:rPr lang="en-US" dirty="0"/>
                  <a:t>2) + </a:t>
                </a:r>
                <a:r>
                  <a:rPr lang="en-US" b="0" dirty="0"/>
                  <a:t>Arrest in 2020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e>
                    </m:d>
                  </m:oMath>
                </a14:m>
                <a:endParaRPr lang="en-US" b="0" dirty="0"/>
              </a:p>
              <a:p>
                <a:pPr lvl="2"/>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r>
                          <a:rPr lang="en-US" b="0" i="1" smtClean="0">
                            <a:latin typeface="Cambria Math" panose="02040503050406030204" pitchFamily="18" charset="0"/>
                          </a:rPr>
                          <m:t>𝑝𝑟𝑒𝑑𝑠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oMath>
                </a14:m>
                <a:r>
                  <a:rPr lang="en-US" dirty="0"/>
                  <a:t> </a:t>
                </a:r>
              </a:p>
              <a:p>
                <a:pPr lvl="1"/>
                <a:r>
                  <a:rPr lang="en-US" dirty="0"/>
                  <a:t>3) + Defendant’s race (</a:t>
                </a:r>
                <a14:m>
                  <m:oMath xmlns:m="http://schemas.openxmlformats.org/officeDocument/2006/math">
                    <m:r>
                      <a:rPr lang="en-US" b="0" i="1" smtClean="0">
                        <a:latin typeface="Cambria Math" panose="02040503050406030204" pitchFamily="18" charset="0"/>
                      </a:rPr>
                      <m:t>𝑟𝑎𝑐𝑒</m:t>
                    </m:r>
                    <m:r>
                      <a:rPr lang="en-US" b="0" i="1" smtClean="0">
                        <a:latin typeface="Cambria Math" panose="02040503050406030204" pitchFamily="18" charset="0"/>
                      </a:rPr>
                      <m:t>)</m:t>
                    </m:r>
                  </m:oMath>
                </a14:m>
                <a:endParaRPr lang="en-US" b="0" dirty="0"/>
              </a:p>
              <a:p>
                <a:pPr lvl="2"/>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i="1">
                            <a:latin typeface="Cambria Math" panose="02040503050406030204" pitchFamily="18" charset="0"/>
                          </a:rPr>
                          <m:t>|</m:t>
                        </m:r>
                        <m:r>
                          <a:rPr lang="en-US" i="1">
                            <a:latin typeface="Cambria Math" panose="02040503050406030204" pitchFamily="18" charset="0"/>
                          </a:rPr>
                          <m:t>𝑝𝑟𝑒𝑑𝑠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2</m:t>
                        </m:r>
                      </m:sub>
                    </m:sSub>
                    <m:r>
                      <a:rPr lang="en-US" b="0" i="1" smtClean="0">
                        <a:latin typeface="Cambria Math" panose="02040503050406030204" pitchFamily="18" charset="0"/>
                      </a:rPr>
                      <m:t>⋅ </m:t>
                    </m:r>
                    <m:r>
                      <a:rPr lang="en-US" b="0" i="1" smtClean="0">
                        <a:latin typeface="Cambria Math" panose="02040503050406030204" pitchFamily="18" charset="0"/>
                      </a:rPr>
                      <m:t>𝑟𝑎𝑐𝑒</m:t>
                    </m:r>
                  </m:oMath>
                </a14:m>
                <a:r>
                  <a:rPr lang="en-US" dirty="0"/>
                  <a:t> </a:t>
                </a:r>
              </a:p>
              <a:p>
                <a:pPr lvl="1"/>
                <a:r>
                  <a:rPr lang="en-US" dirty="0"/>
                  <a:t>4) + Interaction (</a:t>
                </a:r>
                <a14:m>
                  <m:oMath xmlns:m="http://schemas.openxmlformats.org/officeDocument/2006/math">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 ∗</m:t>
                    </m:r>
                    <m:r>
                      <a:rPr lang="en-US" b="0" i="1" smtClean="0">
                        <a:latin typeface="Cambria Math" panose="02040503050406030204" pitchFamily="18" charset="0"/>
                      </a:rPr>
                      <m:t>𝑟𝑎𝑐𝑒</m:t>
                    </m:r>
                    <m:r>
                      <a:rPr lang="en-US" b="0" i="1" smtClean="0">
                        <a:latin typeface="Cambria Math" panose="02040503050406030204" pitchFamily="18" charset="0"/>
                      </a:rPr>
                      <m:t>)</m:t>
                    </m:r>
                  </m:oMath>
                </a14:m>
                <a:endParaRPr lang="en-US" dirty="0"/>
              </a:p>
              <a:p>
                <a:pPr lvl="2"/>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i="1">
                            <a:latin typeface="Cambria Math" panose="02040503050406030204" pitchFamily="18" charset="0"/>
                          </a:rPr>
                          <m:t>|</m:t>
                        </m:r>
                        <m:r>
                          <a:rPr lang="en-US" i="1">
                            <a:latin typeface="Cambria Math" panose="02040503050406030204" pitchFamily="18" charset="0"/>
                          </a:rPr>
                          <m:t>𝑝𝑟𝑒𝑑𝑠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2</m:t>
                        </m:r>
                      </m:sub>
                    </m:sSub>
                    <m:r>
                      <a:rPr lang="en-US" b="0" i="1" smtClean="0">
                        <a:latin typeface="Cambria Math" panose="02040503050406030204" pitchFamily="18" charset="0"/>
                      </a:rPr>
                      <m:t>⋅ </m:t>
                    </m:r>
                    <m:r>
                      <a:rPr lang="en-US" b="0" i="1" smtClean="0">
                        <a:latin typeface="Cambria Math" panose="02040503050406030204" pitchFamily="18" charset="0"/>
                      </a:rPr>
                      <m:t>𝑟𝑎𝑐𝑒</m:t>
                    </m:r>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Arrest</m:t>
                        </m:r>
                      </m:e>
                      <m:sub>
                        <m:r>
                          <a:rPr lang="en-US" b="0" i="1" smtClean="0">
                            <a:latin typeface="Cambria Math" panose="02040503050406030204" pitchFamily="18" charset="0"/>
                          </a:rPr>
                          <m:t>2020</m:t>
                        </m:r>
                      </m:sub>
                    </m:sSub>
                    <m:r>
                      <a:rPr lang="en-US" b="0" i="1" smtClean="0">
                        <a:latin typeface="Cambria Math" panose="02040503050406030204" pitchFamily="18" charset="0"/>
                      </a:rPr>
                      <m:t>⋅</m:t>
                    </m:r>
                    <m:r>
                      <a:rPr lang="en-US" b="0" i="1" smtClean="0">
                        <a:latin typeface="Cambria Math" panose="02040503050406030204" pitchFamily="18" charset="0"/>
                      </a:rPr>
                      <m:t>𝑟𝑎𝑐𝑒</m:t>
                    </m:r>
                  </m:oMath>
                </a14:m>
                <a:endParaRPr lang="en-US" dirty="0"/>
              </a:p>
              <a:p>
                <a:pPr lvl="2"/>
                <a:endParaRPr lang="en-US" dirty="0"/>
              </a:p>
              <a:p>
                <a:r>
                  <a:rPr lang="en-US" dirty="0"/>
                  <a:t>Note “|preds” is just a shorthand for saying that these are conditional probabilities that depend on the predictors</a:t>
                </a:r>
              </a:p>
            </p:txBody>
          </p:sp>
        </mc:Choice>
        <mc:Fallback xmlns="">
          <p:sp>
            <p:nvSpPr>
              <p:cNvPr id="3" name="Content Placeholder 2">
                <a:extLst>
                  <a:ext uri="{FF2B5EF4-FFF2-40B4-BE49-F238E27FC236}">
                    <a16:creationId xmlns:a16="http://schemas.microsoft.com/office/drawing/2014/main" id="{14AD4415-DD33-4D81-9136-957FCE0321AD}"/>
                  </a:ext>
                </a:extLst>
              </p:cNvPr>
              <p:cNvSpPr>
                <a:spLocks noGrp="1" noRot="1" noChangeAspect="1" noMove="1" noResize="1" noEditPoints="1" noAdjustHandles="1" noChangeArrowheads="1" noChangeShapeType="1" noTextEdit="1"/>
              </p:cNvSpPr>
              <p:nvPr>
                <p:ph idx="1"/>
              </p:nvPr>
            </p:nvSpPr>
            <p:spPr>
              <a:xfrm>
                <a:off x="838200" y="1825625"/>
                <a:ext cx="9918940" cy="4351338"/>
              </a:xfrm>
              <a:blipFill>
                <a:blip r:embed="rId2"/>
                <a:stretch>
                  <a:fillRect l="-983" t="-2801" r="-123"/>
                </a:stretch>
              </a:blipFill>
            </p:spPr>
            <p:txBody>
              <a:bodyPr/>
              <a:lstStyle/>
              <a:p>
                <a:r>
                  <a:rPr lang="en-US">
                    <a:noFill/>
                  </a:rPr>
                  <a:t> </a:t>
                </a:r>
              </a:p>
            </p:txBody>
          </p:sp>
        </mc:Fallback>
      </mc:AlternateContent>
    </p:spTree>
    <p:extLst>
      <p:ext uri="{BB962C8B-B14F-4D97-AF65-F5344CB8AC3E}">
        <p14:creationId xmlns:p14="http://schemas.microsoft.com/office/powerpoint/2010/main" val="22913081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CD7C3DB9-ADFE-4DB9-B71B-00CD07D93A3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nvPr>
            </p:nvGraphicFramePr>
            <p:xfrm>
              <a:off x="7674794" y="1793429"/>
              <a:ext cx="4274049" cy="4720386"/>
            </p:xfrm>
            <a:graphic>
              <a:graphicData uri="http://schemas.openxmlformats.org/drawingml/2006/table">
                <a:tbl>
                  <a:tblPr firstRow="1" lastCol="1">
                    <a:tableStyleId>{9D7B26C5-4107-4FEC-AEDC-1716B250A1EF}</a:tableStyleId>
                  </a:tblPr>
                  <a:tblGrid>
                    <a:gridCol w="797798">
                      <a:extLst>
                        <a:ext uri="{9D8B030D-6E8A-4147-A177-3AD203B41FA5}">
                          <a16:colId xmlns:a16="http://schemas.microsoft.com/office/drawing/2014/main" val="363316257"/>
                        </a:ext>
                      </a:extLst>
                    </a:gridCol>
                    <a:gridCol w="1005444">
                      <a:extLst>
                        <a:ext uri="{9D8B030D-6E8A-4147-A177-3AD203B41FA5}">
                          <a16:colId xmlns:a16="http://schemas.microsoft.com/office/drawing/2014/main" val="1940546229"/>
                        </a:ext>
                      </a:extLst>
                    </a:gridCol>
                    <a:gridCol w="1420737">
                      <a:extLst>
                        <a:ext uri="{9D8B030D-6E8A-4147-A177-3AD203B41FA5}">
                          <a16:colId xmlns:a16="http://schemas.microsoft.com/office/drawing/2014/main" val="2416451057"/>
                        </a:ext>
                      </a:extLst>
                    </a:gridCol>
                    <a:gridCol w="1050070">
                      <a:extLst>
                        <a:ext uri="{9D8B030D-6E8A-4147-A177-3AD203B41FA5}">
                          <a16:colId xmlns:a16="http://schemas.microsoft.com/office/drawing/2014/main" val="1099521159"/>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r>
                                  <a:rPr lang="en-US" sz="1400" b="0" u="none" strike="noStrike" dirty="0" smtClean="0">
                                    <a:solidFill>
                                      <a:srgbClr val="000000"/>
                                    </a:solidFill>
                                    <a:effectLst/>
                                    <a:latin typeface="Cambria Math" panose="02040503050406030204" pitchFamily="18" charset="0"/>
                                  </a:rPr>
                                  <m:t> :</m:t>
                                </m:r>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extLst>
                  <p:ext uri="{D42A27DB-BD31-4B8C-83A1-F6EECF244321}">
                    <p14:modId xmlns:p14="http://schemas.microsoft.com/office/powerpoint/2010/main" val="950751315"/>
                  </p:ext>
                </p:extLst>
              </p:nvPr>
            </p:nvGraphicFramePr>
            <p:xfrm>
              <a:off x="7674794" y="1793429"/>
              <a:ext cx="4274049" cy="4720386"/>
            </p:xfrm>
            <a:graphic>
              <a:graphicData uri="http://schemas.openxmlformats.org/drawingml/2006/table">
                <a:tbl>
                  <a:tblPr firstRow="1" lastCol="1">
                    <a:tableStyleId>{9D7B26C5-4107-4FEC-AEDC-1716B250A1EF}</a:tableStyleId>
                  </a:tblPr>
                  <a:tblGrid>
                    <a:gridCol w="797798">
                      <a:extLst>
                        <a:ext uri="{9D8B030D-6E8A-4147-A177-3AD203B41FA5}">
                          <a16:colId xmlns:a16="http://schemas.microsoft.com/office/drawing/2014/main" val="363316257"/>
                        </a:ext>
                      </a:extLst>
                    </a:gridCol>
                    <a:gridCol w="1005444">
                      <a:extLst>
                        <a:ext uri="{9D8B030D-6E8A-4147-A177-3AD203B41FA5}">
                          <a16:colId xmlns:a16="http://schemas.microsoft.com/office/drawing/2014/main" val="1940546229"/>
                        </a:ext>
                      </a:extLst>
                    </a:gridCol>
                    <a:gridCol w="1420737">
                      <a:extLst>
                        <a:ext uri="{9D8B030D-6E8A-4147-A177-3AD203B41FA5}">
                          <a16:colId xmlns:a16="http://schemas.microsoft.com/office/drawing/2014/main" val="2416451057"/>
                        </a:ext>
                      </a:extLst>
                    </a:gridCol>
                    <a:gridCol w="1050070">
                      <a:extLst>
                        <a:ext uri="{9D8B030D-6E8A-4147-A177-3AD203B41FA5}">
                          <a16:colId xmlns:a16="http://schemas.microsoft.com/office/drawing/2014/main" val="1099521159"/>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763" t="-1389" r="-438168"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79518" t="-1389" r="-245783"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127897" t="-1389" r="-75107"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306936" t="-1389" r="-1156" b="-979167"/>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48474" y="1793429"/>
                <a:ext cx="6277510" cy="830997"/>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Simplest Predictor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48474" y="1793429"/>
                <a:ext cx="6277510" cy="830997"/>
              </a:xfrm>
              <a:prstGeom prst="rect">
                <a:avLst/>
              </a:prstGeom>
              <a:blipFill>
                <a:blip r:embed="rId4"/>
                <a:stretch>
                  <a:fillRect l="-1262" t="-5839" b="-12409"/>
                </a:stretch>
              </a:blipFill>
            </p:spPr>
            <p:txBody>
              <a:bodyPr/>
              <a:lstStyle/>
              <a:p>
                <a:r>
                  <a:rPr lang="en-US">
                    <a:noFill/>
                  </a:rPr>
                  <a:t> </a:t>
                </a:r>
              </a:p>
            </p:txBody>
          </p:sp>
        </mc:Fallback>
      </mc:AlternateContent>
    </p:spTree>
    <p:extLst>
      <p:ext uri="{BB962C8B-B14F-4D97-AF65-F5344CB8AC3E}">
        <p14:creationId xmlns:p14="http://schemas.microsoft.com/office/powerpoint/2010/main" val="1312659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CD7C3DB9-ADFE-4DB9-B71B-00CD07D93A3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nvPr>
            </p:nvGraphicFramePr>
            <p:xfrm>
              <a:off x="9822088" y="1793429"/>
              <a:ext cx="1050070" cy="4720386"/>
            </p:xfrm>
            <a:graphic>
              <a:graphicData uri="http://schemas.openxmlformats.org/drawingml/2006/table">
                <a:tbl>
                  <a:tblPr firstRow="1" lastCol="1">
                    <a:tableStyleId>{9D7B26C5-4107-4FEC-AEDC-1716B250A1EF}</a:tableStyleId>
                  </a:tblPr>
                  <a:tblGrid>
                    <a:gridCol w="1050070">
                      <a:extLst>
                        <a:ext uri="{9D8B030D-6E8A-4147-A177-3AD203B41FA5}">
                          <a16:colId xmlns:a16="http://schemas.microsoft.com/office/drawing/2014/main" val="1099521159"/>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1</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extLst>
                  <p:ext uri="{D42A27DB-BD31-4B8C-83A1-F6EECF244321}">
                    <p14:modId xmlns:p14="http://schemas.microsoft.com/office/powerpoint/2010/main" val="1227142618"/>
                  </p:ext>
                </p:extLst>
              </p:nvPr>
            </p:nvGraphicFramePr>
            <p:xfrm>
              <a:off x="9822088" y="1793429"/>
              <a:ext cx="1050070" cy="4720386"/>
            </p:xfrm>
            <a:graphic>
              <a:graphicData uri="http://schemas.openxmlformats.org/drawingml/2006/table">
                <a:tbl>
                  <a:tblPr firstRow="1" lastCol="1">
                    <a:tableStyleId>{9D7B26C5-4107-4FEC-AEDC-1716B250A1EF}</a:tableStyleId>
                  </a:tblPr>
                  <a:tblGrid>
                    <a:gridCol w="1050070">
                      <a:extLst>
                        <a:ext uri="{9D8B030D-6E8A-4147-A177-3AD203B41FA5}">
                          <a16:colId xmlns:a16="http://schemas.microsoft.com/office/drawing/2014/main" val="1099521159"/>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78" t="-1389" r="-1156" b="-979167"/>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1</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48474" y="1793429"/>
                <a:ext cx="6277510" cy="2308324"/>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Simplest Predictor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is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Average value of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48474" y="1793429"/>
                <a:ext cx="6277510" cy="2308324"/>
              </a:xfrm>
              <a:prstGeom prst="rect">
                <a:avLst/>
              </a:prstGeom>
              <a:blipFill>
                <a:blip r:embed="rId4"/>
                <a:stretch>
                  <a:fillRect l="-1262" t="-2111"/>
                </a:stretch>
              </a:blipFill>
            </p:spPr>
            <p:txBody>
              <a:bodyPr/>
              <a:lstStyle/>
              <a:p>
                <a:r>
                  <a:rPr lang="en-US">
                    <a:noFill/>
                  </a:rPr>
                  <a:t> </a:t>
                </a:r>
              </a:p>
            </p:txBody>
          </p:sp>
        </mc:Fallback>
      </mc:AlternateContent>
    </p:spTree>
    <p:extLst>
      <p:ext uri="{BB962C8B-B14F-4D97-AF65-F5344CB8AC3E}">
        <p14:creationId xmlns:p14="http://schemas.microsoft.com/office/powerpoint/2010/main" val="2541614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CD7C3DB9-ADFE-4DB9-B71B-00CD07D93A3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nvPr>
            </p:nvGraphicFramePr>
            <p:xfrm>
              <a:off x="9822088" y="1793429"/>
              <a:ext cx="1050070" cy="4720386"/>
            </p:xfrm>
            <a:graphic>
              <a:graphicData uri="http://schemas.openxmlformats.org/drawingml/2006/table">
                <a:tbl>
                  <a:tblPr firstRow="1" lastCol="1">
                    <a:tableStyleId>{9D7B26C5-4107-4FEC-AEDC-1716B250A1EF}</a:tableStyleId>
                  </a:tblPr>
                  <a:tblGrid>
                    <a:gridCol w="1050070">
                      <a:extLst>
                        <a:ext uri="{9D8B030D-6E8A-4147-A177-3AD203B41FA5}">
                          <a16:colId xmlns:a16="http://schemas.microsoft.com/office/drawing/2014/main" val="1099521159"/>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extLst>
                  <p:ext uri="{D42A27DB-BD31-4B8C-83A1-F6EECF244321}">
                    <p14:modId xmlns:p14="http://schemas.microsoft.com/office/powerpoint/2010/main" val="1530420276"/>
                  </p:ext>
                </p:extLst>
              </p:nvPr>
            </p:nvGraphicFramePr>
            <p:xfrm>
              <a:off x="9822088" y="1793429"/>
              <a:ext cx="1050070" cy="4720386"/>
            </p:xfrm>
            <a:graphic>
              <a:graphicData uri="http://schemas.openxmlformats.org/drawingml/2006/table">
                <a:tbl>
                  <a:tblPr firstRow="1" lastCol="1">
                    <a:tableStyleId>{9D7B26C5-4107-4FEC-AEDC-1716B250A1EF}</a:tableStyleId>
                  </a:tblPr>
                  <a:tblGrid>
                    <a:gridCol w="1050070">
                      <a:extLst>
                        <a:ext uri="{9D8B030D-6E8A-4147-A177-3AD203B41FA5}">
                          <a16:colId xmlns:a16="http://schemas.microsoft.com/office/drawing/2014/main" val="1099521159"/>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78" t="-1389" r="-1156" b="-979167"/>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48474" y="1793429"/>
                <a:ext cx="6277510" cy="286334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Simplest Predictor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is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Average value of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den>
                    </m:f>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48474" y="1793429"/>
                <a:ext cx="6277510" cy="2863348"/>
              </a:xfrm>
              <a:prstGeom prst="rect">
                <a:avLst/>
              </a:prstGeom>
              <a:blipFill>
                <a:blip r:embed="rId4"/>
                <a:stretch>
                  <a:fillRect l="-1262" t="-1702"/>
                </a:stretch>
              </a:blipFill>
            </p:spPr>
            <p:txBody>
              <a:bodyPr/>
              <a:lstStyle/>
              <a:p>
                <a:r>
                  <a:rPr lang="en-US">
                    <a:noFill/>
                  </a:rPr>
                  <a:t> </a:t>
                </a:r>
              </a:p>
            </p:txBody>
          </p:sp>
        </mc:Fallback>
      </mc:AlternateContent>
    </p:spTree>
    <p:extLst>
      <p:ext uri="{BB962C8B-B14F-4D97-AF65-F5344CB8AC3E}">
        <p14:creationId xmlns:p14="http://schemas.microsoft.com/office/powerpoint/2010/main" val="3010615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CD7C3DB9-ADFE-4DB9-B71B-00CD07D93A3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nvPr>
            </p:nvGraphicFramePr>
            <p:xfrm>
              <a:off x="9010429" y="1793429"/>
              <a:ext cx="2044566" cy="4720386"/>
            </p:xfrm>
            <a:graphic>
              <a:graphicData uri="http://schemas.openxmlformats.org/drawingml/2006/table">
                <a:tbl>
                  <a:tblPr firstRow="1" lastCol="1">
                    <a:tableStyleId>{9D7B26C5-4107-4FEC-AEDC-1716B250A1EF}</a:tableStyleId>
                  </a:tblPr>
                  <a:tblGrid>
                    <a:gridCol w="1022283">
                      <a:extLst>
                        <a:ext uri="{9D8B030D-6E8A-4147-A177-3AD203B41FA5}">
                          <a16:colId xmlns:a16="http://schemas.microsoft.com/office/drawing/2014/main" val="1099521159"/>
                        </a:ext>
                      </a:extLst>
                    </a:gridCol>
                    <a:gridCol w="1022283">
                      <a:extLst>
                        <a:ext uri="{9D8B030D-6E8A-4147-A177-3AD203B41FA5}">
                          <a16:colId xmlns:a16="http://schemas.microsoft.com/office/drawing/2014/main" val="1561973430"/>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400" b="0" i="1" u="none" strike="noStrike" smtClean="0">
                                            <a:solidFill>
                                              <a:srgbClr val="000000"/>
                                            </a:solidFill>
                                            <a:effectLst/>
                                            <a:latin typeface="Cambria Math" panose="02040503050406030204" pitchFamily="18" charset="0"/>
                                            <a:ea typeface="Cambria Math" panose="02040503050406030204" pitchFamily="18" charset="0"/>
                                          </a:rPr>
                                          <m:t>𝑎𝑟𝑟𝑒𝑠𝑡</m:t>
                                        </m:r>
                                      </m:e>
                                    </m:acc>
                                  </m:e>
                                  <m:sub>
                                    <m:r>
                                      <a:rPr lang="en-US" sz="1400" b="0" i="1" u="none" strike="noStrike" smtClean="0">
                                        <a:solidFill>
                                          <a:srgbClr val="000000"/>
                                        </a:solidFill>
                                        <a:effectLst/>
                                        <a:latin typeface="Cambria Math" panose="02040503050406030204" pitchFamily="18" charset="0"/>
                                        <a:ea typeface="Cambria Math" panose="02040503050406030204" pitchFamily="18" charset="0"/>
                                      </a:rPr>
                                      <m:t>2021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1</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extLst>
                  <p:ext uri="{D42A27DB-BD31-4B8C-83A1-F6EECF244321}">
                    <p14:modId xmlns:p14="http://schemas.microsoft.com/office/powerpoint/2010/main" val="1806424154"/>
                  </p:ext>
                </p:extLst>
              </p:nvPr>
            </p:nvGraphicFramePr>
            <p:xfrm>
              <a:off x="9010429" y="1793429"/>
              <a:ext cx="2044566" cy="4720386"/>
            </p:xfrm>
            <a:graphic>
              <a:graphicData uri="http://schemas.openxmlformats.org/drawingml/2006/table">
                <a:tbl>
                  <a:tblPr firstRow="1" lastCol="1">
                    <a:tableStyleId>{9D7B26C5-4107-4FEC-AEDC-1716B250A1EF}</a:tableStyleId>
                  </a:tblPr>
                  <a:tblGrid>
                    <a:gridCol w="1022283">
                      <a:extLst>
                        <a:ext uri="{9D8B030D-6E8A-4147-A177-3AD203B41FA5}">
                          <a16:colId xmlns:a16="http://schemas.microsoft.com/office/drawing/2014/main" val="1099521159"/>
                        </a:ext>
                      </a:extLst>
                    </a:gridCol>
                    <a:gridCol w="1022283">
                      <a:extLst>
                        <a:ext uri="{9D8B030D-6E8A-4147-A177-3AD203B41FA5}">
                          <a16:colId xmlns:a16="http://schemas.microsoft.com/office/drawing/2014/main" val="1561973430"/>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95" t="-1389" r="-101190"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100595" t="-1389" r="-1190" b="-979167"/>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1</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.42</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48474" y="1793429"/>
                <a:ext cx="6277510" cy="4131452"/>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Simplest Predictor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What is </a:t>
                </a: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Average value of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den>
                    </m:f>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Everyone gets the same prediction:</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=.42</m:t>
                    </m:r>
                  </m:oMath>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48474" y="1793429"/>
                <a:ext cx="6277510" cy="4131452"/>
              </a:xfrm>
              <a:prstGeom prst="rect">
                <a:avLst/>
              </a:prstGeom>
              <a:blipFill>
                <a:blip r:embed="rId4"/>
                <a:stretch>
                  <a:fillRect l="-1262" t="-1180"/>
                </a:stretch>
              </a:blipFill>
            </p:spPr>
            <p:txBody>
              <a:bodyPr/>
              <a:lstStyle/>
              <a:p>
                <a:r>
                  <a:rPr lang="en-US">
                    <a:noFill/>
                  </a:rPr>
                  <a:t> </a:t>
                </a:r>
              </a:p>
            </p:txBody>
          </p:sp>
        </mc:Fallback>
      </mc:AlternateContent>
    </p:spTree>
    <p:extLst>
      <p:ext uri="{BB962C8B-B14F-4D97-AF65-F5344CB8AC3E}">
        <p14:creationId xmlns:p14="http://schemas.microsoft.com/office/powerpoint/2010/main" val="1506908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C2AAF-AAB7-4B1E-803B-A9AACC8CA722}"/>
              </a:ext>
            </a:extLst>
          </p:cNvPr>
          <p:cNvSpPr>
            <a:spLocks noGrp="1"/>
          </p:cNvSpPr>
          <p:nvPr>
            <p:ph type="title"/>
          </p:nvPr>
        </p:nvSpPr>
        <p:spPr/>
        <p:txBody>
          <a:bodyPr/>
          <a:lstStyle/>
          <a:p>
            <a:r>
              <a:rPr lang="en-US" dirty="0"/>
              <a:t>Compute Fairness Metrics</a:t>
            </a:r>
          </a:p>
        </p:txBody>
      </p:sp>
      <mc:AlternateContent xmlns:mc="http://schemas.openxmlformats.org/markup-compatibility/2006" xmlns:a14="http://schemas.microsoft.com/office/drawing/2010/main">
        <mc:Choice Requires="a14">
          <p:graphicFrame>
            <p:nvGraphicFramePr>
              <p:cNvPr id="8" name="Table 4">
                <a:extLst>
                  <a:ext uri="{FF2B5EF4-FFF2-40B4-BE49-F238E27FC236}">
                    <a16:creationId xmlns:a16="http://schemas.microsoft.com/office/drawing/2014/main" id="{683A7537-1D9B-40B0-AD44-3749C56ECEE5}"/>
                  </a:ext>
                </a:extLst>
              </p:cNvPr>
              <p:cNvGraphicFramePr>
                <a:graphicFrameLocks noGrp="1"/>
              </p:cNvGraphicFramePr>
              <p:nvPr>
                <p:ph idx="1"/>
              </p:nvPr>
            </p:nvGraphicFramePr>
            <p:xfrm>
              <a:off x="2938412" y="1654139"/>
              <a:ext cx="6801489" cy="1573244"/>
            </p:xfrm>
            <a:graphic>
              <a:graphicData uri="http://schemas.openxmlformats.org/drawingml/2006/table">
                <a:tbl>
                  <a:tblPr firstRow="1" bandRow="1">
                    <a:tableStyleId>{5C22544A-7EE6-4342-B048-85BDC9FD1C3A}</a:tableStyleId>
                  </a:tblPr>
                  <a:tblGrid>
                    <a:gridCol w="3527248">
                      <a:extLst>
                        <a:ext uri="{9D8B030D-6E8A-4147-A177-3AD203B41FA5}">
                          <a16:colId xmlns:a16="http://schemas.microsoft.com/office/drawing/2014/main" val="1012334953"/>
                        </a:ext>
                      </a:extLst>
                    </a:gridCol>
                    <a:gridCol w="1726418">
                      <a:extLst>
                        <a:ext uri="{9D8B030D-6E8A-4147-A177-3AD203B41FA5}">
                          <a16:colId xmlns:a16="http://schemas.microsoft.com/office/drawing/2014/main" val="2350030826"/>
                        </a:ext>
                      </a:extLst>
                    </a:gridCol>
                    <a:gridCol w="1547823">
                      <a:extLst>
                        <a:ext uri="{9D8B030D-6E8A-4147-A177-3AD203B41FA5}">
                          <a16:colId xmlns:a16="http://schemas.microsoft.com/office/drawing/2014/main" val="2557411613"/>
                        </a:ext>
                      </a:extLst>
                    </a:gridCol>
                  </a:tblGrid>
                  <a:tr h="37675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1200" dirty="0">
                              <a:solidFill>
                                <a:schemeClr val="tx1"/>
                              </a:solidFill>
                            </a:rPr>
                            <a:t>Calibration</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hMerge="1">
                      <a:txBody>
                        <a:bodyPr/>
                        <a:lstStyle/>
                        <a:p>
                          <a:pPr algn="ctr"/>
                          <a:endParaRPr lang="en-US" sz="1200" dirty="0">
                            <a:solidFill>
                              <a:schemeClr val="tx1"/>
                            </a:solidFill>
                          </a:endParaRPr>
                        </a:p>
                      </a:txBody>
                      <a:tcPr anchor="ctr">
                        <a:solidFill>
                          <a:srgbClr val="F6E0ED"/>
                        </a:solidFill>
                      </a:tcPr>
                    </a:tc>
                    <a:extLst>
                      <a:ext uri="{0D108BD9-81ED-4DB2-BD59-A6C34878D82A}">
                        <a16:rowId xmlns:a16="http://schemas.microsoft.com/office/drawing/2014/main" val="1935989576"/>
                      </a:ext>
                    </a:extLst>
                  </a:tr>
                  <a:tr h="363918">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𝑃</m:t>
                                    </m:r>
                                  </m:e>
                                </m:acc>
                                <m:d>
                                  <m:dPr>
                                    <m:ctrlPr>
                                      <a:rPr lang="en-US" sz="1200" b="0" i="1" dirty="0" smtClean="0">
                                        <a:solidFill>
                                          <a:schemeClr val="tx1"/>
                                        </a:solidFill>
                                        <a:latin typeface="Cambria Math" panose="02040503050406030204" pitchFamily="18" charset="0"/>
                                      </a:rPr>
                                    </m:ctrlPr>
                                  </m:dPr>
                                  <m:e>
                                    <m:r>
                                      <a:rPr lang="en-US" sz="1200" b="0" i="1" dirty="0" smtClean="0">
                                        <a:solidFill>
                                          <a:schemeClr val="tx1"/>
                                        </a:solidFill>
                                        <a:latin typeface="Cambria Math" panose="02040503050406030204" pitchFamily="18" charset="0"/>
                                      </a:rPr>
                                      <m:t>𝑎𝑟𝑟𝑒𝑠</m:t>
                                    </m:r>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𝑡</m:t>
                                        </m:r>
                                      </m:e>
                                      <m:sub>
                                        <m:r>
                                          <a:rPr lang="en-US" sz="1200" b="0" i="1" dirty="0" smtClean="0">
                                            <a:solidFill>
                                              <a:schemeClr val="tx1"/>
                                            </a:solidFill>
                                            <a:latin typeface="Cambria Math" panose="02040503050406030204" pitchFamily="18" charset="0"/>
                                          </a:rPr>
                                          <m:t>2021</m:t>
                                        </m:r>
                                      </m:sub>
                                    </m:sSub>
                                  </m:e>
                                </m:d>
                              </m:oMath>
                            </m:oMathPara>
                          </a14:m>
                          <a:endParaRPr lang="en-US" sz="1200" dirty="0">
                            <a:solidFill>
                              <a:schemeClr val="tx1"/>
                            </a:solidFill>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𝑃</m:t>
                                </m:r>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𝑎𝑟𝑟𝑒𝑠</m:t>
                                    </m:r>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𝑡</m:t>
                                        </m:r>
                                      </m:e>
                                      <m:sub>
                                        <m:r>
                                          <a:rPr lang="en-US" sz="1200" b="0" i="1" smtClean="0">
                                            <a:solidFill>
                                              <a:schemeClr val="tx1"/>
                                            </a:solidFill>
                                            <a:latin typeface="Cambria Math" panose="02040503050406030204" pitchFamily="18" charset="0"/>
                                          </a:rPr>
                                          <m:t>2021</m:t>
                                        </m:r>
                                      </m:sub>
                                    </m:sSub>
                                  </m:e>
                                </m:d>
                              </m:oMath>
                            </m:oMathPara>
                          </a14:m>
                          <a:endParaRPr lang="en-US" sz="1200" dirty="0">
                            <a:solidFill>
                              <a:schemeClr val="tx1"/>
                            </a:solidFill>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956029341"/>
                      </a:ext>
                    </a:extLst>
                  </a:tr>
                  <a:tr h="434908">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4</m:t>
                                </m:r>
                                <m:r>
                                  <a:rPr lang="en-US" b="0" i="1" dirty="0" smtClean="0">
                                    <a:latin typeface="Cambria Math" panose="02040503050406030204" pitchFamily="18" charset="0"/>
                                  </a:rPr>
                                  <m:t>2</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33%</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259073668"/>
                      </a:ext>
                    </a:extLst>
                  </a:tr>
                  <a:tr h="3958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4</m:t>
                                </m:r>
                                <m:r>
                                  <a:rPr lang="en-US" b="0" i="1" dirty="0" smtClean="0">
                                    <a:latin typeface="Cambria Math" panose="02040503050406030204" pitchFamily="18" charset="0"/>
                                  </a:rPr>
                                  <m:t>2</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50%</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70459642"/>
                      </a:ext>
                    </a:extLst>
                  </a:tr>
                </a:tbl>
              </a:graphicData>
            </a:graphic>
          </p:graphicFrame>
        </mc:Choice>
        <mc:Fallback xmlns="">
          <p:graphicFrame>
            <p:nvGraphicFramePr>
              <p:cNvPr id="8" name="Table 4">
                <a:extLst>
                  <a:ext uri="{FF2B5EF4-FFF2-40B4-BE49-F238E27FC236}">
                    <a16:creationId xmlns:a16="http://schemas.microsoft.com/office/drawing/2014/main" id="{683A7537-1D9B-40B0-AD44-3749C56ECEE5}"/>
                  </a:ext>
                </a:extLst>
              </p:cNvPr>
              <p:cNvGraphicFramePr>
                <a:graphicFrameLocks noGrp="1"/>
              </p:cNvGraphicFramePr>
              <p:nvPr>
                <p:ph idx="1"/>
                <p:extLst>
                  <p:ext uri="{D42A27DB-BD31-4B8C-83A1-F6EECF244321}">
                    <p14:modId xmlns:p14="http://schemas.microsoft.com/office/powerpoint/2010/main" val="1802962044"/>
                  </p:ext>
                </p:extLst>
              </p:nvPr>
            </p:nvGraphicFramePr>
            <p:xfrm>
              <a:off x="2938412" y="1654139"/>
              <a:ext cx="6801489" cy="1573244"/>
            </p:xfrm>
            <a:graphic>
              <a:graphicData uri="http://schemas.openxmlformats.org/drawingml/2006/table">
                <a:tbl>
                  <a:tblPr firstRow="1" bandRow="1">
                    <a:tableStyleId>{5C22544A-7EE6-4342-B048-85BDC9FD1C3A}</a:tableStyleId>
                  </a:tblPr>
                  <a:tblGrid>
                    <a:gridCol w="3527248">
                      <a:extLst>
                        <a:ext uri="{9D8B030D-6E8A-4147-A177-3AD203B41FA5}">
                          <a16:colId xmlns:a16="http://schemas.microsoft.com/office/drawing/2014/main" val="1012334953"/>
                        </a:ext>
                      </a:extLst>
                    </a:gridCol>
                    <a:gridCol w="1726418">
                      <a:extLst>
                        <a:ext uri="{9D8B030D-6E8A-4147-A177-3AD203B41FA5}">
                          <a16:colId xmlns:a16="http://schemas.microsoft.com/office/drawing/2014/main" val="2350030826"/>
                        </a:ext>
                      </a:extLst>
                    </a:gridCol>
                    <a:gridCol w="1547823">
                      <a:extLst>
                        <a:ext uri="{9D8B030D-6E8A-4147-A177-3AD203B41FA5}">
                          <a16:colId xmlns:a16="http://schemas.microsoft.com/office/drawing/2014/main" val="2557411613"/>
                        </a:ext>
                      </a:extLst>
                    </a:gridCol>
                  </a:tblGrid>
                  <a:tr h="37675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1200" dirty="0">
                              <a:solidFill>
                                <a:schemeClr val="tx1"/>
                              </a:solidFill>
                            </a:rPr>
                            <a:t>Calibration</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hMerge="1">
                      <a:txBody>
                        <a:bodyPr/>
                        <a:lstStyle/>
                        <a:p>
                          <a:pPr algn="ctr"/>
                          <a:endParaRPr lang="en-US" sz="1200" dirty="0">
                            <a:solidFill>
                              <a:schemeClr val="tx1"/>
                            </a:solidFill>
                          </a:endParaRPr>
                        </a:p>
                      </a:txBody>
                      <a:tcPr anchor="ctr">
                        <a:solidFill>
                          <a:srgbClr val="F6E0ED"/>
                        </a:solidFill>
                      </a:tcPr>
                    </a:tc>
                    <a:extLst>
                      <a:ext uri="{0D108BD9-81ED-4DB2-BD59-A6C34878D82A}">
                        <a16:rowId xmlns:a16="http://schemas.microsoft.com/office/drawing/2014/main" val="1935989576"/>
                      </a:ext>
                    </a:extLst>
                  </a:tr>
                  <a:tr h="36576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105000" r="-90459" b="-23166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105000" r="-787" b="-231667"/>
                          </a:stretch>
                        </a:blipFill>
                      </a:tcPr>
                    </a:tc>
                    <a:extLst>
                      <a:ext uri="{0D108BD9-81ED-4DB2-BD59-A6C34878D82A}">
                        <a16:rowId xmlns:a16="http://schemas.microsoft.com/office/drawing/2014/main" val="1956029341"/>
                      </a:ext>
                    </a:extLst>
                  </a:tr>
                  <a:tr h="434908">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170833" r="-93092" b="-93056"/>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170833" r="-90459" b="-93056"/>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170833" r="-787" b="-93056"/>
                          </a:stretch>
                        </a:blipFill>
                      </a:tcPr>
                    </a:tc>
                    <a:extLst>
                      <a:ext uri="{0D108BD9-81ED-4DB2-BD59-A6C34878D82A}">
                        <a16:rowId xmlns:a16="http://schemas.microsoft.com/office/drawing/2014/main" val="4259073668"/>
                      </a:ext>
                    </a:extLst>
                  </a:tr>
                  <a:tr h="395826">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300000" r="-93092" b="-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300000" r="-90459" b="-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300000" r="-787" b="-3077"/>
                          </a:stretch>
                        </a:blipFill>
                      </a:tcPr>
                    </a:tc>
                    <a:extLst>
                      <a:ext uri="{0D108BD9-81ED-4DB2-BD59-A6C34878D82A}">
                        <a16:rowId xmlns:a16="http://schemas.microsoft.com/office/drawing/2014/main" val="47045964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C05F290D-11F4-4F3C-9762-5FF22181AC46}"/>
                  </a:ext>
                </a:extLst>
              </p:cNvPr>
              <p:cNvGraphicFramePr>
                <a:graphicFrameLocks noGrp="1"/>
              </p:cNvGraphicFramePr>
              <p:nvPr/>
            </p:nvGraphicFramePr>
            <p:xfrm>
              <a:off x="2938412" y="3976099"/>
              <a:ext cx="6801489" cy="2346770"/>
            </p:xfrm>
            <a:graphic>
              <a:graphicData uri="http://schemas.openxmlformats.org/drawingml/2006/table">
                <a:tbl>
                  <a:tblPr firstRow="1" bandRow="1">
                    <a:tableStyleId>{5C22544A-7EE6-4342-B048-85BDC9FD1C3A}</a:tableStyleId>
                  </a:tblPr>
                  <a:tblGrid>
                    <a:gridCol w="2267163">
                      <a:extLst>
                        <a:ext uri="{9D8B030D-6E8A-4147-A177-3AD203B41FA5}">
                          <a16:colId xmlns:a16="http://schemas.microsoft.com/office/drawing/2014/main" val="2888137969"/>
                        </a:ext>
                      </a:extLst>
                    </a:gridCol>
                    <a:gridCol w="2267163">
                      <a:extLst>
                        <a:ext uri="{9D8B030D-6E8A-4147-A177-3AD203B41FA5}">
                          <a16:colId xmlns:a16="http://schemas.microsoft.com/office/drawing/2014/main" val="2174007504"/>
                        </a:ext>
                      </a:extLst>
                    </a:gridCol>
                    <a:gridCol w="2267163">
                      <a:extLst>
                        <a:ext uri="{9D8B030D-6E8A-4147-A177-3AD203B41FA5}">
                          <a16:colId xmlns:a16="http://schemas.microsoft.com/office/drawing/2014/main" val="4163449276"/>
                        </a:ext>
                      </a:extLst>
                    </a:gridCol>
                  </a:tblGrid>
                  <a:tr h="546371">
                    <a:tc>
                      <a:txBody>
                        <a:bodyPr/>
                        <a:lstStyle/>
                        <a:p>
                          <a:pPr algn="ctr"/>
                          <a:endParaRPr lang="en-US" sz="1800" dirty="0">
                            <a:solidFill>
                              <a:schemeClr val="tx1"/>
                            </a:solidFill>
                          </a:endParaRPr>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Balance for 0s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solidFill>
                                <a:schemeClr val="tx1"/>
                              </a:solidFill>
                            </a:rPr>
                            <a:t>Balance for 1s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748957605"/>
                      </a:ext>
                    </a:extLst>
                  </a:tr>
                  <a:tr h="546371">
                    <a:tc>
                      <a:txBody>
                        <a:bodyPr/>
                        <a:lstStyle/>
                        <a:p>
                          <a:pPr algn="ctr"/>
                          <a:endParaRPr lang="en-US" sz="1800"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t>Average </a:t>
                          </a:r>
                        </a:p>
                        <a:p>
                          <a:pPr algn="ctr"/>
                          <a14:m>
                            <m:oMathPara xmlns:m="http://schemas.openxmlformats.org/officeDocument/2006/math">
                              <m:oMathParaPr>
                                <m:jc m:val="centerGroup"/>
                              </m:oMathParaPr>
                              <m:oMath xmlns:m="http://schemas.openxmlformats.org/officeDocument/2006/math">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𝑃</m:t>
                                    </m:r>
                                  </m:e>
                                </m:acc>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t>Average </a:t>
                          </a:r>
                        </a:p>
                        <a:p>
                          <a:pPr algn="ctr"/>
                          <a14:m>
                            <m:oMathPara xmlns:m="http://schemas.openxmlformats.org/officeDocument/2006/math">
                              <m:oMathParaPr>
                                <m:jc m:val="centerGroup"/>
                              </m:oMathParaPr>
                              <m:oMath xmlns:m="http://schemas.openxmlformats.org/officeDocument/2006/math">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𝑃</m:t>
                                    </m:r>
                                  </m:e>
                                </m:acc>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45909457"/>
                      </a:ext>
                    </a:extLst>
                  </a:tr>
                  <a:tr h="623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42%</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42%</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09429038"/>
                      </a:ext>
                    </a:extLst>
                  </a:tr>
                  <a:tr h="623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42%</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42%</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251777355"/>
                      </a:ext>
                    </a:extLst>
                  </a:tr>
                </a:tbl>
              </a:graphicData>
            </a:graphic>
          </p:graphicFrame>
        </mc:Choice>
        <mc:Fallback xmlns="">
          <p:graphicFrame>
            <p:nvGraphicFramePr>
              <p:cNvPr id="9" name="Table 8">
                <a:extLst>
                  <a:ext uri="{FF2B5EF4-FFF2-40B4-BE49-F238E27FC236}">
                    <a16:creationId xmlns:a16="http://schemas.microsoft.com/office/drawing/2014/main" id="{C05F290D-11F4-4F3C-9762-5FF22181AC46}"/>
                  </a:ext>
                </a:extLst>
              </p:cNvPr>
              <p:cNvGraphicFramePr>
                <a:graphicFrameLocks noGrp="1"/>
              </p:cNvGraphicFramePr>
              <p:nvPr>
                <p:extLst>
                  <p:ext uri="{D42A27DB-BD31-4B8C-83A1-F6EECF244321}">
                    <p14:modId xmlns:p14="http://schemas.microsoft.com/office/powerpoint/2010/main" val="3550208653"/>
                  </p:ext>
                </p:extLst>
              </p:nvPr>
            </p:nvGraphicFramePr>
            <p:xfrm>
              <a:off x="2938412" y="3976099"/>
              <a:ext cx="6801489" cy="2346770"/>
            </p:xfrm>
            <a:graphic>
              <a:graphicData uri="http://schemas.openxmlformats.org/drawingml/2006/table">
                <a:tbl>
                  <a:tblPr firstRow="1" bandRow="1">
                    <a:tableStyleId>{5C22544A-7EE6-4342-B048-85BDC9FD1C3A}</a:tableStyleId>
                  </a:tblPr>
                  <a:tblGrid>
                    <a:gridCol w="2267163">
                      <a:extLst>
                        <a:ext uri="{9D8B030D-6E8A-4147-A177-3AD203B41FA5}">
                          <a16:colId xmlns:a16="http://schemas.microsoft.com/office/drawing/2014/main" val="2888137969"/>
                        </a:ext>
                      </a:extLst>
                    </a:gridCol>
                    <a:gridCol w="2267163">
                      <a:extLst>
                        <a:ext uri="{9D8B030D-6E8A-4147-A177-3AD203B41FA5}">
                          <a16:colId xmlns:a16="http://schemas.microsoft.com/office/drawing/2014/main" val="2174007504"/>
                        </a:ext>
                      </a:extLst>
                    </a:gridCol>
                    <a:gridCol w="2267163">
                      <a:extLst>
                        <a:ext uri="{9D8B030D-6E8A-4147-A177-3AD203B41FA5}">
                          <a16:colId xmlns:a16="http://schemas.microsoft.com/office/drawing/2014/main" val="4163449276"/>
                        </a:ext>
                      </a:extLst>
                    </a:gridCol>
                  </a:tblGrid>
                  <a:tr h="546371">
                    <a:tc>
                      <a:txBody>
                        <a:bodyPr/>
                        <a:lstStyle/>
                        <a:p>
                          <a:pPr algn="ctr"/>
                          <a:endParaRPr lang="en-US" sz="1800" dirty="0">
                            <a:solidFill>
                              <a:schemeClr val="tx1"/>
                            </a:solidFill>
                          </a:endParaRPr>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Balance for 0s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solidFill>
                                <a:schemeClr val="tx1"/>
                              </a:solidFill>
                            </a:rPr>
                            <a:t>Balance for 1s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748957605"/>
                      </a:ext>
                    </a:extLst>
                  </a:tr>
                  <a:tr h="553593">
                    <a:tc>
                      <a:txBody>
                        <a:bodyPr/>
                        <a:lstStyle/>
                        <a:p>
                          <a:pPr algn="ctr"/>
                          <a:endParaRPr lang="en-US" sz="1800"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100538" t="-100000" r="-100538" b="-227473"/>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200538" t="-100000" r="-538" b="-227473"/>
                          </a:stretch>
                        </a:blipFill>
                      </a:tcPr>
                    </a:tc>
                    <a:extLst>
                      <a:ext uri="{0D108BD9-81ED-4DB2-BD59-A6C34878D82A}">
                        <a16:rowId xmlns:a16="http://schemas.microsoft.com/office/drawing/2014/main" val="45909457"/>
                      </a:ext>
                    </a:extLst>
                  </a:tr>
                  <a:tr h="623403">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38" t="-178431" r="-200538" b="-10294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42%</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42%</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09429038"/>
                      </a:ext>
                    </a:extLst>
                  </a:tr>
                  <a:tr h="623403">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38" t="-275728" r="-200538" b="-194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42%</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42%</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251777355"/>
                      </a:ext>
                    </a:extLst>
                  </a:tr>
                </a:tbl>
              </a:graphicData>
            </a:graphic>
          </p:graphicFrame>
        </mc:Fallback>
      </mc:AlternateContent>
    </p:spTree>
    <p:extLst>
      <p:ext uri="{BB962C8B-B14F-4D97-AF65-F5344CB8AC3E}">
        <p14:creationId xmlns:p14="http://schemas.microsoft.com/office/powerpoint/2010/main" val="695547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CD7C3DB9-ADFE-4DB9-B71B-00CD07D93A3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nvPr>
            </p:nvGraphicFramePr>
            <p:xfrm>
              <a:off x="7674794" y="1793429"/>
              <a:ext cx="4274049" cy="4720386"/>
            </p:xfrm>
            <a:graphic>
              <a:graphicData uri="http://schemas.openxmlformats.org/drawingml/2006/table">
                <a:tbl>
                  <a:tblPr firstRow="1" lastCol="1">
                    <a:tableStyleId>{9D7B26C5-4107-4FEC-AEDC-1716B250A1EF}</a:tableStyleId>
                  </a:tblPr>
                  <a:tblGrid>
                    <a:gridCol w="797798">
                      <a:extLst>
                        <a:ext uri="{9D8B030D-6E8A-4147-A177-3AD203B41FA5}">
                          <a16:colId xmlns:a16="http://schemas.microsoft.com/office/drawing/2014/main" val="363316257"/>
                        </a:ext>
                      </a:extLst>
                    </a:gridCol>
                    <a:gridCol w="1005444">
                      <a:extLst>
                        <a:ext uri="{9D8B030D-6E8A-4147-A177-3AD203B41FA5}">
                          <a16:colId xmlns:a16="http://schemas.microsoft.com/office/drawing/2014/main" val="1940546229"/>
                        </a:ext>
                      </a:extLst>
                    </a:gridCol>
                    <a:gridCol w="1420737">
                      <a:extLst>
                        <a:ext uri="{9D8B030D-6E8A-4147-A177-3AD203B41FA5}">
                          <a16:colId xmlns:a16="http://schemas.microsoft.com/office/drawing/2014/main" val="2416451057"/>
                        </a:ext>
                      </a:extLst>
                    </a:gridCol>
                    <a:gridCol w="1050070">
                      <a:extLst>
                        <a:ext uri="{9D8B030D-6E8A-4147-A177-3AD203B41FA5}">
                          <a16:colId xmlns:a16="http://schemas.microsoft.com/office/drawing/2014/main" val="1099521159"/>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r>
                                  <a:rPr lang="en-US" sz="1400" b="0" u="none" strike="noStrike" dirty="0" smtClean="0">
                                    <a:solidFill>
                                      <a:srgbClr val="000000"/>
                                    </a:solidFill>
                                    <a:effectLst/>
                                    <a:latin typeface="Cambria Math" panose="02040503050406030204" pitchFamily="18" charset="0"/>
                                  </a:rPr>
                                  <m:t> :</m:t>
                                </m:r>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extLst>
                  <p:ext uri="{D42A27DB-BD31-4B8C-83A1-F6EECF244321}">
                    <p14:modId xmlns:p14="http://schemas.microsoft.com/office/powerpoint/2010/main" val="3605040027"/>
                  </p:ext>
                </p:extLst>
              </p:nvPr>
            </p:nvGraphicFramePr>
            <p:xfrm>
              <a:off x="7674794" y="1793429"/>
              <a:ext cx="4274049" cy="4720386"/>
            </p:xfrm>
            <a:graphic>
              <a:graphicData uri="http://schemas.openxmlformats.org/drawingml/2006/table">
                <a:tbl>
                  <a:tblPr firstRow="1" lastCol="1">
                    <a:tableStyleId>{9D7B26C5-4107-4FEC-AEDC-1716B250A1EF}</a:tableStyleId>
                  </a:tblPr>
                  <a:tblGrid>
                    <a:gridCol w="797798">
                      <a:extLst>
                        <a:ext uri="{9D8B030D-6E8A-4147-A177-3AD203B41FA5}">
                          <a16:colId xmlns:a16="http://schemas.microsoft.com/office/drawing/2014/main" val="363316257"/>
                        </a:ext>
                      </a:extLst>
                    </a:gridCol>
                    <a:gridCol w="1005444">
                      <a:extLst>
                        <a:ext uri="{9D8B030D-6E8A-4147-A177-3AD203B41FA5}">
                          <a16:colId xmlns:a16="http://schemas.microsoft.com/office/drawing/2014/main" val="1940546229"/>
                        </a:ext>
                      </a:extLst>
                    </a:gridCol>
                    <a:gridCol w="1420737">
                      <a:extLst>
                        <a:ext uri="{9D8B030D-6E8A-4147-A177-3AD203B41FA5}">
                          <a16:colId xmlns:a16="http://schemas.microsoft.com/office/drawing/2014/main" val="2416451057"/>
                        </a:ext>
                      </a:extLst>
                    </a:gridCol>
                    <a:gridCol w="1050070">
                      <a:extLst>
                        <a:ext uri="{9D8B030D-6E8A-4147-A177-3AD203B41FA5}">
                          <a16:colId xmlns:a16="http://schemas.microsoft.com/office/drawing/2014/main" val="1099521159"/>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763" t="-1389" r="-438168"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79518" t="-1389" r="-245783"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127897" t="-1389" r="-75107"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306936" t="-1389" r="-1156" b="-979167"/>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48474" y="1793429"/>
                <a:ext cx="6277510" cy="81560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Adding in a Predictor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48474" y="1793429"/>
                <a:ext cx="6277510" cy="815608"/>
              </a:xfrm>
              <a:prstGeom prst="rect">
                <a:avLst/>
              </a:prstGeom>
              <a:blipFill>
                <a:blip r:embed="rId4"/>
                <a:stretch>
                  <a:fillRect l="-1262" t="-5970" b="-11940"/>
                </a:stretch>
              </a:blipFill>
            </p:spPr>
            <p:txBody>
              <a:bodyPr/>
              <a:lstStyle/>
              <a:p>
                <a:r>
                  <a:rPr lang="en-US">
                    <a:noFill/>
                  </a:rPr>
                  <a:t> </a:t>
                </a:r>
              </a:p>
            </p:txBody>
          </p:sp>
        </mc:Fallback>
      </mc:AlternateContent>
    </p:spTree>
    <p:extLst>
      <p:ext uri="{BB962C8B-B14F-4D97-AF65-F5344CB8AC3E}">
        <p14:creationId xmlns:p14="http://schemas.microsoft.com/office/powerpoint/2010/main" val="2249066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CD7C3DB9-ADFE-4DB9-B71B-00CD07D93A3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nvPr>
            </p:nvGraphicFramePr>
            <p:xfrm>
              <a:off x="8722754" y="1803703"/>
              <a:ext cx="2108073" cy="4720386"/>
            </p:xfrm>
            <a:graphic>
              <a:graphicData uri="http://schemas.openxmlformats.org/drawingml/2006/table">
                <a:tbl>
                  <a:tblPr firstRow="1" lastCol="1">
                    <a:tableStyleId>{9D7B26C5-4107-4FEC-AEDC-1716B250A1EF}</a:tableStyleId>
                  </a:tblPr>
                  <a:tblGrid>
                    <a:gridCol w="1031153">
                      <a:extLst>
                        <a:ext uri="{9D8B030D-6E8A-4147-A177-3AD203B41FA5}">
                          <a16:colId xmlns:a16="http://schemas.microsoft.com/office/drawing/2014/main" val="1940546229"/>
                        </a:ext>
                      </a:extLst>
                    </a:gridCol>
                    <a:gridCol w="1076920">
                      <a:extLst>
                        <a:ext uri="{9D8B030D-6E8A-4147-A177-3AD203B41FA5}">
                          <a16:colId xmlns:a16="http://schemas.microsoft.com/office/drawing/2014/main" val="1099521159"/>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extLst>
                  <p:ext uri="{D42A27DB-BD31-4B8C-83A1-F6EECF244321}">
                    <p14:modId xmlns:p14="http://schemas.microsoft.com/office/powerpoint/2010/main" val="3669092335"/>
                  </p:ext>
                </p:extLst>
              </p:nvPr>
            </p:nvGraphicFramePr>
            <p:xfrm>
              <a:off x="8722754" y="1803703"/>
              <a:ext cx="2108073" cy="4720386"/>
            </p:xfrm>
            <a:graphic>
              <a:graphicData uri="http://schemas.openxmlformats.org/drawingml/2006/table">
                <a:tbl>
                  <a:tblPr firstRow="1" lastCol="1">
                    <a:tableStyleId>{9D7B26C5-4107-4FEC-AEDC-1716B250A1EF}</a:tableStyleId>
                  </a:tblPr>
                  <a:tblGrid>
                    <a:gridCol w="1031153">
                      <a:extLst>
                        <a:ext uri="{9D8B030D-6E8A-4147-A177-3AD203B41FA5}">
                          <a16:colId xmlns:a16="http://schemas.microsoft.com/office/drawing/2014/main" val="1940546229"/>
                        </a:ext>
                      </a:extLst>
                    </a:gridCol>
                    <a:gridCol w="1076920">
                      <a:extLst>
                        <a:ext uri="{9D8B030D-6E8A-4147-A177-3AD203B41FA5}">
                          <a16:colId xmlns:a16="http://schemas.microsoft.com/office/drawing/2014/main" val="1099521159"/>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88" t="-1389" r="-105294" b="-980556"/>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96610" t="-1389" r="-1130" b="-980556"/>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48474" y="1793429"/>
                <a:ext cx="6277510" cy="391600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Adding in a Predictor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3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2021</m:t>
                            </m:r>
                          </m:sub>
                        </m:sSub>
                      </m:e>
                    </m:acc>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=0.29+0.31 </m:t>
                    </m:r>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oMath>
                </a14:m>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m:t>
                        </m:r>
                      </m:e>
                    </m:acc>
                    <m:d>
                      <m:d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e>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num>
                      <m:den>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7</m:t>
                        </m:r>
                      </m:den>
                    </m:f>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=.29</m:t>
                    </m:r>
                  </m:oMath>
                </a14:m>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m:t>
                        </m:r>
                      </m:e>
                    </m:acc>
                    <m:d>
                      <m:d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e>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d>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num>
                      <m:den>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n>
                    </m:f>
                    <m:r>
                      <a:rPr kumimoji="0" lang="en-US" sz="23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m:t>
                    </m:r>
                  </m:oMath>
                </a14:m>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48474" y="1793429"/>
                <a:ext cx="6277510" cy="3916008"/>
              </a:xfrm>
              <a:prstGeom prst="rect">
                <a:avLst/>
              </a:prstGeom>
              <a:blipFill>
                <a:blip r:embed="rId4"/>
                <a:stretch>
                  <a:fillRect l="-1262" t="-1244"/>
                </a:stretch>
              </a:blipFill>
            </p:spPr>
            <p:txBody>
              <a:bodyPr/>
              <a:lstStyle/>
              <a:p>
                <a:r>
                  <a:rPr lang="en-US">
                    <a:noFill/>
                  </a:rPr>
                  <a:t> </a:t>
                </a:r>
              </a:p>
            </p:txBody>
          </p:sp>
        </mc:Fallback>
      </mc:AlternateContent>
    </p:spTree>
    <p:extLst>
      <p:ext uri="{BB962C8B-B14F-4D97-AF65-F5344CB8AC3E}">
        <p14:creationId xmlns:p14="http://schemas.microsoft.com/office/powerpoint/2010/main" val="18211792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FE44E32-FA48-A590-F807-FA5426E92DA9}"/>
              </a:ext>
            </a:extLst>
          </p:cNvPr>
          <p:cNvPicPr>
            <a:picLocks noChangeAspect="1"/>
          </p:cNvPicPr>
          <p:nvPr/>
        </p:nvPicPr>
        <p:blipFill>
          <a:blip r:embed="rId2"/>
          <a:stretch>
            <a:fillRect/>
          </a:stretch>
        </p:blipFill>
        <p:spPr>
          <a:xfrm>
            <a:off x="5994420" y="1273071"/>
            <a:ext cx="5931692" cy="4806614"/>
          </a:xfrm>
          <a:prstGeom prst="rect">
            <a:avLst/>
          </a:prstGeom>
        </p:spPr>
      </p:pic>
      <p:sp>
        <p:nvSpPr>
          <p:cNvPr id="2" name="Title 1">
            <a:extLst>
              <a:ext uri="{FF2B5EF4-FFF2-40B4-BE49-F238E27FC236}">
                <a16:creationId xmlns:a16="http://schemas.microsoft.com/office/drawing/2014/main" id="{A5A4D57A-3D7B-CDB5-A652-1FBD011AC842}"/>
              </a:ext>
            </a:extLst>
          </p:cNvPr>
          <p:cNvSpPr>
            <a:spLocks noGrp="1"/>
          </p:cNvSpPr>
          <p:nvPr>
            <p:ph type="title"/>
          </p:nvPr>
        </p:nvSpPr>
        <p:spPr/>
        <p:txBody>
          <a:bodyPr/>
          <a:lstStyle/>
          <a:p>
            <a:r>
              <a:rPr lang="en-US" dirty="0"/>
              <a:t>Visualizing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6F7E11-237D-74C2-3962-1D7645785967}"/>
                  </a:ext>
                </a:extLst>
              </p:cNvPr>
              <p:cNvSpPr>
                <a:spLocks noGrp="1"/>
              </p:cNvSpPr>
              <p:nvPr>
                <p:ph idx="1"/>
              </p:nvPr>
            </p:nvSpPr>
            <p:spPr>
              <a:xfrm>
                <a:off x="838200" y="1825625"/>
                <a:ext cx="5073079" cy="4351338"/>
              </a:xfrm>
            </p:spPr>
            <p:txBody>
              <a:bodyPr>
                <a:normAutofit lnSpcReduction="10000"/>
              </a:bodyPr>
              <a:lstStyle/>
              <a:p>
                <a:r>
                  <a:rPr lang="en-US" dirty="0"/>
                  <a:t>The line represents the prediction model for everyone: </a:t>
                </a:r>
              </a:p>
              <a:p>
                <a:pPr marL="0" indent="0">
                  <a:buNone/>
                </a:pPr>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sz="2600" b="0" i="1" smtClean="0">
                              <a:latin typeface="Cambria Math" panose="02040503050406030204" pitchFamily="18" charset="0"/>
                            </a:rPr>
                          </m:ctrlPr>
                        </m:accPr>
                        <m:e>
                          <m:r>
                            <a:rPr lang="en-US" sz="2600" i="1">
                              <a:latin typeface="Cambria Math" panose="02040503050406030204" pitchFamily="18" charset="0"/>
                            </a:rPr>
                            <m:t>𝐴𝑟𝑟𝑒𝑠</m:t>
                          </m:r>
                          <m:sSub>
                            <m:sSubPr>
                              <m:ctrlPr>
                                <a:rPr lang="en-US" sz="2600" i="1">
                                  <a:latin typeface="Cambria Math" panose="02040503050406030204" pitchFamily="18" charset="0"/>
                                </a:rPr>
                              </m:ctrlPr>
                            </m:sSubPr>
                            <m:e>
                              <m:r>
                                <a:rPr lang="en-US" sz="2600" i="1">
                                  <a:latin typeface="Cambria Math" panose="02040503050406030204" pitchFamily="18" charset="0"/>
                                </a:rPr>
                                <m:t>𝑡</m:t>
                              </m:r>
                            </m:e>
                            <m:sub>
                              <m:r>
                                <a:rPr lang="en-US" sz="2600" i="1">
                                  <a:latin typeface="Cambria Math" panose="02040503050406030204" pitchFamily="18" charset="0"/>
                                </a:rPr>
                                <m:t>2021</m:t>
                              </m:r>
                            </m:sub>
                          </m:sSub>
                        </m:e>
                      </m:acc>
                      <m:r>
                        <a:rPr lang="en-US" sz="2600" b="0" i="1" smtClean="0">
                          <a:latin typeface="Cambria Math" panose="02040503050406030204" pitchFamily="18" charset="0"/>
                        </a:rPr>
                        <m:t>=0.29+0.31 </m:t>
                      </m:r>
                      <m:r>
                        <a:rPr lang="en-US" sz="2600" b="0" i="1" smtClean="0">
                          <a:latin typeface="Cambria Math" panose="02040503050406030204" pitchFamily="18" charset="0"/>
                        </a:rPr>
                        <m:t>𝐴𝑟𝑟𝑒𝑠</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𝑡</m:t>
                          </m:r>
                        </m:e>
                        <m:sub>
                          <m:r>
                            <a:rPr lang="en-US" sz="2600" b="0" i="1" smtClean="0">
                              <a:latin typeface="Cambria Math" panose="02040503050406030204" pitchFamily="18" charset="0"/>
                            </a:rPr>
                            <m:t>2020</m:t>
                          </m:r>
                        </m:sub>
                      </m:sSub>
                    </m:oMath>
                  </m:oMathPara>
                </a14:m>
                <a:endParaRPr lang="en-US" sz="2600" dirty="0"/>
              </a:p>
              <a:p>
                <a:pPr marL="0" indent="0">
                  <a:buNone/>
                </a:pPr>
                <a:endParaRPr lang="en-US" dirty="0"/>
              </a:p>
              <a:p>
                <a:r>
                  <a:rPr lang="en-US" dirty="0"/>
                  <a:t>The points represent the true outcome rates for our two groups and whether they had an arrest in 2020 or not</a:t>
                </a:r>
              </a:p>
            </p:txBody>
          </p:sp>
        </mc:Choice>
        <mc:Fallback xmlns="">
          <p:sp>
            <p:nvSpPr>
              <p:cNvPr id="3" name="Content Placeholder 2">
                <a:extLst>
                  <a:ext uri="{FF2B5EF4-FFF2-40B4-BE49-F238E27FC236}">
                    <a16:creationId xmlns:a16="http://schemas.microsoft.com/office/drawing/2014/main" id="{FA6F7E11-237D-74C2-3962-1D7645785967}"/>
                  </a:ext>
                </a:extLst>
              </p:cNvPr>
              <p:cNvSpPr>
                <a:spLocks noGrp="1" noRot="1" noChangeAspect="1" noMove="1" noResize="1" noEditPoints="1" noAdjustHandles="1" noChangeArrowheads="1" noChangeShapeType="1" noTextEdit="1"/>
              </p:cNvSpPr>
              <p:nvPr>
                <p:ph idx="1"/>
              </p:nvPr>
            </p:nvSpPr>
            <p:spPr>
              <a:xfrm>
                <a:off x="838200" y="1825625"/>
                <a:ext cx="5073079" cy="4351338"/>
              </a:xfrm>
              <a:blipFill>
                <a:blip r:embed="rId3"/>
                <a:stretch>
                  <a:fillRect l="-2163" t="-33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0B199E-8F1B-4E01-C243-C2B35C7DEC0B}"/>
                  </a:ext>
                </a:extLst>
              </p:cNvPr>
              <p:cNvSpPr txBox="1"/>
              <p:nvPr/>
            </p:nvSpPr>
            <p:spPr>
              <a:xfrm>
                <a:off x="10138533" y="4037172"/>
                <a:ext cx="16296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0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8" name="TextBox 7">
                <a:extLst>
                  <a:ext uri="{FF2B5EF4-FFF2-40B4-BE49-F238E27FC236}">
                    <a16:creationId xmlns:a16="http://schemas.microsoft.com/office/drawing/2014/main" id="{B40B199E-8F1B-4E01-C243-C2B35C7DEC0B}"/>
                  </a:ext>
                </a:extLst>
              </p:cNvPr>
              <p:cNvSpPr txBox="1">
                <a:spLocks noRot="1" noChangeAspect="1" noMove="1" noResize="1" noEditPoints="1" noAdjustHandles="1" noChangeArrowheads="1" noChangeShapeType="1" noTextEdit="1"/>
              </p:cNvSpPr>
              <p:nvPr/>
            </p:nvSpPr>
            <p:spPr>
              <a:xfrm>
                <a:off x="10138533" y="4037172"/>
                <a:ext cx="1629623" cy="461665"/>
              </a:xfrm>
              <a:prstGeom prst="rect">
                <a:avLst/>
              </a:prstGeom>
              <a:blipFill>
                <a:blip r:embed="rId4"/>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D9E589-B148-BC2F-16C1-E3CE770396EB}"/>
                  </a:ext>
                </a:extLst>
              </p:cNvPr>
              <p:cNvSpPr txBox="1"/>
              <p:nvPr/>
            </p:nvSpPr>
            <p:spPr>
              <a:xfrm>
                <a:off x="7502615" y="4812578"/>
                <a:ext cx="16296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0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9" name="TextBox 8">
                <a:extLst>
                  <a:ext uri="{FF2B5EF4-FFF2-40B4-BE49-F238E27FC236}">
                    <a16:creationId xmlns:a16="http://schemas.microsoft.com/office/drawing/2014/main" id="{9BD9E589-B148-BC2F-16C1-E3CE770396EB}"/>
                  </a:ext>
                </a:extLst>
              </p:cNvPr>
              <p:cNvSpPr txBox="1">
                <a:spLocks noRot="1" noChangeAspect="1" noMove="1" noResize="1" noEditPoints="1" noAdjustHandles="1" noChangeArrowheads="1" noChangeShapeType="1" noTextEdit="1"/>
              </p:cNvSpPr>
              <p:nvPr/>
            </p:nvSpPr>
            <p:spPr>
              <a:xfrm>
                <a:off x="7502615" y="4812578"/>
                <a:ext cx="1629624" cy="461665"/>
              </a:xfrm>
              <a:prstGeom prst="rect">
                <a:avLst/>
              </a:prstGeom>
              <a:blipFill>
                <a:blip r:embed="rId5"/>
                <a:stretch>
                  <a:fillRect l="-375"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7AD96DB-FE34-6E00-0C65-740069007F70}"/>
                  </a:ext>
                </a:extLst>
              </p:cNvPr>
              <p:cNvSpPr txBox="1"/>
              <p:nvPr/>
            </p:nvSpPr>
            <p:spPr>
              <a:xfrm>
                <a:off x="10010333" y="1426600"/>
                <a:ext cx="16296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1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0" name="TextBox 9">
                <a:extLst>
                  <a:ext uri="{FF2B5EF4-FFF2-40B4-BE49-F238E27FC236}">
                    <a16:creationId xmlns:a16="http://schemas.microsoft.com/office/drawing/2014/main" id="{A7AD96DB-FE34-6E00-0C65-740069007F70}"/>
                  </a:ext>
                </a:extLst>
              </p:cNvPr>
              <p:cNvSpPr txBox="1">
                <a:spLocks noRot="1" noChangeAspect="1" noMove="1" noResize="1" noEditPoints="1" noAdjustHandles="1" noChangeArrowheads="1" noChangeShapeType="1" noTextEdit="1"/>
              </p:cNvSpPr>
              <p:nvPr/>
            </p:nvSpPr>
            <p:spPr>
              <a:xfrm>
                <a:off x="10010333" y="1426600"/>
                <a:ext cx="1629623" cy="461665"/>
              </a:xfrm>
              <a:prstGeom prst="rect">
                <a:avLst/>
              </a:prstGeom>
              <a:blipFill>
                <a:blip r:embed="rId6"/>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8893F2F-C38B-B1D5-FE4A-70785D6E7E35}"/>
                  </a:ext>
                </a:extLst>
              </p:cNvPr>
              <p:cNvSpPr txBox="1"/>
              <p:nvPr/>
            </p:nvSpPr>
            <p:spPr>
              <a:xfrm>
                <a:off x="6721452" y="3379857"/>
                <a:ext cx="16296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1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1" name="TextBox 10">
                <a:extLst>
                  <a:ext uri="{FF2B5EF4-FFF2-40B4-BE49-F238E27FC236}">
                    <a16:creationId xmlns:a16="http://schemas.microsoft.com/office/drawing/2014/main" id="{38893F2F-C38B-B1D5-FE4A-70785D6E7E35}"/>
                  </a:ext>
                </a:extLst>
              </p:cNvPr>
              <p:cNvSpPr txBox="1">
                <a:spLocks noRot="1" noChangeAspect="1" noMove="1" noResize="1" noEditPoints="1" noAdjustHandles="1" noChangeArrowheads="1" noChangeShapeType="1" noTextEdit="1"/>
              </p:cNvSpPr>
              <p:nvPr/>
            </p:nvSpPr>
            <p:spPr>
              <a:xfrm>
                <a:off x="6721452" y="3379857"/>
                <a:ext cx="1629624" cy="461665"/>
              </a:xfrm>
              <a:prstGeom prst="rect">
                <a:avLst/>
              </a:prstGeom>
              <a:blipFill>
                <a:blip r:embed="rId7"/>
                <a:stretch>
                  <a:fillRect l="-375" b="-9211"/>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E759D64B-8ABA-317E-DA6C-17D61296FBAA}"/>
              </a:ext>
            </a:extLst>
          </p:cNvPr>
          <p:cNvCxnSpPr/>
          <p:nvPr/>
        </p:nvCxnSpPr>
        <p:spPr>
          <a:xfrm flipH="1">
            <a:off x="6761747" y="5027493"/>
            <a:ext cx="657727" cy="104274"/>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740E372-2949-A263-D2A4-DFB824E8191F}"/>
              </a:ext>
            </a:extLst>
          </p:cNvPr>
          <p:cNvCxnSpPr>
            <a:cxnSpLocks/>
          </p:cNvCxnSpPr>
          <p:nvPr/>
        </p:nvCxnSpPr>
        <p:spPr>
          <a:xfrm flipH="1">
            <a:off x="6721452" y="3841522"/>
            <a:ext cx="535382" cy="6573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6298B63-37B7-D73B-578E-2811DEFE9706}"/>
              </a:ext>
            </a:extLst>
          </p:cNvPr>
          <p:cNvCxnSpPr>
            <a:cxnSpLocks/>
          </p:cNvCxnSpPr>
          <p:nvPr/>
        </p:nvCxnSpPr>
        <p:spPr>
          <a:xfrm flipV="1">
            <a:off x="10953345" y="3492229"/>
            <a:ext cx="564205" cy="489609"/>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06DED0A-C069-70D7-E190-A3DB775C0385}"/>
              </a:ext>
            </a:extLst>
          </p:cNvPr>
          <p:cNvCxnSpPr>
            <a:cxnSpLocks/>
          </p:cNvCxnSpPr>
          <p:nvPr/>
        </p:nvCxnSpPr>
        <p:spPr>
          <a:xfrm>
            <a:off x="10825144" y="1927177"/>
            <a:ext cx="653494" cy="24251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4387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C2AAF-AAB7-4B1E-803B-A9AACC8CA722}"/>
              </a:ext>
            </a:extLst>
          </p:cNvPr>
          <p:cNvSpPr>
            <a:spLocks noGrp="1"/>
          </p:cNvSpPr>
          <p:nvPr>
            <p:ph type="title"/>
          </p:nvPr>
        </p:nvSpPr>
        <p:spPr/>
        <p:txBody>
          <a:bodyPr/>
          <a:lstStyle/>
          <a:p>
            <a:r>
              <a:rPr lang="en-US" dirty="0"/>
              <a:t>Compute Fairness Metrics</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54769D3B-F281-49C0-89FD-4F863A340928}"/>
                  </a:ext>
                </a:extLst>
              </p:cNvPr>
              <p:cNvGraphicFramePr>
                <a:graphicFrameLocks noGrp="1"/>
              </p:cNvGraphicFramePr>
              <p:nvPr>
                <p:ph idx="1"/>
              </p:nvPr>
            </p:nvGraphicFramePr>
            <p:xfrm>
              <a:off x="2938412" y="1654139"/>
              <a:ext cx="6801489" cy="2364896"/>
            </p:xfrm>
            <a:graphic>
              <a:graphicData uri="http://schemas.openxmlformats.org/drawingml/2006/table">
                <a:tbl>
                  <a:tblPr firstRow="1" bandRow="1">
                    <a:tableStyleId>{5C22544A-7EE6-4342-B048-85BDC9FD1C3A}</a:tableStyleId>
                  </a:tblPr>
                  <a:tblGrid>
                    <a:gridCol w="3527248">
                      <a:extLst>
                        <a:ext uri="{9D8B030D-6E8A-4147-A177-3AD203B41FA5}">
                          <a16:colId xmlns:a16="http://schemas.microsoft.com/office/drawing/2014/main" val="1012334953"/>
                        </a:ext>
                      </a:extLst>
                    </a:gridCol>
                    <a:gridCol w="1726418">
                      <a:extLst>
                        <a:ext uri="{9D8B030D-6E8A-4147-A177-3AD203B41FA5}">
                          <a16:colId xmlns:a16="http://schemas.microsoft.com/office/drawing/2014/main" val="2350030826"/>
                        </a:ext>
                      </a:extLst>
                    </a:gridCol>
                    <a:gridCol w="1547823">
                      <a:extLst>
                        <a:ext uri="{9D8B030D-6E8A-4147-A177-3AD203B41FA5}">
                          <a16:colId xmlns:a16="http://schemas.microsoft.com/office/drawing/2014/main" val="2557411613"/>
                        </a:ext>
                      </a:extLst>
                    </a:gridCol>
                  </a:tblGrid>
                  <a:tr h="37675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1200" dirty="0">
                              <a:solidFill>
                                <a:schemeClr val="tx1"/>
                              </a:solidFill>
                            </a:rPr>
                            <a:t>Calibration</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hMerge="1">
                      <a:txBody>
                        <a:bodyPr/>
                        <a:lstStyle/>
                        <a:p>
                          <a:pPr algn="ctr"/>
                          <a:endParaRPr lang="en-US" sz="1200" dirty="0">
                            <a:solidFill>
                              <a:schemeClr val="tx1"/>
                            </a:solidFill>
                          </a:endParaRPr>
                        </a:p>
                      </a:txBody>
                      <a:tcPr anchor="ctr">
                        <a:solidFill>
                          <a:srgbClr val="F6E0ED"/>
                        </a:solidFill>
                      </a:tcPr>
                    </a:tc>
                    <a:extLst>
                      <a:ext uri="{0D108BD9-81ED-4DB2-BD59-A6C34878D82A}">
                        <a16:rowId xmlns:a16="http://schemas.microsoft.com/office/drawing/2014/main" val="1935989576"/>
                      </a:ext>
                    </a:extLst>
                  </a:tr>
                  <a:tr h="363918">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𝑃</m:t>
                                    </m:r>
                                  </m:e>
                                </m:acc>
                                <m:d>
                                  <m:dPr>
                                    <m:ctrlPr>
                                      <a:rPr lang="en-US" sz="1200" b="0" i="1" dirty="0" smtClean="0">
                                        <a:solidFill>
                                          <a:schemeClr val="tx1"/>
                                        </a:solidFill>
                                        <a:latin typeface="Cambria Math" panose="02040503050406030204" pitchFamily="18" charset="0"/>
                                      </a:rPr>
                                    </m:ctrlPr>
                                  </m:dPr>
                                  <m:e>
                                    <m:r>
                                      <a:rPr lang="en-US" sz="1200" b="0" i="1" dirty="0" smtClean="0">
                                        <a:solidFill>
                                          <a:schemeClr val="tx1"/>
                                        </a:solidFill>
                                        <a:latin typeface="Cambria Math" panose="02040503050406030204" pitchFamily="18" charset="0"/>
                                      </a:rPr>
                                      <m:t>𝑎𝑟𝑟𝑒𝑠</m:t>
                                    </m:r>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𝑡</m:t>
                                        </m:r>
                                      </m:e>
                                      <m:sub>
                                        <m:r>
                                          <a:rPr lang="en-US" sz="1200" b="0" i="1" dirty="0" smtClean="0">
                                            <a:solidFill>
                                              <a:schemeClr val="tx1"/>
                                            </a:solidFill>
                                            <a:latin typeface="Cambria Math" panose="02040503050406030204" pitchFamily="18" charset="0"/>
                                          </a:rPr>
                                          <m:t>2021</m:t>
                                        </m:r>
                                      </m:sub>
                                    </m:sSub>
                                  </m:e>
                                </m:d>
                              </m:oMath>
                            </m:oMathPara>
                          </a14:m>
                          <a:endParaRPr lang="en-US" sz="1200" dirty="0">
                            <a:solidFill>
                              <a:schemeClr val="tx1"/>
                            </a:solidFill>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𝑃</m:t>
                                </m:r>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𝑎𝑟𝑟𝑒𝑠</m:t>
                                    </m:r>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𝑡</m:t>
                                        </m:r>
                                      </m:e>
                                      <m:sub>
                                        <m:r>
                                          <a:rPr lang="en-US" sz="1200" b="0" i="1" smtClean="0">
                                            <a:solidFill>
                                              <a:schemeClr val="tx1"/>
                                            </a:solidFill>
                                            <a:latin typeface="Cambria Math" panose="02040503050406030204" pitchFamily="18" charset="0"/>
                                          </a:rPr>
                                          <m:t>2021</m:t>
                                        </m:r>
                                      </m:sub>
                                    </m:sSub>
                                  </m:e>
                                </m:d>
                              </m:oMath>
                            </m:oMathPara>
                          </a14:m>
                          <a:endParaRPr lang="en-US" sz="1200" dirty="0">
                            <a:solidFill>
                              <a:schemeClr val="tx1"/>
                            </a:solidFill>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956029341"/>
                      </a:ext>
                    </a:extLst>
                  </a:tr>
                  <a:tr h="434908">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2</m:t>
                                </m:r>
                                <m:r>
                                  <a:rPr lang="en-US" b="0" i="1" dirty="0" smtClean="0">
                                    <a:latin typeface="Cambria Math" panose="02040503050406030204" pitchFamily="18" charset="0"/>
                                  </a:rPr>
                                  <m:t>9</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25%</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259073668"/>
                      </a:ext>
                    </a:extLst>
                  </a:tr>
                  <a:tr h="3958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2</m:t>
                                </m:r>
                                <m:r>
                                  <a:rPr lang="en-US" b="0" i="1" dirty="0" smtClean="0">
                                    <a:latin typeface="Cambria Math" panose="02040503050406030204" pitchFamily="18" charset="0"/>
                                  </a:rPr>
                                  <m:t>9</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33%</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243017269"/>
                      </a:ext>
                    </a:extLst>
                  </a:tr>
                  <a:tr h="395826">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6</m:t>
                                </m:r>
                                <m:r>
                                  <a:rPr lang="en-US" b="0" i="1" dirty="0" smtClean="0">
                                    <a:latin typeface="Cambria Math" panose="02040503050406030204" pitchFamily="18" charset="0"/>
                                  </a:rPr>
                                  <m:t>0</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50%</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450916872"/>
                      </a:ext>
                    </a:extLst>
                  </a:tr>
                  <a:tr h="3958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6</m:t>
                                </m:r>
                                <m:r>
                                  <a:rPr lang="en-US" b="0" i="1" dirty="0" smtClean="0">
                                    <a:latin typeface="Cambria Math" panose="02040503050406030204" pitchFamily="18" charset="0"/>
                                  </a:rPr>
                                  <m:t>0</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67%</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70459642"/>
                      </a:ext>
                    </a:extLst>
                  </a:tr>
                </a:tbl>
              </a:graphicData>
            </a:graphic>
          </p:graphicFrame>
        </mc:Choice>
        <mc:Fallback xmlns="">
          <p:graphicFrame>
            <p:nvGraphicFramePr>
              <p:cNvPr id="4" name="Table 4">
                <a:extLst>
                  <a:ext uri="{FF2B5EF4-FFF2-40B4-BE49-F238E27FC236}">
                    <a16:creationId xmlns:a16="http://schemas.microsoft.com/office/drawing/2014/main" id="{54769D3B-F281-49C0-89FD-4F863A340928}"/>
                  </a:ext>
                </a:extLst>
              </p:cNvPr>
              <p:cNvGraphicFramePr>
                <a:graphicFrameLocks noGrp="1"/>
              </p:cNvGraphicFramePr>
              <p:nvPr>
                <p:ph idx="1"/>
                <p:extLst>
                  <p:ext uri="{D42A27DB-BD31-4B8C-83A1-F6EECF244321}">
                    <p14:modId xmlns:p14="http://schemas.microsoft.com/office/powerpoint/2010/main" val="2029839949"/>
                  </p:ext>
                </p:extLst>
              </p:nvPr>
            </p:nvGraphicFramePr>
            <p:xfrm>
              <a:off x="2938412" y="1654139"/>
              <a:ext cx="6801489" cy="2364896"/>
            </p:xfrm>
            <a:graphic>
              <a:graphicData uri="http://schemas.openxmlformats.org/drawingml/2006/table">
                <a:tbl>
                  <a:tblPr firstRow="1" bandRow="1">
                    <a:tableStyleId>{5C22544A-7EE6-4342-B048-85BDC9FD1C3A}</a:tableStyleId>
                  </a:tblPr>
                  <a:tblGrid>
                    <a:gridCol w="3527248">
                      <a:extLst>
                        <a:ext uri="{9D8B030D-6E8A-4147-A177-3AD203B41FA5}">
                          <a16:colId xmlns:a16="http://schemas.microsoft.com/office/drawing/2014/main" val="1012334953"/>
                        </a:ext>
                      </a:extLst>
                    </a:gridCol>
                    <a:gridCol w="1726418">
                      <a:extLst>
                        <a:ext uri="{9D8B030D-6E8A-4147-A177-3AD203B41FA5}">
                          <a16:colId xmlns:a16="http://schemas.microsoft.com/office/drawing/2014/main" val="2350030826"/>
                        </a:ext>
                      </a:extLst>
                    </a:gridCol>
                    <a:gridCol w="1547823">
                      <a:extLst>
                        <a:ext uri="{9D8B030D-6E8A-4147-A177-3AD203B41FA5}">
                          <a16:colId xmlns:a16="http://schemas.microsoft.com/office/drawing/2014/main" val="2557411613"/>
                        </a:ext>
                      </a:extLst>
                    </a:gridCol>
                  </a:tblGrid>
                  <a:tr h="37675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1200" dirty="0">
                              <a:solidFill>
                                <a:schemeClr val="tx1"/>
                              </a:solidFill>
                            </a:rPr>
                            <a:t>Calibration</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hMerge="1">
                      <a:txBody>
                        <a:bodyPr/>
                        <a:lstStyle/>
                        <a:p>
                          <a:pPr algn="ctr"/>
                          <a:endParaRPr lang="en-US" sz="1200" dirty="0">
                            <a:solidFill>
                              <a:schemeClr val="tx1"/>
                            </a:solidFill>
                          </a:endParaRPr>
                        </a:p>
                      </a:txBody>
                      <a:tcPr anchor="ctr">
                        <a:solidFill>
                          <a:srgbClr val="F6E0ED"/>
                        </a:solidFill>
                      </a:tcPr>
                    </a:tc>
                    <a:extLst>
                      <a:ext uri="{0D108BD9-81ED-4DB2-BD59-A6C34878D82A}">
                        <a16:rowId xmlns:a16="http://schemas.microsoft.com/office/drawing/2014/main" val="1935989576"/>
                      </a:ext>
                    </a:extLst>
                  </a:tr>
                  <a:tr h="36576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105000" r="-90459" b="-448333"/>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105000" r="-787" b="-448333"/>
                          </a:stretch>
                        </a:blipFill>
                      </a:tcPr>
                    </a:tc>
                    <a:extLst>
                      <a:ext uri="{0D108BD9-81ED-4DB2-BD59-A6C34878D82A}">
                        <a16:rowId xmlns:a16="http://schemas.microsoft.com/office/drawing/2014/main" val="1956029341"/>
                      </a:ext>
                    </a:extLst>
                  </a:tr>
                  <a:tr h="434908">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170833" r="-93092" b="-273611"/>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170833" r="-90459" b="-273611"/>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170833" r="-787" b="-273611"/>
                          </a:stretch>
                        </a:blipFill>
                      </a:tcPr>
                    </a:tc>
                    <a:extLst>
                      <a:ext uri="{0D108BD9-81ED-4DB2-BD59-A6C34878D82A}">
                        <a16:rowId xmlns:a16="http://schemas.microsoft.com/office/drawing/2014/main" val="4259073668"/>
                      </a:ext>
                    </a:extLst>
                  </a:tr>
                  <a:tr h="395826">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300000" r="-93092" b="-20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300000" r="-90459" b="-20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300000" r="-787" b="-203077"/>
                          </a:stretch>
                        </a:blipFill>
                      </a:tcPr>
                    </a:tc>
                    <a:extLst>
                      <a:ext uri="{0D108BD9-81ED-4DB2-BD59-A6C34878D82A}">
                        <a16:rowId xmlns:a16="http://schemas.microsoft.com/office/drawing/2014/main" val="4243017269"/>
                      </a:ext>
                    </a:extLst>
                  </a:tr>
                  <a:tr h="395826">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400000" r="-93092" b="-10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400000" r="-90459" b="-10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400000" r="-787" b="-103077"/>
                          </a:stretch>
                        </a:blipFill>
                      </a:tcPr>
                    </a:tc>
                    <a:extLst>
                      <a:ext uri="{0D108BD9-81ED-4DB2-BD59-A6C34878D82A}">
                        <a16:rowId xmlns:a16="http://schemas.microsoft.com/office/drawing/2014/main" val="3450916872"/>
                      </a:ext>
                    </a:extLst>
                  </a:tr>
                  <a:tr h="395826">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500000" r="-93092" b="-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500000" r="-90459" b="-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500000" r="-787" b="-3077"/>
                          </a:stretch>
                        </a:blipFill>
                      </a:tcPr>
                    </a:tc>
                    <a:extLst>
                      <a:ext uri="{0D108BD9-81ED-4DB2-BD59-A6C34878D82A}">
                        <a16:rowId xmlns:a16="http://schemas.microsoft.com/office/drawing/2014/main" val="47045964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B47B38B-F0AC-49D7-896D-6D11A210AA58}"/>
                  </a:ext>
                </a:extLst>
              </p:cNvPr>
              <p:cNvGraphicFramePr>
                <a:graphicFrameLocks noGrp="1"/>
              </p:cNvGraphicFramePr>
              <p:nvPr/>
            </p:nvGraphicFramePr>
            <p:xfrm>
              <a:off x="2938412" y="4345967"/>
              <a:ext cx="6801489" cy="2346770"/>
            </p:xfrm>
            <a:graphic>
              <a:graphicData uri="http://schemas.openxmlformats.org/drawingml/2006/table">
                <a:tbl>
                  <a:tblPr firstRow="1" bandRow="1">
                    <a:tableStyleId>{5C22544A-7EE6-4342-B048-85BDC9FD1C3A}</a:tableStyleId>
                  </a:tblPr>
                  <a:tblGrid>
                    <a:gridCol w="2267163">
                      <a:extLst>
                        <a:ext uri="{9D8B030D-6E8A-4147-A177-3AD203B41FA5}">
                          <a16:colId xmlns:a16="http://schemas.microsoft.com/office/drawing/2014/main" val="2888137969"/>
                        </a:ext>
                      </a:extLst>
                    </a:gridCol>
                    <a:gridCol w="2267163">
                      <a:extLst>
                        <a:ext uri="{9D8B030D-6E8A-4147-A177-3AD203B41FA5}">
                          <a16:colId xmlns:a16="http://schemas.microsoft.com/office/drawing/2014/main" val="2174007504"/>
                        </a:ext>
                      </a:extLst>
                    </a:gridCol>
                    <a:gridCol w="2267163">
                      <a:extLst>
                        <a:ext uri="{9D8B030D-6E8A-4147-A177-3AD203B41FA5}">
                          <a16:colId xmlns:a16="http://schemas.microsoft.com/office/drawing/2014/main" val="4163449276"/>
                        </a:ext>
                      </a:extLst>
                    </a:gridCol>
                  </a:tblGrid>
                  <a:tr h="546371">
                    <a:tc>
                      <a:txBody>
                        <a:bodyPr/>
                        <a:lstStyle/>
                        <a:p>
                          <a:pPr algn="ctr"/>
                          <a:endParaRPr lang="en-US" sz="1800" dirty="0">
                            <a:solidFill>
                              <a:schemeClr val="tx1"/>
                            </a:solidFill>
                          </a:endParaRPr>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Balance for 0s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solidFill>
                                <a:schemeClr val="tx1"/>
                              </a:solidFill>
                            </a:rPr>
                            <a:t>Balance for 1s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748957605"/>
                      </a:ext>
                    </a:extLst>
                  </a:tr>
                  <a:tr h="546371">
                    <a:tc>
                      <a:txBody>
                        <a:bodyPr/>
                        <a:lstStyle/>
                        <a:p>
                          <a:pPr algn="ctr"/>
                          <a:endParaRPr lang="en-US" sz="1800"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t>Average </a:t>
                          </a:r>
                        </a:p>
                        <a:p>
                          <a:pPr algn="ctr"/>
                          <a14:m>
                            <m:oMathPara xmlns:m="http://schemas.openxmlformats.org/officeDocument/2006/math">
                              <m:oMathParaPr>
                                <m:jc m:val="centerGroup"/>
                              </m:oMathParaPr>
                              <m:oMath xmlns:m="http://schemas.openxmlformats.org/officeDocument/2006/math">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𝑃</m:t>
                                    </m:r>
                                  </m:e>
                                </m:acc>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t>Average </a:t>
                          </a:r>
                        </a:p>
                        <a:p>
                          <a:pPr algn="ctr"/>
                          <a14:m>
                            <m:oMathPara xmlns:m="http://schemas.openxmlformats.org/officeDocument/2006/math">
                              <m:oMathParaPr>
                                <m:jc m:val="centerGroup"/>
                              </m:oMathParaPr>
                              <m:oMath xmlns:m="http://schemas.openxmlformats.org/officeDocument/2006/math">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𝑃</m:t>
                                    </m:r>
                                  </m:e>
                                </m:acc>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45909457"/>
                      </a:ext>
                    </a:extLst>
                  </a:tr>
                  <a:tr h="623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36%</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44%</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09429038"/>
                      </a:ext>
                    </a:extLst>
                  </a:tr>
                  <a:tr h="623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39%</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50%</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251777355"/>
                      </a:ext>
                    </a:extLst>
                  </a:tr>
                </a:tbl>
              </a:graphicData>
            </a:graphic>
          </p:graphicFrame>
        </mc:Choice>
        <mc:Fallback xmlns="">
          <p:graphicFrame>
            <p:nvGraphicFramePr>
              <p:cNvPr id="6" name="Table 5">
                <a:extLst>
                  <a:ext uri="{FF2B5EF4-FFF2-40B4-BE49-F238E27FC236}">
                    <a16:creationId xmlns:a16="http://schemas.microsoft.com/office/drawing/2014/main" id="{EB47B38B-F0AC-49D7-896D-6D11A210AA58}"/>
                  </a:ext>
                </a:extLst>
              </p:cNvPr>
              <p:cNvGraphicFramePr>
                <a:graphicFrameLocks noGrp="1"/>
              </p:cNvGraphicFramePr>
              <p:nvPr>
                <p:extLst>
                  <p:ext uri="{D42A27DB-BD31-4B8C-83A1-F6EECF244321}">
                    <p14:modId xmlns:p14="http://schemas.microsoft.com/office/powerpoint/2010/main" val="3875469429"/>
                  </p:ext>
                </p:extLst>
              </p:nvPr>
            </p:nvGraphicFramePr>
            <p:xfrm>
              <a:off x="2938412" y="4345967"/>
              <a:ext cx="6801489" cy="2346770"/>
            </p:xfrm>
            <a:graphic>
              <a:graphicData uri="http://schemas.openxmlformats.org/drawingml/2006/table">
                <a:tbl>
                  <a:tblPr firstRow="1" bandRow="1">
                    <a:tableStyleId>{5C22544A-7EE6-4342-B048-85BDC9FD1C3A}</a:tableStyleId>
                  </a:tblPr>
                  <a:tblGrid>
                    <a:gridCol w="2267163">
                      <a:extLst>
                        <a:ext uri="{9D8B030D-6E8A-4147-A177-3AD203B41FA5}">
                          <a16:colId xmlns:a16="http://schemas.microsoft.com/office/drawing/2014/main" val="2888137969"/>
                        </a:ext>
                      </a:extLst>
                    </a:gridCol>
                    <a:gridCol w="2267163">
                      <a:extLst>
                        <a:ext uri="{9D8B030D-6E8A-4147-A177-3AD203B41FA5}">
                          <a16:colId xmlns:a16="http://schemas.microsoft.com/office/drawing/2014/main" val="2174007504"/>
                        </a:ext>
                      </a:extLst>
                    </a:gridCol>
                    <a:gridCol w="2267163">
                      <a:extLst>
                        <a:ext uri="{9D8B030D-6E8A-4147-A177-3AD203B41FA5}">
                          <a16:colId xmlns:a16="http://schemas.microsoft.com/office/drawing/2014/main" val="4163449276"/>
                        </a:ext>
                      </a:extLst>
                    </a:gridCol>
                  </a:tblGrid>
                  <a:tr h="546371">
                    <a:tc>
                      <a:txBody>
                        <a:bodyPr/>
                        <a:lstStyle/>
                        <a:p>
                          <a:pPr algn="ctr"/>
                          <a:endParaRPr lang="en-US" sz="1800" dirty="0">
                            <a:solidFill>
                              <a:schemeClr val="tx1"/>
                            </a:solidFill>
                          </a:endParaRPr>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Balance for 0s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solidFill>
                                <a:schemeClr val="tx1"/>
                              </a:solidFill>
                            </a:rPr>
                            <a:t>Balance for 1s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748957605"/>
                      </a:ext>
                    </a:extLst>
                  </a:tr>
                  <a:tr h="553593">
                    <a:tc>
                      <a:txBody>
                        <a:bodyPr/>
                        <a:lstStyle/>
                        <a:p>
                          <a:pPr algn="ctr"/>
                          <a:endParaRPr lang="en-US" sz="1800"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100538" t="-100000" r="-100538" b="-227473"/>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200538" t="-100000" r="-538" b="-227473"/>
                          </a:stretch>
                        </a:blipFill>
                      </a:tcPr>
                    </a:tc>
                    <a:extLst>
                      <a:ext uri="{0D108BD9-81ED-4DB2-BD59-A6C34878D82A}">
                        <a16:rowId xmlns:a16="http://schemas.microsoft.com/office/drawing/2014/main" val="45909457"/>
                      </a:ext>
                    </a:extLst>
                  </a:tr>
                  <a:tr h="623403">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38" t="-178431" r="-200538" b="-10294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36%</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44%</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09429038"/>
                      </a:ext>
                    </a:extLst>
                  </a:tr>
                  <a:tr h="623403">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38" t="-275728" r="-200538" b="-194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39%</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50%</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251777355"/>
                      </a:ext>
                    </a:extLst>
                  </a:tr>
                </a:tbl>
              </a:graphicData>
            </a:graphic>
          </p:graphicFrame>
        </mc:Fallback>
      </mc:AlternateContent>
    </p:spTree>
    <p:extLst>
      <p:ext uri="{BB962C8B-B14F-4D97-AF65-F5344CB8AC3E}">
        <p14:creationId xmlns:p14="http://schemas.microsoft.com/office/powerpoint/2010/main" val="2562412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 </m:t>
                      </m:r>
                      <m:r>
                        <a:rPr lang="en-US" b="0" i="1" smtClean="0">
                          <a:latin typeface="Cambria Math" panose="02040503050406030204" pitchFamily="18" charset="0"/>
                        </a:rPr>
                        <m:t>𝑅𝑎𝑐𝑒</m:t>
                      </m:r>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CD7C3DB9-ADFE-4DB9-B71B-00CD07D93A3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nvPr>
            </p:nvGraphicFramePr>
            <p:xfrm>
              <a:off x="7674794" y="1793429"/>
              <a:ext cx="4274049" cy="4720386"/>
            </p:xfrm>
            <a:graphic>
              <a:graphicData uri="http://schemas.openxmlformats.org/drawingml/2006/table">
                <a:tbl>
                  <a:tblPr firstRow="1" lastCol="1">
                    <a:tableStyleId>{9D7B26C5-4107-4FEC-AEDC-1716B250A1EF}</a:tableStyleId>
                  </a:tblPr>
                  <a:tblGrid>
                    <a:gridCol w="797798">
                      <a:extLst>
                        <a:ext uri="{9D8B030D-6E8A-4147-A177-3AD203B41FA5}">
                          <a16:colId xmlns:a16="http://schemas.microsoft.com/office/drawing/2014/main" val="363316257"/>
                        </a:ext>
                      </a:extLst>
                    </a:gridCol>
                    <a:gridCol w="1005444">
                      <a:extLst>
                        <a:ext uri="{9D8B030D-6E8A-4147-A177-3AD203B41FA5}">
                          <a16:colId xmlns:a16="http://schemas.microsoft.com/office/drawing/2014/main" val="1940546229"/>
                        </a:ext>
                      </a:extLst>
                    </a:gridCol>
                    <a:gridCol w="1420737">
                      <a:extLst>
                        <a:ext uri="{9D8B030D-6E8A-4147-A177-3AD203B41FA5}">
                          <a16:colId xmlns:a16="http://schemas.microsoft.com/office/drawing/2014/main" val="2416451057"/>
                        </a:ext>
                      </a:extLst>
                    </a:gridCol>
                    <a:gridCol w="1050070">
                      <a:extLst>
                        <a:ext uri="{9D8B030D-6E8A-4147-A177-3AD203B41FA5}">
                          <a16:colId xmlns:a16="http://schemas.microsoft.com/office/drawing/2014/main" val="1099521159"/>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r>
                                  <a:rPr lang="en-US" sz="1400" b="0" u="none" strike="noStrike" dirty="0" smtClean="0">
                                    <a:solidFill>
                                      <a:srgbClr val="000000"/>
                                    </a:solidFill>
                                    <a:effectLst/>
                                    <a:latin typeface="Cambria Math" panose="02040503050406030204" pitchFamily="18" charset="0"/>
                                  </a:rPr>
                                  <m:t> :</m:t>
                                </m:r>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extLst>
                  <p:ext uri="{D42A27DB-BD31-4B8C-83A1-F6EECF244321}">
                    <p14:modId xmlns:p14="http://schemas.microsoft.com/office/powerpoint/2010/main" val="3831420686"/>
                  </p:ext>
                </p:extLst>
              </p:nvPr>
            </p:nvGraphicFramePr>
            <p:xfrm>
              <a:off x="7674794" y="1793429"/>
              <a:ext cx="4274049" cy="4720386"/>
            </p:xfrm>
            <a:graphic>
              <a:graphicData uri="http://schemas.openxmlformats.org/drawingml/2006/table">
                <a:tbl>
                  <a:tblPr firstRow="1" lastCol="1">
                    <a:tableStyleId>{9D7B26C5-4107-4FEC-AEDC-1716B250A1EF}</a:tableStyleId>
                  </a:tblPr>
                  <a:tblGrid>
                    <a:gridCol w="797798">
                      <a:extLst>
                        <a:ext uri="{9D8B030D-6E8A-4147-A177-3AD203B41FA5}">
                          <a16:colId xmlns:a16="http://schemas.microsoft.com/office/drawing/2014/main" val="363316257"/>
                        </a:ext>
                      </a:extLst>
                    </a:gridCol>
                    <a:gridCol w="1005444">
                      <a:extLst>
                        <a:ext uri="{9D8B030D-6E8A-4147-A177-3AD203B41FA5}">
                          <a16:colId xmlns:a16="http://schemas.microsoft.com/office/drawing/2014/main" val="1940546229"/>
                        </a:ext>
                      </a:extLst>
                    </a:gridCol>
                    <a:gridCol w="1420737">
                      <a:extLst>
                        <a:ext uri="{9D8B030D-6E8A-4147-A177-3AD203B41FA5}">
                          <a16:colId xmlns:a16="http://schemas.microsoft.com/office/drawing/2014/main" val="2416451057"/>
                        </a:ext>
                      </a:extLst>
                    </a:gridCol>
                    <a:gridCol w="1050070">
                      <a:extLst>
                        <a:ext uri="{9D8B030D-6E8A-4147-A177-3AD203B41FA5}">
                          <a16:colId xmlns:a16="http://schemas.microsoft.com/office/drawing/2014/main" val="1099521159"/>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763" t="-1389" r="-438168"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79518" t="-1389" r="-245783"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127897" t="-1389" r="-75107"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306936" t="-1389" r="-1156" b="-979167"/>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48474" y="1793429"/>
                <a:ext cx="6277510" cy="738664"/>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Adding in a Predictor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48474" y="1793429"/>
                <a:ext cx="6277510" cy="738664"/>
              </a:xfrm>
              <a:prstGeom prst="rect">
                <a:avLst/>
              </a:prstGeom>
              <a:blipFill>
                <a:blip r:embed="rId4"/>
                <a:stretch>
                  <a:fillRect l="-1262" t="-6612" b="-9091"/>
                </a:stretch>
              </a:blipFill>
            </p:spPr>
            <p:txBody>
              <a:bodyPr/>
              <a:lstStyle/>
              <a:p>
                <a:r>
                  <a:rPr lang="en-US">
                    <a:noFill/>
                  </a:rPr>
                  <a:t> </a:t>
                </a:r>
              </a:p>
            </p:txBody>
          </p:sp>
        </mc:Fallback>
      </mc:AlternateContent>
    </p:spTree>
    <p:extLst>
      <p:ext uri="{BB962C8B-B14F-4D97-AF65-F5344CB8AC3E}">
        <p14:creationId xmlns:p14="http://schemas.microsoft.com/office/powerpoint/2010/main" val="2666873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 </m:t>
                      </m:r>
                      <m:r>
                        <a:rPr lang="en-US" b="0" i="1" smtClean="0">
                          <a:latin typeface="Cambria Math" panose="02040503050406030204" pitchFamily="18" charset="0"/>
                        </a:rPr>
                        <m:t>𝑅𝑎𝑐𝑒</m:t>
                      </m:r>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CD7C3DB9-ADFE-4DB9-B71B-00CD07D93A3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nvPr>
            </p:nvGraphicFramePr>
            <p:xfrm>
              <a:off x="7685070" y="1793429"/>
              <a:ext cx="4099388" cy="4720386"/>
            </p:xfrm>
            <a:graphic>
              <a:graphicData uri="http://schemas.openxmlformats.org/drawingml/2006/table">
                <a:tbl>
                  <a:tblPr firstRow="1" lastCol="1">
                    <a:tableStyleId>{9D7B26C5-4107-4FEC-AEDC-1716B250A1EF}</a:tableStyleId>
                  </a:tblPr>
                  <a:tblGrid>
                    <a:gridCol w="1002597">
                      <a:extLst>
                        <a:ext uri="{9D8B030D-6E8A-4147-A177-3AD203B41FA5}">
                          <a16:colId xmlns:a16="http://schemas.microsoft.com/office/drawing/2014/main" val="2777369758"/>
                        </a:ext>
                      </a:extLst>
                    </a:gridCol>
                    <a:gridCol w="1002597">
                      <a:extLst>
                        <a:ext uri="{9D8B030D-6E8A-4147-A177-3AD203B41FA5}">
                          <a16:colId xmlns:a16="http://schemas.microsoft.com/office/drawing/2014/main" val="1940546229"/>
                        </a:ext>
                      </a:extLst>
                    </a:gridCol>
                    <a:gridCol w="1047097">
                      <a:extLst>
                        <a:ext uri="{9D8B030D-6E8A-4147-A177-3AD203B41FA5}">
                          <a16:colId xmlns:a16="http://schemas.microsoft.com/office/drawing/2014/main" val="1099521159"/>
                        </a:ext>
                      </a:extLst>
                    </a:gridCol>
                    <a:gridCol w="1047097">
                      <a:extLst>
                        <a:ext uri="{9D8B030D-6E8A-4147-A177-3AD203B41FA5}">
                          <a16:colId xmlns:a16="http://schemas.microsoft.com/office/drawing/2014/main" val="3319278574"/>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400" b="0" i="1" u="none" strike="noStrike" smtClean="0">
                                            <a:solidFill>
                                              <a:srgbClr val="000000"/>
                                            </a:solidFill>
                                            <a:effectLst/>
                                            <a:latin typeface="Cambria Math" panose="02040503050406030204" pitchFamily="18" charset="0"/>
                                            <a:ea typeface="Cambria Math" panose="02040503050406030204" pitchFamily="18" charset="0"/>
                                          </a:rPr>
                                          <m:t>𝑎𝑟𝑟𝑒𝑠𝑡</m:t>
                                        </m:r>
                                      </m:e>
                                    </m:acc>
                                  </m:e>
                                  <m:sub>
                                    <m:r>
                                      <a:rPr lang="en-US" sz="1400" b="0" i="1" u="none" strike="noStrike" smtClean="0">
                                        <a:solidFill>
                                          <a:srgbClr val="000000"/>
                                        </a:solidFill>
                                        <a:effectLst/>
                                        <a:latin typeface="Cambria Math" panose="02040503050406030204" pitchFamily="18" charset="0"/>
                                        <a:ea typeface="Cambria Math" panose="02040503050406030204" pitchFamily="18" charset="0"/>
                                      </a:rPr>
                                      <m:t>2021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.24</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.24</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.24</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.24</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extLst>
                  <p:ext uri="{D42A27DB-BD31-4B8C-83A1-F6EECF244321}">
                    <p14:modId xmlns:p14="http://schemas.microsoft.com/office/powerpoint/2010/main" val="3288170758"/>
                  </p:ext>
                </p:extLst>
              </p:nvPr>
            </p:nvGraphicFramePr>
            <p:xfrm>
              <a:off x="7685070" y="1793429"/>
              <a:ext cx="4099388" cy="4720386"/>
            </p:xfrm>
            <a:graphic>
              <a:graphicData uri="http://schemas.openxmlformats.org/drawingml/2006/table">
                <a:tbl>
                  <a:tblPr firstRow="1" lastCol="1">
                    <a:tableStyleId>{9D7B26C5-4107-4FEC-AEDC-1716B250A1EF}</a:tableStyleId>
                  </a:tblPr>
                  <a:tblGrid>
                    <a:gridCol w="1002597">
                      <a:extLst>
                        <a:ext uri="{9D8B030D-6E8A-4147-A177-3AD203B41FA5}">
                          <a16:colId xmlns:a16="http://schemas.microsoft.com/office/drawing/2014/main" val="2777369758"/>
                        </a:ext>
                      </a:extLst>
                    </a:gridCol>
                    <a:gridCol w="1002597">
                      <a:extLst>
                        <a:ext uri="{9D8B030D-6E8A-4147-A177-3AD203B41FA5}">
                          <a16:colId xmlns:a16="http://schemas.microsoft.com/office/drawing/2014/main" val="1940546229"/>
                        </a:ext>
                      </a:extLst>
                    </a:gridCol>
                    <a:gridCol w="1047097">
                      <a:extLst>
                        <a:ext uri="{9D8B030D-6E8A-4147-A177-3AD203B41FA5}">
                          <a16:colId xmlns:a16="http://schemas.microsoft.com/office/drawing/2014/main" val="1099521159"/>
                        </a:ext>
                      </a:extLst>
                    </a:gridCol>
                    <a:gridCol w="1047097">
                      <a:extLst>
                        <a:ext uri="{9D8B030D-6E8A-4147-A177-3AD203B41FA5}">
                          <a16:colId xmlns:a16="http://schemas.microsoft.com/office/drawing/2014/main" val="3319278574"/>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606" t="-1389" r="-309697"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100606" t="-1389" r="-209697"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192442" t="-1389" r="-101163"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292442" t="-1389" r="-1163" b="-979167"/>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.24</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.24</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.24</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.24</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48474" y="1793429"/>
                <a:ext cx="6277510" cy="3783152"/>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Adding in a Predictor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2021</m:t>
                            </m:r>
                          </m:sub>
                        </m:sSub>
                      </m:e>
                    </m:acc>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=.24+ .29 </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12 </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oMath>
                </a14:m>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e>
                    </m:acc>
                    <m:d>
                      <m:d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 </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=0.24</m:t>
                    </m:r>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m:t>
                        </m:r>
                      </m:e>
                    </m:acc>
                    <m:d>
                      <m:d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2021</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 </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𝑟𝑎𝑐𝑒</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d>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35</m:t>
                    </m:r>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m:t>
                        </m:r>
                      </m:e>
                    </m:acc>
                    <m:d>
                      <m:d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=0.53</m:t>
                    </m:r>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m:t>
                        </m:r>
                      </m:e>
                    </m:acc>
                    <m:d>
                      <m:d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2021</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𝑟𝑎𝑐𝑒</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d>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65</m:t>
                    </m:r>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48474" y="1793429"/>
                <a:ext cx="6277510" cy="3783152"/>
              </a:xfrm>
              <a:prstGeom prst="rect">
                <a:avLst/>
              </a:prstGeom>
              <a:blipFill>
                <a:blip r:embed="rId4"/>
                <a:stretch>
                  <a:fillRect l="-1262" t="-1288"/>
                </a:stretch>
              </a:blipFill>
            </p:spPr>
            <p:txBody>
              <a:bodyPr/>
              <a:lstStyle/>
              <a:p>
                <a:r>
                  <a:rPr lang="en-US">
                    <a:noFill/>
                  </a:rPr>
                  <a:t> </a:t>
                </a:r>
              </a:p>
            </p:txBody>
          </p:sp>
        </mc:Fallback>
      </mc:AlternateContent>
    </p:spTree>
    <p:extLst>
      <p:ext uri="{BB962C8B-B14F-4D97-AF65-F5344CB8AC3E}">
        <p14:creationId xmlns:p14="http://schemas.microsoft.com/office/powerpoint/2010/main" val="674193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FC91CB-CD3D-EB5B-E79B-0F7B865F9FDB}"/>
              </a:ext>
            </a:extLst>
          </p:cNvPr>
          <p:cNvPicPr>
            <a:picLocks noChangeAspect="1"/>
          </p:cNvPicPr>
          <p:nvPr/>
        </p:nvPicPr>
        <p:blipFill>
          <a:blip r:embed="rId2"/>
          <a:stretch>
            <a:fillRect/>
          </a:stretch>
        </p:blipFill>
        <p:spPr>
          <a:xfrm>
            <a:off x="6029092" y="1353802"/>
            <a:ext cx="5796176" cy="4696802"/>
          </a:xfrm>
          <a:prstGeom prst="rect">
            <a:avLst/>
          </a:prstGeom>
        </p:spPr>
      </p:pic>
      <p:sp>
        <p:nvSpPr>
          <p:cNvPr id="2" name="Title 1">
            <a:extLst>
              <a:ext uri="{FF2B5EF4-FFF2-40B4-BE49-F238E27FC236}">
                <a16:creationId xmlns:a16="http://schemas.microsoft.com/office/drawing/2014/main" id="{A5A4D57A-3D7B-CDB5-A652-1FBD011AC842}"/>
              </a:ext>
            </a:extLst>
          </p:cNvPr>
          <p:cNvSpPr>
            <a:spLocks noGrp="1"/>
          </p:cNvSpPr>
          <p:nvPr>
            <p:ph type="title"/>
          </p:nvPr>
        </p:nvSpPr>
        <p:spPr/>
        <p:txBody>
          <a:bodyPr/>
          <a:lstStyle/>
          <a:p>
            <a:r>
              <a:rPr lang="en-US" dirty="0"/>
              <a:t>Visualizing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6F7E11-237D-74C2-3962-1D7645785967}"/>
                  </a:ext>
                </a:extLst>
              </p:cNvPr>
              <p:cNvSpPr>
                <a:spLocks noGrp="1"/>
              </p:cNvSpPr>
              <p:nvPr>
                <p:ph idx="1"/>
              </p:nvPr>
            </p:nvSpPr>
            <p:spPr>
              <a:xfrm>
                <a:off x="332360" y="1825625"/>
                <a:ext cx="5505701" cy="4351338"/>
              </a:xfrm>
            </p:spPr>
            <p:txBody>
              <a:bodyPr>
                <a:normAutofit fontScale="92500" lnSpcReduction="10000"/>
              </a:bodyPr>
              <a:lstStyle/>
              <a:p>
                <a:r>
                  <a:rPr lang="en-US" dirty="0"/>
                  <a:t>The </a:t>
                </a:r>
                <a:r>
                  <a:rPr lang="en-US" dirty="0">
                    <a:solidFill>
                      <a:schemeClr val="accent2"/>
                    </a:solidFill>
                  </a:rPr>
                  <a:t>orange</a:t>
                </a:r>
                <a:r>
                  <a:rPr lang="en-US" dirty="0"/>
                  <a:t> and </a:t>
                </a:r>
                <a:r>
                  <a:rPr lang="en-US" dirty="0">
                    <a:solidFill>
                      <a:schemeClr val="accent1">
                        <a:lumMod val="75000"/>
                      </a:schemeClr>
                    </a:solidFill>
                  </a:rPr>
                  <a:t>blue</a:t>
                </a:r>
                <a:r>
                  <a:rPr lang="en-US" dirty="0"/>
                  <a:t> lines represent the prediction model for race = 0 and race = 1, respectively: </a:t>
                </a:r>
              </a:p>
              <a:p>
                <a:pPr marL="0" indent="0">
                  <a:buNone/>
                </a:pPr>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𝐴𝑟𝑟𝑒𝑠</m:t>
                          </m:r>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2021</m:t>
                              </m:r>
                            </m:sub>
                          </m:sSub>
                        </m:e>
                      </m:acc>
                      <m:r>
                        <a:rPr lang="en-US" sz="2000" i="1">
                          <a:latin typeface="Cambria Math" panose="02040503050406030204" pitchFamily="18" charset="0"/>
                        </a:rPr>
                        <m:t>=.24+ .29 </m:t>
                      </m:r>
                      <m:r>
                        <a:rPr lang="en-US" sz="2000" i="1">
                          <a:latin typeface="Cambria Math" panose="02040503050406030204" pitchFamily="18" charset="0"/>
                        </a:rPr>
                        <m:t>𝐴𝑟𝑟𝑒𝑠</m:t>
                      </m:r>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2020</m:t>
                          </m:r>
                        </m:sub>
                      </m:sSub>
                      <m:r>
                        <a:rPr lang="en-US" sz="2000" i="1">
                          <a:latin typeface="Cambria Math" panose="02040503050406030204" pitchFamily="18" charset="0"/>
                        </a:rPr>
                        <m:t>+ . 12 </m:t>
                      </m:r>
                      <m:r>
                        <a:rPr lang="en-US" sz="2000" i="1">
                          <a:latin typeface="Cambria Math" panose="02040503050406030204" pitchFamily="18" charset="0"/>
                        </a:rPr>
                        <m:t>𝑟𝑎𝑐𝑒</m:t>
                      </m:r>
                    </m:oMath>
                  </m:oMathPara>
                </a14:m>
                <a:endParaRPr lang="en-US" dirty="0"/>
              </a:p>
              <a:p>
                <a:pPr marL="0" indent="0">
                  <a:buNone/>
                </a:pPr>
                <a:endParaRPr lang="en-US" dirty="0"/>
              </a:p>
              <a:p>
                <a:pPr marL="0" indent="0">
                  <a:buNone/>
                </a:pPr>
                <a:r>
                  <a:rPr lang="en-US" dirty="0"/>
                  <a:t>When race = 0</a:t>
                </a:r>
              </a:p>
              <a:p>
                <a:pPr marL="0" indent="0">
                  <a:buNone/>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𝐴𝑟𝑟𝑒𝑠</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2021</m:t>
                              </m:r>
                            </m:sub>
                          </m:sSub>
                        </m:e>
                      </m:acc>
                      <m:r>
                        <a:rPr lang="en-US" sz="2400" i="1">
                          <a:latin typeface="Cambria Math" panose="02040503050406030204" pitchFamily="18" charset="0"/>
                        </a:rPr>
                        <m:t>=.24+ .29 </m:t>
                      </m:r>
                      <m:r>
                        <a:rPr lang="en-US" sz="2400" i="1">
                          <a:latin typeface="Cambria Math" panose="02040503050406030204" pitchFamily="18" charset="0"/>
                        </a:rPr>
                        <m:t>𝐴𝑟𝑟𝑒𝑠</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2020</m:t>
                          </m:r>
                        </m:sub>
                      </m:sSub>
                    </m:oMath>
                  </m:oMathPara>
                </a14:m>
                <a:endParaRPr lang="en-US" dirty="0"/>
              </a:p>
              <a:p>
                <a:pPr marL="0" indent="0">
                  <a:buNone/>
                </a:pPr>
                <a:endParaRPr lang="en-US" dirty="0"/>
              </a:p>
              <a:p>
                <a:pPr marL="0" indent="0">
                  <a:buNone/>
                </a:pPr>
                <a:r>
                  <a:rPr lang="en-US" dirty="0"/>
                  <a:t>When race = 1</a:t>
                </a:r>
              </a:p>
              <a:p>
                <a:pPr marL="0" indent="0">
                  <a:buNone/>
                </a:pPr>
                <a14:m>
                  <m:oMathPara xmlns:m="http://schemas.openxmlformats.org/officeDocument/2006/math">
                    <m:oMathParaPr>
                      <m:jc m:val="centerGroup"/>
                    </m:oMathParaPr>
                    <m:oMath xmlns:m="http://schemas.openxmlformats.org/officeDocument/2006/math">
                      <m:acc>
                        <m:accPr>
                          <m:chr m:val="̂"/>
                          <m:ctrlPr>
                            <a:rPr lang="en-US" sz="2600" i="1" smtClean="0">
                              <a:latin typeface="Cambria Math" panose="02040503050406030204" pitchFamily="18" charset="0"/>
                            </a:rPr>
                          </m:ctrlPr>
                        </m:accPr>
                        <m:e>
                          <m:r>
                            <a:rPr lang="en-US" sz="2600" i="1">
                              <a:latin typeface="Cambria Math" panose="02040503050406030204" pitchFamily="18" charset="0"/>
                            </a:rPr>
                            <m:t>𝐴𝑟𝑟𝑒𝑠</m:t>
                          </m:r>
                          <m:sSub>
                            <m:sSubPr>
                              <m:ctrlPr>
                                <a:rPr lang="en-US" sz="2600" i="1">
                                  <a:latin typeface="Cambria Math" panose="02040503050406030204" pitchFamily="18" charset="0"/>
                                </a:rPr>
                              </m:ctrlPr>
                            </m:sSubPr>
                            <m:e>
                              <m:r>
                                <a:rPr lang="en-US" sz="2600" i="1">
                                  <a:latin typeface="Cambria Math" panose="02040503050406030204" pitchFamily="18" charset="0"/>
                                </a:rPr>
                                <m:t>𝑡</m:t>
                              </m:r>
                            </m:e>
                            <m:sub>
                              <m:r>
                                <a:rPr lang="en-US" sz="2600" i="1">
                                  <a:latin typeface="Cambria Math" panose="02040503050406030204" pitchFamily="18" charset="0"/>
                                </a:rPr>
                                <m:t>2021</m:t>
                              </m:r>
                            </m:sub>
                          </m:sSub>
                        </m:e>
                      </m:acc>
                      <m:r>
                        <a:rPr lang="en-US" sz="2600" i="1">
                          <a:latin typeface="Cambria Math" panose="02040503050406030204" pitchFamily="18" charset="0"/>
                        </a:rPr>
                        <m:t>=.</m:t>
                      </m:r>
                      <m:r>
                        <a:rPr lang="en-US" sz="2600" b="0" i="1" smtClean="0">
                          <a:latin typeface="Cambria Math" panose="02040503050406030204" pitchFamily="18" charset="0"/>
                        </a:rPr>
                        <m:t>36</m:t>
                      </m:r>
                      <m:r>
                        <a:rPr lang="en-US" sz="2600" i="1">
                          <a:latin typeface="Cambria Math" panose="02040503050406030204" pitchFamily="18" charset="0"/>
                        </a:rPr>
                        <m:t>+ .29 </m:t>
                      </m:r>
                      <m:r>
                        <a:rPr lang="en-US" sz="2600" i="1">
                          <a:latin typeface="Cambria Math" panose="02040503050406030204" pitchFamily="18" charset="0"/>
                        </a:rPr>
                        <m:t>𝐴𝑟𝑟𝑒𝑠</m:t>
                      </m:r>
                      <m:sSub>
                        <m:sSubPr>
                          <m:ctrlPr>
                            <a:rPr lang="en-US" sz="2600" i="1">
                              <a:latin typeface="Cambria Math" panose="02040503050406030204" pitchFamily="18" charset="0"/>
                            </a:rPr>
                          </m:ctrlPr>
                        </m:sSubPr>
                        <m:e>
                          <m:r>
                            <a:rPr lang="en-US" sz="2600" i="1">
                              <a:latin typeface="Cambria Math" panose="02040503050406030204" pitchFamily="18" charset="0"/>
                            </a:rPr>
                            <m:t>𝑡</m:t>
                          </m:r>
                        </m:e>
                        <m:sub>
                          <m:r>
                            <a:rPr lang="en-US" sz="2600" i="1">
                              <a:latin typeface="Cambria Math" panose="02040503050406030204" pitchFamily="18" charset="0"/>
                            </a:rPr>
                            <m:t>2020</m:t>
                          </m:r>
                        </m:sub>
                      </m:sSub>
                    </m:oMath>
                  </m:oMathPara>
                </a14:m>
                <a:endParaRPr lang="en-US" sz="2600"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A6F7E11-237D-74C2-3962-1D7645785967}"/>
                  </a:ext>
                </a:extLst>
              </p:cNvPr>
              <p:cNvSpPr>
                <a:spLocks noGrp="1" noRot="1" noChangeAspect="1" noMove="1" noResize="1" noEditPoints="1" noAdjustHandles="1" noChangeArrowheads="1" noChangeShapeType="1" noTextEdit="1"/>
              </p:cNvSpPr>
              <p:nvPr>
                <p:ph idx="1"/>
              </p:nvPr>
            </p:nvSpPr>
            <p:spPr>
              <a:xfrm>
                <a:off x="332360" y="1825625"/>
                <a:ext cx="5505701" cy="4351338"/>
              </a:xfrm>
              <a:blipFill>
                <a:blip r:embed="rId3"/>
                <a:stretch>
                  <a:fillRect l="-1993" t="-2801" r="-14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0B199E-8F1B-4E01-C243-C2B35C7DEC0B}"/>
                  </a:ext>
                </a:extLst>
              </p:cNvPr>
              <p:cNvSpPr txBox="1"/>
              <p:nvPr/>
            </p:nvSpPr>
            <p:spPr>
              <a:xfrm>
                <a:off x="10060711" y="4037172"/>
                <a:ext cx="16296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0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8" name="TextBox 7">
                <a:extLst>
                  <a:ext uri="{FF2B5EF4-FFF2-40B4-BE49-F238E27FC236}">
                    <a16:creationId xmlns:a16="http://schemas.microsoft.com/office/drawing/2014/main" id="{B40B199E-8F1B-4E01-C243-C2B35C7DEC0B}"/>
                  </a:ext>
                </a:extLst>
              </p:cNvPr>
              <p:cNvSpPr txBox="1">
                <a:spLocks noRot="1" noChangeAspect="1" noMove="1" noResize="1" noEditPoints="1" noAdjustHandles="1" noChangeArrowheads="1" noChangeShapeType="1" noTextEdit="1"/>
              </p:cNvSpPr>
              <p:nvPr/>
            </p:nvSpPr>
            <p:spPr>
              <a:xfrm>
                <a:off x="10060711" y="4037172"/>
                <a:ext cx="1629623" cy="461665"/>
              </a:xfrm>
              <a:prstGeom prst="rect">
                <a:avLst/>
              </a:prstGeom>
              <a:blipFill>
                <a:blip r:embed="rId4"/>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D9E589-B148-BC2F-16C1-E3CE770396EB}"/>
                  </a:ext>
                </a:extLst>
              </p:cNvPr>
              <p:cNvSpPr txBox="1"/>
              <p:nvPr/>
            </p:nvSpPr>
            <p:spPr>
              <a:xfrm>
                <a:off x="7502615" y="4812578"/>
                <a:ext cx="16296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0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9" name="TextBox 8">
                <a:extLst>
                  <a:ext uri="{FF2B5EF4-FFF2-40B4-BE49-F238E27FC236}">
                    <a16:creationId xmlns:a16="http://schemas.microsoft.com/office/drawing/2014/main" id="{9BD9E589-B148-BC2F-16C1-E3CE770396EB}"/>
                  </a:ext>
                </a:extLst>
              </p:cNvPr>
              <p:cNvSpPr txBox="1">
                <a:spLocks noRot="1" noChangeAspect="1" noMove="1" noResize="1" noEditPoints="1" noAdjustHandles="1" noChangeArrowheads="1" noChangeShapeType="1" noTextEdit="1"/>
              </p:cNvSpPr>
              <p:nvPr/>
            </p:nvSpPr>
            <p:spPr>
              <a:xfrm>
                <a:off x="7502615" y="4812578"/>
                <a:ext cx="1629624" cy="461665"/>
              </a:xfrm>
              <a:prstGeom prst="rect">
                <a:avLst/>
              </a:prstGeom>
              <a:blipFill>
                <a:blip r:embed="rId5"/>
                <a:stretch>
                  <a:fillRect l="-375"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7AD96DB-FE34-6E00-0C65-740069007F70}"/>
                  </a:ext>
                </a:extLst>
              </p:cNvPr>
              <p:cNvSpPr txBox="1"/>
              <p:nvPr/>
            </p:nvSpPr>
            <p:spPr>
              <a:xfrm>
                <a:off x="10010333" y="1426600"/>
                <a:ext cx="16296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1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0" name="TextBox 9">
                <a:extLst>
                  <a:ext uri="{FF2B5EF4-FFF2-40B4-BE49-F238E27FC236}">
                    <a16:creationId xmlns:a16="http://schemas.microsoft.com/office/drawing/2014/main" id="{A7AD96DB-FE34-6E00-0C65-740069007F70}"/>
                  </a:ext>
                </a:extLst>
              </p:cNvPr>
              <p:cNvSpPr txBox="1">
                <a:spLocks noRot="1" noChangeAspect="1" noMove="1" noResize="1" noEditPoints="1" noAdjustHandles="1" noChangeArrowheads="1" noChangeShapeType="1" noTextEdit="1"/>
              </p:cNvSpPr>
              <p:nvPr/>
            </p:nvSpPr>
            <p:spPr>
              <a:xfrm>
                <a:off x="10010333" y="1426600"/>
                <a:ext cx="1629623" cy="461665"/>
              </a:xfrm>
              <a:prstGeom prst="rect">
                <a:avLst/>
              </a:prstGeom>
              <a:blipFill>
                <a:blip r:embed="rId6"/>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8893F2F-C38B-B1D5-FE4A-70785D6E7E35}"/>
                  </a:ext>
                </a:extLst>
              </p:cNvPr>
              <p:cNvSpPr txBox="1"/>
              <p:nvPr/>
            </p:nvSpPr>
            <p:spPr>
              <a:xfrm>
                <a:off x="6721452" y="3370129"/>
                <a:ext cx="16296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1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1" name="TextBox 10">
                <a:extLst>
                  <a:ext uri="{FF2B5EF4-FFF2-40B4-BE49-F238E27FC236}">
                    <a16:creationId xmlns:a16="http://schemas.microsoft.com/office/drawing/2014/main" id="{38893F2F-C38B-B1D5-FE4A-70785D6E7E35}"/>
                  </a:ext>
                </a:extLst>
              </p:cNvPr>
              <p:cNvSpPr txBox="1">
                <a:spLocks noRot="1" noChangeAspect="1" noMove="1" noResize="1" noEditPoints="1" noAdjustHandles="1" noChangeArrowheads="1" noChangeShapeType="1" noTextEdit="1"/>
              </p:cNvSpPr>
              <p:nvPr/>
            </p:nvSpPr>
            <p:spPr>
              <a:xfrm>
                <a:off x="6721452" y="3370129"/>
                <a:ext cx="1629624" cy="461665"/>
              </a:xfrm>
              <a:prstGeom prst="rect">
                <a:avLst/>
              </a:prstGeom>
              <a:blipFill>
                <a:blip r:embed="rId7"/>
                <a:stretch>
                  <a:fillRect l="-375" t="-1316" b="-9211"/>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E759D64B-8ABA-317E-DA6C-17D61296FBAA}"/>
              </a:ext>
            </a:extLst>
          </p:cNvPr>
          <p:cNvCxnSpPr/>
          <p:nvPr/>
        </p:nvCxnSpPr>
        <p:spPr>
          <a:xfrm flipH="1">
            <a:off x="6761747" y="5027493"/>
            <a:ext cx="657727" cy="104274"/>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740E372-2949-A263-D2A4-DFB824E8191F}"/>
              </a:ext>
            </a:extLst>
          </p:cNvPr>
          <p:cNvCxnSpPr>
            <a:cxnSpLocks/>
          </p:cNvCxnSpPr>
          <p:nvPr/>
        </p:nvCxnSpPr>
        <p:spPr>
          <a:xfrm flipH="1">
            <a:off x="6740908" y="3822066"/>
            <a:ext cx="535382" cy="6573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6298B63-37B7-D73B-578E-2811DEFE9706}"/>
              </a:ext>
            </a:extLst>
          </p:cNvPr>
          <p:cNvCxnSpPr>
            <a:cxnSpLocks/>
          </p:cNvCxnSpPr>
          <p:nvPr/>
        </p:nvCxnSpPr>
        <p:spPr>
          <a:xfrm flipV="1">
            <a:off x="10864056" y="3464285"/>
            <a:ext cx="564205" cy="489609"/>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06DED0A-C069-70D7-E190-A3DB775C0385}"/>
              </a:ext>
            </a:extLst>
          </p:cNvPr>
          <p:cNvCxnSpPr>
            <a:cxnSpLocks/>
          </p:cNvCxnSpPr>
          <p:nvPr/>
        </p:nvCxnSpPr>
        <p:spPr>
          <a:xfrm>
            <a:off x="10825144" y="1927177"/>
            <a:ext cx="653494" cy="24251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042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C2AAF-AAB7-4B1E-803B-A9AACC8CA722}"/>
              </a:ext>
            </a:extLst>
          </p:cNvPr>
          <p:cNvSpPr>
            <a:spLocks noGrp="1"/>
          </p:cNvSpPr>
          <p:nvPr>
            <p:ph type="title"/>
          </p:nvPr>
        </p:nvSpPr>
        <p:spPr/>
        <p:txBody>
          <a:bodyPr/>
          <a:lstStyle/>
          <a:p>
            <a:r>
              <a:rPr lang="en-US" dirty="0"/>
              <a:t>Compute Fairness Metrics</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54769D3B-F281-49C0-89FD-4F863A340928}"/>
                  </a:ext>
                </a:extLst>
              </p:cNvPr>
              <p:cNvGraphicFramePr>
                <a:graphicFrameLocks noGrp="1"/>
              </p:cNvGraphicFramePr>
              <p:nvPr>
                <p:ph idx="1"/>
              </p:nvPr>
            </p:nvGraphicFramePr>
            <p:xfrm>
              <a:off x="2938412" y="1664413"/>
              <a:ext cx="6801489" cy="2364896"/>
            </p:xfrm>
            <a:graphic>
              <a:graphicData uri="http://schemas.openxmlformats.org/drawingml/2006/table">
                <a:tbl>
                  <a:tblPr firstRow="1" bandRow="1">
                    <a:tableStyleId>{5C22544A-7EE6-4342-B048-85BDC9FD1C3A}</a:tableStyleId>
                  </a:tblPr>
                  <a:tblGrid>
                    <a:gridCol w="3527248">
                      <a:extLst>
                        <a:ext uri="{9D8B030D-6E8A-4147-A177-3AD203B41FA5}">
                          <a16:colId xmlns:a16="http://schemas.microsoft.com/office/drawing/2014/main" val="1012334953"/>
                        </a:ext>
                      </a:extLst>
                    </a:gridCol>
                    <a:gridCol w="1726418">
                      <a:extLst>
                        <a:ext uri="{9D8B030D-6E8A-4147-A177-3AD203B41FA5}">
                          <a16:colId xmlns:a16="http://schemas.microsoft.com/office/drawing/2014/main" val="2350030826"/>
                        </a:ext>
                      </a:extLst>
                    </a:gridCol>
                    <a:gridCol w="1547823">
                      <a:extLst>
                        <a:ext uri="{9D8B030D-6E8A-4147-A177-3AD203B41FA5}">
                          <a16:colId xmlns:a16="http://schemas.microsoft.com/office/drawing/2014/main" val="2557411613"/>
                        </a:ext>
                      </a:extLst>
                    </a:gridCol>
                  </a:tblGrid>
                  <a:tr h="37675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1200" dirty="0">
                              <a:solidFill>
                                <a:schemeClr val="tx1"/>
                              </a:solidFill>
                            </a:rPr>
                            <a:t>Calibration</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hMerge="1">
                      <a:txBody>
                        <a:bodyPr/>
                        <a:lstStyle/>
                        <a:p>
                          <a:pPr algn="ctr"/>
                          <a:endParaRPr lang="en-US" sz="1200" dirty="0">
                            <a:solidFill>
                              <a:schemeClr val="tx1"/>
                            </a:solidFill>
                          </a:endParaRPr>
                        </a:p>
                      </a:txBody>
                      <a:tcPr anchor="ctr">
                        <a:solidFill>
                          <a:srgbClr val="F6E0ED"/>
                        </a:solidFill>
                      </a:tcPr>
                    </a:tc>
                    <a:extLst>
                      <a:ext uri="{0D108BD9-81ED-4DB2-BD59-A6C34878D82A}">
                        <a16:rowId xmlns:a16="http://schemas.microsoft.com/office/drawing/2014/main" val="1935989576"/>
                      </a:ext>
                    </a:extLst>
                  </a:tr>
                  <a:tr h="363918">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𝑃</m:t>
                                    </m:r>
                                  </m:e>
                                </m:acc>
                                <m:d>
                                  <m:dPr>
                                    <m:ctrlPr>
                                      <a:rPr lang="en-US" sz="1200" b="0" i="1" dirty="0" smtClean="0">
                                        <a:solidFill>
                                          <a:schemeClr val="tx1"/>
                                        </a:solidFill>
                                        <a:latin typeface="Cambria Math" panose="02040503050406030204" pitchFamily="18" charset="0"/>
                                      </a:rPr>
                                    </m:ctrlPr>
                                  </m:dPr>
                                  <m:e>
                                    <m:r>
                                      <a:rPr lang="en-US" sz="1200" b="0" i="1" dirty="0" smtClean="0">
                                        <a:solidFill>
                                          <a:schemeClr val="tx1"/>
                                        </a:solidFill>
                                        <a:latin typeface="Cambria Math" panose="02040503050406030204" pitchFamily="18" charset="0"/>
                                      </a:rPr>
                                      <m:t>𝑎𝑟𝑟𝑒𝑠</m:t>
                                    </m:r>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𝑡</m:t>
                                        </m:r>
                                      </m:e>
                                      <m:sub>
                                        <m:r>
                                          <a:rPr lang="en-US" sz="1200" b="0" i="1" dirty="0" smtClean="0">
                                            <a:solidFill>
                                              <a:schemeClr val="tx1"/>
                                            </a:solidFill>
                                            <a:latin typeface="Cambria Math" panose="02040503050406030204" pitchFamily="18" charset="0"/>
                                          </a:rPr>
                                          <m:t>2021</m:t>
                                        </m:r>
                                      </m:sub>
                                    </m:sSub>
                                  </m:e>
                                </m:d>
                              </m:oMath>
                            </m:oMathPara>
                          </a14:m>
                          <a:endParaRPr lang="en-US" sz="1200" dirty="0">
                            <a:solidFill>
                              <a:schemeClr val="tx1"/>
                            </a:solidFill>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𝑃</m:t>
                                </m:r>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𝑎𝑟𝑟𝑒𝑠</m:t>
                                    </m:r>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𝑡</m:t>
                                        </m:r>
                                      </m:e>
                                      <m:sub>
                                        <m:r>
                                          <a:rPr lang="en-US" sz="1200" b="0" i="1" smtClean="0">
                                            <a:solidFill>
                                              <a:schemeClr val="tx1"/>
                                            </a:solidFill>
                                            <a:latin typeface="Cambria Math" panose="02040503050406030204" pitchFamily="18" charset="0"/>
                                          </a:rPr>
                                          <m:t>2021</m:t>
                                        </m:r>
                                      </m:sub>
                                    </m:sSub>
                                  </m:e>
                                </m:d>
                              </m:oMath>
                            </m:oMathPara>
                          </a14:m>
                          <a:endParaRPr lang="en-US" sz="1200" dirty="0">
                            <a:solidFill>
                              <a:schemeClr val="tx1"/>
                            </a:solidFill>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956029341"/>
                      </a:ext>
                    </a:extLst>
                  </a:tr>
                  <a:tr h="434908">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2</m:t>
                                </m:r>
                                <m:r>
                                  <a:rPr lang="en-US" b="0" i="1" dirty="0" smtClean="0">
                                    <a:latin typeface="Cambria Math" panose="02040503050406030204" pitchFamily="18" charset="0"/>
                                  </a:rPr>
                                  <m:t>4</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25%</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259073668"/>
                      </a:ext>
                    </a:extLst>
                  </a:tr>
                  <a:tr h="3958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35</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33%</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243017269"/>
                      </a:ext>
                    </a:extLst>
                  </a:tr>
                  <a:tr h="395826">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5</m:t>
                                </m:r>
                                <m:r>
                                  <a:rPr lang="en-US" b="0" i="1" dirty="0" smtClean="0">
                                    <a:latin typeface="Cambria Math" panose="02040503050406030204" pitchFamily="18" charset="0"/>
                                  </a:rPr>
                                  <m:t>3</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50%</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450916872"/>
                      </a:ext>
                    </a:extLst>
                  </a:tr>
                  <a:tr h="3958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6</m:t>
                                </m:r>
                                <m:r>
                                  <a:rPr lang="en-US" b="0" i="1" dirty="0" smtClean="0">
                                    <a:latin typeface="Cambria Math" panose="02040503050406030204" pitchFamily="18" charset="0"/>
                                  </a:rPr>
                                  <m:t>5</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67%</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70459642"/>
                      </a:ext>
                    </a:extLst>
                  </a:tr>
                </a:tbl>
              </a:graphicData>
            </a:graphic>
          </p:graphicFrame>
        </mc:Choice>
        <mc:Fallback xmlns="">
          <p:graphicFrame>
            <p:nvGraphicFramePr>
              <p:cNvPr id="4" name="Table 4">
                <a:extLst>
                  <a:ext uri="{FF2B5EF4-FFF2-40B4-BE49-F238E27FC236}">
                    <a16:creationId xmlns:a16="http://schemas.microsoft.com/office/drawing/2014/main" id="{54769D3B-F281-49C0-89FD-4F863A340928}"/>
                  </a:ext>
                </a:extLst>
              </p:cNvPr>
              <p:cNvGraphicFramePr>
                <a:graphicFrameLocks noGrp="1"/>
              </p:cNvGraphicFramePr>
              <p:nvPr>
                <p:ph idx="1"/>
                <p:extLst>
                  <p:ext uri="{D42A27DB-BD31-4B8C-83A1-F6EECF244321}">
                    <p14:modId xmlns:p14="http://schemas.microsoft.com/office/powerpoint/2010/main" val="2057015522"/>
                  </p:ext>
                </p:extLst>
              </p:nvPr>
            </p:nvGraphicFramePr>
            <p:xfrm>
              <a:off x="2938412" y="1664413"/>
              <a:ext cx="6801489" cy="2364896"/>
            </p:xfrm>
            <a:graphic>
              <a:graphicData uri="http://schemas.openxmlformats.org/drawingml/2006/table">
                <a:tbl>
                  <a:tblPr firstRow="1" bandRow="1">
                    <a:tableStyleId>{5C22544A-7EE6-4342-B048-85BDC9FD1C3A}</a:tableStyleId>
                  </a:tblPr>
                  <a:tblGrid>
                    <a:gridCol w="3527248">
                      <a:extLst>
                        <a:ext uri="{9D8B030D-6E8A-4147-A177-3AD203B41FA5}">
                          <a16:colId xmlns:a16="http://schemas.microsoft.com/office/drawing/2014/main" val="1012334953"/>
                        </a:ext>
                      </a:extLst>
                    </a:gridCol>
                    <a:gridCol w="1726418">
                      <a:extLst>
                        <a:ext uri="{9D8B030D-6E8A-4147-A177-3AD203B41FA5}">
                          <a16:colId xmlns:a16="http://schemas.microsoft.com/office/drawing/2014/main" val="2350030826"/>
                        </a:ext>
                      </a:extLst>
                    </a:gridCol>
                    <a:gridCol w="1547823">
                      <a:extLst>
                        <a:ext uri="{9D8B030D-6E8A-4147-A177-3AD203B41FA5}">
                          <a16:colId xmlns:a16="http://schemas.microsoft.com/office/drawing/2014/main" val="2557411613"/>
                        </a:ext>
                      </a:extLst>
                    </a:gridCol>
                  </a:tblGrid>
                  <a:tr h="37675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1200" dirty="0">
                              <a:solidFill>
                                <a:schemeClr val="tx1"/>
                              </a:solidFill>
                            </a:rPr>
                            <a:t>Calibration</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hMerge="1">
                      <a:txBody>
                        <a:bodyPr/>
                        <a:lstStyle/>
                        <a:p>
                          <a:pPr algn="ctr"/>
                          <a:endParaRPr lang="en-US" sz="1200" dirty="0">
                            <a:solidFill>
                              <a:schemeClr val="tx1"/>
                            </a:solidFill>
                          </a:endParaRPr>
                        </a:p>
                      </a:txBody>
                      <a:tcPr anchor="ctr">
                        <a:solidFill>
                          <a:srgbClr val="F6E0ED"/>
                        </a:solidFill>
                      </a:tcPr>
                    </a:tc>
                    <a:extLst>
                      <a:ext uri="{0D108BD9-81ED-4DB2-BD59-A6C34878D82A}">
                        <a16:rowId xmlns:a16="http://schemas.microsoft.com/office/drawing/2014/main" val="1935989576"/>
                      </a:ext>
                    </a:extLst>
                  </a:tr>
                  <a:tr h="36576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106667" r="-90459" b="-448333"/>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106667" r="-787" b="-448333"/>
                          </a:stretch>
                        </a:blipFill>
                      </a:tcPr>
                    </a:tc>
                    <a:extLst>
                      <a:ext uri="{0D108BD9-81ED-4DB2-BD59-A6C34878D82A}">
                        <a16:rowId xmlns:a16="http://schemas.microsoft.com/office/drawing/2014/main" val="1956029341"/>
                      </a:ext>
                    </a:extLst>
                  </a:tr>
                  <a:tr h="434908">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174648" r="-93092" b="-278873"/>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174648" r="-90459" b="-278873"/>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174648" r="-787" b="-278873"/>
                          </a:stretch>
                        </a:blipFill>
                      </a:tcPr>
                    </a:tc>
                    <a:extLst>
                      <a:ext uri="{0D108BD9-81ED-4DB2-BD59-A6C34878D82A}">
                        <a16:rowId xmlns:a16="http://schemas.microsoft.com/office/drawing/2014/main" val="4259073668"/>
                      </a:ext>
                    </a:extLst>
                  </a:tr>
                  <a:tr h="395826">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300000" r="-93092" b="-204615"/>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300000" r="-90459" b="-204615"/>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300000" r="-787" b="-204615"/>
                          </a:stretch>
                        </a:blipFill>
                      </a:tcPr>
                    </a:tc>
                    <a:extLst>
                      <a:ext uri="{0D108BD9-81ED-4DB2-BD59-A6C34878D82A}">
                        <a16:rowId xmlns:a16="http://schemas.microsoft.com/office/drawing/2014/main" val="4243017269"/>
                      </a:ext>
                    </a:extLst>
                  </a:tr>
                  <a:tr h="395826">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400000" r="-93092" b="-104615"/>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400000" r="-90459" b="-104615"/>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400000" r="-787" b="-104615"/>
                          </a:stretch>
                        </a:blipFill>
                      </a:tcPr>
                    </a:tc>
                    <a:extLst>
                      <a:ext uri="{0D108BD9-81ED-4DB2-BD59-A6C34878D82A}">
                        <a16:rowId xmlns:a16="http://schemas.microsoft.com/office/drawing/2014/main" val="3450916872"/>
                      </a:ext>
                    </a:extLst>
                  </a:tr>
                  <a:tr h="395826">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500000" r="-93092" b="-4615"/>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500000" r="-90459" b="-4615"/>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500000" r="-787" b="-4615"/>
                          </a:stretch>
                        </a:blipFill>
                      </a:tcPr>
                    </a:tc>
                    <a:extLst>
                      <a:ext uri="{0D108BD9-81ED-4DB2-BD59-A6C34878D82A}">
                        <a16:rowId xmlns:a16="http://schemas.microsoft.com/office/drawing/2014/main" val="47045964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B47B38B-F0AC-49D7-896D-6D11A210AA58}"/>
                  </a:ext>
                </a:extLst>
              </p:cNvPr>
              <p:cNvGraphicFramePr>
                <a:graphicFrameLocks noGrp="1"/>
              </p:cNvGraphicFramePr>
              <p:nvPr/>
            </p:nvGraphicFramePr>
            <p:xfrm>
              <a:off x="2938412" y="4345967"/>
              <a:ext cx="6801489" cy="2346770"/>
            </p:xfrm>
            <a:graphic>
              <a:graphicData uri="http://schemas.openxmlformats.org/drawingml/2006/table">
                <a:tbl>
                  <a:tblPr firstRow="1" bandRow="1">
                    <a:tableStyleId>{5C22544A-7EE6-4342-B048-85BDC9FD1C3A}</a:tableStyleId>
                  </a:tblPr>
                  <a:tblGrid>
                    <a:gridCol w="2267163">
                      <a:extLst>
                        <a:ext uri="{9D8B030D-6E8A-4147-A177-3AD203B41FA5}">
                          <a16:colId xmlns:a16="http://schemas.microsoft.com/office/drawing/2014/main" val="2888137969"/>
                        </a:ext>
                      </a:extLst>
                    </a:gridCol>
                    <a:gridCol w="2267163">
                      <a:extLst>
                        <a:ext uri="{9D8B030D-6E8A-4147-A177-3AD203B41FA5}">
                          <a16:colId xmlns:a16="http://schemas.microsoft.com/office/drawing/2014/main" val="2174007504"/>
                        </a:ext>
                      </a:extLst>
                    </a:gridCol>
                    <a:gridCol w="2267163">
                      <a:extLst>
                        <a:ext uri="{9D8B030D-6E8A-4147-A177-3AD203B41FA5}">
                          <a16:colId xmlns:a16="http://schemas.microsoft.com/office/drawing/2014/main" val="4163449276"/>
                        </a:ext>
                      </a:extLst>
                    </a:gridCol>
                  </a:tblGrid>
                  <a:tr h="546371">
                    <a:tc>
                      <a:txBody>
                        <a:bodyPr/>
                        <a:lstStyle/>
                        <a:p>
                          <a:pPr algn="ctr"/>
                          <a:endParaRPr lang="en-US" sz="1800" dirty="0">
                            <a:solidFill>
                              <a:schemeClr val="tx1"/>
                            </a:solidFill>
                          </a:endParaRPr>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Balance for 0s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solidFill>
                                <a:schemeClr val="tx1"/>
                              </a:solidFill>
                            </a:rPr>
                            <a:t>Balance for 1s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748957605"/>
                      </a:ext>
                    </a:extLst>
                  </a:tr>
                  <a:tr h="546371">
                    <a:tc>
                      <a:txBody>
                        <a:bodyPr/>
                        <a:lstStyle/>
                        <a:p>
                          <a:pPr algn="ctr"/>
                          <a:endParaRPr lang="en-US" sz="1800"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t>Average </a:t>
                          </a:r>
                        </a:p>
                        <a:p>
                          <a:pPr algn="ctr"/>
                          <a14:m>
                            <m:oMathPara xmlns:m="http://schemas.openxmlformats.org/officeDocument/2006/math">
                              <m:oMathParaPr>
                                <m:jc m:val="centerGroup"/>
                              </m:oMathParaPr>
                              <m:oMath xmlns:m="http://schemas.openxmlformats.org/officeDocument/2006/math">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𝑃</m:t>
                                    </m:r>
                                  </m:e>
                                </m:acc>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t>Average </a:t>
                          </a:r>
                        </a:p>
                        <a:p>
                          <a:pPr algn="ctr"/>
                          <a14:m>
                            <m:oMathPara xmlns:m="http://schemas.openxmlformats.org/officeDocument/2006/math">
                              <m:oMathParaPr>
                                <m:jc m:val="centerGroup"/>
                              </m:oMathParaPr>
                              <m:oMath xmlns:m="http://schemas.openxmlformats.org/officeDocument/2006/math">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𝑃</m:t>
                                    </m:r>
                                  </m:e>
                                </m:acc>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45909457"/>
                      </a:ext>
                    </a:extLst>
                  </a:tr>
                  <a:tr h="623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31%</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38%</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09429038"/>
                      </a:ext>
                    </a:extLst>
                  </a:tr>
                  <a:tr h="623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45%</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55%</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251777355"/>
                      </a:ext>
                    </a:extLst>
                  </a:tr>
                </a:tbl>
              </a:graphicData>
            </a:graphic>
          </p:graphicFrame>
        </mc:Choice>
        <mc:Fallback xmlns="">
          <p:graphicFrame>
            <p:nvGraphicFramePr>
              <p:cNvPr id="6" name="Table 5">
                <a:extLst>
                  <a:ext uri="{FF2B5EF4-FFF2-40B4-BE49-F238E27FC236}">
                    <a16:creationId xmlns:a16="http://schemas.microsoft.com/office/drawing/2014/main" id="{EB47B38B-F0AC-49D7-896D-6D11A210AA58}"/>
                  </a:ext>
                </a:extLst>
              </p:cNvPr>
              <p:cNvGraphicFramePr>
                <a:graphicFrameLocks noGrp="1"/>
              </p:cNvGraphicFramePr>
              <p:nvPr>
                <p:extLst>
                  <p:ext uri="{D42A27DB-BD31-4B8C-83A1-F6EECF244321}">
                    <p14:modId xmlns:p14="http://schemas.microsoft.com/office/powerpoint/2010/main" val="1820244890"/>
                  </p:ext>
                </p:extLst>
              </p:nvPr>
            </p:nvGraphicFramePr>
            <p:xfrm>
              <a:off x="2938412" y="4345967"/>
              <a:ext cx="6801489" cy="2346770"/>
            </p:xfrm>
            <a:graphic>
              <a:graphicData uri="http://schemas.openxmlformats.org/drawingml/2006/table">
                <a:tbl>
                  <a:tblPr firstRow="1" bandRow="1">
                    <a:tableStyleId>{5C22544A-7EE6-4342-B048-85BDC9FD1C3A}</a:tableStyleId>
                  </a:tblPr>
                  <a:tblGrid>
                    <a:gridCol w="2267163">
                      <a:extLst>
                        <a:ext uri="{9D8B030D-6E8A-4147-A177-3AD203B41FA5}">
                          <a16:colId xmlns:a16="http://schemas.microsoft.com/office/drawing/2014/main" val="2888137969"/>
                        </a:ext>
                      </a:extLst>
                    </a:gridCol>
                    <a:gridCol w="2267163">
                      <a:extLst>
                        <a:ext uri="{9D8B030D-6E8A-4147-A177-3AD203B41FA5}">
                          <a16:colId xmlns:a16="http://schemas.microsoft.com/office/drawing/2014/main" val="2174007504"/>
                        </a:ext>
                      </a:extLst>
                    </a:gridCol>
                    <a:gridCol w="2267163">
                      <a:extLst>
                        <a:ext uri="{9D8B030D-6E8A-4147-A177-3AD203B41FA5}">
                          <a16:colId xmlns:a16="http://schemas.microsoft.com/office/drawing/2014/main" val="4163449276"/>
                        </a:ext>
                      </a:extLst>
                    </a:gridCol>
                  </a:tblGrid>
                  <a:tr h="546371">
                    <a:tc>
                      <a:txBody>
                        <a:bodyPr/>
                        <a:lstStyle/>
                        <a:p>
                          <a:pPr algn="ctr"/>
                          <a:endParaRPr lang="en-US" sz="1800" dirty="0">
                            <a:solidFill>
                              <a:schemeClr val="tx1"/>
                            </a:solidFill>
                          </a:endParaRPr>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Balance for 0s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solidFill>
                                <a:schemeClr val="tx1"/>
                              </a:solidFill>
                            </a:rPr>
                            <a:t>Balance for 1s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748957605"/>
                      </a:ext>
                    </a:extLst>
                  </a:tr>
                  <a:tr h="553593">
                    <a:tc>
                      <a:txBody>
                        <a:bodyPr/>
                        <a:lstStyle/>
                        <a:p>
                          <a:pPr algn="ctr"/>
                          <a:endParaRPr lang="en-US" sz="1800"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100538" t="-100000" r="-100538" b="-227473"/>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200538" t="-100000" r="-538" b="-227473"/>
                          </a:stretch>
                        </a:blipFill>
                      </a:tcPr>
                    </a:tc>
                    <a:extLst>
                      <a:ext uri="{0D108BD9-81ED-4DB2-BD59-A6C34878D82A}">
                        <a16:rowId xmlns:a16="http://schemas.microsoft.com/office/drawing/2014/main" val="45909457"/>
                      </a:ext>
                    </a:extLst>
                  </a:tr>
                  <a:tr h="623403">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38" t="-178431" r="-200538" b="-10294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31%</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38%</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09429038"/>
                      </a:ext>
                    </a:extLst>
                  </a:tr>
                  <a:tr h="623403">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38" t="-275728" r="-200538" b="-194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45%</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55%</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251777355"/>
                      </a:ext>
                    </a:extLst>
                  </a:tr>
                </a:tbl>
              </a:graphicData>
            </a:graphic>
          </p:graphicFrame>
        </mc:Fallback>
      </mc:AlternateContent>
    </p:spTree>
    <p:extLst>
      <p:ext uri="{BB962C8B-B14F-4D97-AF65-F5344CB8AC3E}">
        <p14:creationId xmlns:p14="http://schemas.microsoft.com/office/powerpoint/2010/main" val="3719845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r>
              <a:rPr lang="en-US" dirty="0"/>
              <a:t>Add interaction</a:t>
            </a:r>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nvPr>
            </p:nvGraphicFramePr>
            <p:xfrm>
              <a:off x="7674794" y="1793429"/>
              <a:ext cx="4274049" cy="4720386"/>
            </p:xfrm>
            <a:graphic>
              <a:graphicData uri="http://schemas.openxmlformats.org/drawingml/2006/table">
                <a:tbl>
                  <a:tblPr firstRow="1" lastCol="1">
                    <a:tableStyleId>{9D7B26C5-4107-4FEC-AEDC-1716B250A1EF}</a:tableStyleId>
                  </a:tblPr>
                  <a:tblGrid>
                    <a:gridCol w="797798">
                      <a:extLst>
                        <a:ext uri="{9D8B030D-6E8A-4147-A177-3AD203B41FA5}">
                          <a16:colId xmlns:a16="http://schemas.microsoft.com/office/drawing/2014/main" val="363316257"/>
                        </a:ext>
                      </a:extLst>
                    </a:gridCol>
                    <a:gridCol w="1005444">
                      <a:extLst>
                        <a:ext uri="{9D8B030D-6E8A-4147-A177-3AD203B41FA5}">
                          <a16:colId xmlns:a16="http://schemas.microsoft.com/office/drawing/2014/main" val="1940546229"/>
                        </a:ext>
                      </a:extLst>
                    </a:gridCol>
                    <a:gridCol w="1420737">
                      <a:extLst>
                        <a:ext uri="{9D8B030D-6E8A-4147-A177-3AD203B41FA5}">
                          <a16:colId xmlns:a16="http://schemas.microsoft.com/office/drawing/2014/main" val="2416451057"/>
                        </a:ext>
                      </a:extLst>
                    </a:gridCol>
                    <a:gridCol w="1050070">
                      <a:extLst>
                        <a:ext uri="{9D8B030D-6E8A-4147-A177-3AD203B41FA5}">
                          <a16:colId xmlns:a16="http://schemas.microsoft.com/office/drawing/2014/main" val="1099521159"/>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r>
                                  <a:rPr lang="en-US" sz="1400" b="0" u="none" strike="noStrike" dirty="0" smtClean="0">
                                    <a:solidFill>
                                      <a:srgbClr val="000000"/>
                                    </a:solidFill>
                                    <a:effectLst/>
                                    <a:latin typeface="Cambria Math" panose="02040503050406030204" pitchFamily="18" charset="0"/>
                                  </a:rPr>
                                  <m:t> :</m:t>
                                </m:r>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5" name="Content Placeholder 4">
                <a:extLst>
                  <a:ext uri="{FF2B5EF4-FFF2-40B4-BE49-F238E27FC236}">
                    <a16:creationId xmlns:a16="http://schemas.microsoft.com/office/drawing/2014/main" id="{D7DB8743-E572-40AC-B0CF-2A3E99B51AC8}"/>
                  </a:ext>
                </a:extLst>
              </p:cNvPr>
              <p:cNvGraphicFramePr>
                <a:graphicFrameLocks noGrp="1"/>
              </p:cNvGraphicFramePr>
              <p:nvPr>
                <p:ph idx="1"/>
                <p:extLst>
                  <p:ext uri="{D42A27DB-BD31-4B8C-83A1-F6EECF244321}">
                    <p14:modId xmlns:p14="http://schemas.microsoft.com/office/powerpoint/2010/main" val="1635856897"/>
                  </p:ext>
                </p:extLst>
              </p:nvPr>
            </p:nvGraphicFramePr>
            <p:xfrm>
              <a:off x="7674794" y="1793429"/>
              <a:ext cx="4274049" cy="4720386"/>
            </p:xfrm>
            <a:graphic>
              <a:graphicData uri="http://schemas.openxmlformats.org/drawingml/2006/table">
                <a:tbl>
                  <a:tblPr firstRow="1" lastCol="1">
                    <a:tableStyleId>{9D7B26C5-4107-4FEC-AEDC-1716B250A1EF}</a:tableStyleId>
                  </a:tblPr>
                  <a:tblGrid>
                    <a:gridCol w="797798">
                      <a:extLst>
                        <a:ext uri="{9D8B030D-6E8A-4147-A177-3AD203B41FA5}">
                          <a16:colId xmlns:a16="http://schemas.microsoft.com/office/drawing/2014/main" val="363316257"/>
                        </a:ext>
                      </a:extLst>
                    </a:gridCol>
                    <a:gridCol w="1005444">
                      <a:extLst>
                        <a:ext uri="{9D8B030D-6E8A-4147-A177-3AD203B41FA5}">
                          <a16:colId xmlns:a16="http://schemas.microsoft.com/office/drawing/2014/main" val="1940546229"/>
                        </a:ext>
                      </a:extLst>
                    </a:gridCol>
                    <a:gridCol w="1420737">
                      <a:extLst>
                        <a:ext uri="{9D8B030D-6E8A-4147-A177-3AD203B41FA5}">
                          <a16:colId xmlns:a16="http://schemas.microsoft.com/office/drawing/2014/main" val="2416451057"/>
                        </a:ext>
                      </a:extLst>
                    </a:gridCol>
                    <a:gridCol w="1050070">
                      <a:extLst>
                        <a:ext uri="{9D8B030D-6E8A-4147-A177-3AD203B41FA5}">
                          <a16:colId xmlns:a16="http://schemas.microsoft.com/office/drawing/2014/main" val="1099521159"/>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763" t="-1389" r="-438168"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79518" t="-1389" r="-245783"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127897" t="-1389" r="-75107"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06936" t="-1389" r="-1156" b="-979167"/>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48474" y="1793429"/>
                <a:ext cx="6277510" cy="1009315"/>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Adding in a Predictor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𝛽</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𝑒𝑟𝑟𝑜</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48474" y="1793429"/>
                <a:ext cx="6277510" cy="1009315"/>
              </a:xfrm>
              <a:prstGeom prst="rect">
                <a:avLst/>
              </a:prstGeom>
              <a:blipFill>
                <a:blip r:embed="rId4"/>
                <a:stretch>
                  <a:fillRect l="-1262" t="-4819" b="-4217"/>
                </a:stretch>
              </a:blipFill>
            </p:spPr>
            <p:txBody>
              <a:bodyPr/>
              <a:lstStyle/>
              <a:p>
                <a:r>
                  <a:rPr lang="en-US">
                    <a:noFill/>
                  </a:rPr>
                  <a:t> </a:t>
                </a:r>
              </a:p>
            </p:txBody>
          </p:sp>
        </mc:Fallback>
      </mc:AlternateContent>
    </p:spTree>
    <p:extLst>
      <p:ext uri="{BB962C8B-B14F-4D97-AF65-F5344CB8AC3E}">
        <p14:creationId xmlns:p14="http://schemas.microsoft.com/office/powerpoint/2010/main" val="984694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CD7C3DB9-ADFE-4DB9-B71B-00CD07D93A3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48474" y="1793429"/>
                <a:ext cx="6277510" cy="409092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Adding in a Predictor</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e>
                    </m:acc>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=.25+.25 </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 </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.08 </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oMath>
                </a14:m>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e>
                    </m:acc>
                    <m:d>
                      <m:d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 </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=0.25</m:t>
                    </m:r>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m:t>
                        </m:r>
                      </m:e>
                    </m:acc>
                    <m:d>
                      <m:d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2021</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 </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𝑟𝑎𝑐𝑒</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d>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33</m:t>
                    </m:r>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m:t>
                        </m:r>
                      </m:e>
                    </m:acc>
                    <m:d>
                      <m:d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 </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=0.5</m:t>
                    </m:r>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acc>
                      <m:accPr>
                        <m:chr m:val="̂"/>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acc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m:t>
                        </m:r>
                      </m:e>
                    </m:acc>
                    <m:d>
                      <m:d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2021</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2020</m:t>
                            </m:r>
                          </m:sub>
                        </m:sSub>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𝑟𝑎𝑐𝑒</m:t>
                        </m:r>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d>
                    <m:r>
                      <a:rPr kumimoji="0" lang="en-US"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67</m:t>
                    </m:r>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48474" y="1793429"/>
                <a:ext cx="6277510" cy="4090928"/>
              </a:xfrm>
              <a:prstGeom prst="rect">
                <a:avLst/>
              </a:prstGeom>
              <a:blipFill>
                <a:blip r:embed="rId3"/>
                <a:stretch>
                  <a:fillRect l="-1262" t="-11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Content Placeholder 4">
                <a:extLst>
                  <a:ext uri="{FF2B5EF4-FFF2-40B4-BE49-F238E27FC236}">
                    <a16:creationId xmlns:a16="http://schemas.microsoft.com/office/drawing/2014/main" id="{1605BAEA-3D6A-4C8E-B06D-00AF0C369B73}"/>
                  </a:ext>
                </a:extLst>
              </p:cNvPr>
              <p:cNvGraphicFramePr>
                <a:graphicFrameLocks/>
              </p:cNvGraphicFramePr>
              <p:nvPr/>
            </p:nvGraphicFramePr>
            <p:xfrm>
              <a:off x="7274103" y="1793429"/>
              <a:ext cx="4777486" cy="4720386"/>
            </p:xfrm>
            <a:graphic>
              <a:graphicData uri="http://schemas.openxmlformats.org/drawingml/2006/table">
                <a:tbl>
                  <a:tblPr firstRow="1" lastCol="1">
                    <a:tableStyleId>{9D7B26C5-4107-4FEC-AEDC-1716B250A1EF}</a:tableStyleId>
                  </a:tblPr>
                  <a:tblGrid>
                    <a:gridCol w="618514">
                      <a:extLst>
                        <a:ext uri="{9D8B030D-6E8A-4147-A177-3AD203B41FA5}">
                          <a16:colId xmlns:a16="http://schemas.microsoft.com/office/drawing/2014/main" val="363316257"/>
                        </a:ext>
                      </a:extLst>
                    </a:gridCol>
                    <a:gridCol w="999587">
                      <a:extLst>
                        <a:ext uri="{9D8B030D-6E8A-4147-A177-3AD203B41FA5}">
                          <a16:colId xmlns:a16="http://schemas.microsoft.com/office/drawing/2014/main" val="1940546229"/>
                        </a:ext>
                      </a:extLst>
                    </a:gridCol>
                    <a:gridCol w="1258663">
                      <a:extLst>
                        <a:ext uri="{9D8B030D-6E8A-4147-A177-3AD203B41FA5}">
                          <a16:colId xmlns:a16="http://schemas.microsoft.com/office/drawing/2014/main" val="2416451057"/>
                        </a:ext>
                      </a:extLst>
                    </a:gridCol>
                    <a:gridCol w="1006868">
                      <a:extLst>
                        <a:ext uri="{9D8B030D-6E8A-4147-A177-3AD203B41FA5}">
                          <a16:colId xmlns:a16="http://schemas.microsoft.com/office/drawing/2014/main" val="1099521159"/>
                        </a:ext>
                      </a:extLst>
                    </a:gridCol>
                    <a:gridCol w="893854">
                      <a:extLst>
                        <a:ext uri="{9D8B030D-6E8A-4147-A177-3AD203B41FA5}">
                          <a16:colId xmlns:a16="http://schemas.microsoft.com/office/drawing/2014/main" val="2425217269"/>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200" b="0" u="none" strike="noStrike" dirty="0" smtClean="0">
                                    <a:solidFill>
                                      <a:srgbClr val="000000"/>
                                    </a:solidFill>
                                    <a:effectLst/>
                                    <a:latin typeface="Cambria Math" panose="02040503050406030204" pitchFamily="18" charset="0"/>
                                  </a:rPr>
                                  <m:t>𝑟𝑎𝑐𝑒</m:t>
                                </m:r>
                                <m:r>
                                  <a:rPr lang="en-US" sz="1200" b="0" u="none" strike="noStrike" dirty="0" smtClean="0">
                                    <a:solidFill>
                                      <a:srgbClr val="000000"/>
                                    </a:solidFill>
                                    <a:effectLst/>
                                    <a:latin typeface="Cambria Math" panose="02040503050406030204" pitchFamily="18" charset="0"/>
                                  </a:rPr>
                                  <m:t> :</m:t>
                                </m:r>
                                <m:r>
                                  <a:rPr lang="en-US" sz="1200" b="0" u="none" strike="noStrike" dirty="0" smtClean="0">
                                    <a:solidFill>
                                      <a:srgbClr val="000000"/>
                                    </a:solidFill>
                                    <a:effectLst/>
                                    <a:latin typeface="Cambria Math" panose="02040503050406030204" pitchFamily="18" charset="0"/>
                                  </a:rPr>
                                  <m:t>𝑎𝑟𝑟𝑒𝑠</m:t>
                                </m:r>
                                <m:sSub>
                                  <m:sSubPr>
                                    <m:ctrlPr>
                                      <a:rPr lang="en-US" sz="1200" b="0" i="1" u="none" strike="noStrike" dirty="0" smtClean="0">
                                        <a:solidFill>
                                          <a:srgbClr val="000000"/>
                                        </a:solidFill>
                                        <a:effectLst/>
                                        <a:latin typeface="Cambria Math" panose="02040503050406030204" pitchFamily="18" charset="0"/>
                                      </a:rPr>
                                    </m:ctrlPr>
                                  </m:sSubPr>
                                  <m:e>
                                    <m:r>
                                      <a:rPr lang="en-US" sz="1200" b="0" u="none" strike="noStrike" dirty="0" smtClean="0">
                                        <a:solidFill>
                                          <a:srgbClr val="000000"/>
                                        </a:solidFill>
                                        <a:effectLst/>
                                        <a:latin typeface="Cambria Math" panose="02040503050406030204" pitchFamily="18" charset="0"/>
                                      </a:rPr>
                                      <m:t>𝑡</m:t>
                                    </m:r>
                                  </m:e>
                                  <m:sub>
                                    <m:r>
                                      <a:rPr lang="en-US" sz="1200" b="0" u="none" strike="noStrike" dirty="0" smtClean="0">
                                        <a:solidFill>
                                          <a:srgbClr val="000000"/>
                                        </a:solidFill>
                                        <a:effectLst/>
                                        <a:latin typeface="Cambria Math" panose="02040503050406030204" pitchFamily="18" charset="0"/>
                                      </a:rPr>
                                      <m:t>20</m:t>
                                    </m:r>
                                    <m:r>
                                      <a:rPr lang="en-US" sz="12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400" b="0" i="1" u="none" strike="noStrike" smtClean="0">
                                            <a:solidFill>
                                              <a:srgbClr val="000000"/>
                                            </a:solidFill>
                                            <a:effectLst/>
                                            <a:latin typeface="Cambria Math" panose="02040503050406030204" pitchFamily="18" charset="0"/>
                                            <a:ea typeface="Cambria Math" panose="02040503050406030204" pitchFamily="18" charset="0"/>
                                          </a:rPr>
                                          <m:t>𝑎𝑟𝑟𝑒𝑠𝑡</m:t>
                                        </m:r>
                                      </m:e>
                                    </m:acc>
                                  </m:e>
                                  <m:sub>
                                    <m:r>
                                      <a:rPr lang="en-US" sz="1400" b="0" i="1" u="none" strike="noStrike" smtClean="0">
                                        <a:solidFill>
                                          <a:srgbClr val="000000"/>
                                        </a:solidFill>
                                        <a:effectLst/>
                                        <a:latin typeface="Cambria Math" panose="02040503050406030204" pitchFamily="18" charset="0"/>
                                        <a:ea typeface="Cambria Math" panose="02040503050406030204" pitchFamily="18" charset="0"/>
                                      </a:rPr>
                                      <m:t>2021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.67</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.67</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.67</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7" name="Content Placeholder 4">
                <a:extLst>
                  <a:ext uri="{FF2B5EF4-FFF2-40B4-BE49-F238E27FC236}">
                    <a16:creationId xmlns:a16="http://schemas.microsoft.com/office/drawing/2014/main" id="{1605BAEA-3D6A-4C8E-B06D-00AF0C369B73}"/>
                  </a:ext>
                </a:extLst>
              </p:cNvPr>
              <p:cNvGraphicFramePr>
                <a:graphicFrameLocks/>
              </p:cNvGraphicFramePr>
              <p:nvPr>
                <p:extLst>
                  <p:ext uri="{D42A27DB-BD31-4B8C-83A1-F6EECF244321}">
                    <p14:modId xmlns:p14="http://schemas.microsoft.com/office/powerpoint/2010/main" val="361532116"/>
                  </p:ext>
                </p:extLst>
              </p:nvPr>
            </p:nvGraphicFramePr>
            <p:xfrm>
              <a:off x="7274103" y="1793429"/>
              <a:ext cx="4777486" cy="4720386"/>
            </p:xfrm>
            <a:graphic>
              <a:graphicData uri="http://schemas.openxmlformats.org/drawingml/2006/table">
                <a:tbl>
                  <a:tblPr firstRow="1" lastCol="1">
                    <a:tableStyleId>{9D7B26C5-4107-4FEC-AEDC-1716B250A1EF}</a:tableStyleId>
                  </a:tblPr>
                  <a:tblGrid>
                    <a:gridCol w="618514">
                      <a:extLst>
                        <a:ext uri="{9D8B030D-6E8A-4147-A177-3AD203B41FA5}">
                          <a16:colId xmlns:a16="http://schemas.microsoft.com/office/drawing/2014/main" val="363316257"/>
                        </a:ext>
                      </a:extLst>
                    </a:gridCol>
                    <a:gridCol w="999587">
                      <a:extLst>
                        <a:ext uri="{9D8B030D-6E8A-4147-A177-3AD203B41FA5}">
                          <a16:colId xmlns:a16="http://schemas.microsoft.com/office/drawing/2014/main" val="1940546229"/>
                        </a:ext>
                      </a:extLst>
                    </a:gridCol>
                    <a:gridCol w="1258663">
                      <a:extLst>
                        <a:ext uri="{9D8B030D-6E8A-4147-A177-3AD203B41FA5}">
                          <a16:colId xmlns:a16="http://schemas.microsoft.com/office/drawing/2014/main" val="2416451057"/>
                        </a:ext>
                      </a:extLst>
                    </a:gridCol>
                    <a:gridCol w="1006868">
                      <a:extLst>
                        <a:ext uri="{9D8B030D-6E8A-4147-A177-3AD203B41FA5}">
                          <a16:colId xmlns:a16="http://schemas.microsoft.com/office/drawing/2014/main" val="1099521159"/>
                        </a:ext>
                      </a:extLst>
                    </a:gridCol>
                    <a:gridCol w="893854">
                      <a:extLst>
                        <a:ext uri="{9D8B030D-6E8A-4147-A177-3AD203B41FA5}">
                          <a16:colId xmlns:a16="http://schemas.microsoft.com/office/drawing/2014/main" val="2425217269"/>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4"/>
                          <a:stretch>
                            <a:fillRect l="-980" t="-1389" r="-671569"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4"/>
                          <a:stretch>
                            <a:fillRect l="-62805" t="-1389" r="-317683"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4"/>
                          <a:stretch>
                            <a:fillRect l="-129612" t="-1389" r="-152913"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4"/>
                          <a:stretch>
                            <a:fillRect l="-286667" t="-1389" r="-90909"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4"/>
                          <a:stretch>
                            <a:fillRect l="-434014" t="-1389" r="-2041" b="-979167"/>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.67</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.67</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.67</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p:spTree>
    <p:extLst>
      <p:ext uri="{BB962C8B-B14F-4D97-AF65-F5344CB8AC3E}">
        <p14:creationId xmlns:p14="http://schemas.microsoft.com/office/powerpoint/2010/main" val="1252169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FE44E32-FA48-A590-F807-FA5426E92DA9}"/>
              </a:ext>
            </a:extLst>
          </p:cNvPr>
          <p:cNvPicPr>
            <a:picLocks noChangeAspect="1"/>
          </p:cNvPicPr>
          <p:nvPr/>
        </p:nvPicPr>
        <p:blipFill>
          <a:blip r:embed="rId2"/>
          <a:stretch>
            <a:fillRect/>
          </a:stretch>
        </p:blipFill>
        <p:spPr>
          <a:xfrm>
            <a:off x="5994420" y="1273071"/>
            <a:ext cx="5931692" cy="4806614"/>
          </a:xfrm>
          <a:prstGeom prst="rect">
            <a:avLst/>
          </a:prstGeom>
        </p:spPr>
      </p:pic>
      <p:sp>
        <p:nvSpPr>
          <p:cNvPr id="2" name="Title 1">
            <a:extLst>
              <a:ext uri="{FF2B5EF4-FFF2-40B4-BE49-F238E27FC236}">
                <a16:creationId xmlns:a16="http://schemas.microsoft.com/office/drawing/2014/main" id="{A5A4D57A-3D7B-CDB5-A652-1FBD011AC842}"/>
              </a:ext>
            </a:extLst>
          </p:cNvPr>
          <p:cNvSpPr>
            <a:spLocks noGrp="1"/>
          </p:cNvSpPr>
          <p:nvPr>
            <p:ph type="title"/>
          </p:nvPr>
        </p:nvSpPr>
        <p:spPr/>
        <p:txBody>
          <a:bodyPr/>
          <a:lstStyle/>
          <a:p>
            <a:r>
              <a:rPr lang="en-US" dirty="0"/>
              <a:t>Visualizing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6F7E11-237D-74C2-3962-1D7645785967}"/>
                  </a:ext>
                </a:extLst>
              </p:cNvPr>
              <p:cNvSpPr>
                <a:spLocks noGrp="1"/>
              </p:cNvSpPr>
              <p:nvPr>
                <p:ph idx="1"/>
              </p:nvPr>
            </p:nvSpPr>
            <p:spPr>
              <a:xfrm>
                <a:off x="838200" y="1825625"/>
                <a:ext cx="5073079" cy="4351338"/>
              </a:xfrm>
            </p:spPr>
            <p:txBody>
              <a:bodyPr>
                <a:normAutofit lnSpcReduction="10000"/>
              </a:bodyPr>
              <a:lstStyle/>
              <a:p>
                <a:r>
                  <a:rPr lang="en-US" dirty="0"/>
                  <a:t>The line represents the prediction model for everyone: </a:t>
                </a:r>
              </a:p>
              <a:p>
                <a:pPr marL="0" indent="0">
                  <a:buNone/>
                </a:pPr>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sz="2600" b="0" i="1" smtClean="0">
                              <a:latin typeface="Cambria Math" panose="02040503050406030204" pitchFamily="18" charset="0"/>
                            </a:rPr>
                          </m:ctrlPr>
                        </m:accPr>
                        <m:e>
                          <m:r>
                            <a:rPr lang="en-US" sz="2600" i="1">
                              <a:latin typeface="Cambria Math" panose="02040503050406030204" pitchFamily="18" charset="0"/>
                            </a:rPr>
                            <m:t>𝐴𝑟𝑟𝑒𝑠</m:t>
                          </m:r>
                          <m:sSub>
                            <m:sSubPr>
                              <m:ctrlPr>
                                <a:rPr lang="en-US" sz="2600" i="1">
                                  <a:latin typeface="Cambria Math" panose="02040503050406030204" pitchFamily="18" charset="0"/>
                                </a:rPr>
                              </m:ctrlPr>
                            </m:sSubPr>
                            <m:e>
                              <m:r>
                                <a:rPr lang="en-US" sz="2600" i="1">
                                  <a:latin typeface="Cambria Math" panose="02040503050406030204" pitchFamily="18" charset="0"/>
                                </a:rPr>
                                <m:t>𝑡</m:t>
                              </m:r>
                            </m:e>
                            <m:sub>
                              <m:r>
                                <a:rPr lang="en-US" sz="2600" i="1">
                                  <a:latin typeface="Cambria Math" panose="02040503050406030204" pitchFamily="18" charset="0"/>
                                </a:rPr>
                                <m:t>2021</m:t>
                              </m:r>
                            </m:sub>
                          </m:sSub>
                        </m:e>
                      </m:acc>
                      <m:r>
                        <a:rPr lang="en-US" sz="2600" b="0" i="1" smtClean="0">
                          <a:latin typeface="Cambria Math" panose="02040503050406030204" pitchFamily="18" charset="0"/>
                        </a:rPr>
                        <m:t>=0.29+0.31 </m:t>
                      </m:r>
                      <m:r>
                        <a:rPr lang="en-US" sz="2600" b="0" i="1" smtClean="0">
                          <a:latin typeface="Cambria Math" panose="02040503050406030204" pitchFamily="18" charset="0"/>
                        </a:rPr>
                        <m:t>𝐴𝑟𝑟𝑒𝑠</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𝑡</m:t>
                          </m:r>
                        </m:e>
                        <m:sub>
                          <m:r>
                            <a:rPr lang="en-US" sz="2600" b="0" i="1" smtClean="0">
                              <a:latin typeface="Cambria Math" panose="02040503050406030204" pitchFamily="18" charset="0"/>
                            </a:rPr>
                            <m:t>2020</m:t>
                          </m:r>
                        </m:sub>
                      </m:sSub>
                    </m:oMath>
                  </m:oMathPara>
                </a14:m>
                <a:endParaRPr lang="en-US" sz="2600" dirty="0"/>
              </a:p>
              <a:p>
                <a:pPr marL="0" indent="0">
                  <a:buNone/>
                </a:pPr>
                <a:endParaRPr lang="en-US" dirty="0"/>
              </a:p>
              <a:p>
                <a:r>
                  <a:rPr lang="en-US" dirty="0"/>
                  <a:t>The points represent the true outcome rates for our two groups and whether they had an arrest in 2020 or not</a:t>
                </a:r>
              </a:p>
            </p:txBody>
          </p:sp>
        </mc:Choice>
        <mc:Fallback xmlns="">
          <p:sp>
            <p:nvSpPr>
              <p:cNvPr id="3" name="Content Placeholder 2">
                <a:extLst>
                  <a:ext uri="{FF2B5EF4-FFF2-40B4-BE49-F238E27FC236}">
                    <a16:creationId xmlns:a16="http://schemas.microsoft.com/office/drawing/2014/main" id="{FA6F7E11-237D-74C2-3962-1D7645785967}"/>
                  </a:ext>
                </a:extLst>
              </p:cNvPr>
              <p:cNvSpPr>
                <a:spLocks noGrp="1" noRot="1" noChangeAspect="1" noMove="1" noResize="1" noEditPoints="1" noAdjustHandles="1" noChangeArrowheads="1" noChangeShapeType="1" noTextEdit="1"/>
              </p:cNvSpPr>
              <p:nvPr>
                <p:ph idx="1"/>
              </p:nvPr>
            </p:nvSpPr>
            <p:spPr>
              <a:xfrm>
                <a:off x="838200" y="1825625"/>
                <a:ext cx="5073079" cy="4351338"/>
              </a:xfrm>
              <a:blipFill>
                <a:blip r:embed="rId3"/>
                <a:stretch>
                  <a:fillRect l="-2163" t="-33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0B199E-8F1B-4E01-C243-C2B35C7DEC0B}"/>
                  </a:ext>
                </a:extLst>
              </p:cNvPr>
              <p:cNvSpPr txBox="1"/>
              <p:nvPr/>
            </p:nvSpPr>
            <p:spPr>
              <a:xfrm>
                <a:off x="10138533" y="4037172"/>
                <a:ext cx="16296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0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8" name="TextBox 7">
                <a:extLst>
                  <a:ext uri="{FF2B5EF4-FFF2-40B4-BE49-F238E27FC236}">
                    <a16:creationId xmlns:a16="http://schemas.microsoft.com/office/drawing/2014/main" id="{B40B199E-8F1B-4E01-C243-C2B35C7DEC0B}"/>
                  </a:ext>
                </a:extLst>
              </p:cNvPr>
              <p:cNvSpPr txBox="1">
                <a:spLocks noRot="1" noChangeAspect="1" noMove="1" noResize="1" noEditPoints="1" noAdjustHandles="1" noChangeArrowheads="1" noChangeShapeType="1" noTextEdit="1"/>
              </p:cNvSpPr>
              <p:nvPr/>
            </p:nvSpPr>
            <p:spPr>
              <a:xfrm>
                <a:off x="10138533" y="4037172"/>
                <a:ext cx="1629623" cy="461665"/>
              </a:xfrm>
              <a:prstGeom prst="rect">
                <a:avLst/>
              </a:prstGeom>
              <a:blipFill>
                <a:blip r:embed="rId4"/>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D9E589-B148-BC2F-16C1-E3CE770396EB}"/>
                  </a:ext>
                </a:extLst>
              </p:cNvPr>
              <p:cNvSpPr txBox="1"/>
              <p:nvPr/>
            </p:nvSpPr>
            <p:spPr>
              <a:xfrm>
                <a:off x="7502615" y="4812578"/>
                <a:ext cx="16296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0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9" name="TextBox 8">
                <a:extLst>
                  <a:ext uri="{FF2B5EF4-FFF2-40B4-BE49-F238E27FC236}">
                    <a16:creationId xmlns:a16="http://schemas.microsoft.com/office/drawing/2014/main" id="{9BD9E589-B148-BC2F-16C1-E3CE770396EB}"/>
                  </a:ext>
                </a:extLst>
              </p:cNvPr>
              <p:cNvSpPr txBox="1">
                <a:spLocks noRot="1" noChangeAspect="1" noMove="1" noResize="1" noEditPoints="1" noAdjustHandles="1" noChangeArrowheads="1" noChangeShapeType="1" noTextEdit="1"/>
              </p:cNvSpPr>
              <p:nvPr/>
            </p:nvSpPr>
            <p:spPr>
              <a:xfrm>
                <a:off x="7502615" y="4812578"/>
                <a:ext cx="1629624" cy="461665"/>
              </a:xfrm>
              <a:prstGeom prst="rect">
                <a:avLst/>
              </a:prstGeom>
              <a:blipFill>
                <a:blip r:embed="rId5"/>
                <a:stretch>
                  <a:fillRect l="-375"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7AD96DB-FE34-6E00-0C65-740069007F70}"/>
                  </a:ext>
                </a:extLst>
              </p:cNvPr>
              <p:cNvSpPr txBox="1"/>
              <p:nvPr/>
            </p:nvSpPr>
            <p:spPr>
              <a:xfrm>
                <a:off x="10010333" y="1426600"/>
                <a:ext cx="16296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1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0" name="TextBox 9">
                <a:extLst>
                  <a:ext uri="{FF2B5EF4-FFF2-40B4-BE49-F238E27FC236}">
                    <a16:creationId xmlns:a16="http://schemas.microsoft.com/office/drawing/2014/main" id="{A7AD96DB-FE34-6E00-0C65-740069007F70}"/>
                  </a:ext>
                </a:extLst>
              </p:cNvPr>
              <p:cNvSpPr txBox="1">
                <a:spLocks noRot="1" noChangeAspect="1" noMove="1" noResize="1" noEditPoints="1" noAdjustHandles="1" noChangeArrowheads="1" noChangeShapeType="1" noTextEdit="1"/>
              </p:cNvSpPr>
              <p:nvPr/>
            </p:nvSpPr>
            <p:spPr>
              <a:xfrm>
                <a:off x="10010333" y="1426600"/>
                <a:ext cx="1629623" cy="461665"/>
              </a:xfrm>
              <a:prstGeom prst="rect">
                <a:avLst/>
              </a:prstGeom>
              <a:blipFill>
                <a:blip r:embed="rId6"/>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8893F2F-C38B-B1D5-FE4A-70785D6E7E35}"/>
                  </a:ext>
                </a:extLst>
              </p:cNvPr>
              <p:cNvSpPr txBox="1"/>
              <p:nvPr/>
            </p:nvSpPr>
            <p:spPr>
              <a:xfrm>
                <a:off x="6721452" y="3379857"/>
                <a:ext cx="16296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1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1" name="TextBox 10">
                <a:extLst>
                  <a:ext uri="{FF2B5EF4-FFF2-40B4-BE49-F238E27FC236}">
                    <a16:creationId xmlns:a16="http://schemas.microsoft.com/office/drawing/2014/main" id="{38893F2F-C38B-B1D5-FE4A-70785D6E7E35}"/>
                  </a:ext>
                </a:extLst>
              </p:cNvPr>
              <p:cNvSpPr txBox="1">
                <a:spLocks noRot="1" noChangeAspect="1" noMove="1" noResize="1" noEditPoints="1" noAdjustHandles="1" noChangeArrowheads="1" noChangeShapeType="1" noTextEdit="1"/>
              </p:cNvSpPr>
              <p:nvPr/>
            </p:nvSpPr>
            <p:spPr>
              <a:xfrm>
                <a:off x="6721452" y="3379857"/>
                <a:ext cx="1629624" cy="461665"/>
              </a:xfrm>
              <a:prstGeom prst="rect">
                <a:avLst/>
              </a:prstGeom>
              <a:blipFill>
                <a:blip r:embed="rId7"/>
                <a:stretch>
                  <a:fillRect l="-375" b="-9211"/>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E759D64B-8ABA-317E-DA6C-17D61296FBAA}"/>
              </a:ext>
            </a:extLst>
          </p:cNvPr>
          <p:cNvCxnSpPr/>
          <p:nvPr/>
        </p:nvCxnSpPr>
        <p:spPr>
          <a:xfrm flipH="1">
            <a:off x="6761747" y="5027493"/>
            <a:ext cx="657727" cy="104274"/>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740E372-2949-A263-D2A4-DFB824E8191F}"/>
              </a:ext>
            </a:extLst>
          </p:cNvPr>
          <p:cNvCxnSpPr>
            <a:cxnSpLocks/>
          </p:cNvCxnSpPr>
          <p:nvPr/>
        </p:nvCxnSpPr>
        <p:spPr>
          <a:xfrm flipH="1">
            <a:off x="6721452" y="3841522"/>
            <a:ext cx="535382" cy="6573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6298B63-37B7-D73B-578E-2811DEFE9706}"/>
              </a:ext>
            </a:extLst>
          </p:cNvPr>
          <p:cNvCxnSpPr>
            <a:cxnSpLocks/>
          </p:cNvCxnSpPr>
          <p:nvPr/>
        </p:nvCxnSpPr>
        <p:spPr>
          <a:xfrm flipV="1">
            <a:off x="10953345" y="3492229"/>
            <a:ext cx="564205" cy="489609"/>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06DED0A-C069-70D7-E190-A3DB775C0385}"/>
              </a:ext>
            </a:extLst>
          </p:cNvPr>
          <p:cNvCxnSpPr>
            <a:cxnSpLocks/>
          </p:cNvCxnSpPr>
          <p:nvPr/>
        </p:nvCxnSpPr>
        <p:spPr>
          <a:xfrm>
            <a:off x="10825144" y="1927177"/>
            <a:ext cx="653494" cy="24251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763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FC91CB-CD3D-EB5B-E79B-0F7B865F9FDB}"/>
              </a:ext>
            </a:extLst>
          </p:cNvPr>
          <p:cNvPicPr>
            <a:picLocks noChangeAspect="1"/>
          </p:cNvPicPr>
          <p:nvPr/>
        </p:nvPicPr>
        <p:blipFill>
          <a:blip r:embed="rId2"/>
          <a:stretch>
            <a:fillRect/>
          </a:stretch>
        </p:blipFill>
        <p:spPr>
          <a:xfrm>
            <a:off x="6029092" y="1353802"/>
            <a:ext cx="5796176" cy="4696802"/>
          </a:xfrm>
          <a:prstGeom prst="rect">
            <a:avLst/>
          </a:prstGeom>
        </p:spPr>
      </p:pic>
      <p:sp>
        <p:nvSpPr>
          <p:cNvPr id="2" name="Title 1">
            <a:extLst>
              <a:ext uri="{FF2B5EF4-FFF2-40B4-BE49-F238E27FC236}">
                <a16:creationId xmlns:a16="http://schemas.microsoft.com/office/drawing/2014/main" id="{A5A4D57A-3D7B-CDB5-A652-1FBD011AC842}"/>
              </a:ext>
            </a:extLst>
          </p:cNvPr>
          <p:cNvSpPr>
            <a:spLocks noGrp="1"/>
          </p:cNvSpPr>
          <p:nvPr>
            <p:ph type="title"/>
          </p:nvPr>
        </p:nvSpPr>
        <p:spPr/>
        <p:txBody>
          <a:bodyPr/>
          <a:lstStyle/>
          <a:p>
            <a:r>
              <a:rPr lang="en-US" dirty="0"/>
              <a:t>Visualizing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6F7E11-237D-74C2-3962-1D7645785967}"/>
                  </a:ext>
                </a:extLst>
              </p:cNvPr>
              <p:cNvSpPr>
                <a:spLocks noGrp="1"/>
              </p:cNvSpPr>
              <p:nvPr>
                <p:ph idx="1"/>
              </p:nvPr>
            </p:nvSpPr>
            <p:spPr>
              <a:xfrm>
                <a:off x="332360" y="1825625"/>
                <a:ext cx="5505701" cy="4351338"/>
              </a:xfrm>
            </p:spPr>
            <p:txBody>
              <a:bodyPr>
                <a:normAutofit fontScale="92500" lnSpcReduction="10000"/>
              </a:bodyPr>
              <a:lstStyle/>
              <a:p>
                <a:r>
                  <a:rPr lang="en-US" dirty="0"/>
                  <a:t>The </a:t>
                </a:r>
                <a:r>
                  <a:rPr lang="en-US" dirty="0">
                    <a:solidFill>
                      <a:schemeClr val="accent2"/>
                    </a:solidFill>
                  </a:rPr>
                  <a:t>orange</a:t>
                </a:r>
                <a:r>
                  <a:rPr lang="en-US" dirty="0"/>
                  <a:t> and </a:t>
                </a:r>
                <a:r>
                  <a:rPr lang="en-US" dirty="0">
                    <a:solidFill>
                      <a:schemeClr val="accent1">
                        <a:lumMod val="75000"/>
                      </a:schemeClr>
                    </a:solidFill>
                  </a:rPr>
                  <a:t>blue</a:t>
                </a:r>
                <a:r>
                  <a:rPr lang="en-US" dirty="0"/>
                  <a:t> lines represent the prediction model for race = 0 and race = 1, respectively: </a:t>
                </a:r>
              </a:p>
              <a:p>
                <a:pPr marL="0" indent="0">
                  <a:buNone/>
                </a:pPr>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𝐴𝑟𝑟𝑒𝑠</m:t>
                          </m:r>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2021</m:t>
                              </m:r>
                            </m:sub>
                          </m:sSub>
                        </m:e>
                      </m:acc>
                      <m:r>
                        <a:rPr lang="en-US" sz="2000" i="1">
                          <a:latin typeface="Cambria Math" panose="02040503050406030204" pitchFamily="18" charset="0"/>
                        </a:rPr>
                        <m:t>=.24+ .29 </m:t>
                      </m:r>
                      <m:r>
                        <a:rPr lang="en-US" sz="2000" i="1">
                          <a:latin typeface="Cambria Math" panose="02040503050406030204" pitchFamily="18" charset="0"/>
                        </a:rPr>
                        <m:t>𝐴𝑟𝑟𝑒𝑠</m:t>
                      </m:r>
                      <m:sSub>
                        <m:sSubPr>
                          <m:ctrlPr>
                            <a:rPr lang="en-US" sz="2000" i="1">
                              <a:latin typeface="Cambria Math" panose="02040503050406030204" pitchFamily="18" charset="0"/>
                            </a:rPr>
                          </m:ctrlPr>
                        </m:sSubPr>
                        <m:e>
                          <m:r>
                            <a:rPr lang="en-US" sz="2000" i="1">
                              <a:latin typeface="Cambria Math" panose="02040503050406030204" pitchFamily="18" charset="0"/>
                            </a:rPr>
                            <m:t>𝑡</m:t>
                          </m:r>
                        </m:e>
                        <m:sub>
                          <m:r>
                            <a:rPr lang="en-US" sz="2000" i="1">
                              <a:latin typeface="Cambria Math" panose="02040503050406030204" pitchFamily="18" charset="0"/>
                            </a:rPr>
                            <m:t>2020</m:t>
                          </m:r>
                        </m:sub>
                      </m:sSub>
                      <m:r>
                        <a:rPr lang="en-US" sz="2000" i="1">
                          <a:latin typeface="Cambria Math" panose="02040503050406030204" pitchFamily="18" charset="0"/>
                        </a:rPr>
                        <m:t>+ . 12 </m:t>
                      </m:r>
                      <m:r>
                        <a:rPr lang="en-US" sz="2000" i="1">
                          <a:latin typeface="Cambria Math" panose="02040503050406030204" pitchFamily="18" charset="0"/>
                        </a:rPr>
                        <m:t>𝑟𝑎𝑐𝑒</m:t>
                      </m:r>
                    </m:oMath>
                  </m:oMathPara>
                </a14:m>
                <a:endParaRPr lang="en-US" dirty="0"/>
              </a:p>
              <a:p>
                <a:pPr marL="0" indent="0">
                  <a:buNone/>
                </a:pPr>
                <a:endParaRPr lang="en-US" dirty="0"/>
              </a:p>
              <a:p>
                <a:pPr marL="0" indent="0">
                  <a:buNone/>
                </a:pPr>
                <a:r>
                  <a:rPr lang="en-US" dirty="0"/>
                  <a:t>When race = 0</a:t>
                </a:r>
              </a:p>
              <a:p>
                <a:pPr marL="0" indent="0">
                  <a:buNone/>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𝐴𝑟𝑟𝑒𝑠</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2021</m:t>
                              </m:r>
                            </m:sub>
                          </m:sSub>
                        </m:e>
                      </m:acc>
                      <m:r>
                        <a:rPr lang="en-US" sz="2400" i="1">
                          <a:latin typeface="Cambria Math" panose="02040503050406030204" pitchFamily="18" charset="0"/>
                        </a:rPr>
                        <m:t>=.24+ .29 </m:t>
                      </m:r>
                      <m:r>
                        <a:rPr lang="en-US" sz="2400" i="1">
                          <a:latin typeface="Cambria Math" panose="02040503050406030204" pitchFamily="18" charset="0"/>
                        </a:rPr>
                        <m:t>𝐴𝑟𝑟𝑒𝑠</m:t>
                      </m:r>
                      <m:sSub>
                        <m:sSubPr>
                          <m:ctrlPr>
                            <a:rPr lang="en-US" sz="2400" i="1">
                              <a:latin typeface="Cambria Math" panose="02040503050406030204" pitchFamily="18" charset="0"/>
                            </a:rPr>
                          </m:ctrlPr>
                        </m:sSubPr>
                        <m:e>
                          <m:r>
                            <a:rPr lang="en-US" sz="2400" i="1">
                              <a:latin typeface="Cambria Math" panose="02040503050406030204" pitchFamily="18" charset="0"/>
                            </a:rPr>
                            <m:t>𝑡</m:t>
                          </m:r>
                        </m:e>
                        <m:sub>
                          <m:r>
                            <a:rPr lang="en-US" sz="2400" i="1">
                              <a:latin typeface="Cambria Math" panose="02040503050406030204" pitchFamily="18" charset="0"/>
                            </a:rPr>
                            <m:t>2020</m:t>
                          </m:r>
                        </m:sub>
                      </m:sSub>
                    </m:oMath>
                  </m:oMathPara>
                </a14:m>
                <a:endParaRPr lang="en-US" dirty="0"/>
              </a:p>
              <a:p>
                <a:pPr marL="0" indent="0">
                  <a:buNone/>
                </a:pPr>
                <a:endParaRPr lang="en-US" dirty="0"/>
              </a:p>
              <a:p>
                <a:pPr marL="0" indent="0">
                  <a:buNone/>
                </a:pPr>
                <a:r>
                  <a:rPr lang="en-US" dirty="0"/>
                  <a:t>When race = 1</a:t>
                </a:r>
              </a:p>
              <a:p>
                <a:pPr marL="0" indent="0">
                  <a:buNone/>
                </a:pPr>
                <a14:m>
                  <m:oMathPara xmlns:m="http://schemas.openxmlformats.org/officeDocument/2006/math">
                    <m:oMathParaPr>
                      <m:jc m:val="centerGroup"/>
                    </m:oMathParaPr>
                    <m:oMath xmlns:m="http://schemas.openxmlformats.org/officeDocument/2006/math">
                      <m:acc>
                        <m:accPr>
                          <m:chr m:val="̂"/>
                          <m:ctrlPr>
                            <a:rPr lang="en-US" sz="2600" i="1" smtClean="0">
                              <a:latin typeface="Cambria Math" panose="02040503050406030204" pitchFamily="18" charset="0"/>
                            </a:rPr>
                          </m:ctrlPr>
                        </m:accPr>
                        <m:e>
                          <m:r>
                            <a:rPr lang="en-US" sz="2600" i="1">
                              <a:latin typeface="Cambria Math" panose="02040503050406030204" pitchFamily="18" charset="0"/>
                            </a:rPr>
                            <m:t>𝐴𝑟𝑟𝑒𝑠</m:t>
                          </m:r>
                          <m:sSub>
                            <m:sSubPr>
                              <m:ctrlPr>
                                <a:rPr lang="en-US" sz="2600" i="1">
                                  <a:latin typeface="Cambria Math" panose="02040503050406030204" pitchFamily="18" charset="0"/>
                                </a:rPr>
                              </m:ctrlPr>
                            </m:sSubPr>
                            <m:e>
                              <m:r>
                                <a:rPr lang="en-US" sz="2600" i="1">
                                  <a:latin typeface="Cambria Math" panose="02040503050406030204" pitchFamily="18" charset="0"/>
                                </a:rPr>
                                <m:t>𝑡</m:t>
                              </m:r>
                            </m:e>
                            <m:sub>
                              <m:r>
                                <a:rPr lang="en-US" sz="2600" i="1">
                                  <a:latin typeface="Cambria Math" panose="02040503050406030204" pitchFamily="18" charset="0"/>
                                </a:rPr>
                                <m:t>2021</m:t>
                              </m:r>
                            </m:sub>
                          </m:sSub>
                        </m:e>
                      </m:acc>
                      <m:r>
                        <a:rPr lang="en-US" sz="2600" i="1">
                          <a:latin typeface="Cambria Math" panose="02040503050406030204" pitchFamily="18" charset="0"/>
                        </a:rPr>
                        <m:t>=.</m:t>
                      </m:r>
                      <m:r>
                        <a:rPr lang="en-US" sz="2600" b="0" i="1" smtClean="0">
                          <a:latin typeface="Cambria Math" panose="02040503050406030204" pitchFamily="18" charset="0"/>
                        </a:rPr>
                        <m:t>36</m:t>
                      </m:r>
                      <m:r>
                        <a:rPr lang="en-US" sz="2600" i="1">
                          <a:latin typeface="Cambria Math" panose="02040503050406030204" pitchFamily="18" charset="0"/>
                        </a:rPr>
                        <m:t>+ .29 </m:t>
                      </m:r>
                      <m:r>
                        <a:rPr lang="en-US" sz="2600" i="1">
                          <a:latin typeface="Cambria Math" panose="02040503050406030204" pitchFamily="18" charset="0"/>
                        </a:rPr>
                        <m:t>𝐴𝑟𝑟𝑒𝑠</m:t>
                      </m:r>
                      <m:sSub>
                        <m:sSubPr>
                          <m:ctrlPr>
                            <a:rPr lang="en-US" sz="2600" i="1">
                              <a:latin typeface="Cambria Math" panose="02040503050406030204" pitchFamily="18" charset="0"/>
                            </a:rPr>
                          </m:ctrlPr>
                        </m:sSubPr>
                        <m:e>
                          <m:r>
                            <a:rPr lang="en-US" sz="2600" i="1">
                              <a:latin typeface="Cambria Math" panose="02040503050406030204" pitchFamily="18" charset="0"/>
                            </a:rPr>
                            <m:t>𝑡</m:t>
                          </m:r>
                        </m:e>
                        <m:sub>
                          <m:r>
                            <a:rPr lang="en-US" sz="2600" i="1">
                              <a:latin typeface="Cambria Math" panose="02040503050406030204" pitchFamily="18" charset="0"/>
                            </a:rPr>
                            <m:t>2020</m:t>
                          </m:r>
                        </m:sub>
                      </m:sSub>
                    </m:oMath>
                  </m:oMathPara>
                </a14:m>
                <a:endParaRPr lang="en-US" sz="2600"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A6F7E11-237D-74C2-3962-1D7645785967}"/>
                  </a:ext>
                </a:extLst>
              </p:cNvPr>
              <p:cNvSpPr>
                <a:spLocks noGrp="1" noRot="1" noChangeAspect="1" noMove="1" noResize="1" noEditPoints="1" noAdjustHandles="1" noChangeArrowheads="1" noChangeShapeType="1" noTextEdit="1"/>
              </p:cNvSpPr>
              <p:nvPr>
                <p:ph idx="1"/>
              </p:nvPr>
            </p:nvSpPr>
            <p:spPr>
              <a:xfrm>
                <a:off x="332360" y="1825625"/>
                <a:ext cx="5505701" cy="4351338"/>
              </a:xfrm>
              <a:blipFill>
                <a:blip r:embed="rId3"/>
                <a:stretch>
                  <a:fillRect l="-1993" t="-2801" r="-14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0B199E-8F1B-4E01-C243-C2B35C7DEC0B}"/>
                  </a:ext>
                </a:extLst>
              </p:cNvPr>
              <p:cNvSpPr txBox="1"/>
              <p:nvPr/>
            </p:nvSpPr>
            <p:spPr>
              <a:xfrm>
                <a:off x="10060711" y="4037172"/>
                <a:ext cx="16296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0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8" name="TextBox 7">
                <a:extLst>
                  <a:ext uri="{FF2B5EF4-FFF2-40B4-BE49-F238E27FC236}">
                    <a16:creationId xmlns:a16="http://schemas.microsoft.com/office/drawing/2014/main" id="{B40B199E-8F1B-4E01-C243-C2B35C7DEC0B}"/>
                  </a:ext>
                </a:extLst>
              </p:cNvPr>
              <p:cNvSpPr txBox="1">
                <a:spLocks noRot="1" noChangeAspect="1" noMove="1" noResize="1" noEditPoints="1" noAdjustHandles="1" noChangeArrowheads="1" noChangeShapeType="1" noTextEdit="1"/>
              </p:cNvSpPr>
              <p:nvPr/>
            </p:nvSpPr>
            <p:spPr>
              <a:xfrm>
                <a:off x="10060711" y="4037172"/>
                <a:ext cx="1629623" cy="461665"/>
              </a:xfrm>
              <a:prstGeom prst="rect">
                <a:avLst/>
              </a:prstGeom>
              <a:blipFill>
                <a:blip r:embed="rId4"/>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D9E589-B148-BC2F-16C1-E3CE770396EB}"/>
                  </a:ext>
                </a:extLst>
              </p:cNvPr>
              <p:cNvSpPr txBox="1"/>
              <p:nvPr/>
            </p:nvSpPr>
            <p:spPr>
              <a:xfrm>
                <a:off x="7502615" y="4812578"/>
                <a:ext cx="16296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0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9" name="TextBox 8">
                <a:extLst>
                  <a:ext uri="{FF2B5EF4-FFF2-40B4-BE49-F238E27FC236}">
                    <a16:creationId xmlns:a16="http://schemas.microsoft.com/office/drawing/2014/main" id="{9BD9E589-B148-BC2F-16C1-E3CE770396EB}"/>
                  </a:ext>
                </a:extLst>
              </p:cNvPr>
              <p:cNvSpPr txBox="1">
                <a:spLocks noRot="1" noChangeAspect="1" noMove="1" noResize="1" noEditPoints="1" noAdjustHandles="1" noChangeArrowheads="1" noChangeShapeType="1" noTextEdit="1"/>
              </p:cNvSpPr>
              <p:nvPr/>
            </p:nvSpPr>
            <p:spPr>
              <a:xfrm>
                <a:off x="7502615" y="4812578"/>
                <a:ext cx="1629624" cy="461665"/>
              </a:xfrm>
              <a:prstGeom prst="rect">
                <a:avLst/>
              </a:prstGeom>
              <a:blipFill>
                <a:blip r:embed="rId5"/>
                <a:stretch>
                  <a:fillRect l="-375"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7AD96DB-FE34-6E00-0C65-740069007F70}"/>
                  </a:ext>
                </a:extLst>
              </p:cNvPr>
              <p:cNvSpPr txBox="1"/>
              <p:nvPr/>
            </p:nvSpPr>
            <p:spPr>
              <a:xfrm>
                <a:off x="10010333" y="1426600"/>
                <a:ext cx="16296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1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0" name="TextBox 9">
                <a:extLst>
                  <a:ext uri="{FF2B5EF4-FFF2-40B4-BE49-F238E27FC236}">
                    <a16:creationId xmlns:a16="http://schemas.microsoft.com/office/drawing/2014/main" id="{A7AD96DB-FE34-6E00-0C65-740069007F70}"/>
                  </a:ext>
                </a:extLst>
              </p:cNvPr>
              <p:cNvSpPr txBox="1">
                <a:spLocks noRot="1" noChangeAspect="1" noMove="1" noResize="1" noEditPoints="1" noAdjustHandles="1" noChangeArrowheads="1" noChangeShapeType="1" noTextEdit="1"/>
              </p:cNvSpPr>
              <p:nvPr/>
            </p:nvSpPr>
            <p:spPr>
              <a:xfrm>
                <a:off x="10010333" y="1426600"/>
                <a:ext cx="1629623" cy="461665"/>
              </a:xfrm>
              <a:prstGeom prst="rect">
                <a:avLst/>
              </a:prstGeom>
              <a:blipFill>
                <a:blip r:embed="rId6"/>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8893F2F-C38B-B1D5-FE4A-70785D6E7E35}"/>
                  </a:ext>
                </a:extLst>
              </p:cNvPr>
              <p:cNvSpPr txBox="1"/>
              <p:nvPr/>
            </p:nvSpPr>
            <p:spPr>
              <a:xfrm>
                <a:off x="6721452" y="3370129"/>
                <a:ext cx="16296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1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1" name="TextBox 10">
                <a:extLst>
                  <a:ext uri="{FF2B5EF4-FFF2-40B4-BE49-F238E27FC236}">
                    <a16:creationId xmlns:a16="http://schemas.microsoft.com/office/drawing/2014/main" id="{38893F2F-C38B-B1D5-FE4A-70785D6E7E35}"/>
                  </a:ext>
                </a:extLst>
              </p:cNvPr>
              <p:cNvSpPr txBox="1">
                <a:spLocks noRot="1" noChangeAspect="1" noMove="1" noResize="1" noEditPoints="1" noAdjustHandles="1" noChangeArrowheads="1" noChangeShapeType="1" noTextEdit="1"/>
              </p:cNvSpPr>
              <p:nvPr/>
            </p:nvSpPr>
            <p:spPr>
              <a:xfrm>
                <a:off x="6721452" y="3370129"/>
                <a:ext cx="1629624" cy="461665"/>
              </a:xfrm>
              <a:prstGeom prst="rect">
                <a:avLst/>
              </a:prstGeom>
              <a:blipFill>
                <a:blip r:embed="rId7"/>
                <a:stretch>
                  <a:fillRect l="-375" t="-1316" b="-9211"/>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E759D64B-8ABA-317E-DA6C-17D61296FBAA}"/>
              </a:ext>
            </a:extLst>
          </p:cNvPr>
          <p:cNvCxnSpPr/>
          <p:nvPr/>
        </p:nvCxnSpPr>
        <p:spPr>
          <a:xfrm flipH="1">
            <a:off x="6761747" y="5027493"/>
            <a:ext cx="657727" cy="104274"/>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740E372-2949-A263-D2A4-DFB824E8191F}"/>
              </a:ext>
            </a:extLst>
          </p:cNvPr>
          <p:cNvCxnSpPr>
            <a:cxnSpLocks/>
          </p:cNvCxnSpPr>
          <p:nvPr/>
        </p:nvCxnSpPr>
        <p:spPr>
          <a:xfrm flipH="1">
            <a:off x="6740908" y="3822066"/>
            <a:ext cx="535382" cy="6573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6298B63-37B7-D73B-578E-2811DEFE9706}"/>
              </a:ext>
            </a:extLst>
          </p:cNvPr>
          <p:cNvCxnSpPr>
            <a:cxnSpLocks/>
          </p:cNvCxnSpPr>
          <p:nvPr/>
        </p:nvCxnSpPr>
        <p:spPr>
          <a:xfrm flipV="1">
            <a:off x="10864056" y="3464285"/>
            <a:ext cx="564205" cy="489609"/>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06DED0A-C069-70D7-E190-A3DB775C0385}"/>
              </a:ext>
            </a:extLst>
          </p:cNvPr>
          <p:cNvCxnSpPr>
            <a:cxnSpLocks/>
          </p:cNvCxnSpPr>
          <p:nvPr/>
        </p:nvCxnSpPr>
        <p:spPr>
          <a:xfrm>
            <a:off x="10825144" y="1927177"/>
            <a:ext cx="653494" cy="24251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9472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732632D-487C-85BC-1C90-00720F939A17}"/>
              </a:ext>
            </a:extLst>
          </p:cNvPr>
          <p:cNvPicPr>
            <a:picLocks noChangeAspect="1"/>
          </p:cNvPicPr>
          <p:nvPr/>
        </p:nvPicPr>
        <p:blipFill>
          <a:blip r:embed="rId2"/>
          <a:stretch>
            <a:fillRect/>
          </a:stretch>
        </p:blipFill>
        <p:spPr>
          <a:xfrm>
            <a:off x="5972782" y="1309522"/>
            <a:ext cx="5875115" cy="4760769"/>
          </a:xfrm>
          <a:prstGeom prst="rect">
            <a:avLst/>
          </a:prstGeom>
        </p:spPr>
      </p:pic>
      <p:sp>
        <p:nvSpPr>
          <p:cNvPr id="2" name="Title 1">
            <a:extLst>
              <a:ext uri="{FF2B5EF4-FFF2-40B4-BE49-F238E27FC236}">
                <a16:creationId xmlns:a16="http://schemas.microsoft.com/office/drawing/2014/main" id="{A5A4D57A-3D7B-CDB5-A652-1FBD011AC842}"/>
              </a:ext>
            </a:extLst>
          </p:cNvPr>
          <p:cNvSpPr>
            <a:spLocks noGrp="1"/>
          </p:cNvSpPr>
          <p:nvPr>
            <p:ph type="title"/>
          </p:nvPr>
        </p:nvSpPr>
        <p:spPr/>
        <p:txBody>
          <a:bodyPr/>
          <a:lstStyle/>
          <a:p>
            <a:r>
              <a:rPr lang="en-US" dirty="0"/>
              <a:t>Visualizing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6F7E11-237D-74C2-3962-1D7645785967}"/>
                  </a:ext>
                </a:extLst>
              </p:cNvPr>
              <p:cNvSpPr>
                <a:spLocks noGrp="1"/>
              </p:cNvSpPr>
              <p:nvPr>
                <p:ph idx="1"/>
              </p:nvPr>
            </p:nvSpPr>
            <p:spPr>
              <a:xfrm>
                <a:off x="332360" y="1825625"/>
                <a:ext cx="5505701" cy="4351338"/>
              </a:xfrm>
            </p:spPr>
            <p:txBody>
              <a:bodyPr>
                <a:normAutofit fontScale="92500" lnSpcReduction="10000"/>
              </a:bodyPr>
              <a:lstStyle/>
              <a:p>
                <a:r>
                  <a:rPr lang="en-US" dirty="0"/>
                  <a:t>The </a:t>
                </a:r>
                <a:r>
                  <a:rPr lang="en-US" dirty="0">
                    <a:solidFill>
                      <a:srgbClr val="FF0000"/>
                    </a:solidFill>
                  </a:rPr>
                  <a:t>red</a:t>
                </a:r>
                <a:r>
                  <a:rPr lang="en-US" dirty="0"/>
                  <a:t> and </a:t>
                </a:r>
                <a:r>
                  <a:rPr lang="en-US" dirty="0">
                    <a:solidFill>
                      <a:srgbClr val="7030A0"/>
                    </a:solidFill>
                  </a:rPr>
                  <a:t>purple</a:t>
                </a:r>
                <a:r>
                  <a:rPr lang="en-US" dirty="0"/>
                  <a:t> lines represent the prediction model for race = 0 and race = 1, respectively: </a:t>
                </a:r>
              </a:p>
              <a:p>
                <a:pPr marL="0" indent="0">
                  <a:buNone/>
                </a:pPr>
                <a:endParaRPr lang="en-US" sz="2000" b="0" i="1" dirty="0">
                  <a:latin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𝐴𝑟𝑟𝑒𝑠</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2021</m:t>
                              </m:r>
                            </m:sub>
                          </m:sSub>
                        </m:e>
                      </m:acc>
                      <m:r>
                        <a:rPr lang="en-US" i="1">
                          <a:latin typeface="Cambria Math" panose="02040503050406030204" pitchFamily="18" charset="0"/>
                        </a:rPr>
                        <m:t>=.25+.25 </m:t>
                      </m:r>
                      <m:r>
                        <a:rPr lang="en-US" i="1">
                          <a:latin typeface="Cambria Math" panose="02040503050406030204" pitchFamily="18" charset="0"/>
                        </a:rPr>
                        <m:t>𝐴𝑟𝑟𝑒𝑠</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2020</m:t>
                          </m:r>
                        </m:sub>
                      </m:sSub>
                      <m:r>
                        <a:rPr lang="en-US" i="1">
                          <a:latin typeface="Cambria Math" panose="02040503050406030204" pitchFamily="18" charset="0"/>
                        </a:rPr>
                        <m:t>+.08 </m:t>
                      </m:r>
                      <m:r>
                        <a:rPr lang="en-US" i="1">
                          <a:latin typeface="Cambria Math" panose="02040503050406030204" pitchFamily="18" charset="0"/>
                        </a:rPr>
                        <m:t>𝑟𝑎𝑐𝑒</m:t>
                      </m:r>
                      <m:r>
                        <a:rPr lang="en-US" i="1">
                          <a:latin typeface="Cambria Math" panose="02040503050406030204" pitchFamily="18" charset="0"/>
                        </a:rPr>
                        <m:t>+ .08 </m:t>
                      </m:r>
                      <m:r>
                        <a:rPr lang="en-US" i="1">
                          <a:latin typeface="Cambria Math" panose="02040503050406030204" pitchFamily="18" charset="0"/>
                        </a:rPr>
                        <m:t>𝐴𝑟𝑟𝑒𝑠</m:t>
                      </m:r>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2020</m:t>
                          </m:r>
                        </m:sub>
                      </m:sSub>
                      <m:r>
                        <a:rPr lang="en-US" i="1">
                          <a:latin typeface="Cambria Math" panose="02040503050406030204" pitchFamily="18" charset="0"/>
                        </a:rPr>
                        <m:t>:</m:t>
                      </m:r>
                      <m:r>
                        <a:rPr lang="en-US" i="1">
                          <a:latin typeface="Cambria Math" panose="02040503050406030204" pitchFamily="18" charset="0"/>
                        </a:rPr>
                        <m:t>𝑟𝑎𝑐𝑒</m:t>
                      </m:r>
                    </m:oMath>
                  </m:oMathPara>
                </a14:m>
                <a:endParaRPr lang="en-US" dirty="0"/>
              </a:p>
              <a:p>
                <a:pPr marL="0" indent="0">
                  <a:buNone/>
                </a:pPr>
                <a:r>
                  <a:rPr lang="en-US" dirty="0"/>
                  <a:t>When race = 0</a:t>
                </a:r>
              </a:p>
              <a:p>
                <a:pPr marL="0" indent="0">
                  <a:buNone/>
                </a:pPr>
                <a14:m>
                  <m:oMathPara xmlns:m="http://schemas.openxmlformats.org/officeDocument/2006/math">
                    <m:oMathParaPr>
                      <m:jc m:val="centerGroup"/>
                    </m:oMathParaPr>
                    <m:oMath xmlns:m="http://schemas.openxmlformats.org/officeDocument/2006/math">
                      <m:acc>
                        <m:accPr>
                          <m:chr m:val="̂"/>
                          <m:ctrlPr>
                            <a:rPr lang="en-US" sz="2600" i="1">
                              <a:latin typeface="Cambria Math" panose="02040503050406030204" pitchFamily="18" charset="0"/>
                            </a:rPr>
                          </m:ctrlPr>
                        </m:accPr>
                        <m:e>
                          <m:r>
                            <a:rPr lang="en-US" sz="2600" i="1">
                              <a:latin typeface="Cambria Math" panose="02040503050406030204" pitchFamily="18" charset="0"/>
                            </a:rPr>
                            <m:t>𝐴𝑟𝑟𝑒𝑠</m:t>
                          </m:r>
                          <m:sSub>
                            <m:sSubPr>
                              <m:ctrlPr>
                                <a:rPr lang="en-US" sz="2600" i="1">
                                  <a:latin typeface="Cambria Math" panose="02040503050406030204" pitchFamily="18" charset="0"/>
                                </a:rPr>
                              </m:ctrlPr>
                            </m:sSubPr>
                            <m:e>
                              <m:r>
                                <a:rPr lang="en-US" sz="2600" i="1">
                                  <a:latin typeface="Cambria Math" panose="02040503050406030204" pitchFamily="18" charset="0"/>
                                </a:rPr>
                                <m:t>𝑡</m:t>
                              </m:r>
                            </m:e>
                            <m:sub>
                              <m:r>
                                <a:rPr lang="en-US" sz="2600" i="1">
                                  <a:latin typeface="Cambria Math" panose="02040503050406030204" pitchFamily="18" charset="0"/>
                                </a:rPr>
                                <m:t>2021</m:t>
                              </m:r>
                            </m:sub>
                          </m:sSub>
                        </m:e>
                      </m:acc>
                      <m:r>
                        <a:rPr lang="en-US" sz="2600" i="1">
                          <a:latin typeface="Cambria Math" panose="02040503050406030204" pitchFamily="18" charset="0"/>
                        </a:rPr>
                        <m:t>=</m:t>
                      </m:r>
                      <m:r>
                        <a:rPr lang="en-US" sz="2600" b="0" i="1" smtClean="0">
                          <a:latin typeface="Cambria Math" panose="02040503050406030204" pitchFamily="18" charset="0"/>
                        </a:rPr>
                        <m:t>0</m:t>
                      </m:r>
                      <m:r>
                        <a:rPr lang="en-US" sz="2600" i="1">
                          <a:latin typeface="Cambria Math" panose="02040503050406030204" pitchFamily="18" charset="0"/>
                        </a:rPr>
                        <m:t>.25+</m:t>
                      </m:r>
                      <m:r>
                        <a:rPr lang="en-US" sz="2600" b="0" i="1" smtClean="0">
                          <a:latin typeface="Cambria Math" panose="02040503050406030204" pitchFamily="18" charset="0"/>
                        </a:rPr>
                        <m:t>0</m:t>
                      </m:r>
                      <m:r>
                        <a:rPr lang="en-US" sz="2600" i="1">
                          <a:latin typeface="Cambria Math" panose="02040503050406030204" pitchFamily="18" charset="0"/>
                        </a:rPr>
                        <m:t>.25 </m:t>
                      </m:r>
                      <m:r>
                        <a:rPr lang="en-US" sz="2600" i="1">
                          <a:latin typeface="Cambria Math" panose="02040503050406030204" pitchFamily="18" charset="0"/>
                        </a:rPr>
                        <m:t>𝐴𝑟𝑟𝑒𝑠</m:t>
                      </m:r>
                      <m:sSub>
                        <m:sSubPr>
                          <m:ctrlPr>
                            <a:rPr lang="en-US" sz="2600" i="1">
                              <a:latin typeface="Cambria Math" panose="02040503050406030204" pitchFamily="18" charset="0"/>
                            </a:rPr>
                          </m:ctrlPr>
                        </m:sSubPr>
                        <m:e>
                          <m:r>
                            <a:rPr lang="en-US" sz="2600" i="1">
                              <a:latin typeface="Cambria Math" panose="02040503050406030204" pitchFamily="18" charset="0"/>
                            </a:rPr>
                            <m:t>𝑡</m:t>
                          </m:r>
                        </m:e>
                        <m:sub>
                          <m:r>
                            <a:rPr lang="en-US" sz="2600" i="1">
                              <a:latin typeface="Cambria Math" panose="02040503050406030204" pitchFamily="18" charset="0"/>
                            </a:rPr>
                            <m:t>2020</m:t>
                          </m:r>
                        </m:sub>
                      </m:sSub>
                    </m:oMath>
                  </m:oMathPara>
                </a14:m>
                <a:endParaRPr lang="en-US" sz="3000" dirty="0"/>
              </a:p>
              <a:p>
                <a:pPr marL="0" indent="0">
                  <a:buNone/>
                </a:pPr>
                <a:endParaRPr lang="en-US" dirty="0"/>
              </a:p>
              <a:p>
                <a:pPr marL="0" indent="0">
                  <a:buNone/>
                </a:pPr>
                <a:r>
                  <a:rPr lang="en-US" dirty="0"/>
                  <a:t>When race = 1</a:t>
                </a:r>
              </a:p>
              <a:p>
                <a:pPr marL="0" indent="0">
                  <a:buNone/>
                </a:pPr>
                <a14:m>
                  <m:oMathPara xmlns:m="http://schemas.openxmlformats.org/officeDocument/2006/math">
                    <m:oMathParaPr>
                      <m:jc m:val="centerGroup"/>
                    </m:oMathParaPr>
                    <m:oMath xmlns:m="http://schemas.openxmlformats.org/officeDocument/2006/math">
                      <m:acc>
                        <m:accPr>
                          <m:chr m:val="̂"/>
                          <m:ctrlPr>
                            <a:rPr lang="en-US" sz="2600" i="1" smtClean="0">
                              <a:latin typeface="Cambria Math" panose="02040503050406030204" pitchFamily="18" charset="0"/>
                            </a:rPr>
                          </m:ctrlPr>
                        </m:accPr>
                        <m:e>
                          <m:r>
                            <a:rPr lang="en-US" sz="2600" i="1">
                              <a:latin typeface="Cambria Math" panose="02040503050406030204" pitchFamily="18" charset="0"/>
                            </a:rPr>
                            <m:t>𝐴𝑟𝑟𝑒𝑠</m:t>
                          </m:r>
                          <m:sSub>
                            <m:sSubPr>
                              <m:ctrlPr>
                                <a:rPr lang="en-US" sz="2600" i="1">
                                  <a:latin typeface="Cambria Math" panose="02040503050406030204" pitchFamily="18" charset="0"/>
                                </a:rPr>
                              </m:ctrlPr>
                            </m:sSubPr>
                            <m:e>
                              <m:r>
                                <a:rPr lang="en-US" sz="2600" i="1">
                                  <a:latin typeface="Cambria Math" panose="02040503050406030204" pitchFamily="18" charset="0"/>
                                </a:rPr>
                                <m:t>𝑡</m:t>
                              </m:r>
                            </m:e>
                            <m:sub>
                              <m:r>
                                <a:rPr lang="en-US" sz="2600" i="1">
                                  <a:latin typeface="Cambria Math" panose="02040503050406030204" pitchFamily="18" charset="0"/>
                                </a:rPr>
                                <m:t>2021</m:t>
                              </m:r>
                            </m:sub>
                          </m:sSub>
                        </m:e>
                      </m:acc>
                      <m:r>
                        <a:rPr lang="en-US" sz="2600" i="1">
                          <a:latin typeface="Cambria Math" panose="02040503050406030204" pitchFamily="18" charset="0"/>
                        </a:rPr>
                        <m:t>=</m:t>
                      </m:r>
                      <m:r>
                        <a:rPr lang="en-US" sz="2600" b="0" i="1" smtClean="0">
                          <a:latin typeface="Cambria Math" panose="02040503050406030204" pitchFamily="18" charset="0"/>
                        </a:rPr>
                        <m:t>0</m:t>
                      </m:r>
                      <m:r>
                        <a:rPr lang="en-US" sz="2600" i="1">
                          <a:latin typeface="Cambria Math" panose="02040503050406030204" pitchFamily="18" charset="0"/>
                        </a:rPr>
                        <m:t>.</m:t>
                      </m:r>
                      <m:r>
                        <a:rPr lang="en-US" sz="2600" b="0" i="1" smtClean="0">
                          <a:latin typeface="Cambria Math" panose="02040503050406030204" pitchFamily="18" charset="0"/>
                        </a:rPr>
                        <m:t>33</m:t>
                      </m:r>
                      <m:r>
                        <a:rPr lang="en-US" sz="2600" i="1">
                          <a:latin typeface="Cambria Math" panose="02040503050406030204" pitchFamily="18" charset="0"/>
                        </a:rPr>
                        <m:t>+</m:t>
                      </m:r>
                      <m:r>
                        <a:rPr lang="en-US" sz="2600" b="0" i="1" smtClean="0">
                          <a:latin typeface="Cambria Math" panose="02040503050406030204" pitchFamily="18" charset="0"/>
                        </a:rPr>
                        <m:t>0</m:t>
                      </m:r>
                      <m:r>
                        <a:rPr lang="en-US" sz="2600" i="1">
                          <a:latin typeface="Cambria Math" panose="02040503050406030204" pitchFamily="18" charset="0"/>
                        </a:rPr>
                        <m:t>.</m:t>
                      </m:r>
                      <m:r>
                        <a:rPr lang="en-US" sz="2600" b="0" i="1" smtClean="0">
                          <a:latin typeface="Cambria Math" panose="02040503050406030204" pitchFamily="18" charset="0"/>
                        </a:rPr>
                        <m:t>33</m:t>
                      </m:r>
                      <m:r>
                        <a:rPr lang="en-US" sz="2600" i="1">
                          <a:latin typeface="Cambria Math" panose="02040503050406030204" pitchFamily="18" charset="0"/>
                        </a:rPr>
                        <m:t> </m:t>
                      </m:r>
                      <m:r>
                        <a:rPr lang="en-US" sz="2600" i="1">
                          <a:latin typeface="Cambria Math" panose="02040503050406030204" pitchFamily="18" charset="0"/>
                        </a:rPr>
                        <m:t>𝐴𝑟𝑟𝑒𝑠</m:t>
                      </m:r>
                      <m:sSub>
                        <m:sSubPr>
                          <m:ctrlPr>
                            <a:rPr lang="en-US" sz="2600" i="1">
                              <a:latin typeface="Cambria Math" panose="02040503050406030204" pitchFamily="18" charset="0"/>
                            </a:rPr>
                          </m:ctrlPr>
                        </m:sSubPr>
                        <m:e>
                          <m:r>
                            <a:rPr lang="en-US" sz="2600" i="1">
                              <a:latin typeface="Cambria Math" panose="02040503050406030204" pitchFamily="18" charset="0"/>
                            </a:rPr>
                            <m:t>𝑡</m:t>
                          </m:r>
                        </m:e>
                        <m:sub>
                          <m:r>
                            <a:rPr lang="en-US" sz="2600" i="1">
                              <a:latin typeface="Cambria Math" panose="02040503050406030204" pitchFamily="18" charset="0"/>
                            </a:rPr>
                            <m:t>2020</m:t>
                          </m:r>
                        </m:sub>
                      </m:sSub>
                    </m:oMath>
                  </m:oMathPara>
                </a14:m>
                <a:endParaRPr lang="en-US" sz="2600"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A6F7E11-237D-74C2-3962-1D7645785967}"/>
                  </a:ext>
                </a:extLst>
              </p:cNvPr>
              <p:cNvSpPr>
                <a:spLocks noGrp="1" noRot="1" noChangeAspect="1" noMove="1" noResize="1" noEditPoints="1" noAdjustHandles="1" noChangeArrowheads="1" noChangeShapeType="1" noTextEdit="1"/>
              </p:cNvSpPr>
              <p:nvPr>
                <p:ph idx="1"/>
              </p:nvPr>
            </p:nvSpPr>
            <p:spPr>
              <a:xfrm>
                <a:off x="332360" y="1825625"/>
                <a:ext cx="5505701" cy="4351338"/>
              </a:xfrm>
              <a:blipFill>
                <a:blip r:embed="rId3"/>
                <a:stretch>
                  <a:fillRect l="-1993" t="-2801" r="-14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0B199E-8F1B-4E01-C243-C2B35C7DEC0B}"/>
                  </a:ext>
                </a:extLst>
              </p:cNvPr>
              <p:cNvSpPr txBox="1"/>
              <p:nvPr/>
            </p:nvSpPr>
            <p:spPr>
              <a:xfrm>
                <a:off x="10060711" y="4037172"/>
                <a:ext cx="16296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0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8" name="TextBox 7">
                <a:extLst>
                  <a:ext uri="{FF2B5EF4-FFF2-40B4-BE49-F238E27FC236}">
                    <a16:creationId xmlns:a16="http://schemas.microsoft.com/office/drawing/2014/main" id="{B40B199E-8F1B-4E01-C243-C2B35C7DEC0B}"/>
                  </a:ext>
                </a:extLst>
              </p:cNvPr>
              <p:cNvSpPr txBox="1">
                <a:spLocks noRot="1" noChangeAspect="1" noMove="1" noResize="1" noEditPoints="1" noAdjustHandles="1" noChangeArrowheads="1" noChangeShapeType="1" noTextEdit="1"/>
              </p:cNvSpPr>
              <p:nvPr/>
            </p:nvSpPr>
            <p:spPr>
              <a:xfrm>
                <a:off x="10060711" y="4037172"/>
                <a:ext cx="1629623" cy="461665"/>
              </a:xfrm>
              <a:prstGeom prst="rect">
                <a:avLst/>
              </a:prstGeom>
              <a:blipFill>
                <a:blip r:embed="rId4"/>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BD9E589-B148-BC2F-16C1-E3CE770396EB}"/>
                  </a:ext>
                </a:extLst>
              </p:cNvPr>
              <p:cNvSpPr txBox="1"/>
              <p:nvPr/>
            </p:nvSpPr>
            <p:spPr>
              <a:xfrm>
                <a:off x="7502615" y="4812578"/>
                <a:ext cx="16296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0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9" name="TextBox 8">
                <a:extLst>
                  <a:ext uri="{FF2B5EF4-FFF2-40B4-BE49-F238E27FC236}">
                    <a16:creationId xmlns:a16="http://schemas.microsoft.com/office/drawing/2014/main" id="{9BD9E589-B148-BC2F-16C1-E3CE770396EB}"/>
                  </a:ext>
                </a:extLst>
              </p:cNvPr>
              <p:cNvSpPr txBox="1">
                <a:spLocks noRot="1" noChangeAspect="1" noMove="1" noResize="1" noEditPoints="1" noAdjustHandles="1" noChangeArrowheads="1" noChangeShapeType="1" noTextEdit="1"/>
              </p:cNvSpPr>
              <p:nvPr/>
            </p:nvSpPr>
            <p:spPr>
              <a:xfrm>
                <a:off x="7502615" y="4812578"/>
                <a:ext cx="1629624" cy="461665"/>
              </a:xfrm>
              <a:prstGeom prst="rect">
                <a:avLst/>
              </a:prstGeom>
              <a:blipFill>
                <a:blip r:embed="rId5"/>
                <a:stretch>
                  <a:fillRect l="-375"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7AD96DB-FE34-6E00-0C65-740069007F70}"/>
                  </a:ext>
                </a:extLst>
              </p:cNvPr>
              <p:cNvSpPr txBox="1"/>
              <p:nvPr/>
            </p:nvSpPr>
            <p:spPr>
              <a:xfrm>
                <a:off x="10010333" y="1426600"/>
                <a:ext cx="162962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1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=1</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0" name="TextBox 9">
                <a:extLst>
                  <a:ext uri="{FF2B5EF4-FFF2-40B4-BE49-F238E27FC236}">
                    <a16:creationId xmlns:a16="http://schemas.microsoft.com/office/drawing/2014/main" id="{A7AD96DB-FE34-6E00-0C65-740069007F70}"/>
                  </a:ext>
                </a:extLst>
              </p:cNvPr>
              <p:cNvSpPr txBox="1">
                <a:spLocks noRot="1" noChangeAspect="1" noMove="1" noResize="1" noEditPoints="1" noAdjustHandles="1" noChangeArrowheads="1" noChangeShapeType="1" noTextEdit="1"/>
              </p:cNvSpPr>
              <p:nvPr/>
            </p:nvSpPr>
            <p:spPr>
              <a:xfrm>
                <a:off x="10010333" y="1426600"/>
                <a:ext cx="1629623" cy="461665"/>
              </a:xfrm>
              <a:prstGeom prst="rect">
                <a:avLst/>
              </a:prstGeom>
              <a:blipFill>
                <a:blip r:embed="rId6"/>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8893F2F-C38B-B1D5-FE4A-70785D6E7E35}"/>
                  </a:ext>
                </a:extLst>
              </p:cNvPr>
              <p:cNvSpPr txBox="1"/>
              <p:nvPr/>
            </p:nvSpPr>
            <p:spPr>
              <a:xfrm>
                <a:off x="6721452" y="3370129"/>
                <a:ext cx="162962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rPr>
                  <a:t>Base rate for Race = 1 and </a:t>
                </a:r>
                <a14:m>
                  <m:oMath xmlns:m="http://schemas.openxmlformats.org/officeDocument/2006/math">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𝐴𝑟𝑟𝑒𝑠</m:t>
                    </m:r>
                    <m:sSub>
                      <m:sSubPr>
                        <m:ctrlP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ctrlPr>
                      </m:sSubPr>
                      <m:e>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𝑡</m:t>
                        </m:r>
                      </m:e>
                      <m: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2020</m:t>
                        </m:r>
                      </m:sub>
                    </m:sSub>
                    <m:r>
                      <a:rPr kumimoji="0" lang="en-US" sz="1200" b="0" i="1" u="none" strike="noStrike" kern="1200" cap="none" spc="0" normalizeH="0" baseline="0" noProof="0" smtClean="0">
                        <a:ln>
                          <a:noFill/>
                        </a:ln>
                        <a:solidFill>
                          <a:srgbClr val="00B050"/>
                        </a:solidFill>
                        <a:effectLst/>
                        <a:uLnTx/>
                        <a:uFillTx/>
                        <a:latin typeface="Cambria Math" panose="02040503050406030204" pitchFamily="18" charset="0"/>
                        <a:ea typeface="+mn-ea"/>
                        <a:cs typeface="+mn-cs"/>
                      </a:rPr>
                      <m:t>=0</m:t>
                    </m:r>
                  </m:oMath>
                </a14:m>
                <a:endParaRPr kumimoji="0" lang="en-US" sz="1200" b="0"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mc:Choice>
        <mc:Fallback xmlns="">
          <p:sp>
            <p:nvSpPr>
              <p:cNvPr id="11" name="TextBox 10">
                <a:extLst>
                  <a:ext uri="{FF2B5EF4-FFF2-40B4-BE49-F238E27FC236}">
                    <a16:creationId xmlns:a16="http://schemas.microsoft.com/office/drawing/2014/main" id="{38893F2F-C38B-B1D5-FE4A-70785D6E7E35}"/>
                  </a:ext>
                </a:extLst>
              </p:cNvPr>
              <p:cNvSpPr txBox="1">
                <a:spLocks noRot="1" noChangeAspect="1" noMove="1" noResize="1" noEditPoints="1" noAdjustHandles="1" noChangeArrowheads="1" noChangeShapeType="1" noTextEdit="1"/>
              </p:cNvSpPr>
              <p:nvPr/>
            </p:nvSpPr>
            <p:spPr>
              <a:xfrm>
                <a:off x="6721452" y="3370129"/>
                <a:ext cx="1629624" cy="461665"/>
              </a:xfrm>
              <a:prstGeom prst="rect">
                <a:avLst/>
              </a:prstGeom>
              <a:blipFill>
                <a:blip r:embed="rId7"/>
                <a:stretch>
                  <a:fillRect l="-375" t="-1316" b="-9211"/>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E759D64B-8ABA-317E-DA6C-17D61296FBAA}"/>
              </a:ext>
            </a:extLst>
          </p:cNvPr>
          <p:cNvCxnSpPr/>
          <p:nvPr/>
        </p:nvCxnSpPr>
        <p:spPr>
          <a:xfrm flipH="1">
            <a:off x="6752019" y="5008037"/>
            <a:ext cx="657727" cy="104274"/>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740E372-2949-A263-D2A4-DFB824E8191F}"/>
              </a:ext>
            </a:extLst>
          </p:cNvPr>
          <p:cNvCxnSpPr>
            <a:cxnSpLocks/>
          </p:cNvCxnSpPr>
          <p:nvPr/>
        </p:nvCxnSpPr>
        <p:spPr>
          <a:xfrm flipH="1">
            <a:off x="6721452" y="3822066"/>
            <a:ext cx="535382" cy="657315"/>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6298B63-37B7-D73B-578E-2811DEFE9706}"/>
              </a:ext>
            </a:extLst>
          </p:cNvPr>
          <p:cNvCxnSpPr>
            <a:cxnSpLocks/>
          </p:cNvCxnSpPr>
          <p:nvPr/>
        </p:nvCxnSpPr>
        <p:spPr>
          <a:xfrm flipV="1">
            <a:off x="10864056" y="3464285"/>
            <a:ext cx="564205" cy="489609"/>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06DED0A-C069-70D7-E190-A3DB775C0385}"/>
              </a:ext>
            </a:extLst>
          </p:cNvPr>
          <p:cNvCxnSpPr>
            <a:cxnSpLocks/>
          </p:cNvCxnSpPr>
          <p:nvPr/>
        </p:nvCxnSpPr>
        <p:spPr>
          <a:xfrm>
            <a:off x="10825144" y="1927177"/>
            <a:ext cx="653494" cy="242518"/>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0113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C2AAF-AAB7-4B1E-803B-A9AACC8CA722}"/>
              </a:ext>
            </a:extLst>
          </p:cNvPr>
          <p:cNvSpPr>
            <a:spLocks noGrp="1"/>
          </p:cNvSpPr>
          <p:nvPr>
            <p:ph type="title"/>
          </p:nvPr>
        </p:nvSpPr>
        <p:spPr/>
        <p:txBody>
          <a:bodyPr/>
          <a:lstStyle/>
          <a:p>
            <a:r>
              <a:rPr lang="en-US" dirty="0"/>
              <a:t>Compute Fairness Metrics</a:t>
            </a:r>
          </a:p>
        </p:txBody>
      </p:sp>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54769D3B-F281-49C0-89FD-4F863A340928}"/>
                  </a:ext>
                </a:extLst>
              </p:cNvPr>
              <p:cNvGraphicFramePr>
                <a:graphicFrameLocks noGrp="1"/>
              </p:cNvGraphicFramePr>
              <p:nvPr>
                <p:ph idx="1"/>
              </p:nvPr>
            </p:nvGraphicFramePr>
            <p:xfrm>
              <a:off x="2938412" y="1654139"/>
              <a:ext cx="6801489" cy="2364896"/>
            </p:xfrm>
            <a:graphic>
              <a:graphicData uri="http://schemas.openxmlformats.org/drawingml/2006/table">
                <a:tbl>
                  <a:tblPr firstRow="1" bandRow="1">
                    <a:tableStyleId>{5C22544A-7EE6-4342-B048-85BDC9FD1C3A}</a:tableStyleId>
                  </a:tblPr>
                  <a:tblGrid>
                    <a:gridCol w="3527248">
                      <a:extLst>
                        <a:ext uri="{9D8B030D-6E8A-4147-A177-3AD203B41FA5}">
                          <a16:colId xmlns:a16="http://schemas.microsoft.com/office/drawing/2014/main" val="1012334953"/>
                        </a:ext>
                      </a:extLst>
                    </a:gridCol>
                    <a:gridCol w="1726418">
                      <a:extLst>
                        <a:ext uri="{9D8B030D-6E8A-4147-A177-3AD203B41FA5}">
                          <a16:colId xmlns:a16="http://schemas.microsoft.com/office/drawing/2014/main" val="2350030826"/>
                        </a:ext>
                      </a:extLst>
                    </a:gridCol>
                    <a:gridCol w="1547823">
                      <a:extLst>
                        <a:ext uri="{9D8B030D-6E8A-4147-A177-3AD203B41FA5}">
                          <a16:colId xmlns:a16="http://schemas.microsoft.com/office/drawing/2014/main" val="2557411613"/>
                        </a:ext>
                      </a:extLst>
                    </a:gridCol>
                  </a:tblGrid>
                  <a:tr h="37675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1200" dirty="0">
                              <a:solidFill>
                                <a:schemeClr val="tx1"/>
                              </a:solidFill>
                            </a:rPr>
                            <a:t>Calibration</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hMerge="1">
                      <a:txBody>
                        <a:bodyPr/>
                        <a:lstStyle/>
                        <a:p>
                          <a:pPr algn="ctr"/>
                          <a:endParaRPr lang="en-US" sz="1200" dirty="0">
                            <a:solidFill>
                              <a:schemeClr val="tx1"/>
                            </a:solidFill>
                          </a:endParaRPr>
                        </a:p>
                      </a:txBody>
                      <a:tcPr anchor="ctr">
                        <a:solidFill>
                          <a:srgbClr val="F6E0ED"/>
                        </a:solidFill>
                      </a:tcPr>
                    </a:tc>
                    <a:extLst>
                      <a:ext uri="{0D108BD9-81ED-4DB2-BD59-A6C34878D82A}">
                        <a16:rowId xmlns:a16="http://schemas.microsoft.com/office/drawing/2014/main" val="1935989576"/>
                      </a:ext>
                    </a:extLst>
                  </a:tr>
                  <a:tr h="363918">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1200" b="0" i="1" dirty="0" smtClean="0">
                                        <a:solidFill>
                                          <a:schemeClr val="tx1"/>
                                        </a:solidFill>
                                        <a:latin typeface="Cambria Math" panose="02040503050406030204" pitchFamily="18" charset="0"/>
                                      </a:rPr>
                                    </m:ctrlPr>
                                  </m:accPr>
                                  <m:e>
                                    <m:r>
                                      <a:rPr lang="en-US" sz="1200" b="0" i="1" dirty="0" smtClean="0">
                                        <a:solidFill>
                                          <a:schemeClr val="tx1"/>
                                        </a:solidFill>
                                        <a:latin typeface="Cambria Math" panose="02040503050406030204" pitchFamily="18" charset="0"/>
                                      </a:rPr>
                                      <m:t>𝑃</m:t>
                                    </m:r>
                                  </m:e>
                                </m:acc>
                                <m:d>
                                  <m:dPr>
                                    <m:ctrlPr>
                                      <a:rPr lang="en-US" sz="1200" b="0" i="1" dirty="0" smtClean="0">
                                        <a:solidFill>
                                          <a:schemeClr val="tx1"/>
                                        </a:solidFill>
                                        <a:latin typeface="Cambria Math" panose="02040503050406030204" pitchFamily="18" charset="0"/>
                                      </a:rPr>
                                    </m:ctrlPr>
                                  </m:dPr>
                                  <m:e>
                                    <m:r>
                                      <a:rPr lang="en-US" sz="1200" b="0" i="1" dirty="0" smtClean="0">
                                        <a:solidFill>
                                          <a:schemeClr val="tx1"/>
                                        </a:solidFill>
                                        <a:latin typeface="Cambria Math" panose="02040503050406030204" pitchFamily="18" charset="0"/>
                                      </a:rPr>
                                      <m:t>𝑎𝑟𝑟𝑒𝑠</m:t>
                                    </m:r>
                                    <m:sSub>
                                      <m:sSubPr>
                                        <m:ctrlPr>
                                          <a:rPr lang="en-US" sz="1200" b="0" i="1" dirty="0" smtClean="0">
                                            <a:solidFill>
                                              <a:schemeClr val="tx1"/>
                                            </a:solidFill>
                                            <a:latin typeface="Cambria Math" panose="02040503050406030204" pitchFamily="18" charset="0"/>
                                          </a:rPr>
                                        </m:ctrlPr>
                                      </m:sSubPr>
                                      <m:e>
                                        <m:r>
                                          <a:rPr lang="en-US" sz="1200" b="0" i="1" dirty="0" smtClean="0">
                                            <a:solidFill>
                                              <a:schemeClr val="tx1"/>
                                            </a:solidFill>
                                            <a:latin typeface="Cambria Math" panose="02040503050406030204" pitchFamily="18" charset="0"/>
                                          </a:rPr>
                                          <m:t>𝑡</m:t>
                                        </m:r>
                                      </m:e>
                                      <m:sub>
                                        <m:r>
                                          <a:rPr lang="en-US" sz="1200" b="0" i="1" dirty="0" smtClean="0">
                                            <a:solidFill>
                                              <a:schemeClr val="tx1"/>
                                            </a:solidFill>
                                            <a:latin typeface="Cambria Math" panose="02040503050406030204" pitchFamily="18" charset="0"/>
                                          </a:rPr>
                                          <m:t>2021</m:t>
                                        </m:r>
                                      </m:sub>
                                    </m:sSub>
                                  </m:e>
                                </m:d>
                              </m:oMath>
                            </m:oMathPara>
                          </a14:m>
                          <a:endParaRPr lang="en-US" sz="1200" dirty="0">
                            <a:solidFill>
                              <a:schemeClr val="tx1"/>
                            </a:solidFill>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solidFill>
                                      <a:schemeClr val="tx1"/>
                                    </a:solidFill>
                                    <a:latin typeface="Cambria Math" panose="02040503050406030204" pitchFamily="18" charset="0"/>
                                  </a:rPr>
                                  <m:t>𝑃</m:t>
                                </m:r>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𝑎𝑟𝑟𝑒𝑠</m:t>
                                    </m:r>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𝑡</m:t>
                                        </m:r>
                                      </m:e>
                                      <m:sub>
                                        <m:r>
                                          <a:rPr lang="en-US" sz="1200" b="0" i="1" smtClean="0">
                                            <a:solidFill>
                                              <a:schemeClr val="tx1"/>
                                            </a:solidFill>
                                            <a:latin typeface="Cambria Math" panose="02040503050406030204" pitchFamily="18" charset="0"/>
                                          </a:rPr>
                                          <m:t>2021</m:t>
                                        </m:r>
                                      </m:sub>
                                    </m:sSub>
                                  </m:e>
                                </m:d>
                              </m:oMath>
                            </m:oMathPara>
                          </a14:m>
                          <a:endParaRPr lang="en-US" sz="1200" dirty="0">
                            <a:solidFill>
                              <a:schemeClr val="tx1"/>
                            </a:solidFill>
                          </a:endParaRP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956029341"/>
                      </a:ext>
                    </a:extLst>
                  </a:tr>
                  <a:tr h="434908">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2</m:t>
                                </m:r>
                                <m:r>
                                  <a:rPr lang="en-US" b="0" i="1" dirty="0" smtClean="0">
                                    <a:latin typeface="Cambria Math" panose="02040503050406030204" pitchFamily="18" charset="0"/>
                                  </a:rPr>
                                  <m:t>5</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25%</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259073668"/>
                      </a:ext>
                    </a:extLst>
                  </a:tr>
                  <a:tr h="3958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3</m:t>
                                </m:r>
                                <m:r>
                                  <a:rPr lang="en-US" b="0" i="1" dirty="0" smtClean="0">
                                    <a:latin typeface="Cambria Math" panose="02040503050406030204" pitchFamily="18" charset="0"/>
                                  </a:rPr>
                                  <m:t>3</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33%</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243017269"/>
                      </a:ext>
                    </a:extLst>
                  </a:tr>
                  <a:tr h="395826">
                    <a:tc>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5</m:t>
                                </m:r>
                                <m:r>
                                  <a:rPr lang="en-US" b="0" i="1" dirty="0" smtClean="0">
                                    <a:latin typeface="Cambria Math" panose="02040503050406030204" pitchFamily="18" charset="0"/>
                                  </a:rPr>
                                  <m:t>0</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50%</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450916872"/>
                      </a:ext>
                    </a:extLst>
                  </a:tr>
                  <a:tr h="3958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 </m:t>
                                </m:r>
                                <m:r>
                                  <a:rPr lang="en-US" sz="1800" b="0" i="1" smtClean="0">
                                    <a:latin typeface="Cambria Math" panose="02040503050406030204" pitchFamily="18" charset="0"/>
                                  </a:rPr>
                                  <m:t>𝑎𝑟𝑟𝑒𝑠𝑡</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6</m:t>
                                </m:r>
                                <m:r>
                                  <a:rPr lang="en-US" b="0" i="1" dirty="0" smtClean="0">
                                    <a:latin typeface="Cambria Math" panose="02040503050406030204" pitchFamily="18" charset="0"/>
                                  </a:rPr>
                                  <m:t>7</m:t>
                                </m:r>
                                <m:r>
                                  <a:rPr lang="en-US" i="1" dirty="0" smtClean="0">
                                    <a:latin typeface="Cambria Math" panose="02040503050406030204" pitchFamily="18" charset="0"/>
                                  </a:rPr>
                                  <m:t>%</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67%</m:t>
                                </m:r>
                              </m:oMath>
                            </m:oMathPara>
                          </a14:m>
                          <a:endParaRPr lang="en-US"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70459642"/>
                      </a:ext>
                    </a:extLst>
                  </a:tr>
                </a:tbl>
              </a:graphicData>
            </a:graphic>
          </p:graphicFrame>
        </mc:Choice>
        <mc:Fallback xmlns="">
          <p:graphicFrame>
            <p:nvGraphicFramePr>
              <p:cNvPr id="4" name="Table 4">
                <a:extLst>
                  <a:ext uri="{FF2B5EF4-FFF2-40B4-BE49-F238E27FC236}">
                    <a16:creationId xmlns:a16="http://schemas.microsoft.com/office/drawing/2014/main" id="{54769D3B-F281-49C0-89FD-4F863A340928}"/>
                  </a:ext>
                </a:extLst>
              </p:cNvPr>
              <p:cNvGraphicFramePr>
                <a:graphicFrameLocks noGrp="1"/>
              </p:cNvGraphicFramePr>
              <p:nvPr>
                <p:ph idx="1"/>
                <p:extLst>
                  <p:ext uri="{D42A27DB-BD31-4B8C-83A1-F6EECF244321}">
                    <p14:modId xmlns:p14="http://schemas.microsoft.com/office/powerpoint/2010/main" val="3091112612"/>
                  </p:ext>
                </p:extLst>
              </p:nvPr>
            </p:nvGraphicFramePr>
            <p:xfrm>
              <a:off x="2938412" y="1654139"/>
              <a:ext cx="6801489" cy="2364896"/>
            </p:xfrm>
            <a:graphic>
              <a:graphicData uri="http://schemas.openxmlformats.org/drawingml/2006/table">
                <a:tbl>
                  <a:tblPr firstRow="1" bandRow="1">
                    <a:tableStyleId>{5C22544A-7EE6-4342-B048-85BDC9FD1C3A}</a:tableStyleId>
                  </a:tblPr>
                  <a:tblGrid>
                    <a:gridCol w="3527248">
                      <a:extLst>
                        <a:ext uri="{9D8B030D-6E8A-4147-A177-3AD203B41FA5}">
                          <a16:colId xmlns:a16="http://schemas.microsoft.com/office/drawing/2014/main" val="1012334953"/>
                        </a:ext>
                      </a:extLst>
                    </a:gridCol>
                    <a:gridCol w="1726418">
                      <a:extLst>
                        <a:ext uri="{9D8B030D-6E8A-4147-A177-3AD203B41FA5}">
                          <a16:colId xmlns:a16="http://schemas.microsoft.com/office/drawing/2014/main" val="2350030826"/>
                        </a:ext>
                      </a:extLst>
                    </a:gridCol>
                    <a:gridCol w="1547823">
                      <a:extLst>
                        <a:ext uri="{9D8B030D-6E8A-4147-A177-3AD203B41FA5}">
                          <a16:colId xmlns:a16="http://schemas.microsoft.com/office/drawing/2014/main" val="2557411613"/>
                        </a:ext>
                      </a:extLst>
                    </a:gridCol>
                  </a:tblGrid>
                  <a:tr h="37675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1200" dirty="0">
                              <a:solidFill>
                                <a:schemeClr val="tx1"/>
                              </a:solidFill>
                            </a:rPr>
                            <a:t>Calibration</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hMerge="1">
                      <a:txBody>
                        <a:bodyPr/>
                        <a:lstStyle/>
                        <a:p>
                          <a:pPr algn="ctr"/>
                          <a:endParaRPr lang="en-US" sz="1200" dirty="0">
                            <a:solidFill>
                              <a:schemeClr val="tx1"/>
                            </a:solidFill>
                          </a:endParaRPr>
                        </a:p>
                      </a:txBody>
                      <a:tcPr anchor="ctr">
                        <a:solidFill>
                          <a:srgbClr val="F6E0ED"/>
                        </a:solidFill>
                      </a:tcPr>
                    </a:tc>
                    <a:extLst>
                      <a:ext uri="{0D108BD9-81ED-4DB2-BD59-A6C34878D82A}">
                        <a16:rowId xmlns:a16="http://schemas.microsoft.com/office/drawing/2014/main" val="1935989576"/>
                      </a:ext>
                    </a:extLst>
                  </a:tr>
                  <a:tr h="365760">
                    <a:tc>
                      <a:txBody>
                        <a:bodyPr/>
                        <a:lstStyle/>
                        <a:p>
                          <a:pPr algn="ctr"/>
                          <a:endParaRPr lang="en-US"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105000" r="-90459" b="-448333"/>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105000" r="-787" b="-448333"/>
                          </a:stretch>
                        </a:blipFill>
                      </a:tcPr>
                    </a:tc>
                    <a:extLst>
                      <a:ext uri="{0D108BD9-81ED-4DB2-BD59-A6C34878D82A}">
                        <a16:rowId xmlns:a16="http://schemas.microsoft.com/office/drawing/2014/main" val="1956029341"/>
                      </a:ext>
                    </a:extLst>
                  </a:tr>
                  <a:tr h="434908">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170833" r="-93092" b="-273611"/>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170833" r="-90459" b="-273611"/>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170833" r="-787" b="-273611"/>
                          </a:stretch>
                        </a:blipFill>
                      </a:tcPr>
                    </a:tc>
                    <a:extLst>
                      <a:ext uri="{0D108BD9-81ED-4DB2-BD59-A6C34878D82A}">
                        <a16:rowId xmlns:a16="http://schemas.microsoft.com/office/drawing/2014/main" val="4259073668"/>
                      </a:ext>
                    </a:extLst>
                  </a:tr>
                  <a:tr h="395826">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300000" r="-93092" b="-20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300000" r="-90459" b="-20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300000" r="-787" b="-203077"/>
                          </a:stretch>
                        </a:blipFill>
                      </a:tcPr>
                    </a:tc>
                    <a:extLst>
                      <a:ext uri="{0D108BD9-81ED-4DB2-BD59-A6C34878D82A}">
                        <a16:rowId xmlns:a16="http://schemas.microsoft.com/office/drawing/2014/main" val="4243017269"/>
                      </a:ext>
                    </a:extLst>
                  </a:tr>
                  <a:tr h="395826">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400000" r="-93092" b="-10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400000" r="-90459" b="-10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400000" r="-787" b="-103077"/>
                          </a:stretch>
                        </a:blipFill>
                      </a:tcPr>
                    </a:tc>
                    <a:extLst>
                      <a:ext uri="{0D108BD9-81ED-4DB2-BD59-A6C34878D82A}">
                        <a16:rowId xmlns:a16="http://schemas.microsoft.com/office/drawing/2014/main" val="3450916872"/>
                      </a:ext>
                    </a:extLst>
                  </a:tr>
                  <a:tr h="395826">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5" t="-500000" r="-93092" b="-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205300" t="-500000" r="-90459" b="-3077"/>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2"/>
                          <a:stretch>
                            <a:fillRect l="-340157" t="-500000" r="-787" b="-3077"/>
                          </a:stretch>
                        </a:blipFill>
                      </a:tcPr>
                    </a:tc>
                    <a:extLst>
                      <a:ext uri="{0D108BD9-81ED-4DB2-BD59-A6C34878D82A}">
                        <a16:rowId xmlns:a16="http://schemas.microsoft.com/office/drawing/2014/main" val="47045964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B47B38B-F0AC-49D7-896D-6D11A210AA58}"/>
                  </a:ext>
                </a:extLst>
              </p:cNvPr>
              <p:cNvGraphicFramePr>
                <a:graphicFrameLocks noGrp="1"/>
              </p:cNvGraphicFramePr>
              <p:nvPr/>
            </p:nvGraphicFramePr>
            <p:xfrm>
              <a:off x="2938412" y="4345967"/>
              <a:ext cx="6801489" cy="2346770"/>
            </p:xfrm>
            <a:graphic>
              <a:graphicData uri="http://schemas.openxmlformats.org/drawingml/2006/table">
                <a:tbl>
                  <a:tblPr firstRow="1" bandRow="1">
                    <a:tableStyleId>{5C22544A-7EE6-4342-B048-85BDC9FD1C3A}</a:tableStyleId>
                  </a:tblPr>
                  <a:tblGrid>
                    <a:gridCol w="2267163">
                      <a:extLst>
                        <a:ext uri="{9D8B030D-6E8A-4147-A177-3AD203B41FA5}">
                          <a16:colId xmlns:a16="http://schemas.microsoft.com/office/drawing/2014/main" val="2888137969"/>
                        </a:ext>
                      </a:extLst>
                    </a:gridCol>
                    <a:gridCol w="2267163">
                      <a:extLst>
                        <a:ext uri="{9D8B030D-6E8A-4147-A177-3AD203B41FA5}">
                          <a16:colId xmlns:a16="http://schemas.microsoft.com/office/drawing/2014/main" val="2174007504"/>
                        </a:ext>
                      </a:extLst>
                    </a:gridCol>
                    <a:gridCol w="2267163">
                      <a:extLst>
                        <a:ext uri="{9D8B030D-6E8A-4147-A177-3AD203B41FA5}">
                          <a16:colId xmlns:a16="http://schemas.microsoft.com/office/drawing/2014/main" val="4163449276"/>
                        </a:ext>
                      </a:extLst>
                    </a:gridCol>
                  </a:tblGrid>
                  <a:tr h="546371">
                    <a:tc>
                      <a:txBody>
                        <a:bodyPr/>
                        <a:lstStyle/>
                        <a:p>
                          <a:pPr algn="ctr"/>
                          <a:endParaRPr lang="en-US" sz="1800" dirty="0">
                            <a:solidFill>
                              <a:schemeClr val="tx1"/>
                            </a:solidFill>
                          </a:endParaRPr>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Balance for 0s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solidFill>
                                <a:schemeClr val="tx1"/>
                              </a:solidFill>
                            </a:rPr>
                            <a:t>Balance for 1s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748957605"/>
                      </a:ext>
                    </a:extLst>
                  </a:tr>
                  <a:tr h="546371">
                    <a:tc>
                      <a:txBody>
                        <a:bodyPr/>
                        <a:lstStyle/>
                        <a:p>
                          <a:pPr algn="ctr"/>
                          <a:endParaRPr lang="en-US" sz="1800"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t>Average </a:t>
                          </a:r>
                        </a:p>
                        <a:p>
                          <a:pPr algn="ctr"/>
                          <a14:m>
                            <m:oMathPara xmlns:m="http://schemas.openxmlformats.org/officeDocument/2006/math">
                              <m:oMathParaPr>
                                <m:jc m:val="centerGroup"/>
                              </m:oMathParaPr>
                              <m:oMath xmlns:m="http://schemas.openxmlformats.org/officeDocument/2006/math">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𝑃</m:t>
                                    </m:r>
                                  </m:e>
                                </m:acc>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t>Average </a:t>
                          </a:r>
                        </a:p>
                        <a:p>
                          <a:pPr algn="ctr"/>
                          <a14:m>
                            <m:oMathPara xmlns:m="http://schemas.openxmlformats.org/officeDocument/2006/math">
                              <m:oMathParaPr>
                                <m:jc m:val="centerGroup"/>
                              </m:oMathParaPr>
                              <m:oMath xmlns:m="http://schemas.openxmlformats.org/officeDocument/2006/math">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𝑃</m:t>
                                    </m:r>
                                  </m:e>
                                </m:acc>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m:t>
                                </m:r>
                                <m:r>
                                  <a:rPr lang="en-US" sz="1200" b="0" i="1" smtClean="0">
                                    <a:latin typeface="Cambria Math" panose="02040503050406030204" pitchFamily="18" charset="0"/>
                                  </a:rPr>
                                  <m:t>𝑎𝑟𝑟𝑒𝑠</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𝑡</m:t>
                                    </m:r>
                                  </m:e>
                                  <m:sub>
                                    <m:r>
                                      <a:rPr lang="en-US" sz="1200" b="0" i="1" smtClean="0">
                                        <a:latin typeface="Cambria Math" panose="02040503050406030204" pitchFamily="18" charset="0"/>
                                      </a:rPr>
                                      <m:t>2021</m:t>
                                    </m:r>
                                  </m:sub>
                                </m:sSub>
                                <m:r>
                                  <a:rPr lang="en-US" sz="12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45909457"/>
                      </a:ext>
                    </a:extLst>
                  </a:tr>
                  <a:tr h="623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=0</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31%</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38%</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09429038"/>
                      </a:ext>
                    </a:extLst>
                  </a:tr>
                  <a:tr h="623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𝑟𝑎𝑐𝑒</m:t>
                                </m:r>
                                <m:r>
                                  <a:rPr lang="en-US" sz="1800" b="0" i="1" smtClean="0">
                                    <a:latin typeface="Cambria Math" panose="02040503050406030204" pitchFamily="18" charset="0"/>
                                  </a:rPr>
                                  <m:t>=1</m:t>
                                </m:r>
                              </m:oMath>
                            </m:oMathPara>
                          </a14:m>
                          <a:endParaRPr lang="en-US" sz="1800" dirty="0"/>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44%</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56%</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251777355"/>
                      </a:ext>
                    </a:extLst>
                  </a:tr>
                </a:tbl>
              </a:graphicData>
            </a:graphic>
          </p:graphicFrame>
        </mc:Choice>
        <mc:Fallback xmlns="">
          <p:graphicFrame>
            <p:nvGraphicFramePr>
              <p:cNvPr id="6" name="Table 5">
                <a:extLst>
                  <a:ext uri="{FF2B5EF4-FFF2-40B4-BE49-F238E27FC236}">
                    <a16:creationId xmlns:a16="http://schemas.microsoft.com/office/drawing/2014/main" id="{EB47B38B-F0AC-49D7-896D-6D11A210AA58}"/>
                  </a:ext>
                </a:extLst>
              </p:cNvPr>
              <p:cNvGraphicFramePr>
                <a:graphicFrameLocks noGrp="1"/>
              </p:cNvGraphicFramePr>
              <p:nvPr>
                <p:extLst>
                  <p:ext uri="{D42A27DB-BD31-4B8C-83A1-F6EECF244321}">
                    <p14:modId xmlns:p14="http://schemas.microsoft.com/office/powerpoint/2010/main" val="2696645448"/>
                  </p:ext>
                </p:extLst>
              </p:nvPr>
            </p:nvGraphicFramePr>
            <p:xfrm>
              <a:off x="2938412" y="4345967"/>
              <a:ext cx="6801489" cy="2346770"/>
            </p:xfrm>
            <a:graphic>
              <a:graphicData uri="http://schemas.openxmlformats.org/drawingml/2006/table">
                <a:tbl>
                  <a:tblPr firstRow="1" bandRow="1">
                    <a:tableStyleId>{5C22544A-7EE6-4342-B048-85BDC9FD1C3A}</a:tableStyleId>
                  </a:tblPr>
                  <a:tblGrid>
                    <a:gridCol w="2267163">
                      <a:extLst>
                        <a:ext uri="{9D8B030D-6E8A-4147-A177-3AD203B41FA5}">
                          <a16:colId xmlns:a16="http://schemas.microsoft.com/office/drawing/2014/main" val="2888137969"/>
                        </a:ext>
                      </a:extLst>
                    </a:gridCol>
                    <a:gridCol w="2267163">
                      <a:extLst>
                        <a:ext uri="{9D8B030D-6E8A-4147-A177-3AD203B41FA5}">
                          <a16:colId xmlns:a16="http://schemas.microsoft.com/office/drawing/2014/main" val="2174007504"/>
                        </a:ext>
                      </a:extLst>
                    </a:gridCol>
                    <a:gridCol w="2267163">
                      <a:extLst>
                        <a:ext uri="{9D8B030D-6E8A-4147-A177-3AD203B41FA5}">
                          <a16:colId xmlns:a16="http://schemas.microsoft.com/office/drawing/2014/main" val="4163449276"/>
                        </a:ext>
                      </a:extLst>
                    </a:gridCol>
                  </a:tblGrid>
                  <a:tr h="546371">
                    <a:tc>
                      <a:txBody>
                        <a:bodyPr/>
                        <a:lstStyle/>
                        <a:p>
                          <a:pPr algn="ctr"/>
                          <a:endParaRPr lang="en-US" sz="1800" dirty="0">
                            <a:solidFill>
                              <a:schemeClr val="tx1"/>
                            </a:solidFill>
                          </a:endParaRPr>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Balance for 0s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tc>
                      <a:txBody>
                        <a:bodyPr/>
                        <a:lstStyle/>
                        <a:p>
                          <a:pPr algn="ctr"/>
                          <a:r>
                            <a:rPr lang="en-US" sz="1800" dirty="0">
                              <a:solidFill>
                                <a:schemeClr val="tx1"/>
                              </a:solidFill>
                            </a:rPr>
                            <a:t>Balance for 1s</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rgbClr val="F6E0ED"/>
                        </a:solidFill>
                      </a:tcPr>
                    </a:tc>
                    <a:extLst>
                      <a:ext uri="{0D108BD9-81ED-4DB2-BD59-A6C34878D82A}">
                        <a16:rowId xmlns:a16="http://schemas.microsoft.com/office/drawing/2014/main" val="1748957605"/>
                      </a:ext>
                    </a:extLst>
                  </a:tr>
                  <a:tr h="553593">
                    <a:tc>
                      <a:txBody>
                        <a:bodyPr/>
                        <a:lstStyle/>
                        <a:p>
                          <a:pPr algn="ctr"/>
                          <a:endParaRPr lang="en-US" sz="1800" dirty="0"/>
                        </a:p>
                      </a:txBody>
                      <a:tcPr anchor="ctr">
                        <a:lnL w="12700" cap="flat" cmpd="sng" algn="ctr">
                          <a:noFill/>
                          <a:prstDash val="dash"/>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noFill/>
                          <a:prstDash val="dash"/>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100538" t="-100000" r="-100538" b="-227473"/>
                          </a:stretch>
                        </a:blipFill>
                      </a:tcPr>
                    </a:tc>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200538" t="-100000" r="-538" b="-227473"/>
                          </a:stretch>
                        </a:blipFill>
                      </a:tcPr>
                    </a:tc>
                    <a:extLst>
                      <a:ext uri="{0D108BD9-81ED-4DB2-BD59-A6C34878D82A}">
                        <a16:rowId xmlns:a16="http://schemas.microsoft.com/office/drawing/2014/main" val="45909457"/>
                      </a:ext>
                    </a:extLst>
                  </a:tr>
                  <a:tr h="623403">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38" t="-178431" r="-200538" b="-102941"/>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31%</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38%</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09429038"/>
                      </a:ext>
                    </a:extLst>
                  </a:tr>
                  <a:tr h="623403">
                    <a:tc>
                      <a:txBody>
                        <a:bodyPr/>
                        <a:lstStyle/>
                        <a:p>
                          <a:endParaRPr lang="en-US"/>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3"/>
                          <a:stretch>
                            <a:fillRect l="-538" t="-275728" r="-200538" b="-1942"/>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44%</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56%</a:t>
                          </a:r>
                        </a:p>
                      </a:txBody>
                      <a:tcPr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251777355"/>
                      </a:ext>
                    </a:extLst>
                  </a:tr>
                </a:tbl>
              </a:graphicData>
            </a:graphic>
          </p:graphicFrame>
        </mc:Fallback>
      </mc:AlternateContent>
    </p:spTree>
    <p:extLst>
      <p:ext uri="{BB962C8B-B14F-4D97-AF65-F5344CB8AC3E}">
        <p14:creationId xmlns:p14="http://schemas.microsoft.com/office/powerpoint/2010/main" val="4552424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A6DDA4-789B-4A89-AF5F-D0AA4EE495DB}"/>
              </a:ext>
            </a:extLst>
          </p:cNvPr>
          <p:cNvPicPr>
            <a:picLocks noChangeAspect="1"/>
          </p:cNvPicPr>
          <p:nvPr/>
        </p:nvPicPr>
        <p:blipFill>
          <a:blip r:embed="rId2"/>
          <a:stretch>
            <a:fillRect/>
          </a:stretch>
        </p:blipFill>
        <p:spPr>
          <a:xfrm>
            <a:off x="5567040" y="0"/>
            <a:ext cx="6629400" cy="6858000"/>
          </a:xfrm>
          <a:prstGeom prst="rect">
            <a:avLst/>
          </a:prstGeom>
        </p:spPr>
      </p:pic>
      <p:sp>
        <p:nvSpPr>
          <p:cNvPr id="2" name="Title 1">
            <a:extLst>
              <a:ext uri="{FF2B5EF4-FFF2-40B4-BE49-F238E27FC236}">
                <a16:creationId xmlns:a16="http://schemas.microsoft.com/office/drawing/2014/main" id="{F2CB3726-552B-4AE1-8E5A-4FAE705E86CF}"/>
              </a:ext>
            </a:extLst>
          </p:cNvPr>
          <p:cNvSpPr>
            <a:spLocks noGrp="1"/>
          </p:cNvSpPr>
          <p:nvPr>
            <p:ph type="title"/>
          </p:nvPr>
        </p:nvSpPr>
        <p:spPr>
          <a:xfrm>
            <a:off x="838200" y="365125"/>
            <a:ext cx="4955771" cy="1325563"/>
          </a:xfrm>
        </p:spPr>
        <p:txBody>
          <a:bodyPr>
            <a:normAutofit/>
          </a:bodyPr>
          <a:lstStyle/>
          <a:p>
            <a:r>
              <a:rPr lang="en-US" sz="3600" dirty="0"/>
              <a:t>Calibration/PPV Balance</a:t>
            </a:r>
          </a:p>
        </p:txBody>
      </p:sp>
      <p:sp>
        <p:nvSpPr>
          <p:cNvPr id="3" name="Content Placeholder 2">
            <a:extLst>
              <a:ext uri="{FF2B5EF4-FFF2-40B4-BE49-F238E27FC236}">
                <a16:creationId xmlns:a16="http://schemas.microsoft.com/office/drawing/2014/main" id="{CDC7C34F-3D6E-4EB6-874C-E1404831096A}"/>
              </a:ext>
            </a:extLst>
          </p:cNvPr>
          <p:cNvSpPr>
            <a:spLocks noGrp="1"/>
          </p:cNvSpPr>
          <p:nvPr>
            <p:ph idx="1"/>
          </p:nvPr>
        </p:nvSpPr>
        <p:spPr>
          <a:xfrm>
            <a:off x="838200" y="1825625"/>
            <a:ext cx="4565073" cy="4351338"/>
          </a:xfrm>
        </p:spPr>
        <p:txBody>
          <a:bodyPr/>
          <a:lstStyle/>
          <a:p>
            <a:r>
              <a:rPr lang="en-US" dirty="0"/>
              <a:t>Improves with more features. </a:t>
            </a:r>
          </a:p>
          <a:p>
            <a:endParaRPr lang="en-US" dirty="0"/>
          </a:p>
          <a:p>
            <a:pPr marL="0" indent="0">
              <a:buNone/>
            </a:pPr>
            <a:endParaRPr lang="en-US" dirty="0"/>
          </a:p>
          <a:p>
            <a:endParaRPr lang="en-US" dirty="0"/>
          </a:p>
          <a:p>
            <a:endParaRPr lang="en-US" dirty="0"/>
          </a:p>
          <a:p>
            <a:endParaRPr lang="en-US" dirty="0"/>
          </a:p>
        </p:txBody>
      </p:sp>
      <p:sp>
        <p:nvSpPr>
          <p:cNvPr id="4" name="AutoShape 2">
            <a:extLst>
              <a:ext uri="{FF2B5EF4-FFF2-40B4-BE49-F238E27FC236}">
                <a16:creationId xmlns:a16="http://schemas.microsoft.com/office/drawing/2014/main" id="{5E85551D-74A7-4939-9F0C-6F2D74B2F5E0}"/>
              </a:ext>
            </a:extLst>
          </p:cNvPr>
          <p:cNvSpPr>
            <a:spLocks noChangeAspect="1" noChangeArrowheads="1"/>
          </p:cNvSpPr>
          <p:nvPr/>
        </p:nvSpPr>
        <p:spPr bwMode="auto">
          <a:xfrm>
            <a:off x="5872537" y="3205537"/>
            <a:ext cx="375863" cy="3758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8453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75EFF-A8D7-4B1B-BDAA-A2C0FDB4F886}"/>
              </a:ext>
            </a:extLst>
          </p:cNvPr>
          <p:cNvSpPr>
            <a:spLocks noGrp="1"/>
          </p:cNvSpPr>
          <p:nvPr>
            <p:ph type="title"/>
          </p:nvPr>
        </p:nvSpPr>
        <p:spPr/>
        <p:txBody>
          <a:bodyPr/>
          <a:lstStyle/>
          <a:p>
            <a:r>
              <a:rPr lang="en-US" dirty="0"/>
              <a:t>Error Rates</a:t>
            </a:r>
          </a:p>
        </p:txBody>
      </p:sp>
      <p:sp>
        <p:nvSpPr>
          <p:cNvPr id="3" name="Content Placeholder 2">
            <a:extLst>
              <a:ext uri="{FF2B5EF4-FFF2-40B4-BE49-F238E27FC236}">
                <a16:creationId xmlns:a16="http://schemas.microsoft.com/office/drawing/2014/main" id="{18406BD6-062B-4426-B430-FFA8F35725F2}"/>
              </a:ext>
            </a:extLst>
          </p:cNvPr>
          <p:cNvSpPr>
            <a:spLocks noGrp="1"/>
          </p:cNvSpPr>
          <p:nvPr>
            <p:ph idx="1"/>
          </p:nvPr>
        </p:nvSpPr>
        <p:spPr/>
        <p:txBody>
          <a:bodyPr/>
          <a:lstStyle/>
          <a:p>
            <a:r>
              <a:rPr lang="en-US" dirty="0"/>
              <a:t>Degrade with more features</a:t>
            </a:r>
          </a:p>
        </p:txBody>
      </p:sp>
      <p:pic>
        <p:nvPicPr>
          <p:cNvPr id="7" name="Picture 6">
            <a:extLst>
              <a:ext uri="{FF2B5EF4-FFF2-40B4-BE49-F238E27FC236}">
                <a16:creationId xmlns:a16="http://schemas.microsoft.com/office/drawing/2014/main" id="{AEA0B210-37B7-4897-95A0-23CF3BC999FA}"/>
              </a:ext>
            </a:extLst>
          </p:cNvPr>
          <p:cNvPicPr>
            <a:picLocks noChangeAspect="1"/>
          </p:cNvPicPr>
          <p:nvPr/>
        </p:nvPicPr>
        <p:blipFill>
          <a:blip r:embed="rId2"/>
          <a:stretch>
            <a:fillRect/>
          </a:stretch>
        </p:blipFill>
        <p:spPr>
          <a:xfrm>
            <a:off x="6520482" y="0"/>
            <a:ext cx="5389275" cy="6858000"/>
          </a:xfrm>
          <a:prstGeom prst="rect">
            <a:avLst/>
          </a:prstGeom>
        </p:spPr>
      </p:pic>
    </p:spTree>
    <p:extLst>
      <p:ext uri="{BB962C8B-B14F-4D97-AF65-F5344CB8AC3E}">
        <p14:creationId xmlns:p14="http://schemas.microsoft.com/office/powerpoint/2010/main" val="2056497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AEA00-9175-479B-BC02-FB97A0699730}"/>
              </a:ext>
            </a:extLst>
          </p:cNvPr>
          <p:cNvSpPr>
            <a:spLocks noGrp="1"/>
          </p:cNvSpPr>
          <p:nvPr>
            <p:ph type="title"/>
          </p:nvPr>
        </p:nvSpPr>
        <p:spPr/>
        <p:txBody>
          <a:bodyPr/>
          <a:lstStyle/>
          <a:p>
            <a:r>
              <a:rPr lang="en-US" dirty="0"/>
              <a:t>What Explains This Pattern?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1B4603-0201-4B6E-9ACB-3E762039BB99}"/>
                  </a:ext>
                </a:extLst>
              </p:cNvPr>
              <p:cNvSpPr>
                <a:spLocks noGrp="1"/>
              </p:cNvSpPr>
              <p:nvPr>
                <p:ph idx="1"/>
              </p:nvPr>
            </p:nvSpPr>
            <p:spPr/>
            <p:txBody>
              <a:bodyPr/>
              <a:lstStyle/>
              <a:p>
                <a:r>
                  <a:rPr lang="en-US" dirty="0"/>
                  <a:t>PPV =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=1|</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=1)</m:t>
                    </m:r>
                  </m:oMath>
                </a14:m>
                <a:endParaRPr lang="en-US" dirty="0"/>
              </a:p>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r>
                  <a:rPr lang="en-US" dirty="0"/>
                  <a:t> is a function of our predictors, so we could say</a:t>
                </a:r>
              </a:p>
              <a:p>
                <a:r>
                  <a:rPr lang="en-US" dirty="0"/>
                  <a:t>PPV =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=1|</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a:p>
                <a:r>
                  <a:rPr lang="en-US" b="1" dirty="0">
                    <a:solidFill>
                      <a:srgbClr val="FF0000"/>
                    </a:solidFill>
                  </a:rPr>
                  <a:t>This should look familiar</a:t>
                </a:r>
              </a:p>
              <a:p>
                <a:endParaRPr lang="en-US" b="1" dirty="0">
                  <a:solidFill>
                    <a:srgbClr val="FF0000"/>
                  </a:solidFill>
                </a:endParaRPr>
              </a:p>
              <a:p>
                <a:r>
                  <a:rPr lang="en-US" b="1" dirty="0">
                    <a:solidFill>
                      <a:srgbClr val="FF0000"/>
                    </a:solidFill>
                  </a:rPr>
                  <a:t>The entire training procedure is about finding this quantity </a:t>
                </a:r>
              </a:p>
            </p:txBody>
          </p:sp>
        </mc:Choice>
        <mc:Fallback xmlns="">
          <p:sp>
            <p:nvSpPr>
              <p:cNvPr id="3" name="Content Placeholder 2">
                <a:extLst>
                  <a:ext uri="{FF2B5EF4-FFF2-40B4-BE49-F238E27FC236}">
                    <a16:creationId xmlns:a16="http://schemas.microsoft.com/office/drawing/2014/main" id="{041B4603-0201-4B6E-9ACB-3E762039BB9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510697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AEA00-9175-479B-BC02-FB97A0699730}"/>
              </a:ext>
            </a:extLst>
          </p:cNvPr>
          <p:cNvSpPr>
            <a:spLocks noGrp="1"/>
          </p:cNvSpPr>
          <p:nvPr>
            <p:ph type="title"/>
          </p:nvPr>
        </p:nvSpPr>
        <p:spPr/>
        <p:txBody>
          <a:bodyPr/>
          <a:lstStyle/>
          <a:p>
            <a:r>
              <a:rPr lang="en-US" dirty="0"/>
              <a:t>What Explains This Pattern?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1B4603-0201-4B6E-9ACB-3E762039BB99}"/>
                  </a:ext>
                </a:extLst>
              </p:cNvPr>
              <p:cNvSpPr>
                <a:spLocks noGrp="1"/>
              </p:cNvSpPr>
              <p:nvPr>
                <p:ph idx="1"/>
              </p:nvPr>
            </p:nvSpPr>
            <p:spPr/>
            <p:txBody>
              <a:bodyPr/>
              <a:lstStyle/>
              <a:p>
                <a:r>
                  <a:rPr lang="en-US" dirty="0"/>
                  <a:t>But not the case for balance for positive and negative classes (FPR or FNR):</a:t>
                </a:r>
              </a:p>
              <a:p>
                <a:pPr lvl="1"/>
                <a:r>
                  <a:rPr lang="en-US" b="0" dirty="0"/>
                  <a:t>FNR: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=0</m:t>
                        </m:r>
                      </m:e>
                      <m:e>
                        <m:r>
                          <a:rPr lang="en-US" b="0" i="1" smtClean="0">
                            <a:latin typeface="Cambria Math" panose="02040503050406030204" pitchFamily="18" charset="0"/>
                          </a:rPr>
                          <m:t>𝑦</m:t>
                        </m:r>
                        <m:r>
                          <a:rPr lang="en-US" b="0" i="1" smtClean="0">
                            <a:latin typeface="Cambria Math" panose="02040503050406030204" pitchFamily="18" charset="0"/>
                          </a:rPr>
                          <m:t>=1</m:t>
                        </m:r>
                      </m:e>
                    </m:d>
                  </m:oMath>
                </a14:m>
                <a:endParaRPr lang="en-US" b="0" dirty="0"/>
              </a:p>
              <a:p>
                <a:pPr lvl="1"/>
                <a:endParaRPr lang="en-US" dirty="0"/>
              </a:p>
              <a:p>
                <a:r>
                  <a:rPr lang="en-US" dirty="0"/>
                  <a:t>How can we get our algorithms to optimize for this?</a:t>
                </a:r>
              </a:p>
              <a:p>
                <a:pPr marL="0" indent="0">
                  <a:buNone/>
                </a:pPr>
                <a:r>
                  <a:rPr lang="en-US" dirty="0"/>
                  <a:t> </a:t>
                </a:r>
              </a:p>
            </p:txBody>
          </p:sp>
        </mc:Choice>
        <mc:Fallback xmlns="">
          <p:sp>
            <p:nvSpPr>
              <p:cNvPr id="3" name="Content Placeholder 2">
                <a:extLst>
                  <a:ext uri="{FF2B5EF4-FFF2-40B4-BE49-F238E27FC236}">
                    <a16:creationId xmlns:a16="http://schemas.microsoft.com/office/drawing/2014/main" id="{041B4603-0201-4B6E-9ACB-3E762039BB9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7894861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A056-D084-42FC-B4E6-14412240180F}"/>
              </a:ext>
            </a:extLst>
          </p:cNvPr>
          <p:cNvSpPr>
            <a:spLocks noGrp="1"/>
          </p:cNvSpPr>
          <p:nvPr>
            <p:ph type="title"/>
          </p:nvPr>
        </p:nvSpPr>
        <p:spPr/>
        <p:txBody>
          <a:bodyPr/>
          <a:lstStyle/>
          <a:p>
            <a:r>
              <a:rPr lang="en-US" dirty="0"/>
              <a:t>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E4C62-43EC-4C83-BC77-6901EC8B7286}"/>
                  </a:ext>
                </a:extLst>
              </p:cNvPr>
              <p:cNvSpPr>
                <a:spLocks noGrp="1"/>
              </p:cNvSpPr>
              <p:nvPr>
                <p:ph idx="1"/>
              </p:nvPr>
            </p:nvSpPr>
            <p:spPr/>
            <p:txBody>
              <a:bodyPr/>
              <a:lstStyle/>
              <a:p>
                <a:r>
                  <a:rPr lang="en-US" dirty="0"/>
                  <a:t>Recall the objective function for ridge</a:t>
                </a:r>
              </a:p>
              <a:p>
                <a:pPr marL="0" indent="0">
                  <a:buNone/>
                </a:pPr>
                <a14:m>
                  <m:oMathPara xmlns:m="http://schemas.openxmlformats.org/officeDocument/2006/math">
                    <m:oMathParaPr>
                      <m:jc m:val="centerGroup"/>
                    </m:oMathParaPr>
                    <m:oMath xmlns:m="http://schemas.openxmlformats.org/officeDocument/2006/math">
                      <m:nary>
                        <m:naryPr>
                          <m:chr m:val="∑"/>
                          <m:subHide m:val="on"/>
                          <m:supHide m:val="on"/>
                          <m:ctrlPr>
                            <a:rPr lang="en-US" b="0" i="1" smtClean="0">
                              <a:latin typeface="Cambria Math" panose="02040503050406030204" pitchFamily="18" charset="0"/>
                            </a:rPr>
                          </m:ctrlPr>
                        </m:naryP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r>
                            <m:rPr>
                              <m:brk m:alnAt="7"/>
                            </m:rPr>
                            <a:rPr lang="en-US" b="0" i="1" smtClean="0">
                              <a:latin typeface="Cambria Math" panose="02040503050406030204" pitchFamily="18" charset="0"/>
                            </a:rPr>
                            <m:t>𝜆</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𝛽</m:t>
                                  </m:r>
                                </m:e>
                                <m:sub>
                                  <m:r>
                                    <a:rPr lang="en-US" b="0" i="1" smtClean="0">
                                      <a:latin typeface="Cambria Math" panose="02040503050406030204" pitchFamily="18" charset="0"/>
                                    </a:rPr>
                                    <m:t>𝑗</m:t>
                                  </m:r>
                                </m:sub>
                                <m:sup>
                                  <m:r>
                                    <a:rPr lang="en-US" b="0" i="1" smtClean="0">
                                      <a:latin typeface="Cambria Math" panose="02040503050406030204" pitchFamily="18" charset="0"/>
                                    </a:rPr>
                                    <m:t>2</m:t>
                                  </m:r>
                                </m:sup>
                              </m:sSubSup>
                            </m:e>
                          </m:nary>
                        </m:e>
                      </m:nary>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51E4C62-43EC-4C83-BC77-6901EC8B728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01575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A056-D084-42FC-B4E6-14412240180F}"/>
              </a:ext>
            </a:extLst>
          </p:cNvPr>
          <p:cNvSpPr>
            <a:spLocks noGrp="1"/>
          </p:cNvSpPr>
          <p:nvPr>
            <p:ph type="title"/>
          </p:nvPr>
        </p:nvSpPr>
        <p:spPr/>
        <p:txBody>
          <a:bodyPr/>
          <a:lstStyle/>
          <a:p>
            <a:r>
              <a:rPr lang="en-US" dirty="0"/>
              <a:t>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E4C62-43EC-4C83-BC77-6901EC8B7286}"/>
                  </a:ext>
                </a:extLst>
              </p:cNvPr>
              <p:cNvSpPr>
                <a:spLocks noGrp="1"/>
              </p:cNvSpPr>
              <p:nvPr>
                <p:ph idx="1"/>
              </p:nvPr>
            </p:nvSpPr>
            <p:spPr/>
            <p:txBody>
              <a:bodyPr/>
              <a:lstStyle/>
              <a:p>
                <a:r>
                  <a:rPr lang="en-US" dirty="0"/>
                  <a:t>Recall the objective function for ridge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nary>
                        <m:naryPr>
                          <m:chr m:val="∑"/>
                          <m:subHide m:val="on"/>
                          <m:supHide m:val="on"/>
                          <m:ctrlPr>
                            <a:rPr lang="en-US" b="0" i="1" smtClean="0">
                              <a:latin typeface="Cambria Math" panose="02040503050406030204" pitchFamily="18" charset="0"/>
                            </a:rPr>
                          </m:ctrlPr>
                        </m:naryP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r>
                            <m:rPr>
                              <m:brk m:alnAt="7"/>
                            </m:rPr>
                            <a:rPr lang="en-US" b="0" i="1" smtClean="0">
                              <a:latin typeface="Cambria Math" panose="02040503050406030204" pitchFamily="18" charset="0"/>
                            </a:rPr>
                            <m:t>𝜆</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𝛽</m:t>
                                  </m:r>
                                </m:e>
                                <m:sub>
                                  <m:r>
                                    <a:rPr lang="en-US" b="0" i="1" smtClean="0">
                                      <a:latin typeface="Cambria Math" panose="02040503050406030204" pitchFamily="18" charset="0"/>
                                    </a:rPr>
                                    <m:t>𝑗</m:t>
                                  </m:r>
                                </m:sub>
                                <m:sup>
                                  <m:r>
                                    <a:rPr lang="en-US" b="0" i="1" smtClean="0">
                                      <a:latin typeface="Cambria Math" panose="02040503050406030204" pitchFamily="18" charset="0"/>
                                    </a:rPr>
                                    <m:t>2</m:t>
                                  </m:r>
                                </m:sup>
                              </m:sSubSup>
                            </m:e>
                          </m:nary>
                        </m:e>
                      </m:nary>
                    </m:oMath>
                  </m:oMathPara>
                </a14:m>
                <a:endParaRPr lang="en-US" dirty="0"/>
              </a:p>
              <a:p>
                <a:pPr marL="0" indent="0">
                  <a:buNone/>
                </a:pPr>
                <a:endParaRPr lang="en-US" dirty="0"/>
              </a:p>
              <a:p>
                <a:r>
                  <a:rPr lang="en-US" dirty="0"/>
                  <a:t>Penalty term: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𝛽</m:t>
                            </m:r>
                          </m:e>
                          <m:sub>
                            <m:r>
                              <a:rPr lang="en-US" b="0" i="1" smtClean="0">
                                <a:latin typeface="Cambria Math" panose="02040503050406030204" pitchFamily="18" charset="0"/>
                              </a:rPr>
                              <m:t>𝑗</m:t>
                            </m:r>
                          </m:sub>
                          <m:sup>
                            <m:r>
                              <a:rPr lang="en-US" b="0" i="1" smtClean="0">
                                <a:latin typeface="Cambria Math" panose="02040503050406030204" pitchFamily="18" charset="0"/>
                              </a:rPr>
                              <m:t>2</m:t>
                            </m:r>
                          </m:sup>
                        </m:sSubSup>
                      </m:e>
                    </m:nary>
                  </m:oMath>
                </a14:m>
                <a:endParaRPr lang="en-US" dirty="0"/>
              </a:p>
              <a:p>
                <a:endParaRPr lang="en-US" dirty="0"/>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51E4C62-43EC-4C83-BC77-6901EC8B728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467290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A056-D084-42FC-B4E6-14412240180F}"/>
              </a:ext>
            </a:extLst>
          </p:cNvPr>
          <p:cNvSpPr>
            <a:spLocks noGrp="1"/>
          </p:cNvSpPr>
          <p:nvPr>
            <p:ph type="title"/>
          </p:nvPr>
        </p:nvSpPr>
        <p:spPr/>
        <p:txBody>
          <a:bodyPr/>
          <a:lstStyle/>
          <a:p>
            <a:r>
              <a:rPr lang="en-US" dirty="0"/>
              <a:t>Constraints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E4C62-43EC-4C83-BC77-6901EC8B7286}"/>
                  </a:ext>
                </a:extLst>
              </p:cNvPr>
              <p:cNvSpPr>
                <a:spLocks noGrp="1"/>
              </p:cNvSpPr>
              <p:nvPr>
                <p:ph idx="1"/>
              </p:nvPr>
            </p:nvSpPr>
            <p:spPr/>
            <p:txBody>
              <a:bodyPr/>
              <a:lstStyle/>
              <a:p>
                <a:r>
                  <a:rPr lang="en-US" dirty="0"/>
                  <a:t>Other ways you could constrain</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nary>
                        <m:naryPr>
                          <m:chr m:val="∑"/>
                          <m:subHide m:val="on"/>
                          <m:supHide m:val="on"/>
                          <m:ctrlPr>
                            <a:rPr lang="en-US" b="0" i="1" smtClean="0">
                              <a:latin typeface="Cambria Math" panose="02040503050406030204" pitchFamily="18" charset="0"/>
                            </a:rPr>
                          </m:ctrlPr>
                        </m:naryP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m:t>
                          </m:r>
                          <m:r>
                            <m:rPr>
                              <m:brk m:alnAt="7"/>
                            </m:rPr>
                            <a:rPr lang="en-US" b="0" i="1" smtClean="0">
                              <a:latin typeface="Cambria Math" panose="02040503050406030204" pitchFamily="18" charset="0"/>
                            </a:rPr>
                            <m:t>𝜆</m:t>
                          </m:r>
                          <m:r>
                            <a:rPr lang="en-US" b="0" i="1" smtClean="0">
                              <a:latin typeface="Cambria Math" panose="02040503050406030204" pitchFamily="18" charset="0"/>
                            </a:rPr>
                            <m:t> </m:t>
                          </m:r>
                          <m:r>
                            <a:rPr lang="en-US" b="1" i="0" smtClean="0">
                              <a:solidFill>
                                <a:schemeClr val="accent6"/>
                              </a:solidFill>
                              <a:latin typeface="Cambria Math" panose="02040503050406030204" pitchFamily="18" charset="0"/>
                            </a:rPr>
                            <m:t>𝚽</m:t>
                          </m:r>
                          <m:r>
                            <a:rPr lang="en-US" b="1" i="1" smtClean="0">
                              <a:solidFill>
                                <a:schemeClr val="accent6"/>
                              </a:solidFill>
                              <a:latin typeface="Cambria Math" panose="02040503050406030204" pitchFamily="18" charset="0"/>
                            </a:rPr>
                            <m:t>(</m:t>
                          </m:r>
                          <m:sSub>
                            <m:sSubPr>
                              <m:ctrlPr>
                                <a:rPr lang="en-US" b="1" i="1" smtClean="0">
                                  <a:solidFill>
                                    <a:schemeClr val="accent6"/>
                                  </a:solidFill>
                                  <a:latin typeface="Cambria Math" panose="02040503050406030204" pitchFamily="18" charset="0"/>
                                </a:rPr>
                              </m:ctrlPr>
                            </m:sSubPr>
                            <m:e>
                              <m:r>
                                <a:rPr lang="en-US" b="1" i="1" smtClean="0">
                                  <a:solidFill>
                                    <a:schemeClr val="accent6"/>
                                  </a:solidFill>
                                  <a:latin typeface="Cambria Math" panose="02040503050406030204" pitchFamily="18" charset="0"/>
                                </a:rPr>
                                <m:t>𝒚</m:t>
                              </m:r>
                            </m:e>
                            <m:sub>
                              <m:r>
                                <a:rPr lang="en-US" b="1" i="1" smtClean="0">
                                  <a:solidFill>
                                    <a:schemeClr val="accent6"/>
                                  </a:solidFill>
                                  <a:latin typeface="Cambria Math" panose="02040503050406030204" pitchFamily="18" charset="0"/>
                                </a:rPr>
                                <m:t>𝒊</m:t>
                              </m:r>
                            </m:sub>
                          </m:sSub>
                          <m:r>
                            <a:rPr lang="en-US" b="1" i="1" smtClean="0">
                              <a:solidFill>
                                <a:schemeClr val="accent6"/>
                              </a:solidFill>
                              <a:latin typeface="Cambria Math" panose="02040503050406030204" pitchFamily="18" charset="0"/>
                            </a:rPr>
                            <m:t>, </m:t>
                          </m:r>
                          <m:sSub>
                            <m:sSubPr>
                              <m:ctrlPr>
                                <a:rPr lang="en-US" b="1" i="1" smtClean="0">
                                  <a:solidFill>
                                    <a:schemeClr val="accent6"/>
                                  </a:solidFill>
                                  <a:latin typeface="Cambria Math" panose="02040503050406030204" pitchFamily="18" charset="0"/>
                                </a:rPr>
                              </m:ctrlPr>
                            </m:sSubPr>
                            <m:e>
                              <m:acc>
                                <m:accPr>
                                  <m:chr m:val="̂"/>
                                  <m:ctrlPr>
                                    <a:rPr lang="en-US" b="1" i="1" smtClean="0">
                                      <a:solidFill>
                                        <a:schemeClr val="accent6"/>
                                      </a:solidFill>
                                      <a:latin typeface="Cambria Math" panose="02040503050406030204" pitchFamily="18" charset="0"/>
                                    </a:rPr>
                                  </m:ctrlPr>
                                </m:accPr>
                                <m:e>
                                  <m:r>
                                    <a:rPr lang="en-US" b="1" i="1" smtClean="0">
                                      <a:solidFill>
                                        <a:schemeClr val="accent6"/>
                                      </a:solidFill>
                                      <a:latin typeface="Cambria Math" panose="02040503050406030204" pitchFamily="18" charset="0"/>
                                    </a:rPr>
                                    <m:t>𝒚</m:t>
                                  </m:r>
                                </m:e>
                              </m:acc>
                            </m:e>
                            <m:sub>
                              <m:r>
                                <a:rPr lang="en-US" b="1" i="1" smtClean="0">
                                  <a:solidFill>
                                    <a:schemeClr val="accent6"/>
                                  </a:solidFill>
                                  <a:latin typeface="Cambria Math" panose="02040503050406030204" pitchFamily="18" charset="0"/>
                                </a:rPr>
                                <m:t>𝒊</m:t>
                              </m:r>
                            </m:sub>
                          </m:sSub>
                          <m:r>
                            <a:rPr lang="en-US" b="1" i="1" smtClean="0">
                              <a:solidFill>
                                <a:schemeClr val="accent6"/>
                              </a:solidFill>
                              <a:latin typeface="Cambria Math" panose="02040503050406030204" pitchFamily="18" charset="0"/>
                            </a:rPr>
                            <m:t>)</m:t>
                          </m:r>
                        </m:e>
                      </m:nary>
                    </m:oMath>
                  </m:oMathPara>
                </a14:m>
                <a:endParaRPr lang="en-US" dirty="0"/>
              </a:p>
              <a:p>
                <a:pPr marL="0" indent="0">
                  <a:buNone/>
                </a:pPr>
                <a:endParaRPr lang="en-US" dirty="0"/>
              </a:p>
              <a:p>
                <a14:m>
                  <m:oMath xmlns:m="http://schemas.openxmlformats.org/officeDocument/2006/math">
                    <m:r>
                      <a:rPr lang="en-US" b="1" i="1" smtClean="0">
                        <a:solidFill>
                          <a:schemeClr val="accent6"/>
                        </a:solidFill>
                        <a:latin typeface="Cambria Math" panose="02040503050406030204" pitchFamily="18" charset="0"/>
                      </a:rPr>
                      <m:t>𝚽</m:t>
                    </m:r>
                    <m:d>
                      <m:dPr>
                        <m:ctrlPr>
                          <a:rPr lang="en-US" b="1" i="1">
                            <a:solidFill>
                              <a:schemeClr val="accent6"/>
                            </a:solidFill>
                            <a:latin typeface="Cambria Math" panose="02040503050406030204" pitchFamily="18" charset="0"/>
                          </a:rPr>
                        </m:ctrlPr>
                      </m:dPr>
                      <m:e>
                        <m:sSub>
                          <m:sSubPr>
                            <m:ctrlPr>
                              <a:rPr lang="en-US" b="1" i="1">
                                <a:solidFill>
                                  <a:schemeClr val="accent6"/>
                                </a:solidFill>
                                <a:latin typeface="Cambria Math" panose="02040503050406030204" pitchFamily="18" charset="0"/>
                              </a:rPr>
                            </m:ctrlPr>
                          </m:sSubPr>
                          <m:e>
                            <m:r>
                              <a:rPr lang="en-US" b="1" i="1">
                                <a:solidFill>
                                  <a:schemeClr val="accent6"/>
                                </a:solidFill>
                                <a:latin typeface="Cambria Math" panose="02040503050406030204" pitchFamily="18" charset="0"/>
                              </a:rPr>
                              <m:t>𝒚</m:t>
                            </m:r>
                          </m:e>
                          <m:sub>
                            <m:r>
                              <a:rPr lang="en-US" b="1" i="1">
                                <a:solidFill>
                                  <a:schemeClr val="accent6"/>
                                </a:solidFill>
                                <a:latin typeface="Cambria Math" panose="02040503050406030204" pitchFamily="18" charset="0"/>
                              </a:rPr>
                              <m:t>𝒊</m:t>
                            </m:r>
                          </m:sub>
                        </m:sSub>
                        <m:r>
                          <a:rPr lang="en-US" b="1" i="1">
                            <a:solidFill>
                              <a:schemeClr val="accent6"/>
                            </a:solidFill>
                            <a:latin typeface="Cambria Math" panose="02040503050406030204" pitchFamily="18" charset="0"/>
                          </a:rPr>
                          <m:t>, </m:t>
                        </m:r>
                        <m:sSub>
                          <m:sSubPr>
                            <m:ctrlPr>
                              <a:rPr lang="en-US" b="1" i="1">
                                <a:solidFill>
                                  <a:schemeClr val="accent6"/>
                                </a:solidFill>
                                <a:latin typeface="Cambria Math" panose="02040503050406030204" pitchFamily="18" charset="0"/>
                              </a:rPr>
                            </m:ctrlPr>
                          </m:sSubPr>
                          <m:e>
                            <m:acc>
                              <m:accPr>
                                <m:chr m:val="̂"/>
                                <m:ctrlPr>
                                  <a:rPr lang="en-US" b="1" i="1">
                                    <a:solidFill>
                                      <a:schemeClr val="accent6"/>
                                    </a:solidFill>
                                    <a:latin typeface="Cambria Math" panose="02040503050406030204" pitchFamily="18" charset="0"/>
                                  </a:rPr>
                                </m:ctrlPr>
                              </m:accPr>
                              <m:e>
                                <m:r>
                                  <a:rPr lang="en-US" b="1" i="1">
                                    <a:solidFill>
                                      <a:schemeClr val="accent6"/>
                                    </a:solidFill>
                                    <a:latin typeface="Cambria Math" panose="02040503050406030204" pitchFamily="18" charset="0"/>
                                  </a:rPr>
                                  <m:t>𝒚</m:t>
                                </m:r>
                              </m:e>
                            </m:acc>
                          </m:e>
                          <m:sub>
                            <m:r>
                              <a:rPr lang="en-US" b="1" i="1">
                                <a:solidFill>
                                  <a:schemeClr val="accent6"/>
                                </a:solidFill>
                                <a:latin typeface="Cambria Math" panose="02040503050406030204" pitchFamily="18" charset="0"/>
                              </a:rPr>
                              <m:t>𝒊</m:t>
                            </m:r>
                          </m:sub>
                        </m:sSub>
                      </m:e>
                    </m:d>
                    <m:r>
                      <a:rPr lang="en-US" b="0" i="0" smtClean="0">
                        <a:latin typeface="Cambria Math" panose="02040503050406030204" pitchFamily="18" charset="0"/>
                      </a:rPr>
                      <m:t>:</m:t>
                    </m:r>
                  </m:oMath>
                </a14:m>
                <a:r>
                  <a:rPr lang="en-US" dirty="0"/>
                  <a:t> a constraint to take into account FPR and/or FNR</a:t>
                </a:r>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51E4C62-43EC-4C83-BC77-6901EC8B728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719260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1E97B-C27F-48B2-A6B7-7C5ECD5F11E6}"/>
              </a:ext>
            </a:extLst>
          </p:cNvPr>
          <p:cNvSpPr>
            <a:spLocks noGrp="1"/>
          </p:cNvSpPr>
          <p:nvPr>
            <p:ph type="title"/>
          </p:nvPr>
        </p:nvSpPr>
        <p:spPr/>
        <p:txBody>
          <a:bodyPr/>
          <a:lstStyle/>
          <a:p>
            <a:r>
              <a:rPr lang="en-US" dirty="0"/>
              <a:t>What Would a “Constraint” Look Like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4F14F5-46A0-4CC4-8F21-FDCD299DEA1F}"/>
                  </a:ext>
                </a:extLst>
              </p:cNvPr>
              <p:cNvSpPr>
                <a:spLocks noGrp="1"/>
              </p:cNvSpPr>
              <p:nvPr>
                <p:ph idx="1"/>
              </p:nvPr>
            </p:nvSpPr>
            <p:spPr/>
            <p:txBody>
              <a:bodyPr/>
              <a:lstStyle/>
              <a:p>
                <a:r>
                  <a:rPr lang="en-US" dirty="0"/>
                  <a:t>Differences in False Positive Rates should be zero, or close to zero</a:t>
                </a:r>
              </a:p>
              <a:p>
                <a:pPr lvl="1"/>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=1</m:t>
                        </m:r>
                      </m:e>
                      <m:e>
                        <m:r>
                          <a:rPr lang="en-US" b="0" i="1" smtClean="0">
                            <a:latin typeface="Cambria Math" panose="02040503050406030204" pitchFamily="18" charset="0"/>
                          </a:rPr>
                          <m:t>𝑦</m:t>
                        </m:r>
                        <m:r>
                          <a:rPr lang="en-US" b="0" i="1" smtClean="0">
                            <a:latin typeface="Cambria Math" panose="02040503050406030204" pitchFamily="18" charset="0"/>
                          </a:rPr>
                          <m:t>=0,</m:t>
                        </m:r>
                        <m:r>
                          <a:rPr lang="en-US" b="0" i="1" smtClean="0">
                            <a:latin typeface="Cambria Math" panose="02040503050406030204" pitchFamily="18" charset="0"/>
                          </a:rPr>
                          <m:t>𝑟𝑎𝑐𝑒</m:t>
                        </m:r>
                        <m:r>
                          <a:rPr lang="en-US" b="0" i="1" smtClean="0">
                            <a:latin typeface="Cambria Math" panose="02040503050406030204" pitchFamily="18" charset="0"/>
                          </a:rPr>
                          <m:t>=0</m:t>
                        </m:r>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=1</m:t>
                        </m:r>
                      </m:e>
                      <m:e>
                        <m:r>
                          <a:rPr lang="en-US" i="1">
                            <a:latin typeface="Cambria Math" panose="02040503050406030204" pitchFamily="18" charset="0"/>
                          </a:rPr>
                          <m:t>𝑦</m:t>
                        </m:r>
                        <m:r>
                          <a:rPr lang="en-US" i="1">
                            <a:latin typeface="Cambria Math" panose="02040503050406030204" pitchFamily="18" charset="0"/>
                          </a:rPr>
                          <m:t>=0,</m:t>
                        </m:r>
                        <m:r>
                          <a:rPr lang="en-US" i="1">
                            <a:latin typeface="Cambria Math" panose="02040503050406030204" pitchFamily="18" charset="0"/>
                          </a:rPr>
                          <m:t>𝑟𝑎𝑐𝑒</m:t>
                        </m:r>
                        <m:r>
                          <a:rPr lang="en-US" i="1">
                            <a:latin typeface="Cambria Math" panose="02040503050406030204" pitchFamily="18" charset="0"/>
                          </a:rPr>
                          <m:t>=1</m:t>
                        </m:r>
                      </m:e>
                    </m:d>
                  </m:oMath>
                </a14:m>
                <a:endParaRPr lang="en-US" dirty="0"/>
              </a:p>
              <a:p>
                <a:pPr lvl="1"/>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sup>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dirty="0">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1</m:t>
                            </m:r>
                          </m:sub>
                        </m:sSub>
                      </m:den>
                    </m:f>
                    <m:nary>
                      <m:naryPr>
                        <m:chr m:val="∑"/>
                        <m:ctrlPr>
                          <a:rPr lang="en-US" i="1">
                            <a:latin typeface="Cambria Math" panose="02040503050406030204" pitchFamily="18" charset="0"/>
                          </a:rPr>
                        </m:ctrlPr>
                      </m:naryPr>
                      <m:sub>
                        <m:r>
                          <a:rPr lang="en-US" b="0" i="1" smtClean="0">
                            <a:latin typeface="Cambria Math" panose="02040503050406030204" pitchFamily="18" charset="0"/>
                          </a:rPr>
                          <m:t>𝑗</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1</m:t>
                            </m:r>
                          </m:sub>
                        </m:sSub>
                      </m:sup>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dirty="0" smtClean="0">
                                <a:latin typeface="Cambria Math" panose="02040503050406030204" pitchFamily="18" charset="0"/>
                              </a:rPr>
                              <m:t>𝑗</m:t>
                            </m:r>
                          </m:sub>
                        </m:sSub>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𝑗</m:t>
                                </m:r>
                              </m:sub>
                            </m:sSub>
                          </m:e>
                        </m:d>
                      </m:e>
                    </m:nary>
                  </m:oMath>
                </a14:m>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D4F14F5-46A0-4CC4-8F21-FDCD299DEA1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9577328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1E97B-C27F-48B2-A6B7-7C5ECD5F11E6}"/>
              </a:ext>
            </a:extLst>
          </p:cNvPr>
          <p:cNvSpPr>
            <a:spLocks noGrp="1"/>
          </p:cNvSpPr>
          <p:nvPr>
            <p:ph type="title"/>
          </p:nvPr>
        </p:nvSpPr>
        <p:spPr/>
        <p:txBody>
          <a:bodyPr/>
          <a:lstStyle/>
          <a:p>
            <a:r>
              <a:rPr lang="en-US" dirty="0"/>
              <a:t>What Would a “Constraint” Look Like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4F14F5-46A0-4CC4-8F21-FDCD299DEA1F}"/>
                  </a:ext>
                </a:extLst>
              </p:cNvPr>
              <p:cNvSpPr>
                <a:spLocks noGrp="1"/>
              </p:cNvSpPr>
              <p:nvPr>
                <p:ph idx="1"/>
              </p:nvPr>
            </p:nvSpPr>
            <p:spPr/>
            <p:txBody>
              <a:bodyPr/>
              <a:lstStyle/>
              <a:p>
                <a:r>
                  <a:rPr lang="en-US" dirty="0"/>
                  <a:t>Differences in False Positive Rates should be zero, or close to zero</a:t>
                </a:r>
              </a:p>
              <a:p>
                <a:pPr lvl="1"/>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=1</m:t>
                        </m:r>
                      </m:e>
                      <m:e>
                        <m:r>
                          <a:rPr lang="en-US" b="0" i="1" smtClean="0">
                            <a:latin typeface="Cambria Math" panose="02040503050406030204" pitchFamily="18" charset="0"/>
                          </a:rPr>
                          <m:t>𝑦</m:t>
                        </m:r>
                        <m:r>
                          <a:rPr lang="en-US" b="0" i="1" smtClean="0">
                            <a:latin typeface="Cambria Math" panose="02040503050406030204" pitchFamily="18" charset="0"/>
                          </a:rPr>
                          <m:t>=0,</m:t>
                        </m:r>
                        <m:r>
                          <a:rPr lang="en-US" b="0" i="1" smtClean="0">
                            <a:latin typeface="Cambria Math" panose="02040503050406030204" pitchFamily="18" charset="0"/>
                          </a:rPr>
                          <m:t>𝑟𝑎𝑐𝑒</m:t>
                        </m:r>
                        <m:r>
                          <a:rPr lang="en-US" b="0" i="1" smtClean="0">
                            <a:latin typeface="Cambria Math" panose="02040503050406030204" pitchFamily="18" charset="0"/>
                          </a:rPr>
                          <m:t>=0</m:t>
                        </m:r>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=1</m:t>
                        </m:r>
                      </m:e>
                      <m:e>
                        <m:r>
                          <a:rPr lang="en-US" i="1">
                            <a:latin typeface="Cambria Math" panose="02040503050406030204" pitchFamily="18" charset="0"/>
                          </a:rPr>
                          <m:t>𝑦</m:t>
                        </m:r>
                        <m:r>
                          <a:rPr lang="en-US" i="1">
                            <a:latin typeface="Cambria Math" panose="02040503050406030204" pitchFamily="18" charset="0"/>
                          </a:rPr>
                          <m:t>=0,</m:t>
                        </m:r>
                        <m:r>
                          <a:rPr lang="en-US" i="1">
                            <a:latin typeface="Cambria Math" panose="02040503050406030204" pitchFamily="18" charset="0"/>
                          </a:rPr>
                          <m:t>𝑟𝑎𝑐𝑒</m:t>
                        </m:r>
                        <m:r>
                          <a:rPr lang="en-US" i="1">
                            <a:latin typeface="Cambria Math" panose="02040503050406030204" pitchFamily="18" charset="0"/>
                          </a:rPr>
                          <m:t>=1</m:t>
                        </m:r>
                      </m:e>
                    </m:d>
                  </m:oMath>
                </a14:m>
                <a:endParaRPr lang="en-US" dirty="0"/>
              </a:p>
              <a:p>
                <a:pPr lvl="1"/>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sup>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dirty="0">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1</m:t>
                            </m:r>
                          </m:sub>
                        </m:sSub>
                      </m:den>
                    </m:f>
                    <m:nary>
                      <m:naryPr>
                        <m:chr m:val="∑"/>
                        <m:ctrlPr>
                          <a:rPr lang="en-US" i="1">
                            <a:latin typeface="Cambria Math" panose="02040503050406030204" pitchFamily="18" charset="0"/>
                          </a:rPr>
                        </m:ctrlPr>
                      </m:naryPr>
                      <m:sub>
                        <m:r>
                          <a:rPr lang="en-US" b="0" i="1" smtClean="0">
                            <a:latin typeface="Cambria Math" panose="02040503050406030204" pitchFamily="18" charset="0"/>
                          </a:rPr>
                          <m:t>𝑗</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1</m:t>
                            </m:r>
                          </m:sub>
                        </m:sSub>
                      </m:sup>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dirty="0" smtClean="0">
                                <a:latin typeface="Cambria Math" panose="02040503050406030204" pitchFamily="18" charset="0"/>
                              </a:rPr>
                              <m:t>𝑗</m:t>
                            </m:r>
                          </m:sub>
                        </m:sSub>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𝑗</m:t>
                                </m:r>
                              </m:sub>
                            </m:sSub>
                          </m:e>
                        </m:d>
                      </m:e>
                    </m:nary>
                  </m:oMath>
                </a14:m>
                <a:endParaRPr lang="en-US" dirty="0"/>
              </a:p>
              <a:p>
                <a:pPr lvl="1"/>
                <a:endParaRPr lang="en-US" dirty="0"/>
              </a:p>
              <a:p>
                <a:r>
                  <a:rPr lang="en-US" dirty="0"/>
                  <a:t>New objective:</a:t>
                </a:r>
              </a:p>
              <a:p>
                <a:pPr marL="0" indent="0">
                  <a:buNone/>
                </a:pPr>
                <a14:m>
                  <m:oMathPara xmlns:m="http://schemas.openxmlformats.org/officeDocument/2006/math">
                    <m:oMathParaPr>
                      <m:jc m:val="centerGroup"/>
                    </m:oMathParaPr>
                    <m:oMath xmlns:m="http://schemas.openxmlformats.org/officeDocument/2006/math">
                      <m:nary>
                        <m:naryPr>
                          <m:chr m:val="∑"/>
                          <m:ctrlPr>
                            <a:rPr lang="en-US" sz="2400" b="1" i="1" smtClean="0">
                              <a:solidFill>
                                <a:schemeClr val="tx1"/>
                              </a:solidFill>
                              <a:latin typeface="Cambria Math" panose="02040503050406030204" pitchFamily="18" charset="0"/>
                            </a:rPr>
                          </m:ctrlPr>
                        </m:naryPr>
                        <m:sub>
                          <m:r>
                            <m:rPr>
                              <m:brk m:alnAt="23"/>
                            </m:rPr>
                            <a:rPr lang="en-US" sz="2400" b="1" i="1" smtClean="0">
                              <a:solidFill>
                                <a:schemeClr val="tx1"/>
                              </a:solidFill>
                              <a:latin typeface="Cambria Math" panose="02040503050406030204" pitchFamily="18" charset="0"/>
                            </a:rPr>
                            <m:t>𝒊</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𝟏</m:t>
                          </m:r>
                        </m:sub>
                        <m:sup>
                          <m:r>
                            <a:rPr lang="en-US" sz="2400" b="1" i="1" smtClean="0">
                              <a:solidFill>
                                <a:schemeClr val="tx1"/>
                              </a:solidFill>
                              <a:latin typeface="Cambria Math" panose="02040503050406030204" pitchFamily="18" charset="0"/>
                            </a:rPr>
                            <m:t>𝑵</m:t>
                          </m:r>
                        </m:sup>
                        <m:e>
                          <m:sSup>
                            <m:sSupPr>
                              <m:ctrlPr>
                                <a:rPr lang="en-US" sz="2400" b="1" i="1">
                                  <a:solidFill>
                                    <a:schemeClr val="tx1"/>
                                  </a:solidFill>
                                  <a:latin typeface="Cambria Math" panose="02040503050406030204" pitchFamily="18" charset="0"/>
                                </a:rPr>
                              </m:ctrlPr>
                            </m:sSupPr>
                            <m:e>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𝒚</m:t>
                                      </m:r>
                                    </m:e>
                                    <m:sub>
                                      <m:r>
                                        <a:rPr lang="en-US" sz="2400" b="1" i="1">
                                          <a:solidFill>
                                            <a:schemeClr val="tx1"/>
                                          </a:solidFill>
                                          <a:latin typeface="Cambria Math" panose="02040503050406030204" pitchFamily="18" charset="0"/>
                                        </a:rPr>
                                        <m:t>𝒊</m:t>
                                      </m:r>
                                    </m:sub>
                                  </m:sSub>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𝒚</m:t>
                                          </m:r>
                                        </m:e>
                                      </m:acc>
                                    </m:e>
                                    <m:sub>
                                      <m:r>
                                        <a:rPr lang="en-US" sz="2400" b="1" i="1">
                                          <a:solidFill>
                                            <a:schemeClr val="tx1"/>
                                          </a:solidFill>
                                          <a:latin typeface="Cambria Math" panose="02040503050406030204" pitchFamily="18" charset="0"/>
                                        </a:rPr>
                                        <m:t>𝒊</m:t>
                                      </m:r>
                                    </m:sub>
                                  </m:sSub>
                                </m:e>
                              </m:d>
                            </m:e>
                            <m:sup>
                              <m:r>
                                <a:rPr lang="en-US" sz="2400" b="1" i="1">
                                  <a:solidFill>
                                    <a:schemeClr val="tx1"/>
                                  </a:solidFill>
                                  <a:latin typeface="Cambria Math" panose="02040503050406030204" pitchFamily="18" charset="0"/>
                                </a:rPr>
                                <m:t>𝟐</m:t>
                              </m:r>
                            </m:sup>
                          </m:sSup>
                          <m:r>
                            <a:rPr lang="en-US" sz="2400" b="1" i="1">
                              <a:solidFill>
                                <a:schemeClr val="tx1"/>
                              </a:solidFill>
                              <a:latin typeface="Cambria Math" panose="02040503050406030204" pitchFamily="18" charset="0"/>
                            </a:rPr>
                            <m:t>+</m:t>
                          </m:r>
                          <m:r>
                            <m:rPr>
                              <m:brk m:alnAt="7"/>
                            </m:rPr>
                            <a:rPr lang="en-US" sz="2400" b="1" i="1" smtClean="0">
                              <a:solidFill>
                                <a:schemeClr val="tx1"/>
                              </a:solidFill>
                              <a:latin typeface="Cambria Math" panose="02040503050406030204" pitchFamily="18" charset="0"/>
                            </a:rPr>
                            <m:t>𝝀</m:t>
                          </m:r>
                          <m:nary>
                            <m:naryPr>
                              <m:chr m:val="∑"/>
                              <m:supHide m:val="on"/>
                              <m:ctrlPr>
                                <a:rPr lang="en-US" sz="2400" b="1" i="1">
                                  <a:solidFill>
                                    <a:schemeClr val="tx1"/>
                                  </a:solidFill>
                                  <a:latin typeface="Cambria Math" panose="02040503050406030204" pitchFamily="18" charset="0"/>
                                </a:rPr>
                              </m:ctrlPr>
                            </m:naryPr>
                            <m:sub>
                              <m:r>
                                <a:rPr lang="en-US" sz="2400" b="1" i="1">
                                  <a:solidFill>
                                    <a:schemeClr val="tx1"/>
                                  </a:solidFill>
                                  <a:latin typeface="Cambria Math" panose="02040503050406030204" pitchFamily="18" charset="0"/>
                                </a:rPr>
                                <m:t>𝒋</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𝟏</m:t>
                              </m:r>
                            </m:sub>
                            <m:sup/>
                            <m:e>
                              <m:sSubSup>
                                <m:sSubSupPr>
                                  <m:ctrlPr>
                                    <a:rPr lang="en-US" sz="2400" b="1" i="1">
                                      <a:solidFill>
                                        <a:schemeClr val="tx1"/>
                                      </a:solidFill>
                                      <a:latin typeface="Cambria Math" panose="02040503050406030204" pitchFamily="18" charset="0"/>
                                    </a:rPr>
                                  </m:ctrlPr>
                                </m:sSubSupPr>
                                <m:e>
                                  <m:r>
                                    <a:rPr lang="en-US" sz="2400" b="1" i="1">
                                      <a:solidFill>
                                        <a:schemeClr val="tx1"/>
                                      </a:solidFill>
                                      <a:latin typeface="Cambria Math" panose="02040503050406030204" pitchFamily="18" charset="0"/>
                                    </a:rPr>
                                    <m:t>𝜷</m:t>
                                  </m:r>
                                </m:e>
                                <m:sub>
                                  <m:r>
                                    <a:rPr lang="en-US" sz="2400" b="1" i="1">
                                      <a:solidFill>
                                        <a:schemeClr val="tx1"/>
                                      </a:solidFill>
                                      <a:latin typeface="Cambria Math" panose="02040503050406030204" pitchFamily="18" charset="0"/>
                                    </a:rPr>
                                    <m:t>𝒋</m:t>
                                  </m:r>
                                </m:sub>
                                <m:sup>
                                  <m:r>
                                    <a:rPr lang="en-US" sz="2400" b="1" i="1">
                                      <a:solidFill>
                                        <a:schemeClr val="tx1"/>
                                      </a:solidFill>
                                      <a:latin typeface="Cambria Math" panose="02040503050406030204" pitchFamily="18" charset="0"/>
                                    </a:rPr>
                                    <m:t>𝟐</m:t>
                                  </m:r>
                                </m:sup>
                              </m:sSubSup>
                              <m:r>
                                <a:rPr lang="en-US" sz="2400" b="1" i="1">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𝜸</m:t>
                              </m:r>
                              <m:d>
                                <m:dPr>
                                  <m:begChr m:val="["/>
                                  <m:endChr m:val="|"/>
                                  <m:ctrlPr>
                                    <a:rPr lang="en-US" sz="2400" b="1" i="1" smtClean="0">
                                      <a:solidFill>
                                        <a:schemeClr val="tx1"/>
                                      </a:solidFill>
                                      <a:latin typeface="Cambria Math" panose="02040503050406030204" pitchFamily="18" charset="0"/>
                                    </a:rPr>
                                  </m:ctrlPr>
                                </m:dPr>
                                <m:e>
                                  <m:f>
                                    <m:fPr>
                                      <m:ctrlPr>
                                        <a:rPr lang="en-US" sz="2400" b="1" i="1">
                                          <a:solidFill>
                                            <a:schemeClr val="tx1"/>
                                          </a:solidFill>
                                          <a:latin typeface="Cambria Math" panose="02040503050406030204" pitchFamily="18" charset="0"/>
                                        </a:rPr>
                                      </m:ctrlPr>
                                    </m:fPr>
                                    <m:num>
                                      <m:r>
                                        <a:rPr lang="en-US" sz="2400" b="1" i="1">
                                          <a:solidFill>
                                            <a:schemeClr val="tx1"/>
                                          </a:solidFill>
                                          <a:latin typeface="Cambria Math" panose="02040503050406030204" pitchFamily="18" charset="0"/>
                                        </a:rPr>
                                        <m:t>𝟏</m:t>
                                      </m:r>
                                    </m:num>
                                    <m:den>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𝑵</m:t>
                                          </m:r>
                                        </m:e>
                                        <m:sub>
                                          <m:r>
                                            <a:rPr lang="en-US" sz="2400" b="1" i="1">
                                              <a:solidFill>
                                                <a:schemeClr val="tx1"/>
                                              </a:solidFill>
                                              <a:latin typeface="Cambria Math" panose="02040503050406030204" pitchFamily="18" charset="0"/>
                                            </a:rPr>
                                            <m:t>𝟎</m:t>
                                          </m:r>
                                        </m:sub>
                                      </m:sSub>
                                    </m:den>
                                  </m:f>
                                  <m:nary>
                                    <m:naryPr>
                                      <m:chr m:val="∑"/>
                                      <m:ctrlPr>
                                        <a:rPr lang="en-US" sz="2400" b="1" i="1">
                                          <a:solidFill>
                                            <a:schemeClr val="tx1"/>
                                          </a:solidFill>
                                          <a:latin typeface="Cambria Math" panose="02040503050406030204" pitchFamily="18" charset="0"/>
                                        </a:rPr>
                                      </m:ctrlPr>
                                    </m:naryPr>
                                    <m:sub>
                                      <m:r>
                                        <a:rPr lang="en-US" sz="2400" b="1" i="1">
                                          <a:solidFill>
                                            <a:schemeClr val="tx1"/>
                                          </a:solidFill>
                                          <a:latin typeface="Cambria Math" panose="02040503050406030204" pitchFamily="18" charset="0"/>
                                        </a:rPr>
                                        <m:t>𝒌</m:t>
                                      </m:r>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𝟏</m:t>
                                      </m:r>
                                    </m:sub>
                                    <m:sup>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𝑵</m:t>
                                          </m:r>
                                        </m:e>
                                        <m:sub>
                                          <m:r>
                                            <a:rPr lang="en-US" sz="2400" b="1" i="1">
                                              <a:solidFill>
                                                <a:schemeClr val="tx1"/>
                                              </a:solidFill>
                                              <a:latin typeface="Cambria Math" panose="02040503050406030204" pitchFamily="18" charset="0"/>
                                            </a:rPr>
                                            <m:t>𝟎</m:t>
                                          </m:r>
                                        </m:sub>
                                      </m:sSub>
                                    </m:sup>
                                    <m:e>
                                      <m:sSub>
                                        <m:sSubPr>
                                          <m:ctrlPr>
                                            <a:rPr lang="en-US" sz="2400" b="1" i="1" dirty="0">
                                              <a:solidFill>
                                                <a:schemeClr val="tx1"/>
                                              </a:solidFill>
                                              <a:latin typeface="Cambria Math" panose="02040503050406030204" pitchFamily="18" charset="0"/>
                                            </a:rPr>
                                          </m:ctrlPr>
                                        </m:sSubPr>
                                        <m:e>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𝒚</m:t>
                                              </m:r>
                                            </m:e>
                                          </m:acc>
                                        </m:e>
                                        <m:sub>
                                          <m:r>
                                            <a:rPr lang="en-US" sz="2400" b="1" i="1">
                                              <a:solidFill>
                                                <a:schemeClr val="tx1"/>
                                              </a:solidFill>
                                              <a:latin typeface="Cambria Math" panose="02040503050406030204" pitchFamily="18" charset="0"/>
                                            </a:rPr>
                                            <m:t>𝒌</m:t>
                                          </m:r>
                                        </m:sub>
                                      </m:sSub>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𝟏</m:t>
                                          </m:r>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𝒚</m:t>
                                              </m:r>
                                            </m:e>
                                            <m:sub>
                                              <m:r>
                                                <a:rPr lang="en-US" sz="2400" b="1" i="1">
                                                  <a:solidFill>
                                                    <a:schemeClr val="tx1"/>
                                                  </a:solidFill>
                                                  <a:latin typeface="Cambria Math" panose="02040503050406030204" pitchFamily="18" charset="0"/>
                                                </a:rPr>
                                                <m:t>𝒌</m:t>
                                              </m:r>
                                            </m:sub>
                                          </m:sSub>
                                        </m:e>
                                      </m:d>
                                    </m:e>
                                  </m:nary>
                                  <m:r>
                                    <a:rPr lang="en-US" sz="2400" b="1" i="1">
                                      <a:solidFill>
                                        <a:schemeClr val="tx1"/>
                                      </a:solidFill>
                                      <a:latin typeface="Cambria Math" panose="02040503050406030204" pitchFamily="18" charset="0"/>
                                    </a:rPr>
                                    <m:t>−</m:t>
                                  </m:r>
                                  <m:f>
                                    <m:fPr>
                                      <m:ctrlPr>
                                        <a:rPr lang="en-US" sz="2400" b="1" i="1" smtClean="0">
                                          <a:solidFill>
                                            <a:schemeClr val="tx1"/>
                                          </a:solidFill>
                                          <a:latin typeface="Cambria Math" panose="02040503050406030204" pitchFamily="18" charset="0"/>
                                        </a:rPr>
                                      </m:ctrlPr>
                                    </m:fPr>
                                    <m:num>
                                      <m:r>
                                        <a:rPr lang="en-US" sz="2400" b="1" i="1">
                                          <a:solidFill>
                                            <a:schemeClr val="tx1"/>
                                          </a:solidFill>
                                          <a:latin typeface="Cambria Math" panose="02040503050406030204" pitchFamily="18" charset="0"/>
                                        </a:rPr>
                                        <m:t>𝟏</m:t>
                                      </m:r>
                                    </m:num>
                                    <m:den>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𝑵</m:t>
                                          </m:r>
                                        </m:e>
                                        <m:sub>
                                          <m:r>
                                            <a:rPr lang="en-US" sz="2400" b="1" i="1">
                                              <a:solidFill>
                                                <a:schemeClr val="tx1"/>
                                              </a:solidFill>
                                              <a:latin typeface="Cambria Math" panose="02040503050406030204" pitchFamily="18" charset="0"/>
                                            </a:rPr>
                                            <m:t>𝟏</m:t>
                                          </m:r>
                                        </m:sub>
                                      </m:sSub>
                                    </m:den>
                                  </m:f>
                                  <m:nary>
                                    <m:naryPr>
                                      <m:chr m:val="∑"/>
                                      <m:ctrlPr>
                                        <a:rPr lang="en-US" sz="2400" b="1" i="1">
                                          <a:solidFill>
                                            <a:schemeClr val="tx1"/>
                                          </a:solidFill>
                                          <a:latin typeface="Cambria Math" panose="02040503050406030204" pitchFamily="18" charset="0"/>
                                        </a:rPr>
                                      </m:ctrlPr>
                                    </m:naryPr>
                                    <m:sub>
                                      <m:r>
                                        <a:rPr lang="en-US" sz="2400" b="1" i="1">
                                          <a:solidFill>
                                            <a:schemeClr val="tx1"/>
                                          </a:solidFill>
                                          <a:latin typeface="Cambria Math" panose="02040503050406030204" pitchFamily="18" charset="0"/>
                                        </a:rPr>
                                        <m:t>𝒌</m:t>
                                      </m:r>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𝟏</m:t>
                                      </m:r>
                                    </m:sub>
                                    <m:sup>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𝑵</m:t>
                                          </m:r>
                                        </m:e>
                                        <m:sub>
                                          <m:r>
                                            <a:rPr lang="en-US" sz="2400" b="1" i="1">
                                              <a:solidFill>
                                                <a:schemeClr val="tx1"/>
                                              </a:solidFill>
                                              <a:latin typeface="Cambria Math" panose="02040503050406030204" pitchFamily="18" charset="0"/>
                                            </a:rPr>
                                            <m:t>𝟏</m:t>
                                          </m:r>
                                        </m:sub>
                                      </m:sSub>
                                    </m:sup>
                                    <m:e>
                                      <m:sSub>
                                        <m:sSubPr>
                                          <m:ctrlPr>
                                            <a:rPr lang="en-US" sz="2400" b="1" i="1" dirty="0">
                                              <a:solidFill>
                                                <a:schemeClr val="tx1"/>
                                              </a:solidFill>
                                              <a:latin typeface="Cambria Math" panose="02040503050406030204" pitchFamily="18" charset="0"/>
                                            </a:rPr>
                                          </m:ctrlPr>
                                        </m:sSubPr>
                                        <m:e>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𝒚</m:t>
                                              </m:r>
                                            </m:e>
                                          </m:acc>
                                        </m:e>
                                        <m:sub>
                                          <m:r>
                                            <a:rPr lang="en-US" sz="2400" b="1" i="1" dirty="0">
                                              <a:solidFill>
                                                <a:schemeClr val="tx1"/>
                                              </a:solidFill>
                                              <a:latin typeface="Cambria Math" panose="02040503050406030204" pitchFamily="18" charset="0"/>
                                            </a:rPr>
                                            <m:t>𝒋</m:t>
                                          </m:r>
                                        </m:sub>
                                      </m:sSub>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𝟏</m:t>
                                          </m:r>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𝒚</m:t>
                                              </m:r>
                                            </m:e>
                                            <m:sub>
                                              <m:r>
                                                <a:rPr lang="en-US" sz="2400" b="1" i="1">
                                                  <a:solidFill>
                                                    <a:schemeClr val="tx1"/>
                                                  </a:solidFill>
                                                  <a:latin typeface="Cambria Math" panose="02040503050406030204" pitchFamily="18" charset="0"/>
                                                </a:rPr>
                                                <m:t>𝒋</m:t>
                                              </m:r>
                                            </m:sub>
                                          </m:sSub>
                                        </m:e>
                                      </m:d>
                                      <m:r>
                                        <a:rPr lang="en-US" sz="2400" b="1" i="1" smtClean="0">
                                          <a:solidFill>
                                            <a:schemeClr val="tx1"/>
                                          </a:solidFill>
                                          <a:latin typeface="Cambria Math" panose="02040503050406030204" pitchFamily="18" charset="0"/>
                                        </a:rPr>
                                        <m:t> </m:t>
                                      </m:r>
                                    </m:e>
                                  </m:nary>
                                </m:e>
                              </m:d>
                            </m:e>
                          </m:nary>
                        </m:e>
                      </m:nary>
                    </m:oMath>
                  </m:oMathPara>
                </a14:m>
                <a:endParaRPr lang="en-US" sz="2400" dirty="0"/>
              </a:p>
              <a:p>
                <a:pPr lvl="1"/>
                <a:endParaRPr lang="en-US" dirty="0"/>
              </a:p>
              <a:p>
                <a:pPr lvl="1"/>
                <a:endParaRPr lang="en-US" dirty="0"/>
              </a:p>
              <a:p>
                <a:endParaRPr lang="en-US" dirty="0"/>
              </a:p>
              <a:p>
                <a:pPr lvl="1"/>
                <a:endParaRPr lang="en-US" dirty="0"/>
              </a:p>
              <a:p>
                <a:pPr lvl="1"/>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D4F14F5-46A0-4CC4-8F21-FDCD299DEA1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2600171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1E97B-C27F-48B2-A6B7-7C5ECD5F11E6}"/>
              </a:ext>
            </a:extLst>
          </p:cNvPr>
          <p:cNvSpPr>
            <a:spLocks noGrp="1"/>
          </p:cNvSpPr>
          <p:nvPr>
            <p:ph type="title"/>
          </p:nvPr>
        </p:nvSpPr>
        <p:spPr/>
        <p:txBody>
          <a:bodyPr/>
          <a:lstStyle/>
          <a:p>
            <a:r>
              <a:rPr lang="en-US" dirty="0"/>
              <a:t>What Would a “Constraint” Look Like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4F14F5-46A0-4CC4-8F21-FDCD299DEA1F}"/>
                  </a:ext>
                </a:extLst>
              </p:cNvPr>
              <p:cNvSpPr>
                <a:spLocks noGrp="1"/>
              </p:cNvSpPr>
              <p:nvPr>
                <p:ph idx="1"/>
              </p:nvPr>
            </p:nvSpPr>
            <p:spPr/>
            <p:txBody>
              <a:bodyPr/>
              <a:lstStyle/>
              <a:p>
                <a:r>
                  <a:rPr lang="en-US" dirty="0"/>
                  <a:t>Differences in False Positive Rates should be zero, or close to zero</a:t>
                </a:r>
              </a:p>
              <a:p>
                <a:pPr lvl="1"/>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=1</m:t>
                        </m:r>
                      </m:e>
                      <m:e>
                        <m:r>
                          <a:rPr lang="en-US" b="0" i="1" smtClean="0">
                            <a:latin typeface="Cambria Math" panose="02040503050406030204" pitchFamily="18" charset="0"/>
                          </a:rPr>
                          <m:t>𝑦</m:t>
                        </m:r>
                        <m:r>
                          <a:rPr lang="en-US" b="0" i="1" smtClean="0">
                            <a:latin typeface="Cambria Math" panose="02040503050406030204" pitchFamily="18" charset="0"/>
                          </a:rPr>
                          <m:t>=0,</m:t>
                        </m:r>
                        <m:r>
                          <a:rPr lang="en-US" b="0" i="1" smtClean="0">
                            <a:latin typeface="Cambria Math" panose="02040503050406030204" pitchFamily="18" charset="0"/>
                          </a:rPr>
                          <m:t>𝑟𝑎𝑐𝑒</m:t>
                        </m:r>
                        <m:r>
                          <a:rPr lang="en-US" b="0" i="1" smtClean="0">
                            <a:latin typeface="Cambria Math" panose="02040503050406030204" pitchFamily="18" charset="0"/>
                          </a:rPr>
                          <m:t>=0</m:t>
                        </m:r>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=1</m:t>
                        </m:r>
                      </m:e>
                      <m:e>
                        <m:r>
                          <a:rPr lang="en-US" i="1">
                            <a:latin typeface="Cambria Math" panose="02040503050406030204" pitchFamily="18" charset="0"/>
                          </a:rPr>
                          <m:t>𝑦</m:t>
                        </m:r>
                        <m:r>
                          <a:rPr lang="en-US" i="1">
                            <a:latin typeface="Cambria Math" panose="02040503050406030204" pitchFamily="18" charset="0"/>
                          </a:rPr>
                          <m:t>=0,</m:t>
                        </m:r>
                        <m:r>
                          <a:rPr lang="en-US" i="1">
                            <a:latin typeface="Cambria Math" panose="02040503050406030204" pitchFamily="18" charset="0"/>
                          </a:rPr>
                          <m:t>𝑟𝑎𝑐𝑒</m:t>
                        </m:r>
                        <m:r>
                          <a:rPr lang="en-US" i="1">
                            <a:latin typeface="Cambria Math" panose="02040503050406030204" pitchFamily="18" charset="0"/>
                          </a:rPr>
                          <m:t>=1</m:t>
                        </m:r>
                      </m:e>
                    </m:d>
                  </m:oMath>
                </a14:m>
                <a:endParaRPr lang="en-US" dirty="0"/>
              </a:p>
              <a:p>
                <a:pPr lvl="1"/>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0</m:t>
                            </m:r>
                          </m:sub>
                        </m:sSub>
                      </m:sup>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dirty="0">
                                <a:latin typeface="Cambria Math" panose="02040503050406030204" pitchFamily="18" charset="0"/>
                              </a:rPr>
                              <m:t>𝑖</m:t>
                            </m:r>
                          </m:sub>
                        </m:sSub>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nary>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1</m:t>
                            </m:r>
                          </m:sub>
                        </m:sSub>
                      </m:den>
                    </m:f>
                    <m:nary>
                      <m:naryPr>
                        <m:chr m:val="∑"/>
                        <m:ctrlPr>
                          <a:rPr lang="en-US" i="1">
                            <a:latin typeface="Cambria Math" panose="02040503050406030204" pitchFamily="18" charset="0"/>
                          </a:rPr>
                        </m:ctrlPr>
                      </m:naryPr>
                      <m:sub>
                        <m:r>
                          <a:rPr lang="en-US" b="0" i="1" smtClean="0">
                            <a:latin typeface="Cambria Math" panose="02040503050406030204" pitchFamily="18" charset="0"/>
                          </a:rPr>
                          <m:t>𝑗</m:t>
                        </m:r>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1</m:t>
                            </m:r>
                          </m:sub>
                        </m:sSub>
                      </m:sup>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dirty="0" smtClean="0">
                                <a:latin typeface="Cambria Math" panose="02040503050406030204" pitchFamily="18" charset="0"/>
                              </a:rPr>
                              <m:t>𝑗</m:t>
                            </m:r>
                          </m:sub>
                        </m:sSub>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𝑗</m:t>
                                </m:r>
                              </m:sub>
                            </m:sSub>
                          </m:e>
                        </m:d>
                      </m:e>
                    </m:nary>
                  </m:oMath>
                </a14:m>
                <a:endParaRPr lang="en-US" dirty="0"/>
              </a:p>
              <a:p>
                <a:pPr lvl="1"/>
                <a:endParaRPr lang="en-US" dirty="0"/>
              </a:p>
              <a:p>
                <a:r>
                  <a:rPr lang="en-US" dirty="0"/>
                  <a:t>New objective:</a:t>
                </a:r>
              </a:p>
              <a:p>
                <a:pPr marL="0" indent="0">
                  <a:buNone/>
                </a:pPr>
                <a14:m>
                  <m:oMathPara xmlns:m="http://schemas.openxmlformats.org/officeDocument/2006/math">
                    <m:oMathParaPr>
                      <m:jc m:val="centerGroup"/>
                    </m:oMathParaPr>
                    <m:oMath xmlns:m="http://schemas.openxmlformats.org/officeDocument/2006/math">
                      <m:nary>
                        <m:naryPr>
                          <m:chr m:val="∑"/>
                          <m:ctrlPr>
                            <a:rPr lang="en-US" sz="2400" b="1" i="1" smtClean="0">
                              <a:solidFill>
                                <a:srgbClr val="FF0000"/>
                              </a:solidFill>
                              <a:latin typeface="Cambria Math" panose="02040503050406030204" pitchFamily="18" charset="0"/>
                            </a:rPr>
                          </m:ctrlPr>
                        </m:naryPr>
                        <m:sub>
                          <m:r>
                            <m:rPr>
                              <m:brk m:alnAt="23"/>
                            </m:rPr>
                            <a:rPr lang="en-US" sz="2400" b="1" i="1" smtClean="0">
                              <a:solidFill>
                                <a:srgbClr val="FF0000"/>
                              </a:solidFill>
                              <a:latin typeface="Cambria Math" panose="02040503050406030204" pitchFamily="18" charset="0"/>
                            </a:rPr>
                            <m:t>𝒊</m:t>
                          </m:r>
                          <m:r>
                            <a:rPr lang="en-US" sz="2400" b="1" i="1" smtClean="0">
                              <a:solidFill>
                                <a:srgbClr val="FF0000"/>
                              </a:solidFill>
                              <a:latin typeface="Cambria Math" panose="02040503050406030204" pitchFamily="18" charset="0"/>
                            </a:rPr>
                            <m:t>=</m:t>
                          </m:r>
                          <m:r>
                            <a:rPr lang="en-US" sz="2400" b="1" i="1" smtClean="0">
                              <a:solidFill>
                                <a:srgbClr val="FF0000"/>
                              </a:solidFill>
                              <a:latin typeface="Cambria Math" panose="02040503050406030204" pitchFamily="18" charset="0"/>
                            </a:rPr>
                            <m:t>𝟏</m:t>
                          </m:r>
                        </m:sub>
                        <m:sup>
                          <m:r>
                            <a:rPr lang="en-US" sz="2400" b="1" i="1" smtClean="0">
                              <a:solidFill>
                                <a:srgbClr val="FF0000"/>
                              </a:solidFill>
                              <a:latin typeface="Cambria Math" panose="02040503050406030204" pitchFamily="18" charset="0"/>
                            </a:rPr>
                            <m:t>𝑵</m:t>
                          </m:r>
                        </m:sup>
                        <m:e>
                          <m:sSup>
                            <m:sSupPr>
                              <m:ctrlPr>
                                <a:rPr lang="en-US" sz="2400" b="1" i="1">
                                  <a:solidFill>
                                    <a:srgbClr val="FF0000"/>
                                  </a:solidFill>
                                  <a:latin typeface="Cambria Math" panose="02040503050406030204" pitchFamily="18" charset="0"/>
                                </a:rPr>
                              </m:ctrlPr>
                            </m:sSupPr>
                            <m:e>
                              <m:d>
                                <m:dPr>
                                  <m:ctrlPr>
                                    <a:rPr lang="en-US" sz="2400" b="1" i="1">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𝒚</m:t>
                                      </m:r>
                                    </m:e>
                                    <m:sub>
                                      <m:r>
                                        <a:rPr lang="en-US" sz="2400" b="1" i="1">
                                          <a:solidFill>
                                            <a:srgbClr val="FF0000"/>
                                          </a:solidFill>
                                          <a:latin typeface="Cambria Math" panose="02040503050406030204" pitchFamily="18" charset="0"/>
                                        </a:rPr>
                                        <m:t>𝒊</m:t>
                                      </m:r>
                                    </m:sub>
                                  </m:sSub>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acc>
                                        <m:accPr>
                                          <m:chr m:val="̂"/>
                                          <m:ctrlPr>
                                            <a:rPr lang="en-US" sz="2400" b="1" i="1">
                                              <a:solidFill>
                                                <a:srgbClr val="FF0000"/>
                                              </a:solidFill>
                                              <a:latin typeface="Cambria Math" panose="02040503050406030204" pitchFamily="18" charset="0"/>
                                            </a:rPr>
                                          </m:ctrlPr>
                                        </m:accPr>
                                        <m:e>
                                          <m:r>
                                            <a:rPr lang="en-US" sz="2400" b="1" i="1">
                                              <a:solidFill>
                                                <a:srgbClr val="FF0000"/>
                                              </a:solidFill>
                                              <a:latin typeface="Cambria Math" panose="02040503050406030204" pitchFamily="18" charset="0"/>
                                            </a:rPr>
                                            <m:t>𝒚</m:t>
                                          </m:r>
                                        </m:e>
                                      </m:acc>
                                    </m:e>
                                    <m:sub>
                                      <m:r>
                                        <a:rPr lang="en-US" sz="2400" b="1" i="1">
                                          <a:solidFill>
                                            <a:srgbClr val="FF0000"/>
                                          </a:solidFill>
                                          <a:latin typeface="Cambria Math" panose="02040503050406030204" pitchFamily="18" charset="0"/>
                                        </a:rPr>
                                        <m:t>𝒊</m:t>
                                      </m:r>
                                    </m:sub>
                                  </m:sSub>
                                </m:e>
                              </m:d>
                            </m:e>
                            <m:sup>
                              <m:r>
                                <a:rPr lang="en-US" sz="2400" b="1" i="1">
                                  <a:solidFill>
                                    <a:srgbClr val="FF0000"/>
                                  </a:solidFill>
                                  <a:latin typeface="Cambria Math" panose="02040503050406030204" pitchFamily="18" charset="0"/>
                                </a:rPr>
                                <m:t>𝟐</m:t>
                              </m:r>
                            </m:sup>
                          </m:sSup>
                          <m:r>
                            <a:rPr lang="en-US" sz="2400" b="1" i="1">
                              <a:solidFill>
                                <a:srgbClr val="FF0000"/>
                              </a:solidFill>
                              <a:latin typeface="Cambria Math" panose="02040503050406030204" pitchFamily="18" charset="0"/>
                            </a:rPr>
                            <m:t>+</m:t>
                          </m:r>
                          <m:r>
                            <m:rPr>
                              <m:brk m:alnAt="7"/>
                            </m:rPr>
                            <a:rPr lang="en-US" sz="2400" b="1" i="1" smtClean="0">
                              <a:solidFill>
                                <a:schemeClr val="accent6"/>
                              </a:solidFill>
                              <a:latin typeface="Cambria Math" panose="02040503050406030204" pitchFamily="18" charset="0"/>
                            </a:rPr>
                            <m:t>𝝀</m:t>
                          </m:r>
                          <m:nary>
                            <m:naryPr>
                              <m:chr m:val="∑"/>
                              <m:supHide m:val="on"/>
                              <m:ctrlPr>
                                <a:rPr lang="en-US" sz="2400" b="1" i="1">
                                  <a:solidFill>
                                    <a:schemeClr val="accent6"/>
                                  </a:solidFill>
                                  <a:latin typeface="Cambria Math" panose="02040503050406030204" pitchFamily="18" charset="0"/>
                                </a:rPr>
                              </m:ctrlPr>
                            </m:naryPr>
                            <m:sub>
                              <m:r>
                                <a:rPr lang="en-US" sz="2400" b="1" i="1">
                                  <a:solidFill>
                                    <a:schemeClr val="accent6"/>
                                  </a:solidFill>
                                  <a:latin typeface="Cambria Math" panose="02040503050406030204" pitchFamily="18" charset="0"/>
                                </a:rPr>
                                <m:t>𝒋</m:t>
                              </m:r>
                              <m:r>
                                <a:rPr lang="en-US" sz="2400" b="1" i="1" smtClean="0">
                                  <a:solidFill>
                                    <a:schemeClr val="accent6"/>
                                  </a:solidFill>
                                  <a:latin typeface="Cambria Math" panose="02040503050406030204" pitchFamily="18" charset="0"/>
                                </a:rPr>
                                <m:t>=</m:t>
                              </m:r>
                              <m:r>
                                <a:rPr lang="en-US" sz="2400" b="1" i="1" smtClean="0">
                                  <a:solidFill>
                                    <a:schemeClr val="accent6"/>
                                  </a:solidFill>
                                  <a:latin typeface="Cambria Math" panose="02040503050406030204" pitchFamily="18" charset="0"/>
                                </a:rPr>
                                <m:t>𝟏</m:t>
                              </m:r>
                            </m:sub>
                            <m:sup/>
                            <m:e>
                              <m:sSubSup>
                                <m:sSubSupPr>
                                  <m:ctrlPr>
                                    <a:rPr lang="en-US" sz="2400" b="1" i="1">
                                      <a:solidFill>
                                        <a:schemeClr val="accent6"/>
                                      </a:solidFill>
                                      <a:latin typeface="Cambria Math" panose="02040503050406030204" pitchFamily="18" charset="0"/>
                                    </a:rPr>
                                  </m:ctrlPr>
                                </m:sSubSupPr>
                                <m:e>
                                  <m:r>
                                    <a:rPr lang="en-US" sz="2400" b="1" i="1">
                                      <a:solidFill>
                                        <a:schemeClr val="accent6"/>
                                      </a:solidFill>
                                      <a:latin typeface="Cambria Math" panose="02040503050406030204" pitchFamily="18" charset="0"/>
                                    </a:rPr>
                                    <m:t>𝜷</m:t>
                                  </m:r>
                                </m:e>
                                <m:sub>
                                  <m:r>
                                    <a:rPr lang="en-US" sz="2400" b="1" i="1">
                                      <a:solidFill>
                                        <a:schemeClr val="accent6"/>
                                      </a:solidFill>
                                      <a:latin typeface="Cambria Math" panose="02040503050406030204" pitchFamily="18" charset="0"/>
                                    </a:rPr>
                                    <m:t>𝒋</m:t>
                                  </m:r>
                                </m:sub>
                                <m:sup>
                                  <m:r>
                                    <a:rPr lang="en-US" sz="2400" b="1" i="1">
                                      <a:solidFill>
                                        <a:schemeClr val="accent6"/>
                                      </a:solidFill>
                                      <a:latin typeface="Cambria Math" panose="02040503050406030204" pitchFamily="18" charset="0"/>
                                    </a:rPr>
                                    <m:t>𝟐</m:t>
                                  </m:r>
                                </m:sup>
                              </m:sSubSup>
                              <m:r>
                                <a:rPr lang="en-US" sz="2400" b="1" i="1">
                                  <a:solidFill>
                                    <a:schemeClr val="accent6"/>
                                  </a:solidFill>
                                  <a:latin typeface="Cambria Math" panose="02040503050406030204" pitchFamily="18" charset="0"/>
                                </a:rPr>
                                <m:t>+</m:t>
                              </m:r>
                              <m:r>
                                <a:rPr lang="en-US" sz="2400" b="1" i="1" smtClean="0">
                                  <a:solidFill>
                                    <a:schemeClr val="accent5">
                                      <a:lumMod val="75000"/>
                                    </a:schemeClr>
                                  </a:solidFill>
                                  <a:latin typeface="Cambria Math" panose="02040503050406030204" pitchFamily="18" charset="0"/>
                                </a:rPr>
                                <m:t>𝜸</m:t>
                              </m:r>
                              <m:d>
                                <m:dPr>
                                  <m:begChr m:val="["/>
                                  <m:endChr m:val="|"/>
                                  <m:ctrlPr>
                                    <a:rPr lang="en-US" sz="2400" b="1" i="1" smtClean="0">
                                      <a:solidFill>
                                        <a:schemeClr val="accent5">
                                          <a:lumMod val="75000"/>
                                        </a:schemeClr>
                                      </a:solidFill>
                                      <a:latin typeface="Cambria Math" panose="02040503050406030204" pitchFamily="18" charset="0"/>
                                    </a:rPr>
                                  </m:ctrlPr>
                                </m:dPr>
                                <m:e>
                                  <m:f>
                                    <m:fPr>
                                      <m:ctrlPr>
                                        <a:rPr lang="en-US" sz="2400" b="1" i="1">
                                          <a:solidFill>
                                            <a:schemeClr val="accent5">
                                              <a:lumMod val="75000"/>
                                            </a:schemeClr>
                                          </a:solidFill>
                                          <a:latin typeface="Cambria Math" panose="02040503050406030204" pitchFamily="18" charset="0"/>
                                        </a:rPr>
                                      </m:ctrlPr>
                                    </m:fPr>
                                    <m:num>
                                      <m:r>
                                        <a:rPr lang="en-US" sz="2400" b="1" i="1">
                                          <a:solidFill>
                                            <a:schemeClr val="accent5">
                                              <a:lumMod val="75000"/>
                                            </a:schemeClr>
                                          </a:solidFill>
                                          <a:latin typeface="Cambria Math" panose="02040503050406030204" pitchFamily="18" charset="0"/>
                                        </a:rPr>
                                        <m:t>𝟏</m:t>
                                      </m:r>
                                    </m:num>
                                    <m:den>
                                      <m:sSub>
                                        <m:sSubPr>
                                          <m:ctrlPr>
                                            <a:rPr lang="en-US" sz="2400" b="1" i="1">
                                              <a:solidFill>
                                                <a:schemeClr val="accent5">
                                                  <a:lumMod val="75000"/>
                                                </a:schemeClr>
                                              </a:solidFill>
                                              <a:latin typeface="Cambria Math" panose="02040503050406030204" pitchFamily="18" charset="0"/>
                                            </a:rPr>
                                          </m:ctrlPr>
                                        </m:sSubPr>
                                        <m:e>
                                          <m:r>
                                            <a:rPr lang="en-US" sz="2400" b="1" i="1">
                                              <a:solidFill>
                                                <a:schemeClr val="accent5">
                                                  <a:lumMod val="75000"/>
                                                </a:schemeClr>
                                              </a:solidFill>
                                              <a:latin typeface="Cambria Math" panose="02040503050406030204" pitchFamily="18" charset="0"/>
                                            </a:rPr>
                                            <m:t>𝑵</m:t>
                                          </m:r>
                                        </m:e>
                                        <m:sub>
                                          <m:r>
                                            <a:rPr lang="en-US" sz="2400" b="1" i="1">
                                              <a:solidFill>
                                                <a:schemeClr val="accent5">
                                                  <a:lumMod val="75000"/>
                                                </a:schemeClr>
                                              </a:solidFill>
                                              <a:latin typeface="Cambria Math" panose="02040503050406030204" pitchFamily="18" charset="0"/>
                                            </a:rPr>
                                            <m:t>𝟎</m:t>
                                          </m:r>
                                        </m:sub>
                                      </m:sSub>
                                    </m:den>
                                  </m:f>
                                  <m:nary>
                                    <m:naryPr>
                                      <m:chr m:val="∑"/>
                                      <m:ctrlPr>
                                        <a:rPr lang="en-US" sz="2400" b="1" i="1">
                                          <a:solidFill>
                                            <a:schemeClr val="accent5">
                                              <a:lumMod val="75000"/>
                                            </a:schemeClr>
                                          </a:solidFill>
                                          <a:latin typeface="Cambria Math" panose="02040503050406030204" pitchFamily="18" charset="0"/>
                                        </a:rPr>
                                      </m:ctrlPr>
                                    </m:naryPr>
                                    <m:sub>
                                      <m:r>
                                        <a:rPr lang="en-US" sz="2400" b="1" i="1">
                                          <a:solidFill>
                                            <a:schemeClr val="accent5">
                                              <a:lumMod val="75000"/>
                                            </a:schemeClr>
                                          </a:solidFill>
                                          <a:latin typeface="Cambria Math" panose="02040503050406030204" pitchFamily="18" charset="0"/>
                                        </a:rPr>
                                        <m:t>𝒌</m:t>
                                      </m:r>
                                      <m:r>
                                        <a:rPr lang="en-US" sz="2400" b="1" i="1">
                                          <a:solidFill>
                                            <a:schemeClr val="accent5">
                                              <a:lumMod val="75000"/>
                                            </a:schemeClr>
                                          </a:solidFill>
                                          <a:latin typeface="Cambria Math" panose="02040503050406030204" pitchFamily="18" charset="0"/>
                                        </a:rPr>
                                        <m:t>=</m:t>
                                      </m:r>
                                      <m:r>
                                        <a:rPr lang="en-US" sz="2400" b="1" i="1">
                                          <a:solidFill>
                                            <a:schemeClr val="accent5">
                                              <a:lumMod val="75000"/>
                                            </a:schemeClr>
                                          </a:solidFill>
                                          <a:latin typeface="Cambria Math" panose="02040503050406030204" pitchFamily="18" charset="0"/>
                                        </a:rPr>
                                        <m:t>𝟏</m:t>
                                      </m:r>
                                    </m:sub>
                                    <m:sup>
                                      <m:sSub>
                                        <m:sSubPr>
                                          <m:ctrlPr>
                                            <a:rPr lang="en-US" sz="2400" b="1" i="1">
                                              <a:solidFill>
                                                <a:schemeClr val="accent5">
                                                  <a:lumMod val="75000"/>
                                                </a:schemeClr>
                                              </a:solidFill>
                                              <a:latin typeface="Cambria Math" panose="02040503050406030204" pitchFamily="18" charset="0"/>
                                            </a:rPr>
                                          </m:ctrlPr>
                                        </m:sSubPr>
                                        <m:e>
                                          <m:r>
                                            <a:rPr lang="en-US" sz="2400" b="1" i="1">
                                              <a:solidFill>
                                                <a:schemeClr val="accent5">
                                                  <a:lumMod val="75000"/>
                                                </a:schemeClr>
                                              </a:solidFill>
                                              <a:latin typeface="Cambria Math" panose="02040503050406030204" pitchFamily="18" charset="0"/>
                                            </a:rPr>
                                            <m:t>𝑵</m:t>
                                          </m:r>
                                        </m:e>
                                        <m:sub>
                                          <m:r>
                                            <a:rPr lang="en-US" sz="2400" b="1" i="1">
                                              <a:solidFill>
                                                <a:schemeClr val="accent5">
                                                  <a:lumMod val="75000"/>
                                                </a:schemeClr>
                                              </a:solidFill>
                                              <a:latin typeface="Cambria Math" panose="02040503050406030204" pitchFamily="18" charset="0"/>
                                            </a:rPr>
                                            <m:t>𝟎</m:t>
                                          </m:r>
                                        </m:sub>
                                      </m:sSub>
                                    </m:sup>
                                    <m:e>
                                      <m:sSub>
                                        <m:sSubPr>
                                          <m:ctrlPr>
                                            <a:rPr lang="en-US" sz="2400" b="1" i="1" dirty="0">
                                              <a:solidFill>
                                                <a:schemeClr val="accent5">
                                                  <a:lumMod val="75000"/>
                                                </a:schemeClr>
                                              </a:solidFill>
                                              <a:latin typeface="Cambria Math" panose="02040503050406030204" pitchFamily="18" charset="0"/>
                                            </a:rPr>
                                          </m:ctrlPr>
                                        </m:sSubPr>
                                        <m:e>
                                          <m:acc>
                                            <m:accPr>
                                              <m:chr m:val="̂"/>
                                              <m:ctrlPr>
                                                <a:rPr lang="en-US" sz="2400" b="1" i="1">
                                                  <a:solidFill>
                                                    <a:schemeClr val="accent5">
                                                      <a:lumMod val="75000"/>
                                                    </a:schemeClr>
                                                  </a:solidFill>
                                                  <a:latin typeface="Cambria Math" panose="02040503050406030204" pitchFamily="18" charset="0"/>
                                                </a:rPr>
                                              </m:ctrlPr>
                                            </m:accPr>
                                            <m:e>
                                              <m:r>
                                                <a:rPr lang="en-US" sz="2400" b="1" i="1">
                                                  <a:solidFill>
                                                    <a:schemeClr val="accent5">
                                                      <a:lumMod val="75000"/>
                                                    </a:schemeClr>
                                                  </a:solidFill>
                                                  <a:latin typeface="Cambria Math" panose="02040503050406030204" pitchFamily="18" charset="0"/>
                                                </a:rPr>
                                                <m:t>𝒚</m:t>
                                              </m:r>
                                            </m:e>
                                          </m:acc>
                                        </m:e>
                                        <m:sub>
                                          <m:r>
                                            <a:rPr lang="en-US" sz="2400" b="1" i="1">
                                              <a:solidFill>
                                                <a:schemeClr val="accent5">
                                                  <a:lumMod val="75000"/>
                                                </a:schemeClr>
                                              </a:solidFill>
                                              <a:latin typeface="Cambria Math" panose="02040503050406030204" pitchFamily="18" charset="0"/>
                                            </a:rPr>
                                            <m:t>𝒌</m:t>
                                          </m:r>
                                        </m:sub>
                                      </m:sSub>
                                      <m:d>
                                        <m:dPr>
                                          <m:ctrlPr>
                                            <a:rPr lang="en-US" sz="2400" b="1" i="1">
                                              <a:solidFill>
                                                <a:schemeClr val="accent5">
                                                  <a:lumMod val="75000"/>
                                                </a:schemeClr>
                                              </a:solidFill>
                                              <a:latin typeface="Cambria Math" panose="02040503050406030204" pitchFamily="18" charset="0"/>
                                            </a:rPr>
                                          </m:ctrlPr>
                                        </m:dPr>
                                        <m:e>
                                          <m:r>
                                            <a:rPr lang="en-US" sz="2400" b="1" i="1">
                                              <a:solidFill>
                                                <a:schemeClr val="accent5">
                                                  <a:lumMod val="75000"/>
                                                </a:schemeClr>
                                              </a:solidFill>
                                              <a:latin typeface="Cambria Math" panose="02040503050406030204" pitchFamily="18" charset="0"/>
                                            </a:rPr>
                                            <m:t>𝟏</m:t>
                                          </m:r>
                                          <m:r>
                                            <a:rPr lang="en-US" sz="2400" b="1" i="1">
                                              <a:solidFill>
                                                <a:schemeClr val="accent5">
                                                  <a:lumMod val="75000"/>
                                                </a:schemeClr>
                                              </a:solidFill>
                                              <a:latin typeface="Cambria Math" panose="02040503050406030204" pitchFamily="18" charset="0"/>
                                            </a:rPr>
                                            <m:t>−</m:t>
                                          </m:r>
                                          <m:sSub>
                                            <m:sSubPr>
                                              <m:ctrlPr>
                                                <a:rPr lang="en-US" sz="2400" b="1" i="1">
                                                  <a:solidFill>
                                                    <a:schemeClr val="accent5">
                                                      <a:lumMod val="75000"/>
                                                    </a:schemeClr>
                                                  </a:solidFill>
                                                  <a:latin typeface="Cambria Math" panose="02040503050406030204" pitchFamily="18" charset="0"/>
                                                </a:rPr>
                                              </m:ctrlPr>
                                            </m:sSubPr>
                                            <m:e>
                                              <m:r>
                                                <a:rPr lang="en-US" sz="2400" b="1" i="1">
                                                  <a:solidFill>
                                                    <a:schemeClr val="accent5">
                                                      <a:lumMod val="75000"/>
                                                    </a:schemeClr>
                                                  </a:solidFill>
                                                  <a:latin typeface="Cambria Math" panose="02040503050406030204" pitchFamily="18" charset="0"/>
                                                </a:rPr>
                                                <m:t>𝒚</m:t>
                                              </m:r>
                                            </m:e>
                                            <m:sub>
                                              <m:r>
                                                <a:rPr lang="en-US" sz="2400" b="1" i="1">
                                                  <a:solidFill>
                                                    <a:schemeClr val="accent5">
                                                      <a:lumMod val="75000"/>
                                                    </a:schemeClr>
                                                  </a:solidFill>
                                                  <a:latin typeface="Cambria Math" panose="02040503050406030204" pitchFamily="18" charset="0"/>
                                                </a:rPr>
                                                <m:t>𝒌</m:t>
                                              </m:r>
                                            </m:sub>
                                          </m:sSub>
                                        </m:e>
                                      </m:d>
                                    </m:e>
                                  </m:nary>
                                  <m:r>
                                    <a:rPr lang="en-US" sz="2400" b="1" i="1">
                                      <a:solidFill>
                                        <a:schemeClr val="accent5">
                                          <a:lumMod val="75000"/>
                                        </a:schemeClr>
                                      </a:solidFill>
                                      <a:latin typeface="Cambria Math" panose="02040503050406030204" pitchFamily="18" charset="0"/>
                                    </a:rPr>
                                    <m:t>−</m:t>
                                  </m:r>
                                  <m:f>
                                    <m:fPr>
                                      <m:ctrlPr>
                                        <a:rPr lang="en-US" sz="2400" b="1" i="1" smtClean="0">
                                          <a:solidFill>
                                            <a:schemeClr val="accent1">
                                              <a:lumMod val="75000"/>
                                            </a:schemeClr>
                                          </a:solidFill>
                                          <a:latin typeface="Cambria Math" panose="02040503050406030204" pitchFamily="18" charset="0"/>
                                        </a:rPr>
                                      </m:ctrlPr>
                                    </m:fPr>
                                    <m:num>
                                      <m:r>
                                        <a:rPr lang="en-US" sz="2400" b="1" i="1">
                                          <a:solidFill>
                                            <a:schemeClr val="accent1">
                                              <a:lumMod val="75000"/>
                                            </a:schemeClr>
                                          </a:solidFill>
                                          <a:latin typeface="Cambria Math" panose="02040503050406030204" pitchFamily="18" charset="0"/>
                                        </a:rPr>
                                        <m:t>𝟏</m:t>
                                      </m:r>
                                    </m:num>
                                    <m:den>
                                      <m:sSub>
                                        <m:sSubPr>
                                          <m:ctrlPr>
                                            <a:rPr lang="en-US" sz="2400" b="1" i="1">
                                              <a:solidFill>
                                                <a:schemeClr val="accent1">
                                                  <a:lumMod val="75000"/>
                                                </a:schemeClr>
                                              </a:solidFill>
                                              <a:latin typeface="Cambria Math" panose="02040503050406030204" pitchFamily="18" charset="0"/>
                                            </a:rPr>
                                          </m:ctrlPr>
                                        </m:sSubPr>
                                        <m:e>
                                          <m:r>
                                            <a:rPr lang="en-US" sz="2400" b="1" i="1">
                                              <a:solidFill>
                                                <a:schemeClr val="accent1">
                                                  <a:lumMod val="75000"/>
                                                </a:schemeClr>
                                              </a:solidFill>
                                              <a:latin typeface="Cambria Math" panose="02040503050406030204" pitchFamily="18" charset="0"/>
                                            </a:rPr>
                                            <m:t>𝑵</m:t>
                                          </m:r>
                                        </m:e>
                                        <m:sub>
                                          <m:r>
                                            <a:rPr lang="en-US" sz="2400" b="1" i="1">
                                              <a:solidFill>
                                                <a:schemeClr val="accent1">
                                                  <a:lumMod val="75000"/>
                                                </a:schemeClr>
                                              </a:solidFill>
                                              <a:latin typeface="Cambria Math" panose="02040503050406030204" pitchFamily="18" charset="0"/>
                                            </a:rPr>
                                            <m:t>𝟏</m:t>
                                          </m:r>
                                        </m:sub>
                                      </m:sSub>
                                    </m:den>
                                  </m:f>
                                  <m:nary>
                                    <m:naryPr>
                                      <m:chr m:val="∑"/>
                                      <m:ctrlPr>
                                        <a:rPr lang="en-US" sz="2400" b="1" i="1">
                                          <a:solidFill>
                                            <a:schemeClr val="accent1">
                                              <a:lumMod val="75000"/>
                                            </a:schemeClr>
                                          </a:solidFill>
                                          <a:latin typeface="Cambria Math" panose="02040503050406030204" pitchFamily="18" charset="0"/>
                                        </a:rPr>
                                      </m:ctrlPr>
                                    </m:naryPr>
                                    <m:sub>
                                      <m:r>
                                        <a:rPr lang="en-US" sz="2400" b="1" i="1">
                                          <a:solidFill>
                                            <a:schemeClr val="accent1">
                                              <a:lumMod val="75000"/>
                                            </a:schemeClr>
                                          </a:solidFill>
                                          <a:latin typeface="Cambria Math" panose="02040503050406030204" pitchFamily="18" charset="0"/>
                                        </a:rPr>
                                        <m:t>𝒌</m:t>
                                      </m:r>
                                      <m:r>
                                        <a:rPr lang="en-US" sz="2400" b="1" i="1">
                                          <a:solidFill>
                                            <a:schemeClr val="accent1">
                                              <a:lumMod val="75000"/>
                                            </a:schemeClr>
                                          </a:solidFill>
                                          <a:latin typeface="Cambria Math" panose="02040503050406030204" pitchFamily="18" charset="0"/>
                                        </a:rPr>
                                        <m:t>=</m:t>
                                      </m:r>
                                      <m:r>
                                        <a:rPr lang="en-US" sz="2400" b="1" i="1">
                                          <a:solidFill>
                                            <a:schemeClr val="accent1">
                                              <a:lumMod val="75000"/>
                                            </a:schemeClr>
                                          </a:solidFill>
                                          <a:latin typeface="Cambria Math" panose="02040503050406030204" pitchFamily="18" charset="0"/>
                                        </a:rPr>
                                        <m:t>𝟏</m:t>
                                      </m:r>
                                    </m:sub>
                                    <m:sup>
                                      <m:sSub>
                                        <m:sSubPr>
                                          <m:ctrlPr>
                                            <a:rPr lang="en-US" sz="2400" b="1" i="1">
                                              <a:solidFill>
                                                <a:schemeClr val="accent1">
                                                  <a:lumMod val="75000"/>
                                                </a:schemeClr>
                                              </a:solidFill>
                                              <a:latin typeface="Cambria Math" panose="02040503050406030204" pitchFamily="18" charset="0"/>
                                            </a:rPr>
                                          </m:ctrlPr>
                                        </m:sSubPr>
                                        <m:e>
                                          <m:r>
                                            <a:rPr lang="en-US" sz="2400" b="1" i="1">
                                              <a:solidFill>
                                                <a:schemeClr val="accent1">
                                                  <a:lumMod val="75000"/>
                                                </a:schemeClr>
                                              </a:solidFill>
                                              <a:latin typeface="Cambria Math" panose="02040503050406030204" pitchFamily="18" charset="0"/>
                                            </a:rPr>
                                            <m:t>𝑵</m:t>
                                          </m:r>
                                        </m:e>
                                        <m:sub>
                                          <m:r>
                                            <a:rPr lang="en-US" sz="2400" b="1" i="1">
                                              <a:solidFill>
                                                <a:schemeClr val="accent1">
                                                  <a:lumMod val="75000"/>
                                                </a:schemeClr>
                                              </a:solidFill>
                                              <a:latin typeface="Cambria Math" panose="02040503050406030204" pitchFamily="18" charset="0"/>
                                            </a:rPr>
                                            <m:t>𝟏</m:t>
                                          </m:r>
                                        </m:sub>
                                      </m:sSub>
                                    </m:sup>
                                    <m:e>
                                      <m:sSub>
                                        <m:sSubPr>
                                          <m:ctrlPr>
                                            <a:rPr lang="en-US" sz="2400" b="1" i="1" dirty="0">
                                              <a:solidFill>
                                                <a:schemeClr val="accent1">
                                                  <a:lumMod val="75000"/>
                                                </a:schemeClr>
                                              </a:solidFill>
                                              <a:latin typeface="Cambria Math" panose="02040503050406030204" pitchFamily="18" charset="0"/>
                                            </a:rPr>
                                          </m:ctrlPr>
                                        </m:sSubPr>
                                        <m:e>
                                          <m:acc>
                                            <m:accPr>
                                              <m:chr m:val="̂"/>
                                              <m:ctrlPr>
                                                <a:rPr lang="en-US" sz="2400" b="1" i="1">
                                                  <a:solidFill>
                                                    <a:schemeClr val="accent1">
                                                      <a:lumMod val="75000"/>
                                                    </a:schemeClr>
                                                  </a:solidFill>
                                                  <a:latin typeface="Cambria Math" panose="02040503050406030204" pitchFamily="18" charset="0"/>
                                                </a:rPr>
                                              </m:ctrlPr>
                                            </m:accPr>
                                            <m:e>
                                              <m:r>
                                                <a:rPr lang="en-US" sz="2400" b="1" i="1">
                                                  <a:solidFill>
                                                    <a:schemeClr val="accent1">
                                                      <a:lumMod val="75000"/>
                                                    </a:schemeClr>
                                                  </a:solidFill>
                                                  <a:latin typeface="Cambria Math" panose="02040503050406030204" pitchFamily="18" charset="0"/>
                                                </a:rPr>
                                                <m:t>𝒚</m:t>
                                              </m:r>
                                            </m:e>
                                          </m:acc>
                                        </m:e>
                                        <m:sub>
                                          <m:r>
                                            <a:rPr lang="en-US" sz="2400" b="1" i="1" dirty="0">
                                              <a:solidFill>
                                                <a:schemeClr val="accent1">
                                                  <a:lumMod val="75000"/>
                                                </a:schemeClr>
                                              </a:solidFill>
                                              <a:latin typeface="Cambria Math" panose="02040503050406030204" pitchFamily="18" charset="0"/>
                                            </a:rPr>
                                            <m:t>𝒋</m:t>
                                          </m:r>
                                        </m:sub>
                                      </m:sSub>
                                      <m:d>
                                        <m:dPr>
                                          <m:ctrlPr>
                                            <a:rPr lang="en-US" sz="2400" b="1" i="1">
                                              <a:solidFill>
                                                <a:schemeClr val="accent1">
                                                  <a:lumMod val="75000"/>
                                                </a:schemeClr>
                                              </a:solidFill>
                                              <a:latin typeface="Cambria Math" panose="02040503050406030204" pitchFamily="18" charset="0"/>
                                            </a:rPr>
                                          </m:ctrlPr>
                                        </m:dPr>
                                        <m:e>
                                          <m:r>
                                            <a:rPr lang="en-US" sz="2400" b="1" i="1">
                                              <a:solidFill>
                                                <a:schemeClr val="accent1">
                                                  <a:lumMod val="75000"/>
                                                </a:schemeClr>
                                              </a:solidFill>
                                              <a:latin typeface="Cambria Math" panose="02040503050406030204" pitchFamily="18" charset="0"/>
                                            </a:rPr>
                                            <m:t>𝟏</m:t>
                                          </m:r>
                                          <m:r>
                                            <a:rPr lang="en-US" sz="2400" b="1" i="1">
                                              <a:solidFill>
                                                <a:schemeClr val="accent1">
                                                  <a:lumMod val="75000"/>
                                                </a:schemeClr>
                                              </a:solidFill>
                                              <a:latin typeface="Cambria Math" panose="02040503050406030204" pitchFamily="18" charset="0"/>
                                            </a:rPr>
                                            <m:t>−</m:t>
                                          </m:r>
                                          <m:sSub>
                                            <m:sSubPr>
                                              <m:ctrlPr>
                                                <a:rPr lang="en-US" sz="2400" b="1" i="1">
                                                  <a:solidFill>
                                                    <a:schemeClr val="accent1">
                                                      <a:lumMod val="75000"/>
                                                    </a:schemeClr>
                                                  </a:solidFill>
                                                  <a:latin typeface="Cambria Math" panose="02040503050406030204" pitchFamily="18" charset="0"/>
                                                </a:rPr>
                                              </m:ctrlPr>
                                            </m:sSubPr>
                                            <m:e>
                                              <m:r>
                                                <a:rPr lang="en-US" sz="2400" b="1" i="1">
                                                  <a:solidFill>
                                                    <a:schemeClr val="accent1">
                                                      <a:lumMod val="75000"/>
                                                    </a:schemeClr>
                                                  </a:solidFill>
                                                  <a:latin typeface="Cambria Math" panose="02040503050406030204" pitchFamily="18" charset="0"/>
                                                </a:rPr>
                                                <m:t>𝒚</m:t>
                                              </m:r>
                                            </m:e>
                                            <m:sub>
                                              <m:r>
                                                <a:rPr lang="en-US" sz="2400" b="1" i="1">
                                                  <a:solidFill>
                                                    <a:schemeClr val="accent1">
                                                      <a:lumMod val="75000"/>
                                                    </a:schemeClr>
                                                  </a:solidFill>
                                                  <a:latin typeface="Cambria Math" panose="02040503050406030204" pitchFamily="18" charset="0"/>
                                                </a:rPr>
                                                <m:t>𝒋</m:t>
                                              </m:r>
                                            </m:sub>
                                          </m:sSub>
                                        </m:e>
                                      </m:d>
                                      <m:r>
                                        <a:rPr lang="en-US" sz="2400" b="1" i="1" smtClean="0">
                                          <a:solidFill>
                                            <a:schemeClr val="accent1">
                                              <a:lumMod val="75000"/>
                                            </a:schemeClr>
                                          </a:solidFill>
                                          <a:latin typeface="Cambria Math" panose="02040503050406030204" pitchFamily="18" charset="0"/>
                                        </a:rPr>
                                        <m:t> </m:t>
                                      </m:r>
                                    </m:e>
                                  </m:nary>
                                </m:e>
                              </m:d>
                            </m:e>
                          </m:nary>
                        </m:e>
                      </m:nary>
                    </m:oMath>
                  </m:oMathPara>
                </a14:m>
                <a:endParaRPr lang="en-US" sz="2400" dirty="0"/>
              </a:p>
              <a:p>
                <a:pPr lvl="1"/>
                <a:endParaRPr lang="en-US" dirty="0"/>
              </a:p>
              <a:p>
                <a:pPr lvl="1"/>
                <a:endParaRPr lang="en-US" dirty="0"/>
              </a:p>
              <a:p>
                <a:endParaRPr lang="en-US" dirty="0"/>
              </a:p>
              <a:p>
                <a:pPr lvl="1"/>
                <a:endParaRPr lang="en-US" dirty="0"/>
              </a:p>
              <a:p>
                <a:pPr lvl="1"/>
                <a:endParaRPr lang="en-US" dirty="0"/>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D4F14F5-46A0-4CC4-8F21-FDCD299DEA1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654653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D7E57-5004-499D-B4DF-55454223B4EE}"/>
              </a:ext>
            </a:extLst>
          </p:cNvPr>
          <p:cNvSpPr>
            <a:spLocks noGrp="1"/>
          </p:cNvSpPr>
          <p:nvPr>
            <p:ph type="title"/>
          </p:nvPr>
        </p:nvSpPr>
        <p:spPr/>
        <p:txBody>
          <a:bodyPr/>
          <a:lstStyle/>
          <a:p>
            <a:r>
              <a:rPr lang="en-US" dirty="0"/>
              <a:t>“Control Dials” for Algorithms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5DD7D9-8F52-4C66-85B4-4D4E273B70E2}"/>
                  </a:ext>
                </a:extLst>
              </p:cNvPr>
              <p:cNvSpPr>
                <a:spLocks noGrp="1"/>
              </p:cNvSpPr>
              <p:nvPr>
                <p:ph idx="1"/>
              </p:nvPr>
            </p:nvSpPr>
            <p:spPr>
              <a:xfrm>
                <a:off x="4698595" y="4546884"/>
                <a:ext cx="3114040" cy="1325563"/>
              </a:xfrm>
            </p:spPr>
            <p:txBody>
              <a:bodyPr>
                <a:normAutofit fontScale="77500" lnSpcReduction="20000"/>
              </a:bodyPr>
              <a:lstStyle/>
              <a:p>
                <a14:m>
                  <m:oMath xmlns:m="http://schemas.openxmlformats.org/officeDocument/2006/math">
                    <m:r>
                      <m:rPr>
                        <m:brk m:alnAt="7"/>
                      </m:rPr>
                      <a:rPr lang="en-US" b="1" i="1">
                        <a:solidFill>
                          <a:schemeClr val="accent6"/>
                        </a:solidFill>
                        <a:latin typeface="Cambria Math" panose="02040503050406030204" pitchFamily="18" charset="0"/>
                      </a:rPr>
                      <m:t>𝝀</m:t>
                    </m:r>
                    <m:nary>
                      <m:naryPr>
                        <m:chr m:val="∑"/>
                        <m:supHide m:val="on"/>
                        <m:ctrlPr>
                          <a:rPr lang="en-US" b="1" i="1">
                            <a:solidFill>
                              <a:schemeClr val="accent6"/>
                            </a:solidFill>
                            <a:latin typeface="Cambria Math" panose="02040503050406030204" pitchFamily="18" charset="0"/>
                          </a:rPr>
                        </m:ctrlPr>
                      </m:naryPr>
                      <m:sub>
                        <m:r>
                          <a:rPr lang="en-US" b="1" i="1">
                            <a:solidFill>
                              <a:schemeClr val="accent6"/>
                            </a:solidFill>
                            <a:latin typeface="Cambria Math" panose="02040503050406030204" pitchFamily="18" charset="0"/>
                          </a:rPr>
                          <m:t>𝒋</m:t>
                        </m:r>
                        <m:r>
                          <a:rPr lang="en-US" b="1" i="1">
                            <a:solidFill>
                              <a:schemeClr val="accent6"/>
                            </a:solidFill>
                            <a:latin typeface="Cambria Math" panose="02040503050406030204" pitchFamily="18" charset="0"/>
                          </a:rPr>
                          <m:t>=</m:t>
                        </m:r>
                        <m:r>
                          <a:rPr lang="en-US" b="1" i="1">
                            <a:solidFill>
                              <a:schemeClr val="accent6"/>
                            </a:solidFill>
                            <a:latin typeface="Cambria Math" panose="02040503050406030204" pitchFamily="18" charset="0"/>
                          </a:rPr>
                          <m:t>𝟏</m:t>
                        </m:r>
                      </m:sub>
                      <m:sup/>
                      <m:e>
                        <m:sSubSup>
                          <m:sSubSupPr>
                            <m:ctrlPr>
                              <a:rPr lang="en-US" b="1" i="1">
                                <a:solidFill>
                                  <a:schemeClr val="accent6"/>
                                </a:solidFill>
                                <a:latin typeface="Cambria Math" panose="02040503050406030204" pitchFamily="18" charset="0"/>
                              </a:rPr>
                            </m:ctrlPr>
                          </m:sSubSupPr>
                          <m:e>
                            <m:r>
                              <a:rPr lang="en-US" b="1" i="1">
                                <a:solidFill>
                                  <a:schemeClr val="accent6"/>
                                </a:solidFill>
                                <a:latin typeface="Cambria Math" panose="02040503050406030204" pitchFamily="18" charset="0"/>
                              </a:rPr>
                              <m:t>𝜷</m:t>
                            </m:r>
                          </m:e>
                          <m:sub>
                            <m:r>
                              <a:rPr lang="en-US" b="1" i="1">
                                <a:solidFill>
                                  <a:schemeClr val="accent6"/>
                                </a:solidFill>
                                <a:latin typeface="Cambria Math" panose="02040503050406030204" pitchFamily="18" charset="0"/>
                              </a:rPr>
                              <m:t>𝒋</m:t>
                            </m:r>
                          </m:sub>
                          <m:sup>
                            <m:r>
                              <a:rPr lang="en-US" b="1" i="1">
                                <a:solidFill>
                                  <a:schemeClr val="accent6"/>
                                </a:solidFill>
                                <a:latin typeface="Cambria Math" panose="02040503050406030204" pitchFamily="18" charset="0"/>
                              </a:rPr>
                              <m:t>𝟐</m:t>
                            </m:r>
                          </m:sup>
                        </m:sSubSup>
                      </m:e>
                    </m:nary>
                  </m:oMath>
                </a14:m>
                <a:endParaRPr lang="en-US" dirty="0"/>
              </a:p>
              <a:p>
                <a:r>
                  <a:rPr lang="en-US" dirty="0"/>
                  <a:t>How much do we want to prevent overfitting?</a:t>
                </a:r>
              </a:p>
            </p:txBody>
          </p:sp>
        </mc:Choice>
        <mc:Fallback xmlns="">
          <p:sp>
            <p:nvSpPr>
              <p:cNvPr id="3" name="Content Placeholder 2">
                <a:extLst>
                  <a:ext uri="{FF2B5EF4-FFF2-40B4-BE49-F238E27FC236}">
                    <a16:creationId xmlns:a16="http://schemas.microsoft.com/office/drawing/2014/main" id="{FD5DD7D9-8F52-4C66-85B4-4D4E273B70E2}"/>
                  </a:ext>
                </a:extLst>
              </p:cNvPr>
              <p:cNvSpPr>
                <a:spLocks noGrp="1" noRot="1" noChangeAspect="1" noMove="1" noResize="1" noEditPoints="1" noAdjustHandles="1" noChangeArrowheads="1" noChangeShapeType="1" noTextEdit="1"/>
              </p:cNvSpPr>
              <p:nvPr>
                <p:ph idx="1"/>
              </p:nvPr>
            </p:nvSpPr>
            <p:spPr>
              <a:xfrm>
                <a:off x="4698595" y="4546884"/>
                <a:ext cx="3114040" cy="1325563"/>
              </a:xfrm>
              <a:blipFill>
                <a:blip r:embed="rId2"/>
                <a:stretch>
                  <a:fillRect l="-2348" t="-41475" r="-1566"/>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EF5A9274-8402-4395-91BC-434C2A4ADA6A}"/>
              </a:ext>
            </a:extLst>
          </p:cNvPr>
          <p:cNvPicPr>
            <a:picLocks noChangeAspect="1"/>
          </p:cNvPicPr>
          <p:nvPr/>
        </p:nvPicPr>
        <p:blipFill>
          <a:blip r:embed="rId3"/>
          <a:stretch>
            <a:fillRect/>
          </a:stretch>
        </p:blipFill>
        <p:spPr>
          <a:xfrm>
            <a:off x="8221977" y="2752690"/>
            <a:ext cx="2559182" cy="1352620"/>
          </a:xfrm>
          <a:prstGeom prst="rect">
            <a:avLst/>
          </a:prstGeom>
        </p:spPr>
      </p:pic>
      <p:pic>
        <p:nvPicPr>
          <p:cNvPr id="8" name="Picture 7">
            <a:extLst>
              <a:ext uri="{FF2B5EF4-FFF2-40B4-BE49-F238E27FC236}">
                <a16:creationId xmlns:a16="http://schemas.microsoft.com/office/drawing/2014/main" id="{57C24D84-2CFE-4C67-AC48-AE331AAB30D9}"/>
              </a:ext>
            </a:extLst>
          </p:cNvPr>
          <p:cNvPicPr>
            <a:picLocks noChangeAspect="1"/>
          </p:cNvPicPr>
          <p:nvPr/>
        </p:nvPicPr>
        <p:blipFill>
          <a:blip r:embed="rId4"/>
          <a:stretch>
            <a:fillRect/>
          </a:stretch>
        </p:blipFill>
        <p:spPr>
          <a:xfrm>
            <a:off x="4698595" y="2822544"/>
            <a:ext cx="2667137" cy="1212912"/>
          </a:xfrm>
          <a:prstGeom prst="rect">
            <a:avLst/>
          </a:prstGeom>
        </p:spPr>
      </p:pic>
      <p:pic>
        <p:nvPicPr>
          <p:cNvPr id="10" name="Picture 9">
            <a:extLst>
              <a:ext uri="{FF2B5EF4-FFF2-40B4-BE49-F238E27FC236}">
                <a16:creationId xmlns:a16="http://schemas.microsoft.com/office/drawing/2014/main" id="{42F918EC-4F6D-427D-8F02-D4E62F40CD2B}"/>
              </a:ext>
            </a:extLst>
          </p:cNvPr>
          <p:cNvPicPr>
            <a:picLocks noChangeAspect="1"/>
          </p:cNvPicPr>
          <p:nvPr/>
        </p:nvPicPr>
        <p:blipFill>
          <a:blip r:embed="rId5"/>
          <a:stretch>
            <a:fillRect/>
          </a:stretch>
        </p:blipFill>
        <p:spPr>
          <a:xfrm>
            <a:off x="1088852" y="2761750"/>
            <a:ext cx="2502029" cy="1339919"/>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3E4C892-1903-4252-8045-33445C5D72D9}"/>
                  </a:ext>
                </a:extLst>
              </p:cNvPr>
              <p:cNvSpPr txBox="1"/>
              <p:nvPr/>
            </p:nvSpPr>
            <p:spPr>
              <a:xfrm>
                <a:off x="1948813" y="1435487"/>
                <a:ext cx="8166700" cy="107054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naryPr>
                        <m:sub>
                          <m:r>
                            <m:rPr>
                              <m:brk m:alnAt="23"/>
                            </m:rP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𝒊</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𝟏</m:t>
                          </m:r>
                        </m:sub>
                        <m:sup>
                          <m:r>
                            <a:rPr kumimoji="0" lang="en-US" sz="20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𝑵</m:t>
                          </m:r>
                        </m:sup>
                        <m:e>
                          <m:sSup>
                            <m:sSupPr>
                              <m:ctrlP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sSupPr>
                            <m:e>
                              <m:d>
                                <m:dPr>
                                  <m:ctrlP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dPr>
                                <m:e>
                                  <m:sSub>
                                    <m:sSubPr>
                                      <m:ctrlP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𝒚</m:t>
                                      </m:r>
                                    </m:e>
                                    <m:sub>
                                      <m: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𝒊</m:t>
                                      </m:r>
                                    </m:sub>
                                  </m:sSub>
                                  <m: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sSub>
                                    <m:sSubPr>
                                      <m:ctrlP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sSubPr>
                                    <m:e>
                                      <m:acc>
                                        <m:accPr>
                                          <m:chr m:val="̂"/>
                                          <m:ctrlP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𝒚</m:t>
                                          </m:r>
                                        </m:e>
                                      </m:acc>
                                    </m:e>
                                    <m:sub>
                                      <m: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𝒊</m:t>
                                      </m:r>
                                    </m:sub>
                                  </m:sSub>
                                </m:e>
                              </m:d>
                            </m:e>
                            <m:sup>
                              <m: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𝟐</m:t>
                              </m:r>
                            </m:sup>
                          </m:sSup>
                          <m:r>
                            <a:rPr kumimoji="0" lang="en-US" sz="20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r>
                            <m:rPr>
                              <m:brk m:alnAt="7"/>
                            </m:rPr>
                            <a:rPr kumimoji="0" lang="en-US" sz="2000" b="1" i="1" u="none" strike="noStrike" kern="1200" cap="none" spc="0" normalizeH="0" baseline="0" noProof="0" smtClean="0">
                              <a:ln>
                                <a:noFill/>
                              </a:ln>
                              <a:solidFill>
                                <a:srgbClr val="70AD47"/>
                              </a:solidFill>
                              <a:effectLst/>
                              <a:uLnTx/>
                              <a:uFillTx/>
                              <a:latin typeface="Cambria Math" panose="02040503050406030204" pitchFamily="18" charset="0"/>
                              <a:ea typeface="+mn-ea"/>
                              <a:cs typeface="+mn-cs"/>
                            </a:rPr>
                            <m:t>𝝀</m:t>
                          </m:r>
                          <m:nary>
                            <m:naryPr>
                              <m:chr m:val="∑"/>
                              <m:supHide m:val="on"/>
                              <m:ctrlPr>
                                <a:rPr kumimoji="0" lang="en-US" sz="2000" b="1" i="1" u="none" strike="noStrike" kern="1200" cap="none" spc="0" normalizeH="0" baseline="0" noProof="0">
                                  <a:ln>
                                    <a:noFill/>
                                  </a:ln>
                                  <a:solidFill>
                                    <a:srgbClr val="70AD47"/>
                                  </a:solidFill>
                                  <a:effectLst/>
                                  <a:uLnTx/>
                                  <a:uFillTx/>
                                  <a:latin typeface="Cambria Math" panose="02040503050406030204" pitchFamily="18" charset="0"/>
                                  <a:ea typeface="+mn-ea"/>
                                  <a:cs typeface="+mn-cs"/>
                                </a:rPr>
                              </m:ctrlPr>
                            </m:naryPr>
                            <m:sub>
                              <m:r>
                                <a:rPr kumimoji="0" lang="en-US" sz="2000" b="1" i="1" u="none" strike="noStrike" kern="1200" cap="none" spc="0" normalizeH="0" baseline="0" noProof="0">
                                  <a:ln>
                                    <a:noFill/>
                                  </a:ln>
                                  <a:solidFill>
                                    <a:srgbClr val="70AD47"/>
                                  </a:solidFill>
                                  <a:effectLst/>
                                  <a:uLnTx/>
                                  <a:uFillTx/>
                                  <a:latin typeface="Cambria Math" panose="02040503050406030204" pitchFamily="18" charset="0"/>
                                  <a:ea typeface="+mn-ea"/>
                                  <a:cs typeface="+mn-cs"/>
                                </a:rPr>
                                <m:t>𝒋</m:t>
                              </m:r>
                              <m:r>
                                <a:rPr kumimoji="0" lang="en-US" sz="2000" b="1" i="1" u="none" strike="noStrike" kern="1200" cap="none" spc="0" normalizeH="0" baseline="0" noProof="0" smtClean="0">
                                  <a:ln>
                                    <a:noFill/>
                                  </a:ln>
                                  <a:solidFill>
                                    <a:srgbClr val="70AD47"/>
                                  </a:solidFill>
                                  <a:effectLst/>
                                  <a:uLnTx/>
                                  <a:uFillTx/>
                                  <a:latin typeface="Cambria Math" panose="02040503050406030204" pitchFamily="18" charset="0"/>
                                  <a:ea typeface="+mn-ea"/>
                                  <a:cs typeface="+mn-cs"/>
                                </a:rPr>
                                <m:t>=</m:t>
                              </m:r>
                              <m:r>
                                <a:rPr kumimoji="0" lang="en-US" sz="2000" b="1" i="1" u="none" strike="noStrike" kern="1200" cap="none" spc="0" normalizeH="0" baseline="0" noProof="0" smtClean="0">
                                  <a:ln>
                                    <a:noFill/>
                                  </a:ln>
                                  <a:solidFill>
                                    <a:srgbClr val="70AD47"/>
                                  </a:solidFill>
                                  <a:effectLst/>
                                  <a:uLnTx/>
                                  <a:uFillTx/>
                                  <a:latin typeface="Cambria Math" panose="02040503050406030204" pitchFamily="18" charset="0"/>
                                  <a:ea typeface="+mn-ea"/>
                                  <a:cs typeface="+mn-cs"/>
                                </a:rPr>
                                <m:t>𝟏</m:t>
                              </m:r>
                            </m:sub>
                            <m:sup/>
                            <m:e>
                              <m:sSubSup>
                                <m:sSubSupPr>
                                  <m:ctrlPr>
                                    <a:rPr kumimoji="0" lang="en-US" sz="2000" b="1" i="1" u="none" strike="noStrike" kern="1200" cap="none" spc="0" normalizeH="0" baseline="0" noProof="0">
                                      <a:ln>
                                        <a:noFill/>
                                      </a:ln>
                                      <a:solidFill>
                                        <a:srgbClr val="70AD47"/>
                                      </a:solidFill>
                                      <a:effectLst/>
                                      <a:uLnTx/>
                                      <a:uFillTx/>
                                      <a:latin typeface="Cambria Math" panose="02040503050406030204" pitchFamily="18" charset="0"/>
                                      <a:ea typeface="+mn-ea"/>
                                      <a:cs typeface="+mn-cs"/>
                                    </a:rPr>
                                  </m:ctrlPr>
                                </m:sSubSupPr>
                                <m:e>
                                  <m:r>
                                    <a:rPr kumimoji="0" lang="en-US" sz="2000" b="1" i="1" u="none" strike="noStrike" kern="1200" cap="none" spc="0" normalizeH="0" baseline="0" noProof="0">
                                      <a:ln>
                                        <a:noFill/>
                                      </a:ln>
                                      <a:solidFill>
                                        <a:srgbClr val="70AD47"/>
                                      </a:solidFill>
                                      <a:effectLst/>
                                      <a:uLnTx/>
                                      <a:uFillTx/>
                                      <a:latin typeface="Cambria Math" panose="02040503050406030204" pitchFamily="18" charset="0"/>
                                      <a:ea typeface="+mn-ea"/>
                                      <a:cs typeface="+mn-cs"/>
                                    </a:rPr>
                                    <m:t>𝜷</m:t>
                                  </m:r>
                                </m:e>
                                <m:sub>
                                  <m:r>
                                    <a:rPr kumimoji="0" lang="en-US" sz="2000" b="1" i="1" u="none" strike="noStrike" kern="1200" cap="none" spc="0" normalizeH="0" baseline="0" noProof="0">
                                      <a:ln>
                                        <a:noFill/>
                                      </a:ln>
                                      <a:solidFill>
                                        <a:srgbClr val="70AD47"/>
                                      </a:solidFill>
                                      <a:effectLst/>
                                      <a:uLnTx/>
                                      <a:uFillTx/>
                                      <a:latin typeface="Cambria Math" panose="02040503050406030204" pitchFamily="18" charset="0"/>
                                      <a:ea typeface="+mn-ea"/>
                                      <a:cs typeface="+mn-cs"/>
                                    </a:rPr>
                                    <m:t>𝒋</m:t>
                                  </m:r>
                                </m:sub>
                                <m:sup>
                                  <m:r>
                                    <a:rPr kumimoji="0" lang="en-US" sz="2000" b="1" i="1" u="none" strike="noStrike" kern="1200" cap="none" spc="0" normalizeH="0" baseline="0" noProof="0">
                                      <a:ln>
                                        <a:noFill/>
                                      </a:ln>
                                      <a:solidFill>
                                        <a:srgbClr val="70AD47"/>
                                      </a:solidFill>
                                      <a:effectLst/>
                                      <a:uLnTx/>
                                      <a:uFillTx/>
                                      <a:latin typeface="Cambria Math" panose="02040503050406030204" pitchFamily="18" charset="0"/>
                                      <a:ea typeface="+mn-ea"/>
                                      <a:cs typeface="+mn-cs"/>
                                    </a:rPr>
                                    <m:t>𝟐</m:t>
                                  </m:r>
                                </m:sup>
                              </m:sSubSup>
                              <m:r>
                                <a:rPr kumimoji="0" lang="en-US" sz="2000" b="1" i="1" u="none" strike="noStrike" kern="1200" cap="none" spc="0" normalizeH="0" baseline="0" noProof="0">
                                  <a:ln>
                                    <a:noFill/>
                                  </a:ln>
                                  <a:solidFill>
                                    <a:srgbClr val="70AD47"/>
                                  </a:solidFill>
                                  <a:effectLst/>
                                  <a:uLnTx/>
                                  <a:uFillTx/>
                                  <a:latin typeface="Cambria Math" panose="02040503050406030204" pitchFamily="18" charset="0"/>
                                  <a:ea typeface="+mn-ea"/>
                                  <a:cs typeface="+mn-cs"/>
                                </a:rPr>
                                <m:t>+</m:t>
                              </m:r>
                              <m:r>
                                <a:rPr kumimoji="0" lang="en-US" sz="2000" b="1" i="1" u="none" strike="noStrike" kern="1200" cap="none" spc="0" normalizeH="0" baseline="0" noProof="0" smtClean="0">
                                  <a:ln>
                                    <a:noFill/>
                                  </a:ln>
                                  <a:solidFill>
                                    <a:srgbClr val="5B9BD5">
                                      <a:lumMod val="75000"/>
                                    </a:srgbClr>
                                  </a:solidFill>
                                  <a:effectLst/>
                                  <a:uLnTx/>
                                  <a:uFillTx/>
                                  <a:latin typeface="Cambria Math" panose="02040503050406030204" pitchFamily="18" charset="0"/>
                                  <a:ea typeface="+mn-ea"/>
                                  <a:cs typeface="+mn-cs"/>
                                </a:rPr>
                                <m:t>𝜸</m:t>
                              </m:r>
                              <m:d>
                                <m:dPr>
                                  <m:begChr m:val="["/>
                                  <m:endChr m:val="|"/>
                                  <m:ctrlPr>
                                    <a:rPr kumimoji="0" lang="en-US" sz="2000" b="1" i="1" u="none" strike="noStrike" kern="1200" cap="none" spc="0" normalizeH="0" baseline="0" noProof="0" smtClean="0">
                                      <a:ln>
                                        <a:noFill/>
                                      </a:ln>
                                      <a:solidFill>
                                        <a:srgbClr val="5B9BD5">
                                          <a:lumMod val="75000"/>
                                        </a:srgbClr>
                                      </a:solidFill>
                                      <a:effectLst/>
                                      <a:uLnTx/>
                                      <a:uFillTx/>
                                      <a:latin typeface="Cambria Math" panose="02040503050406030204" pitchFamily="18" charset="0"/>
                                      <a:ea typeface="+mn-ea"/>
                                      <a:cs typeface="+mn-cs"/>
                                    </a:rPr>
                                  </m:ctrlPr>
                                </m:dPr>
                                <m:e>
                                  <m:f>
                                    <m:fPr>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fPr>
                                    <m:num>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𝟏</m:t>
                                      </m:r>
                                    </m:num>
                                    <m:den>
                                      <m:sSub>
                                        <m:sSubPr>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𝑵</m:t>
                                          </m:r>
                                        </m:e>
                                        <m:sub>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𝟎</m:t>
                                          </m:r>
                                        </m:sub>
                                      </m:sSub>
                                    </m:den>
                                  </m:f>
                                  <m:nary>
                                    <m:naryPr>
                                      <m:chr m:val="∑"/>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naryPr>
                                    <m:sub>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𝒌</m:t>
                                      </m:r>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m:t>
                                      </m:r>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𝟏</m:t>
                                      </m:r>
                                    </m:sub>
                                    <m:sup>
                                      <m:sSub>
                                        <m:sSubPr>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𝑵</m:t>
                                          </m:r>
                                        </m:e>
                                        <m:sub>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𝟎</m:t>
                                          </m:r>
                                        </m:sub>
                                      </m:sSub>
                                    </m:sup>
                                    <m:e>
                                      <m:sSub>
                                        <m:sSubPr>
                                          <m:ctrlPr>
                                            <a:rPr kumimoji="0" lang="en-US" sz="2000" b="1" i="1" u="none" strike="noStrike" kern="1200" cap="none" spc="0" normalizeH="0" baseline="0" noProof="0" dirty="0">
                                              <a:ln>
                                                <a:noFill/>
                                              </a:ln>
                                              <a:solidFill>
                                                <a:srgbClr val="5B9BD5">
                                                  <a:lumMod val="75000"/>
                                                </a:srgbClr>
                                              </a:solidFill>
                                              <a:effectLst/>
                                              <a:uLnTx/>
                                              <a:uFillTx/>
                                              <a:latin typeface="Cambria Math" panose="02040503050406030204" pitchFamily="18" charset="0"/>
                                              <a:ea typeface="+mn-ea"/>
                                              <a:cs typeface="+mn-cs"/>
                                            </a:rPr>
                                          </m:ctrlPr>
                                        </m:sSubPr>
                                        <m:e>
                                          <m:acc>
                                            <m:accPr>
                                              <m:chr m:val="̂"/>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𝒚</m:t>
                                              </m:r>
                                            </m:e>
                                          </m:acc>
                                        </m:e>
                                        <m:sub>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𝒌</m:t>
                                          </m:r>
                                        </m:sub>
                                      </m:sSub>
                                      <m:d>
                                        <m:dPr>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dPr>
                                        <m:e>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𝟏</m:t>
                                          </m:r>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m:t>
                                          </m:r>
                                          <m:sSub>
                                            <m:sSubPr>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𝒚</m:t>
                                              </m:r>
                                            </m:e>
                                            <m:sub>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𝒌</m:t>
                                              </m:r>
                                            </m:sub>
                                          </m:sSub>
                                        </m:e>
                                      </m:d>
                                    </m:e>
                                  </m:nary>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m:t>
                                  </m:r>
                                  <m:f>
                                    <m:fPr>
                                      <m:ctrlPr>
                                        <a:rPr kumimoji="0" lang="en-US" sz="2000" b="1" i="1" u="none" strike="noStrike" kern="1200" cap="none" spc="0" normalizeH="0" baseline="0" noProof="0" smtClean="0">
                                          <a:ln>
                                            <a:noFill/>
                                          </a:ln>
                                          <a:solidFill>
                                            <a:srgbClr val="4472C4">
                                              <a:lumMod val="75000"/>
                                            </a:srgbClr>
                                          </a:solidFill>
                                          <a:effectLst/>
                                          <a:uLnTx/>
                                          <a:uFillTx/>
                                          <a:latin typeface="Cambria Math" panose="02040503050406030204" pitchFamily="18" charset="0"/>
                                          <a:ea typeface="+mn-ea"/>
                                          <a:cs typeface="+mn-cs"/>
                                        </a:rPr>
                                      </m:ctrlPr>
                                    </m:fPr>
                                    <m:num>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𝟏</m:t>
                                      </m:r>
                                    </m:num>
                                    <m:den>
                                      <m:sSub>
                                        <m:sSubPr>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𝑵</m:t>
                                          </m:r>
                                        </m:e>
                                        <m:sub>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𝟏</m:t>
                                          </m:r>
                                        </m:sub>
                                      </m:sSub>
                                    </m:den>
                                  </m:f>
                                  <m:nary>
                                    <m:naryPr>
                                      <m:chr m:val="∑"/>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naryPr>
                                    <m:sub>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𝒌</m:t>
                                      </m:r>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m:t>
                                      </m:r>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𝟏</m:t>
                                      </m:r>
                                    </m:sub>
                                    <m:sup>
                                      <m:sSub>
                                        <m:sSubPr>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𝑵</m:t>
                                          </m:r>
                                        </m:e>
                                        <m:sub>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𝟏</m:t>
                                          </m:r>
                                        </m:sub>
                                      </m:sSub>
                                    </m:sup>
                                    <m:e>
                                      <m:sSub>
                                        <m:sSubPr>
                                          <m:ctrlPr>
                                            <a:rPr kumimoji="0" lang="en-US" sz="2000" b="1" i="1" u="none" strike="noStrike" kern="1200" cap="none" spc="0" normalizeH="0" baseline="0" noProof="0" dirty="0">
                                              <a:ln>
                                                <a:noFill/>
                                              </a:ln>
                                              <a:solidFill>
                                                <a:srgbClr val="4472C4">
                                                  <a:lumMod val="75000"/>
                                                </a:srgbClr>
                                              </a:solidFill>
                                              <a:effectLst/>
                                              <a:uLnTx/>
                                              <a:uFillTx/>
                                              <a:latin typeface="Cambria Math" panose="02040503050406030204" pitchFamily="18" charset="0"/>
                                              <a:ea typeface="+mn-ea"/>
                                              <a:cs typeface="+mn-cs"/>
                                            </a:rPr>
                                          </m:ctrlPr>
                                        </m:sSubPr>
                                        <m:e>
                                          <m:acc>
                                            <m:accPr>
                                              <m:chr m:val="̂"/>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𝒚</m:t>
                                              </m:r>
                                            </m:e>
                                          </m:acc>
                                        </m:e>
                                        <m:sub>
                                          <m:r>
                                            <a:rPr kumimoji="0" lang="en-US" sz="2000" b="1" i="1" u="none" strike="noStrike" kern="1200" cap="none" spc="0" normalizeH="0" baseline="0" noProof="0" dirty="0">
                                              <a:ln>
                                                <a:noFill/>
                                              </a:ln>
                                              <a:solidFill>
                                                <a:srgbClr val="4472C4">
                                                  <a:lumMod val="75000"/>
                                                </a:srgbClr>
                                              </a:solidFill>
                                              <a:effectLst/>
                                              <a:uLnTx/>
                                              <a:uFillTx/>
                                              <a:latin typeface="Cambria Math" panose="02040503050406030204" pitchFamily="18" charset="0"/>
                                              <a:ea typeface="+mn-ea"/>
                                              <a:cs typeface="+mn-cs"/>
                                            </a:rPr>
                                            <m:t>𝒋</m:t>
                                          </m:r>
                                        </m:sub>
                                      </m:sSub>
                                      <m:d>
                                        <m:dPr>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dPr>
                                        <m:e>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𝟏</m:t>
                                          </m:r>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m:t>
                                          </m:r>
                                          <m:sSub>
                                            <m:sSubPr>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𝒚</m:t>
                                              </m:r>
                                            </m:e>
                                            <m:sub>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𝒋</m:t>
                                              </m:r>
                                            </m:sub>
                                          </m:sSub>
                                        </m:e>
                                      </m:d>
                                      <m:r>
                                        <a:rPr kumimoji="0" lang="en-US" sz="2000" b="1" i="1" u="none" strike="noStrike" kern="1200" cap="none" spc="0" normalizeH="0" baseline="0" noProof="0" smtClean="0">
                                          <a:ln>
                                            <a:noFill/>
                                          </a:ln>
                                          <a:solidFill>
                                            <a:srgbClr val="4472C4">
                                              <a:lumMod val="75000"/>
                                            </a:srgbClr>
                                          </a:solidFill>
                                          <a:effectLst/>
                                          <a:uLnTx/>
                                          <a:uFillTx/>
                                          <a:latin typeface="Cambria Math" panose="02040503050406030204" pitchFamily="18" charset="0"/>
                                          <a:ea typeface="+mn-ea"/>
                                          <a:cs typeface="+mn-cs"/>
                                        </a:rPr>
                                        <m:t> </m:t>
                                      </m:r>
                                    </m:e>
                                  </m:nary>
                                </m:e>
                              </m:d>
                            </m:e>
                          </m:nary>
                        </m:e>
                      </m:nary>
                    </m:oMath>
                  </m:oMathPara>
                </a14:m>
                <a:endParaRPr kumimoji="0" lang="en-US" sz="2000" b="1"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14" name="TextBox 13">
                <a:extLst>
                  <a:ext uri="{FF2B5EF4-FFF2-40B4-BE49-F238E27FC236}">
                    <a16:creationId xmlns:a16="http://schemas.microsoft.com/office/drawing/2014/main" id="{23E4C892-1903-4252-8045-33445C5D72D9}"/>
                  </a:ext>
                </a:extLst>
              </p:cNvPr>
              <p:cNvSpPr txBox="1">
                <a:spLocks noRot="1" noChangeAspect="1" noMove="1" noResize="1" noEditPoints="1" noAdjustHandles="1" noChangeArrowheads="1" noChangeShapeType="1" noTextEdit="1"/>
              </p:cNvSpPr>
              <p:nvPr/>
            </p:nvSpPr>
            <p:spPr>
              <a:xfrm>
                <a:off x="1948813" y="1435487"/>
                <a:ext cx="8166700" cy="107054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Content Placeholder 2">
                <a:extLst>
                  <a:ext uri="{FF2B5EF4-FFF2-40B4-BE49-F238E27FC236}">
                    <a16:creationId xmlns:a16="http://schemas.microsoft.com/office/drawing/2014/main" id="{35BA1D52-C19D-4EF4-8E02-88C661AA86A2}"/>
                  </a:ext>
                </a:extLst>
              </p:cNvPr>
              <p:cNvSpPr txBox="1">
                <a:spLocks/>
              </p:cNvSpPr>
              <p:nvPr/>
            </p:nvSpPr>
            <p:spPr>
              <a:xfrm>
                <a:off x="935246" y="4546884"/>
                <a:ext cx="3114040" cy="132556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14:m>
                  <m:oMath xmlns:m="http://schemas.openxmlformats.org/officeDocument/2006/math">
                    <m:sSup>
                      <m:sSupPr>
                        <m:ctrlP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sSupPr>
                      <m:e>
                        <m:d>
                          <m:dPr>
                            <m:ctrlP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dPr>
                          <m:e>
                            <m:sSub>
                              <m:sSubPr>
                                <m:ctrlP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sSubPr>
                              <m:e>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𝒚</m:t>
                                </m:r>
                              </m:e>
                              <m:sub>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𝒊</m:t>
                                </m:r>
                              </m:sub>
                            </m:sSub>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sSub>
                              <m:sSubPr>
                                <m:ctrlP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sSubPr>
                              <m:e>
                                <m:acc>
                                  <m:accPr>
                                    <m:chr m:val="̂"/>
                                    <m:ctrlP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accPr>
                                  <m:e>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𝒚</m:t>
                                    </m:r>
                                  </m:e>
                                </m:acc>
                              </m:e>
                              <m:sub>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𝒊</m:t>
                                </m:r>
                              </m:sub>
                            </m:sSub>
                          </m:e>
                        </m:d>
                      </m:e>
                      <m:sup>
                        <m:r>
                          <a:rPr kumimoji="0" lang="en-US" sz="2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𝟐</m:t>
                        </m:r>
                      </m:sup>
                    </m:sSup>
                  </m:oMath>
                </a14:m>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How much do want to reduce error in the training data?</a:t>
                </a:r>
              </a:p>
            </p:txBody>
          </p:sp>
        </mc:Choice>
        <mc:Fallback>
          <p:sp>
            <p:nvSpPr>
              <p:cNvPr id="15" name="Content Placeholder 2">
                <a:extLst>
                  <a:ext uri="{FF2B5EF4-FFF2-40B4-BE49-F238E27FC236}">
                    <a16:creationId xmlns:a16="http://schemas.microsoft.com/office/drawing/2014/main" id="{35BA1D52-C19D-4EF4-8E02-88C661AA86A2}"/>
                  </a:ext>
                </a:extLst>
              </p:cNvPr>
              <p:cNvSpPr txBox="1">
                <a:spLocks noRot="1" noChangeAspect="1" noMove="1" noResize="1" noEditPoints="1" noAdjustHandles="1" noChangeArrowheads="1" noChangeShapeType="1" noTextEdit="1"/>
              </p:cNvSpPr>
              <p:nvPr/>
            </p:nvSpPr>
            <p:spPr>
              <a:xfrm>
                <a:off x="935246" y="4546884"/>
                <a:ext cx="3114040" cy="1325563"/>
              </a:xfrm>
              <a:prstGeom prst="rect">
                <a:avLst/>
              </a:prstGeom>
              <a:blipFill>
                <a:blip r:embed="rId7"/>
                <a:stretch>
                  <a:fillRect l="-2544" t="-9217" r="-4110" b="-59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30531E93-C84D-4903-B8EB-6F815FB7D643}"/>
                  </a:ext>
                </a:extLst>
              </p:cNvPr>
              <p:cNvSpPr txBox="1">
                <a:spLocks/>
              </p:cNvSpPr>
              <p:nvPr/>
            </p:nvSpPr>
            <p:spPr>
              <a:xfrm>
                <a:off x="8142714" y="4546884"/>
                <a:ext cx="3114040" cy="132556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14:m>
                  <m:oMath xmlns:m="http://schemas.openxmlformats.org/officeDocument/2006/math">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𝜸</m:t>
                    </m:r>
                    <m:d>
                      <m:dPr>
                        <m:begChr m:val="["/>
                        <m:endChr m:val="|"/>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dPr>
                      <m:e>
                        <m:f>
                          <m:fPr>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fPr>
                          <m:num>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𝟏</m:t>
                            </m:r>
                          </m:num>
                          <m:den>
                            <m:sSub>
                              <m:sSubPr>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𝑵</m:t>
                                </m:r>
                              </m:e>
                              <m:sub>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𝟎</m:t>
                                </m:r>
                              </m:sub>
                            </m:sSub>
                          </m:den>
                        </m:f>
                        <m:nary>
                          <m:naryPr>
                            <m:chr m:val="∑"/>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naryPr>
                          <m:sub>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𝒌</m:t>
                            </m:r>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m:t>
                            </m:r>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𝟏</m:t>
                            </m:r>
                          </m:sub>
                          <m:sup>
                            <m:sSub>
                              <m:sSubPr>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𝑵</m:t>
                                </m:r>
                              </m:e>
                              <m:sub>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𝟎</m:t>
                                </m:r>
                              </m:sub>
                            </m:sSub>
                          </m:sup>
                          <m:e>
                            <m:sSub>
                              <m:sSubPr>
                                <m:ctrlPr>
                                  <a:rPr kumimoji="0" lang="en-US" sz="2000" b="1" i="1" u="none" strike="noStrike" kern="1200" cap="none" spc="0" normalizeH="0" baseline="0" noProof="0" dirty="0">
                                    <a:ln>
                                      <a:noFill/>
                                    </a:ln>
                                    <a:solidFill>
                                      <a:srgbClr val="5B9BD5">
                                        <a:lumMod val="75000"/>
                                      </a:srgbClr>
                                    </a:solidFill>
                                    <a:effectLst/>
                                    <a:uLnTx/>
                                    <a:uFillTx/>
                                    <a:latin typeface="Cambria Math" panose="02040503050406030204" pitchFamily="18" charset="0"/>
                                    <a:ea typeface="+mn-ea"/>
                                    <a:cs typeface="+mn-cs"/>
                                  </a:rPr>
                                </m:ctrlPr>
                              </m:sSubPr>
                              <m:e>
                                <m:acc>
                                  <m:accPr>
                                    <m:chr m:val="̂"/>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𝒚</m:t>
                                    </m:r>
                                  </m:e>
                                </m:acc>
                              </m:e>
                              <m:sub>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𝒌</m:t>
                                </m:r>
                              </m:sub>
                            </m:sSub>
                            <m:d>
                              <m:dPr>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dPr>
                              <m:e>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𝟏</m:t>
                                </m:r>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m:t>
                                </m:r>
                                <m:sSub>
                                  <m:sSubPr>
                                    <m:ctrlP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𝒚</m:t>
                                    </m:r>
                                  </m:e>
                                  <m:sub>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𝒌</m:t>
                                    </m:r>
                                  </m:sub>
                                </m:sSub>
                              </m:e>
                            </m:d>
                          </m:e>
                        </m:nary>
                        <m:r>
                          <a:rPr kumimoji="0" lang="en-US" sz="2000" b="1" i="1" u="none" strike="noStrike" kern="1200" cap="none" spc="0" normalizeH="0" baseline="0" noProof="0">
                            <a:ln>
                              <a:noFill/>
                            </a:ln>
                            <a:solidFill>
                              <a:srgbClr val="5B9BD5">
                                <a:lumMod val="75000"/>
                              </a:srgbClr>
                            </a:solidFill>
                            <a:effectLst/>
                            <a:uLnTx/>
                            <a:uFillTx/>
                            <a:latin typeface="Cambria Math" panose="02040503050406030204" pitchFamily="18" charset="0"/>
                            <a:ea typeface="+mn-ea"/>
                            <a:cs typeface="+mn-cs"/>
                          </a:rPr>
                          <m:t>−</m:t>
                        </m:r>
                        <m:f>
                          <m:fPr>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fPr>
                          <m:num>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𝟏</m:t>
                            </m:r>
                          </m:num>
                          <m:den>
                            <m:sSub>
                              <m:sSubPr>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𝑵</m:t>
                                </m:r>
                              </m:e>
                              <m:sub>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𝟏</m:t>
                                </m:r>
                              </m:sub>
                            </m:sSub>
                          </m:den>
                        </m:f>
                        <m:nary>
                          <m:naryPr>
                            <m:chr m:val="∑"/>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naryPr>
                          <m:sub>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𝒌</m:t>
                            </m:r>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m:t>
                            </m:r>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𝟏</m:t>
                            </m:r>
                          </m:sub>
                          <m:sup>
                            <m:sSub>
                              <m:sSubPr>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𝑵</m:t>
                                </m:r>
                              </m:e>
                              <m:sub>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𝟏</m:t>
                                </m:r>
                              </m:sub>
                            </m:sSub>
                          </m:sup>
                          <m:e>
                            <m:sSub>
                              <m:sSubPr>
                                <m:ctrlPr>
                                  <a:rPr kumimoji="0" lang="en-US" sz="2000" b="1" i="1" u="none" strike="noStrike" kern="1200" cap="none" spc="0" normalizeH="0" baseline="0" noProof="0" dirty="0">
                                    <a:ln>
                                      <a:noFill/>
                                    </a:ln>
                                    <a:solidFill>
                                      <a:srgbClr val="4472C4">
                                        <a:lumMod val="75000"/>
                                      </a:srgbClr>
                                    </a:solidFill>
                                    <a:effectLst/>
                                    <a:uLnTx/>
                                    <a:uFillTx/>
                                    <a:latin typeface="Cambria Math" panose="02040503050406030204" pitchFamily="18" charset="0"/>
                                    <a:ea typeface="+mn-ea"/>
                                    <a:cs typeface="+mn-cs"/>
                                  </a:rPr>
                                </m:ctrlPr>
                              </m:sSubPr>
                              <m:e>
                                <m:acc>
                                  <m:accPr>
                                    <m:chr m:val="̂"/>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accPr>
                                  <m:e>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𝒚</m:t>
                                    </m:r>
                                  </m:e>
                                </m:acc>
                              </m:e>
                              <m:sub>
                                <m:r>
                                  <a:rPr kumimoji="0" lang="en-US" sz="2000" b="1" i="1" u="none" strike="noStrike" kern="1200" cap="none" spc="0" normalizeH="0" baseline="0" noProof="0" dirty="0">
                                    <a:ln>
                                      <a:noFill/>
                                    </a:ln>
                                    <a:solidFill>
                                      <a:srgbClr val="4472C4">
                                        <a:lumMod val="75000"/>
                                      </a:srgbClr>
                                    </a:solidFill>
                                    <a:effectLst/>
                                    <a:uLnTx/>
                                    <a:uFillTx/>
                                    <a:latin typeface="Cambria Math" panose="02040503050406030204" pitchFamily="18" charset="0"/>
                                    <a:ea typeface="+mn-ea"/>
                                    <a:cs typeface="+mn-cs"/>
                                  </a:rPr>
                                  <m:t>𝒋</m:t>
                                </m:r>
                              </m:sub>
                            </m:sSub>
                            <m:d>
                              <m:dPr>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dPr>
                              <m:e>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𝟏</m:t>
                                </m:r>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m:t>
                                </m:r>
                                <m:sSub>
                                  <m:sSubPr>
                                    <m:ctrlP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𝒚</m:t>
                                    </m:r>
                                  </m:e>
                                  <m:sub>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𝒋</m:t>
                                    </m:r>
                                  </m:sub>
                                </m:sSub>
                              </m:e>
                            </m:d>
                            <m:r>
                              <a:rPr kumimoji="0" lang="en-US" sz="2000" b="1" i="1" u="none" strike="noStrike" kern="1200" cap="none" spc="0" normalizeH="0" baseline="0" noProof="0">
                                <a:ln>
                                  <a:noFill/>
                                </a:ln>
                                <a:solidFill>
                                  <a:srgbClr val="4472C4">
                                    <a:lumMod val="75000"/>
                                  </a:srgbClr>
                                </a:solidFill>
                                <a:effectLst/>
                                <a:uLnTx/>
                                <a:uFillTx/>
                                <a:latin typeface="Cambria Math" panose="02040503050406030204" pitchFamily="18" charset="0"/>
                                <a:ea typeface="+mn-ea"/>
                                <a:cs typeface="+mn-cs"/>
                              </a:rPr>
                              <m:t> </m:t>
                            </m:r>
                          </m:e>
                        </m:nary>
                      </m:e>
                    </m:d>
                  </m:oMath>
                </a14:m>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How much do we want to reduce disparities in False Positive Rates?</a:t>
                </a:r>
              </a:p>
            </p:txBody>
          </p:sp>
        </mc:Choice>
        <mc:Fallback xmlns="">
          <p:sp>
            <p:nvSpPr>
              <p:cNvPr id="16" name="Content Placeholder 2">
                <a:extLst>
                  <a:ext uri="{FF2B5EF4-FFF2-40B4-BE49-F238E27FC236}">
                    <a16:creationId xmlns:a16="http://schemas.microsoft.com/office/drawing/2014/main" id="{30531E93-C84D-4903-B8EB-6F815FB7D643}"/>
                  </a:ext>
                </a:extLst>
              </p:cNvPr>
              <p:cNvSpPr txBox="1">
                <a:spLocks noRot="1" noChangeAspect="1" noMove="1" noResize="1" noEditPoints="1" noAdjustHandles="1" noChangeArrowheads="1" noChangeShapeType="1" noTextEdit="1"/>
              </p:cNvSpPr>
              <p:nvPr/>
            </p:nvSpPr>
            <p:spPr>
              <a:xfrm>
                <a:off x="8142714" y="4546884"/>
                <a:ext cx="3114040" cy="1325563"/>
              </a:xfrm>
              <a:prstGeom prst="rect">
                <a:avLst/>
              </a:prstGeom>
              <a:blipFill>
                <a:blip r:embed="rId8"/>
                <a:stretch>
                  <a:fillRect l="-2348" t="-15207" r="-1566" b="-461"/>
                </a:stretch>
              </a:blipFill>
            </p:spPr>
            <p:txBody>
              <a:bodyPr/>
              <a:lstStyle/>
              <a:p>
                <a:r>
                  <a:rPr lang="en-US">
                    <a:noFill/>
                  </a:rPr>
                  <a:t> </a:t>
                </a:r>
              </a:p>
            </p:txBody>
          </p:sp>
        </mc:Fallback>
      </mc:AlternateContent>
    </p:spTree>
    <p:extLst>
      <p:ext uri="{BB962C8B-B14F-4D97-AF65-F5344CB8AC3E}">
        <p14:creationId xmlns:p14="http://schemas.microsoft.com/office/powerpoint/2010/main" val="886747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A626C-6016-4AFE-A3A3-82B8BA196E1C}"/>
              </a:ext>
            </a:extLst>
          </p:cNvPr>
          <p:cNvSpPr>
            <a:spLocks noGrp="1"/>
          </p:cNvSpPr>
          <p:nvPr>
            <p:ph type="title"/>
          </p:nvPr>
        </p:nvSpPr>
        <p:spPr>
          <a:xfrm>
            <a:off x="838200" y="2766218"/>
            <a:ext cx="10515600" cy="1325563"/>
          </a:xfrm>
        </p:spPr>
        <p:txBody>
          <a:bodyPr>
            <a:normAutofit/>
          </a:bodyPr>
          <a:lstStyle/>
          <a:p>
            <a:pPr algn="ctr"/>
            <a:r>
              <a:rPr lang="en-US" dirty="0">
                <a:solidFill>
                  <a:schemeClr val="bg1"/>
                </a:solidFill>
              </a:rPr>
              <a:t>The Importance of Base Rates</a:t>
            </a:r>
          </a:p>
        </p:txBody>
      </p:sp>
    </p:spTree>
    <p:extLst>
      <p:ext uri="{BB962C8B-B14F-4D97-AF65-F5344CB8AC3E}">
        <p14:creationId xmlns:p14="http://schemas.microsoft.com/office/powerpoint/2010/main" val="2938222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7C3DB9-ADFE-4DB9-B71B-00CD07D93A35}"/>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=1|</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 </m:t>
                      </m:r>
                      <m:r>
                        <a:rPr lang="en-US" b="0" i="1" smtClean="0">
                          <a:latin typeface="Cambria Math" panose="02040503050406030204" pitchFamily="18" charset="0"/>
                        </a:rPr>
                        <m:t>𝑅𝑎𝑐𝑒</m:t>
                      </m:r>
                      <m:r>
                        <a:rPr lang="en-US" b="0" i="1" smtClean="0">
                          <a:latin typeface="Cambria Math" panose="02040503050406030204" pitchFamily="18" charset="0"/>
                        </a:rPr>
                        <m:t>)</m:t>
                      </m:r>
                    </m:oMath>
                  </m:oMathPara>
                </a14:m>
                <a:endParaRPr lang="en-US" dirty="0"/>
              </a:p>
            </p:txBody>
          </p:sp>
        </mc:Choice>
        <mc:Fallback xmlns="">
          <p:sp>
            <p:nvSpPr>
              <p:cNvPr id="2" name="Title 1">
                <a:extLst>
                  <a:ext uri="{FF2B5EF4-FFF2-40B4-BE49-F238E27FC236}">
                    <a16:creationId xmlns:a16="http://schemas.microsoft.com/office/drawing/2014/main" id="{CD7C3DB9-ADFE-4DB9-B71B-00CD07D93A35}"/>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768349-CDFB-4DAE-97F3-92746003DD88}"/>
                  </a:ext>
                </a:extLst>
              </p:cNvPr>
              <p:cNvSpPr txBox="1"/>
              <p:nvPr/>
            </p:nvSpPr>
            <p:spPr>
              <a:xfrm>
                <a:off x="838200" y="1793429"/>
                <a:ext cx="6277510" cy="4517968"/>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=.25+.25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𝑟𝑎𝑐𝑒</m:t>
                    </m:r>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e>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.25+.25 </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 </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 </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0⋅0</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=.25</m:t>
                    </m:r>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𝑃</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2021</m:t>
                            </m:r>
                          </m:sub>
                        </m:sSub>
                      </m:e>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2020</m:t>
                            </m:r>
                          </m:sub>
                        </m:s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𝑅𝑎𝑐𝑒</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d>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.25+.25 </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e>
                    </m:d>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+.08 </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e>
                    </m:d>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+.08 </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0⋅1</m:t>
                        </m:r>
                      </m:e>
                    </m:d>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=.33</m:t>
                    </m:r>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e>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.25+.25 </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 </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 </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𝑃</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2021</m:t>
                            </m:r>
                          </m:sub>
                        </m:sSub>
                      </m:e>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𝐴𝑟𝑟𝑒𝑠</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𝑡</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2020</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𝑅𝑎𝑐𝑒</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d>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.25+.25 </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 </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+.08 </m:t>
                    </m:r>
                    <m:d>
                      <m:d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1⋅1</m:t>
                        </m:r>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=.66</m:t>
                    </m:r>
                  </m:oMath>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EC768349-CDFB-4DAE-97F3-92746003DD88}"/>
                  </a:ext>
                </a:extLst>
              </p:cNvPr>
              <p:cNvSpPr txBox="1">
                <a:spLocks noRot="1" noChangeAspect="1" noMove="1" noResize="1" noEditPoints="1" noAdjustHandles="1" noChangeArrowheads="1" noChangeShapeType="1" noTextEdit="1"/>
              </p:cNvSpPr>
              <p:nvPr/>
            </p:nvSpPr>
            <p:spPr>
              <a:xfrm>
                <a:off x="838200" y="1793429"/>
                <a:ext cx="6277510" cy="4517968"/>
              </a:xfrm>
              <a:prstGeom prst="rect">
                <a:avLst/>
              </a:prstGeom>
              <a:blipFill>
                <a:blip r:embed="rId3"/>
                <a:stretch>
                  <a:fillRect l="-680" t="-1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Content Placeholder 4">
                <a:extLst>
                  <a:ext uri="{FF2B5EF4-FFF2-40B4-BE49-F238E27FC236}">
                    <a16:creationId xmlns:a16="http://schemas.microsoft.com/office/drawing/2014/main" id="{D4BADC0D-D156-4221-A03C-6F68554F48EC}"/>
                  </a:ext>
                </a:extLst>
              </p:cNvPr>
              <p:cNvGraphicFramePr>
                <a:graphicFrameLocks/>
              </p:cNvGraphicFramePr>
              <p:nvPr/>
            </p:nvGraphicFramePr>
            <p:xfrm>
              <a:off x="7274103" y="1793429"/>
              <a:ext cx="4777486" cy="4720386"/>
            </p:xfrm>
            <a:graphic>
              <a:graphicData uri="http://schemas.openxmlformats.org/drawingml/2006/table">
                <a:tbl>
                  <a:tblPr firstRow="1" lastCol="1">
                    <a:tableStyleId>{9D7B26C5-4107-4FEC-AEDC-1716B250A1EF}</a:tableStyleId>
                  </a:tblPr>
                  <a:tblGrid>
                    <a:gridCol w="618514">
                      <a:extLst>
                        <a:ext uri="{9D8B030D-6E8A-4147-A177-3AD203B41FA5}">
                          <a16:colId xmlns:a16="http://schemas.microsoft.com/office/drawing/2014/main" val="363316257"/>
                        </a:ext>
                      </a:extLst>
                    </a:gridCol>
                    <a:gridCol w="999587">
                      <a:extLst>
                        <a:ext uri="{9D8B030D-6E8A-4147-A177-3AD203B41FA5}">
                          <a16:colId xmlns:a16="http://schemas.microsoft.com/office/drawing/2014/main" val="1940546229"/>
                        </a:ext>
                      </a:extLst>
                    </a:gridCol>
                    <a:gridCol w="1258663">
                      <a:extLst>
                        <a:ext uri="{9D8B030D-6E8A-4147-A177-3AD203B41FA5}">
                          <a16:colId xmlns:a16="http://schemas.microsoft.com/office/drawing/2014/main" val="2416451057"/>
                        </a:ext>
                      </a:extLst>
                    </a:gridCol>
                    <a:gridCol w="1006868">
                      <a:extLst>
                        <a:ext uri="{9D8B030D-6E8A-4147-A177-3AD203B41FA5}">
                          <a16:colId xmlns:a16="http://schemas.microsoft.com/office/drawing/2014/main" val="1099521159"/>
                        </a:ext>
                      </a:extLst>
                    </a:gridCol>
                    <a:gridCol w="893854">
                      <a:extLst>
                        <a:ext uri="{9D8B030D-6E8A-4147-A177-3AD203B41FA5}">
                          <a16:colId xmlns:a16="http://schemas.microsoft.com/office/drawing/2014/main" val="2425217269"/>
                        </a:ext>
                      </a:extLst>
                    </a:gridCol>
                  </a:tblGrid>
                  <a:tr h="439050">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𝑟𝑎𝑐𝑒</m:t>
                                </m:r>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200" b="0" u="none" strike="noStrike" dirty="0" smtClean="0">
                                    <a:solidFill>
                                      <a:srgbClr val="000000"/>
                                    </a:solidFill>
                                    <a:effectLst/>
                                    <a:latin typeface="Cambria Math" panose="02040503050406030204" pitchFamily="18" charset="0"/>
                                  </a:rPr>
                                  <m:t>𝑟𝑎𝑐𝑒</m:t>
                                </m:r>
                                <m:r>
                                  <a:rPr lang="en-US" sz="1200" b="0" u="none" strike="noStrike" dirty="0" smtClean="0">
                                    <a:solidFill>
                                      <a:srgbClr val="000000"/>
                                    </a:solidFill>
                                    <a:effectLst/>
                                    <a:latin typeface="Cambria Math" panose="02040503050406030204" pitchFamily="18" charset="0"/>
                                  </a:rPr>
                                  <m:t> :</m:t>
                                </m:r>
                                <m:r>
                                  <a:rPr lang="en-US" sz="1200" b="0" u="none" strike="noStrike" dirty="0" smtClean="0">
                                    <a:solidFill>
                                      <a:srgbClr val="000000"/>
                                    </a:solidFill>
                                    <a:effectLst/>
                                    <a:latin typeface="Cambria Math" panose="02040503050406030204" pitchFamily="18" charset="0"/>
                                  </a:rPr>
                                  <m:t>𝑎𝑟𝑟𝑒𝑠</m:t>
                                </m:r>
                                <m:sSub>
                                  <m:sSubPr>
                                    <m:ctrlPr>
                                      <a:rPr lang="en-US" sz="1200" b="0" i="1" u="none" strike="noStrike" dirty="0" smtClean="0">
                                        <a:solidFill>
                                          <a:srgbClr val="000000"/>
                                        </a:solidFill>
                                        <a:effectLst/>
                                        <a:latin typeface="Cambria Math" panose="02040503050406030204" pitchFamily="18" charset="0"/>
                                      </a:rPr>
                                    </m:ctrlPr>
                                  </m:sSubPr>
                                  <m:e>
                                    <m:r>
                                      <a:rPr lang="en-US" sz="1200" b="0" u="none" strike="noStrike" dirty="0" smtClean="0">
                                        <a:solidFill>
                                          <a:srgbClr val="000000"/>
                                        </a:solidFill>
                                        <a:effectLst/>
                                        <a:latin typeface="Cambria Math" panose="02040503050406030204" pitchFamily="18" charset="0"/>
                                      </a:rPr>
                                      <m:t>𝑡</m:t>
                                    </m:r>
                                  </m:e>
                                  <m:sub>
                                    <m:r>
                                      <a:rPr lang="en-US" sz="1200" b="0" u="none" strike="noStrike" dirty="0" smtClean="0">
                                        <a:solidFill>
                                          <a:srgbClr val="000000"/>
                                        </a:solidFill>
                                        <a:effectLst/>
                                        <a:latin typeface="Cambria Math" panose="02040503050406030204" pitchFamily="18" charset="0"/>
                                      </a:rPr>
                                      <m:t>20</m:t>
                                    </m:r>
                                    <m:r>
                                      <a:rPr lang="en-US" sz="1200" b="0" i="0" u="none" strike="noStrike" dirty="0" smtClean="0">
                                        <a:solidFill>
                                          <a:srgbClr val="000000"/>
                                        </a:solidFill>
                                        <a:effectLst/>
                                        <a:latin typeface="Cambria Math" panose="02040503050406030204" pitchFamily="18" charset="0"/>
                                      </a:rPr>
                                      <m:t>20</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r>
                                  <a:rPr lang="en-US" sz="1400" b="0" u="none" strike="noStrike" dirty="0" smtClean="0">
                                    <a:solidFill>
                                      <a:srgbClr val="000000"/>
                                    </a:solidFill>
                                    <a:effectLst/>
                                    <a:latin typeface="Cambria Math" panose="02040503050406030204" pitchFamily="18" charset="0"/>
                                  </a:rPr>
                                  <m:t>𝑎𝑟𝑟𝑒𝑠</m:t>
                                </m:r>
                                <m:sSub>
                                  <m:sSubPr>
                                    <m:ctrlPr>
                                      <a:rPr lang="en-US" sz="1400" b="0" i="1" u="none" strike="noStrike" dirty="0" smtClean="0">
                                        <a:solidFill>
                                          <a:srgbClr val="000000"/>
                                        </a:solidFill>
                                        <a:effectLst/>
                                        <a:latin typeface="Cambria Math" panose="02040503050406030204" pitchFamily="18" charset="0"/>
                                      </a:rPr>
                                    </m:ctrlPr>
                                  </m:sSubPr>
                                  <m:e>
                                    <m:r>
                                      <a:rPr lang="en-US" sz="1400" b="0" u="none" strike="noStrike" dirty="0" smtClean="0">
                                        <a:solidFill>
                                          <a:srgbClr val="000000"/>
                                        </a:solidFill>
                                        <a:effectLst/>
                                        <a:latin typeface="Cambria Math" panose="02040503050406030204" pitchFamily="18" charset="0"/>
                                      </a:rPr>
                                      <m:t>𝑡</m:t>
                                    </m:r>
                                  </m:e>
                                  <m:sub>
                                    <m:r>
                                      <a:rPr lang="en-US" sz="1400" b="0" u="none" strike="noStrike" dirty="0" smtClean="0">
                                        <a:solidFill>
                                          <a:srgbClr val="000000"/>
                                        </a:solidFill>
                                        <a:effectLst/>
                                        <a:latin typeface="Cambria Math" panose="02040503050406030204" pitchFamily="18" charset="0"/>
                                      </a:rPr>
                                      <m:t>20</m:t>
                                    </m:r>
                                    <m:r>
                                      <a:rPr lang="en-US" sz="1400" b="0" i="0" u="none" strike="noStrike" dirty="0" smtClean="0">
                                        <a:solidFill>
                                          <a:srgbClr val="000000"/>
                                        </a:solidFill>
                                        <a:effectLst/>
                                        <a:latin typeface="Cambria Math" panose="02040503050406030204" pitchFamily="18" charset="0"/>
                                      </a:rPr>
                                      <m:t>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tc>
                      <a:txBody>
                        <a:bodyPr/>
                        <a:lstStyle/>
                        <a:p>
                          <a:pPr algn="ctr" fontAlgn="b"/>
                          <a14:m>
                            <m:oMathPara xmlns:m="http://schemas.openxmlformats.org/officeDocument/2006/math">
                              <m:oMathParaPr>
                                <m:jc m:val="centerGroup"/>
                              </m:oMathParaPr>
                              <m:oMath xmlns:m="http://schemas.openxmlformats.org/officeDocument/2006/math">
                                <m:sSub>
                                  <m:sSubPr>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sSubPr>
                                  <m:e>
                                    <m:acc>
                                      <m:accPr>
                                        <m:chr m:val="̂"/>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accPr>
                                      <m:e>
                                        <m:r>
                                          <a:rPr lang="en-US" sz="1400" b="0" i="1" u="none" strike="noStrike" smtClean="0">
                                            <a:solidFill>
                                              <a:srgbClr val="000000"/>
                                            </a:solidFill>
                                            <a:effectLst/>
                                            <a:latin typeface="Cambria Math" panose="02040503050406030204" pitchFamily="18" charset="0"/>
                                            <a:ea typeface="Cambria Math" panose="02040503050406030204" pitchFamily="18" charset="0"/>
                                          </a:rPr>
                                          <m:t>𝑎𝑟𝑟𝑒𝑠𝑡</m:t>
                                        </m:r>
                                      </m:e>
                                    </m:acc>
                                  </m:e>
                                  <m:sub>
                                    <m:r>
                                      <a:rPr lang="en-US" sz="1400" b="0" i="1" u="none" strike="noStrike" smtClean="0">
                                        <a:solidFill>
                                          <a:srgbClr val="000000"/>
                                        </a:solidFill>
                                        <a:effectLst/>
                                        <a:latin typeface="Cambria Math" panose="02040503050406030204" pitchFamily="18" charset="0"/>
                                        <a:ea typeface="Cambria Math" panose="02040503050406030204" pitchFamily="18" charset="0"/>
                                      </a:rPr>
                                      <m:t>2021</m:t>
                                    </m:r>
                                  </m:sub>
                                </m:sSub>
                              </m:oMath>
                            </m:oMathPara>
                          </a14:m>
                          <a:endParaRPr lang="en-US" sz="14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.66</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.66</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.66</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Choice>
        <mc:Fallback xmlns="">
          <p:graphicFrame>
            <p:nvGraphicFramePr>
              <p:cNvPr id="7" name="Content Placeholder 4">
                <a:extLst>
                  <a:ext uri="{FF2B5EF4-FFF2-40B4-BE49-F238E27FC236}">
                    <a16:creationId xmlns:a16="http://schemas.microsoft.com/office/drawing/2014/main" id="{D4BADC0D-D156-4221-A03C-6F68554F48EC}"/>
                  </a:ext>
                </a:extLst>
              </p:cNvPr>
              <p:cNvGraphicFramePr>
                <a:graphicFrameLocks/>
              </p:cNvGraphicFramePr>
              <p:nvPr/>
            </p:nvGraphicFramePr>
            <p:xfrm>
              <a:off x="7274103" y="1793429"/>
              <a:ext cx="4777486" cy="4720386"/>
            </p:xfrm>
            <a:graphic>
              <a:graphicData uri="http://schemas.openxmlformats.org/drawingml/2006/table">
                <a:tbl>
                  <a:tblPr firstRow="1" lastCol="1">
                    <a:tableStyleId>{9D7B26C5-4107-4FEC-AEDC-1716B250A1EF}</a:tableStyleId>
                  </a:tblPr>
                  <a:tblGrid>
                    <a:gridCol w="618514">
                      <a:extLst>
                        <a:ext uri="{9D8B030D-6E8A-4147-A177-3AD203B41FA5}">
                          <a16:colId xmlns:a16="http://schemas.microsoft.com/office/drawing/2014/main" val="363316257"/>
                        </a:ext>
                      </a:extLst>
                    </a:gridCol>
                    <a:gridCol w="999587">
                      <a:extLst>
                        <a:ext uri="{9D8B030D-6E8A-4147-A177-3AD203B41FA5}">
                          <a16:colId xmlns:a16="http://schemas.microsoft.com/office/drawing/2014/main" val="1940546229"/>
                        </a:ext>
                      </a:extLst>
                    </a:gridCol>
                    <a:gridCol w="1258663">
                      <a:extLst>
                        <a:ext uri="{9D8B030D-6E8A-4147-A177-3AD203B41FA5}">
                          <a16:colId xmlns:a16="http://schemas.microsoft.com/office/drawing/2014/main" val="2416451057"/>
                        </a:ext>
                      </a:extLst>
                    </a:gridCol>
                    <a:gridCol w="1006868">
                      <a:extLst>
                        <a:ext uri="{9D8B030D-6E8A-4147-A177-3AD203B41FA5}">
                          <a16:colId xmlns:a16="http://schemas.microsoft.com/office/drawing/2014/main" val="1099521159"/>
                        </a:ext>
                      </a:extLst>
                    </a:gridCol>
                    <a:gridCol w="893854">
                      <a:extLst>
                        <a:ext uri="{9D8B030D-6E8A-4147-A177-3AD203B41FA5}">
                          <a16:colId xmlns:a16="http://schemas.microsoft.com/office/drawing/2014/main" val="2425217269"/>
                        </a:ext>
                      </a:extLst>
                    </a:gridCol>
                  </a:tblGrid>
                  <a:tr h="439050">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4"/>
                          <a:stretch>
                            <a:fillRect l="-980" t="-1389" r="-671569"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4"/>
                          <a:stretch>
                            <a:fillRect l="-62805" t="-1389" r="-317683"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4"/>
                          <a:stretch>
                            <a:fillRect l="-129612" t="-1389" r="-152913"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4"/>
                          <a:stretch>
                            <a:fillRect l="-286667" t="-1389" r="-90909" b="-979167"/>
                          </a:stretch>
                        </a:blipFill>
                      </a:tcPr>
                    </a:tc>
                    <a:tc>
                      <a:txBody>
                        <a:bodyPr/>
                        <a:lstStyle/>
                        <a:p>
                          <a:endParaRPr lang="en-US"/>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blipFill>
                          <a:blip r:embed="rId4"/>
                          <a:stretch>
                            <a:fillRect l="-434014" t="-1389" r="-2041" b="-979167"/>
                          </a:stretch>
                        </a:blipFill>
                      </a:tcPr>
                    </a:tc>
                    <a:extLst>
                      <a:ext uri="{0D108BD9-81ED-4DB2-BD59-A6C34878D82A}">
                        <a16:rowId xmlns:a16="http://schemas.microsoft.com/office/drawing/2014/main" val="2667769391"/>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588591813"/>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203087509"/>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827909527"/>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921346960"/>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936296494"/>
                      </a:ext>
                    </a:extLst>
                  </a:tr>
                  <a:tr h="356778">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.25</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69869810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.66</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15790461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.66</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873983758"/>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.66</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4039279675"/>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i="0" u="none" strike="noStrike" dirty="0">
                              <a:solidFill>
                                <a:srgbClr val="000000"/>
                              </a:solidFill>
                              <a:effectLst/>
                              <a:latin typeface="Cambria Math" panose="02040503050406030204" pitchFamily="18" charset="0"/>
                              <a:ea typeface="Cambria Math" panose="02040503050406030204" pitchFamily="18" charset="0"/>
                            </a:rPr>
                            <a:t>0</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547061316"/>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solidFill>
                      </a:tcPr>
                    </a:tc>
                    <a:tc>
                      <a:txBody>
                        <a:bodyPr/>
                        <a:lstStyle/>
                        <a:p>
                          <a:pPr algn="ctr" fontAlgn="b"/>
                          <a:r>
                            <a:rPr lang="en-US" sz="1200" b="0" u="none" strike="noStrike" dirty="0">
                              <a:solidFill>
                                <a:schemeClr val="bg1"/>
                              </a:solidFill>
                              <a:effectLst/>
                            </a:rPr>
                            <a:t>1</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1441529730"/>
                      </a:ext>
                    </a:extLst>
                  </a:tr>
                  <a:tr h="356778">
                    <a:tc>
                      <a:txBody>
                        <a:bodyPr/>
                        <a:lstStyle/>
                        <a:p>
                          <a:pPr algn="ctr" fontAlgn="b"/>
                          <a:r>
                            <a:rPr lang="en-US" sz="1200" b="0" u="none" strike="noStrike" dirty="0">
                              <a:solidFill>
                                <a:srgbClr val="000000"/>
                              </a:solidFill>
                              <a:effectLst/>
                            </a:rPr>
                            <a:t>1</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rgbClr val="000000"/>
                              </a:solidFill>
                              <a:effectLst/>
                            </a:rPr>
                            <a:t>0</a:t>
                          </a:r>
                          <a:endParaRPr lang="en-US" sz="1200" b="0" i="0" u="none" strike="noStrike" dirty="0">
                            <a:solidFill>
                              <a:srgbClr val="000000"/>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90000"/>
                          </a:schemeClr>
                        </a:solidFill>
                      </a:tcPr>
                    </a:tc>
                    <a:tc>
                      <a:txBody>
                        <a:bodyPr/>
                        <a:lstStyle/>
                        <a:p>
                          <a:pPr algn="ctr" fontAlgn="b"/>
                          <a:r>
                            <a:rPr lang="en-US" sz="1200" b="0" u="none" strike="noStrike" dirty="0">
                              <a:solidFill>
                                <a:schemeClr val="bg1"/>
                              </a:solidFill>
                              <a:effectLst/>
                            </a:rPr>
                            <a:t>0</a:t>
                          </a:r>
                          <a:endParaRPr lang="en-US" sz="1200" b="0" i="0" u="none" strike="noStrike" dirty="0">
                            <a:solidFill>
                              <a:schemeClr val="bg1"/>
                            </a:solidFill>
                            <a:effectLst/>
                            <a:latin typeface="Cambria Math" panose="02040503050406030204" pitchFamily="18" charset="0"/>
                            <a:ea typeface="Cambria Math" panose="02040503050406030204" pitchFamily="18" charset="0"/>
                          </a:endParaRP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tc>
                      <a:txBody>
                        <a:bodyPr/>
                        <a:lstStyle/>
                        <a:p>
                          <a:pPr algn="ctr" fontAlgn="b"/>
                          <a:r>
                            <a:rPr lang="en-US" sz="1200" b="0" i="0" u="none" strike="noStrike" dirty="0">
                              <a:solidFill>
                                <a:schemeClr val="bg1"/>
                              </a:solidFill>
                              <a:effectLst/>
                              <a:latin typeface="Cambria Math" panose="02040503050406030204" pitchFamily="18" charset="0"/>
                              <a:ea typeface="Cambria Math" panose="02040503050406030204" pitchFamily="18" charset="0"/>
                            </a:rPr>
                            <a:t>.33</a:t>
                          </a:r>
                        </a:p>
                      </a:txBody>
                      <a:tcPr marL="6350" marR="6350" marT="6350" marB="0" anchor="ct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94723810"/>
                      </a:ext>
                    </a:extLst>
                  </a:tr>
                </a:tbl>
              </a:graphicData>
            </a:graphic>
          </p:graphicFrame>
        </mc:Fallback>
      </mc:AlternateContent>
    </p:spTree>
    <p:extLst>
      <p:ext uri="{BB962C8B-B14F-4D97-AF65-F5344CB8AC3E}">
        <p14:creationId xmlns:p14="http://schemas.microsoft.com/office/powerpoint/2010/main" val="145989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A5E4-39D4-4C4E-9E08-6EB894177B48}"/>
              </a:ext>
            </a:extLst>
          </p:cNvPr>
          <p:cNvSpPr>
            <a:spLocks noGrp="1"/>
          </p:cNvSpPr>
          <p:nvPr>
            <p:ph type="title"/>
          </p:nvPr>
        </p:nvSpPr>
        <p:spPr/>
        <p:txBody>
          <a:bodyPr/>
          <a:lstStyle/>
          <a:p>
            <a:r>
              <a:rPr lang="en-US" dirty="0"/>
              <a:t>Why Is Race Predictive of the outcome?</a:t>
            </a:r>
          </a:p>
        </p:txBody>
      </p:sp>
      <p:sp>
        <p:nvSpPr>
          <p:cNvPr id="3" name="Content Placeholder 2">
            <a:extLst>
              <a:ext uri="{FF2B5EF4-FFF2-40B4-BE49-F238E27FC236}">
                <a16:creationId xmlns:a16="http://schemas.microsoft.com/office/drawing/2014/main" id="{B75E7ACC-6501-47DD-BE49-4499A4E00F36}"/>
              </a:ext>
            </a:extLst>
          </p:cNvPr>
          <p:cNvSpPr>
            <a:spLocks noGrp="1"/>
          </p:cNvSpPr>
          <p:nvPr>
            <p:ph idx="1"/>
          </p:nvPr>
        </p:nvSpPr>
        <p:spPr/>
        <p:txBody>
          <a:bodyPr/>
          <a:lstStyle/>
          <a:p>
            <a:r>
              <a:rPr lang="en-US" dirty="0"/>
              <a:t>Race is a stand-in for missing predictors</a:t>
            </a:r>
          </a:p>
          <a:p>
            <a:pPr lvl="1"/>
            <a:r>
              <a:rPr lang="en-US" dirty="0"/>
              <a:t>Differences in police behavior</a:t>
            </a:r>
          </a:p>
          <a:p>
            <a:pPr lvl="1"/>
            <a:r>
              <a:rPr lang="en-US" dirty="0"/>
              <a:t>Differences in treatment of different subgroups historically </a:t>
            </a:r>
          </a:p>
          <a:p>
            <a:pPr lvl="1"/>
            <a:r>
              <a:rPr lang="en-US" dirty="0"/>
              <a:t>Differences in environment, broadly speaking</a:t>
            </a:r>
          </a:p>
          <a:p>
            <a:endParaRPr lang="en-US" dirty="0"/>
          </a:p>
          <a:p>
            <a:endParaRPr lang="en-US" dirty="0"/>
          </a:p>
        </p:txBody>
      </p:sp>
    </p:spTree>
    <p:extLst>
      <p:ext uri="{BB962C8B-B14F-4D97-AF65-F5344CB8AC3E}">
        <p14:creationId xmlns:p14="http://schemas.microsoft.com/office/powerpoint/2010/main" val="37330618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5170-F176-4DEB-AD62-B2F256343F5B}"/>
              </a:ext>
            </a:extLst>
          </p:cNvPr>
          <p:cNvSpPr>
            <a:spLocks noGrp="1"/>
          </p:cNvSpPr>
          <p:nvPr>
            <p:ph type="title"/>
          </p:nvPr>
        </p:nvSpPr>
        <p:spPr/>
        <p:txBody>
          <a:bodyPr/>
          <a:lstStyle/>
          <a:p>
            <a:r>
              <a:rPr lang="en-US" dirty="0"/>
              <a:t>How Would We Equalize P-Hats?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CF52EE-274A-4045-802C-0CD435D4C674}"/>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=.25+.25 </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+.08 </m:t>
                    </m:r>
                    <m:r>
                      <a:rPr lang="en-US" b="0" i="1" smtClean="0">
                        <a:latin typeface="Cambria Math" panose="02040503050406030204" pitchFamily="18" charset="0"/>
                      </a:rPr>
                      <m:t>𝑟𝑎𝑐𝑒</m:t>
                    </m:r>
                    <m:r>
                      <a:rPr lang="en-US" b="0" i="1" smtClean="0">
                        <a:latin typeface="Cambria Math" panose="02040503050406030204" pitchFamily="18" charset="0"/>
                      </a:rPr>
                      <m:t>+.08 </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m:t>
                    </m:r>
                    <m:r>
                      <a:rPr lang="en-US" b="0" i="1" smtClean="0">
                        <a:latin typeface="Cambria Math" panose="02040503050406030204" pitchFamily="18" charset="0"/>
                      </a:rPr>
                      <m:t>𝑟𝑎𝑐𝑒</m:t>
                    </m:r>
                  </m:oMath>
                </a14:m>
                <a:endParaRPr lang="en-US" b="0" dirty="0"/>
              </a:p>
              <a:p>
                <a:endParaRPr lang="en-US" dirty="0"/>
              </a:p>
              <a:p>
                <a:r>
                  <a:rPr lang="en-US" dirty="0"/>
                  <a:t>Adding in predictors that are differentially predictive across groups</a:t>
                </a:r>
              </a:p>
              <a:p>
                <a:pPr marL="0" indent="0">
                  <a:buNone/>
                </a:pPr>
                <a:endParaRPr lang="en-US" dirty="0"/>
              </a:p>
              <a:p>
                <a14:m>
                  <m:oMath xmlns:m="http://schemas.openxmlformats.org/officeDocument/2006/math">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=.25+.25 </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+.04 </m:t>
                    </m:r>
                    <m:r>
                      <a:rPr lang="en-US" b="0" i="1" smtClean="0">
                        <a:latin typeface="Cambria Math" panose="02040503050406030204" pitchFamily="18" charset="0"/>
                      </a:rPr>
                      <m:t>𝑟𝑎𝑐𝑒</m:t>
                    </m:r>
                    <m:r>
                      <a:rPr lang="en-US" b="0" i="1" smtClean="0">
                        <a:latin typeface="Cambria Math" panose="02040503050406030204" pitchFamily="18" charset="0"/>
                      </a:rPr>
                      <m:t>+.08 </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m:t>
                    </m:r>
                    <m:r>
                      <a:rPr lang="en-US" b="0" i="1" smtClean="0">
                        <a:latin typeface="Cambria Math" panose="02040503050406030204" pitchFamily="18" charset="0"/>
                      </a:rPr>
                      <m:t>𝑟𝑎𝑐𝑒</m:t>
                    </m:r>
                    <m:r>
                      <a:rPr lang="en-US" b="0" i="1" smtClean="0">
                        <a:latin typeface="Cambria Math" panose="02040503050406030204" pitchFamily="18" charset="0"/>
                      </a:rPr>
                      <m:t>+.08 </m:t>
                    </m:r>
                    <m:r>
                      <a:rPr lang="en-US" b="0" i="1" smtClean="0">
                        <a:latin typeface="Cambria Math" panose="02040503050406030204" pitchFamily="18" charset="0"/>
                      </a:rPr>
                      <m:t>𝑝𝑜𝑙𝑖𝑐𝑖𝑛𝑔</m:t>
                    </m:r>
                    <m:r>
                      <a:rPr lang="en-US" b="0" i="1" smtClean="0">
                        <a:latin typeface="Cambria Math" panose="02040503050406030204" pitchFamily="18" charset="0"/>
                      </a:rPr>
                      <m:t>⋅</m:t>
                    </m:r>
                    <m:r>
                      <a:rPr lang="en-US" b="0" i="1" smtClean="0">
                        <a:latin typeface="Cambria Math" panose="02040503050406030204" pitchFamily="18" charset="0"/>
                      </a:rPr>
                      <m:t>𝑟𝑎𝑐𝑒</m:t>
                    </m:r>
                  </m:oMath>
                </a14:m>
                <a:endParaRPr lang="en-US" dirty="0"/>
              </a:p>
              <a:p>
                <a:endParaRPr lang="en-US" i="1" dirty="0">
                  <a:latin typeface="Cambria Math" panose="02040503050406030204" pitchFamily="18" charset="0"/>
                </a:endParaRPr>
              </a:p>
              <a:p>
                <a:endParaRPr lang="en-US" i="1" dirty="0">
                  <a:latin typeface="Cambria Math" panose="020405030504060302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A2CF52EE-274A-4045-802C-0CD435D4C674}"/>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US">
                    <a:noFill/>
                  </a:rPr>
                  <a:t> </a:t>
                </a:r>
              </a:p>
            </p:txBody>
          </p:sp>
        </mc:Fallback>
      </mc:AlternateContent>
    </p:spTree>
    <p:extLst>
      <p:ext uri="{BB962C8B-B14F-4D97-AF65-F5344CB8AC3E}">
        <p14:creationId xmlns:p14="http://schemas.microsoft.com/office/powerpoint/2010/main" val="3453813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5170-F176-4DEB-AD62-B2F256343F5B}"/>
              </a:ext>
            </a:extLst>
          </p:cNvPr>
          <p:cNvSpPr>
            <a:spLocks noGrp="1"/>
          </p:cNvSpPr>
          <p:nvPr>
            <p:ph type="title"/>
          </p:nvPr>
        </p:nvSpPr>
        <p:spPr/>
        <p:txBody>
          <a:bodyPr/>
          <a:lstStyle/>
          <a:p>
            <a:r>
              <a:rPr lang="en-US" dirty="0"/>
              <a:t>We See This Already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CF52EE-274A-4045-802C-0CD435D4C674}"/>
                  </a:ext>
                </a:extLst>
              </p:cNvPr>
              <p:cNvSpPr>
                <a:spLocks noGrp="1"/>
              </p:cNvSpPr>
              <p:nvPr>
                <p:ph idx="1"/>
              </p:nvPr>
            </p:nvSpPr>
            <p:spPr/>
            <p:txBody>
              <a:bodyPr>
                <a:normAutofit lnSpcReduction="10000"/>
              </a:bodyPr>
              <a:lstStyle/>
              <a:p>
                <a:pPr marL="0" indent="0">
                  <a:buNone/>
                </a:pPr>
                <a:r>
                  <a:rPr lang="en-US" dirty="0">
                    <a:latin typeface="Cambria Math" panose="02040503050406030204" pitchFamily="18" charset="0"/>
                  </a:rPr>
                  <a:t>Interactions can account for differences in risk across groups. </a:t>
                </a:r>
              </a:p>
              <a:p>
                <a:pPr marL="0" indent="0">
                  <a:buNone/>
                </a:pPr>
                <a:endParaRPr lang="en-US" b="0" dirty="0">
                  <a:latin typeface="Cambria Math" panose="02040503050406030204" pitchFamily="18" charset="0"/>
                </a:endParaRPr>
              </a:p>
              <a:p>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𝐴𝑟𝑟𝑒𝑠𝑡</m:t>
                        </m:r>
                      </m:e>
                      <m:sub>
                        <m:r>
                          <a:rPr lang="en-US" sz="2800" b="0" i="1" smtClean="0">
                            <a:latin typeface="Cambria Math" panose="02040503050406030204" pitchFamily="18" charset="0"/>
                          </a:rPr>
                          <m:t>2021</m:t>
                        </m:r>
                      </m:sub>
                    </m:sSub>
                    <m:r>
                      <a:rPr lang="en-US" sz="2800" b="0" i="1" smtClean="0">
                        <a:latin typeface="Cambria Math" panose="02040503050406030204" pitchFamily="18" charset="0"/>
                      </a:rPr>
                      <m:t>=.24+ .29 </m:t>
                    </m:r>
                    <m:r>
                      <a:rPr lang="en-US" sz="2800" b="0" i="1" smtClean="0">
                        <a:latin typeface="Cambria Math" panose="02040503050406030204" pitchFamily="18" charset="0"/>
                      </a:rPr>
                      <m:t>𝐴𝑟𝑟𝑒𝑠</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𝑡</m:t>
                        </m:r>
                      </m:e>
                      <m:sub>
                        <m:r>
                          <a:rPr lang="en-US" sz="2800" b="0" i="1" smtClean="0">
                            <a:latin typeface="Cambria Math" panose="02040503050406030204" pitchFamily="18" charset="0"/>
                          </a:rPr>
                          <m:t>2020</m:t>
                        </m:r>
                      </m:sub>
                    </m:sSub>
                    <m:r>
                      <a:rPr lang="en-US" sz="2800" b="0" i="1" smtClean="0">
                        <a:latin typeface="Cambria Math" panose="02040503050406030204" pitchFamily="18" charset="0"/>
                      </a:rPr>
                      <m:t>+ . 12 </m:t>
                    </m:r>
                    <m:r>
                      <a:rPr lang="en-US" sz="2800" b="0" i="1" smtClean="0">
                        <a:latin typeface="Cambria Math" panose="02040503050406030204" pitchFamily="18" charset="0"/>
                      </a:rPr>
                      <m:t>𝑟𝑎𝑐𝑒</m:t>
                    </m:r>
                  </m:oMath>
                </a14:m>
                <a:endParaRPr lang="en-US" sz="3200" b="0" dirty="0"/>
              </a:p>
              <a:p>
                <a:endParaRPr lang="en-US" b="0" i="1" dirty="0">
                  <a:latin typeface="Cambria Math" panose="02040503050406030204" pitchFamily="18" charset="0"/>
                </a:endParaRPr>
              </a:p>
              <a:p>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2021</m:t>
                        </m:r>
                      </m:sub>
                    </m:sSub>
                    <m:r>
                      <a:rPr lang="en-US" b="0" i="1" smtClean="0">
                        <a:latin typeface="Cambria Math" panose="02040503050406030204" pitchFamily="18" charset="0"/>
                      </a:rPr>
                      <m:t>=.25+.25 </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+.08 </m:t>
                    </m:r>
                    <m:r>
                      <a:rPr lang="en-US" b="0" i="1" smtClean="0">
                        <a:latin typeface="Cambria Math" panose="02040503050406030204" pitchFamily="18" charset="0"/>
                      </a:rPr>
                      <m:t>𝑟𝑎𝑐𝑒</m:t>
                    </m:r>
                    <m:r>
                      <a:rPr lang="en-US" b="0" i="1" smtClean="0">
                        <a:latin typeface="Cambria Math" panose="02040503050406030204" pitchFamily="18" charset="0"/>
                      </a:rPr>
                      <m:t>+.08 </m:t>
                    </m:r>
                    <m:r>
                      <a:rPr lang="en-US" b="0" i="1" smtClean="0">
                        <a:latin typeface="Cambria Math" panose="02040503050406030204" pitchFamily="18" charset="0"/>
                      </a:rPr>
                      <m:t>𝐴𝑟𝑟𝑒𝑠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2020</m:t>
                        </m:r>
                      </m:sub>
                    </m:sSub>
                    <m:r>
                      <a:rPr lang="en-US" b="0" i="1" smtClean="0">
                        <a:latin typeface="Cambria Math" panose="02040503050406030204" pitchFamily="18" charset="0"/>
                      </a:rPr>
                      <m:t>⋅</m:t>
                    </m:r>
                    <m:r>
                      <a:rPr lang="en-US" b="0" i="1" smtClean="0">
                        <a:latin typeface="Cambria Math" panose="02040503050406030204" pitchFamily="18" charset="0"/>
                      </a:rPr>
                      <m:t>𝑟𝑎𝑐𝑒</m:t>
                    </m:r>
                  </m:oMath>
                </a14:m>
                <a:endParaRPr lang="en-US" b="0" dirty="0"/>
              </a:p>
              <a:p>
                <a:endParaRPr lang="en-US" dirty="0"/>
              </a:p>
              <a:p>
                <a:pPr marL="0" indent="0" algn="ctr">
                  <a:buNone/>
                </a:pPr>
                <a:r>
                  <a:rPr lang="en-US" b="1" i="1" dirty="0">
                    <a:solidFill>
                      <a:srgbClr val="FF0000"/>
                    </a:solidFill>
                    <a:latin typeface="Cambria Math" panose="02040503050406030204" pitchFamily="18" charset="0"/>
                  </a:rPr>
                  <a:t>.12  vs .08</a:t>
                </a:r>
              </a:p>
              <a:p>
                <a:endParaRPr lang="en-US" i="1" dirty="0">
                  <a:latin typeface="Cambria Math" panose="020405030504060302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A2CF52EE-274A-4045-802C-0CD435D4C674}"/>
                  </a:ext>
                </a:extLst>
              </p:cNvPr>
              <p:cNvSpPr>
                <a:spLocks noGrp="1" noRot="1" noChangeAspect="1" noMove="1" noResize="1" noEditPoints="1" noAdjustHandles="1" noChangeArrowheads="1" noChangeShapeType="1" noTextEdit="1"/>
              </p:cNvSpPr>
              <p:nvPr>
                <p:ph idx="1"/>
              </p:nvPr>
            </p:nvSpPr>
            <p:spPr>
              <a:blipFill>
                <a:blip r:embed="rId2"/>
                <a:stretch>
                  <a:fillRect l="-1217" t="-3361"/>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371308D8-A257-48B4-BBFD-87CE4CCF0A2F}"/>
              </a:ext>
            </a:extLst>
          </p:cNvPr>
          <p:cNvCxnSpPr/>
          <p:nvPr/>
        </p:nvCxnSpPr>
        <p:spPr>
          <a:xfrm>
            <a:off x="7120467" y="3268133"/>
            <a:ext cx="0" cy="812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EDF5820-8E0F-44B5-A1A7-B03B278679B2}"/>
              </a:ext>
            </a:extLst>
          </p:cNvPr>
          <p:cNvSpPr txBox="1"/>
          <p:nvPr/>
        </p:nvSpPr>
        <p:spPr>
          <a:xfrm>
            <a:off x="7357533" y="3437389"/>
            <a:ext cx="361526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Pure group differences matter less</a:t>
            </a:r>
          </a:p>
        </p:txBody>
      </p:sp>
    </p:spTree>
    <p:extLst>
      <p:ext uri="{BB962C8B-B14F-4D97-AF65-F5344CB8AC3E}">
        <p14:creationId xmlns:p14="http://schemas.microsoft.com/office/powerpoint/2010/main" val="173245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1913</TotalTime>
  <Words>3593</Words>
  <Application>Microsoft Office PowerPoint</Application>
  <PresentationFormat>Widescreen</PresentationFormat>
  <Paragraphs>1069</Paragraphs>
  <Slides>63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63</vt:i4>
      </vt:variant>
    </vt:vector>
  </HeadingPairs>
  <TitlesOfParts>
    <vt:vector size="69" baseType="lpstr">
      <vt:lpstr>Arial</vt:lpstr>
      <vt:lpstr>Calibri</vt:lpstr>
      <vt:lpstr>Cambria</vt:lpstr>
      <vt:lpstr>Cambria Math</vt:lpstr>
      <vt:lpstr>Office Theme</vt:lpstr>
      <vt:lpstr>1_Office Theme</vt:lpstr>
      <vt:lpstr>INST 414: Data Science Techniques   The Impact of  Algorithms  and  Fairness</vt:lpstr>
      <vt:lpstr>Assessing Algorithms</vt:lpstr>
      <vt:lpstr>For the Final</vt:lpstr>
      <vt:lpstr>Final</vt:lpstr>
      <vt:lpstr>Precision Enforcement</vt:lpstr>
      <vt:lpstr>Broken Windows + Online Therapy</vt:lpstr>
      <vt:lpstr>Our Example</vt:lpstr>
      <vt:lpstr>Other Facts</vt:lpstr>
      <vt:lpstr>Benefit of Online Therapy</vt:lpstr>
      <vt:lpstr>Benefit of Detention</vt:lpstr>
      <vt:lpstr>Converting Benefit to Dollar Values</vt:lpstr>
      <vt:lpstr>Cost of Detention</vt:lpstr>
      <vt:lpstr>Compare Interventions</vt:lpstr>
      <vt:lpstr>Fairness</vt:lpstr>
      <vt:lpstr>Who Gets the Benefit/Who Suffers the Cost?</vt:lpstr>
      <vt:lpstr>Upshot</vt:lpstr>
      <vt:lpstr>Bias in Predictions and  the Importance of Base Rates</vt:lpstr>
      <vt:lpstr>What Do We Mean by Bias?</vt:lpstr>
      <vt:lpstr>Our Data</vt:lpstr>
      <vt:lpstr>Where Does Bias Come From? </vt:lpstr>
      <vt:lpstr>Where Does Bias Come From? </vt:lpstr>
      <vt:lpstr>Where Does Bias Come From? Scenario 1</vt:lpstr>
      <vt:lpstr>Where Does Bias Come From? Scenario 1</vt:lpstr>
      <vt:lpstr>Where Does Bias Come From? Scenario 2</vt:lpstr>
      <vt:lpstr>No Differences in Measurement</vt:lpstr>
      <vt:lpstr>What Leads to Bias </vt:lpstr>
      <vt:lpstr>Example</vt:lpstr>
      <vt:lpstr>Example</vt:lpstr>
      <vt:lpstr>P(Arrest_2021)</vt:lpstr>
      <vt:lpstr>P(Arrest_2021)</vt:lpstr>
      <vt:lpstr>P(Arrest_2021)</vt:lpstr>
      <vt:lpstr>P(Arrest_2021)</vt:lpstr>
      <vt:lpstr>Compute Fairness Metrics</vt:lpstr>
      <vt:lpstr>P(Arrest_2021 |Arrest_2020)</vt:lpstr>
      <vt:lpstr>P(Arrest_2021 |Arrest_2020)</vt:lpstr>
      <vt:lpstr>Visualizing the model</vt:lpstr>
      <vt:lpstr>Compute Fairness Metrics</vt:lpstr>
      <vt:lpstr>P(Arrest_2021 |Arrest_2020, Race)</vt:lpstr>
      <vt:lpstr>P(Arrest_2021 |Arrest_2020, Race)</vt:lpstr>
      <vt:lpstr>Visualizing the model</vt:lpstr>
      <vt:lpstr>Compute Fairness Metrics</vt:lpstr>
      <vt:lpstr>Add interaction</vt:lpstr>
      <vt:lpstr>P(Arrest_2021 |Arrest_2020)</vt:lpstr>
      <vt:lpstr>Visualizing the model</vt:lpstr>
      <vt:lpstr>Visualizing the model</vt:lpstr>
      <vt:lpstr>Visualizing the model</vt:lpstr>
      <vt:lpstr>Compute Fairness Metrics</vt:lpstr>
      <vt:lpstr>Calibration/PPV Balance</vt:lpstr>
      <vt:lpstr>Error Rates</vt:lpstr>
      <vt:lpstr>What Explains This Pattern?</vt:lpstr>
      <vt:lpstr>What Explains This Pattern?</vt:lpstr>
      <vt:lpstr>Constraints</vt:lpstr>
      <vt:lpstr>Constraints</vt:lpstr>
      <vt:lpstr>Constraints</vt:lpstr>
      <vt:lpstr>What Would a “Constraint” Look Like</vt:lpstr>
      <vt:lpstr>What Would a “Constraint” Look Like</vt:lpstr>
      <vt:lpstr>What Would a “Constraint” Look Like</vt:lpstr>
      <vt:lpstr>“Control Dials” for Algorithms</vt:lpstr>
      <vt:lpstr>The Importance of Base Rates</vt:lpstr>
      <vt:lpstr>P(Arrest_2021=1|Arrest_2020, Race)</vt:lpstr>
      <vt:lpstr>Why Is Race Predictive of the outcome?</vt:lpstr>
      <vt:lpstr>How Would We Equalize P-Hats?</vt:lpstr>
      <vt:lpstr>We See This Already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Zubin Jelveh</dc:creator>
  <cp:lastModifiedBy>Zubin Jelveh</cp:lastModifiedBy>
  <cp:revision>35</cp:revision>
  <dcterms:created xsi:type="dcterms:W3CDTF">2021-11-29T03:27:51Z</dcterms:created>
  <dcterms:modified xsi:type="dcterms:W3CDTF">2024-12-05T15:46:34Z</dcterms:modified>
</cp:coreProperties>
</file>