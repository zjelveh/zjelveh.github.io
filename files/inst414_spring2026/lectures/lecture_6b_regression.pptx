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381" r:id="rId3"/>
    <p:sldId id="722" r:id="rId4"/>
    <p:sldId id="713" r:id="rId5"/>
    <p:sldId id="719" r:id="rId6"/>
    <p:sldId id="720" r:id="rId7"/>
    <p:sldId id="725" r:id="rId8"/>
    <p:sldId id="726" r:id="rId9"/>
    <p:sldId id="779" r:id="rId10"/>
    <p:sldId id="728" r:id="rId11"/>
    <p:sldId id="729" r:id="rId12"/>
    <p:sldId id="730" r:id="rId13"/>
    <p:sldId id="731" r:id="rId14"/>
    <p:sldId id="732" r:id="rId15"/>
    <p:sldId id="733" r:id="rId16"/>
    <p:sldId id="734" r:id="rId17"/>
    <p:sldId id="735" r:id="rId18"/>
    <p:sldId id="736" r:id="rId19"/>
    <p:sldId id="737" r:id="rId20"/>
    <p:sldId id="718" r:id="rId21"/>
    <p:sldId id="738" r:id="rId22"/>
    <p:sldId id="739" r:id="rId23"/>
    <p:sldId id="740" r:id="rId24"/>
    <p:sldId id="741" r:id="rId25"/>
    <p:sldId id="742" r:id="rId26"/>
    <p:sldId id="744" r:id="rId27"/>
    <p:sldId id="745" r:id="rId28"/>
    <p:sldId id="746" r:id="rId29"/>
    <p:sldId id="747" r:id="rId30"/>
    <p:sldId id="765" r:id="rId31"/>
    <p:sldId id="766" r:id="rId32"/>
    <p:sldId id="767" r:id="rId33"/>
    <p:sldId id="768" r:id="rId34"/>
    <p:sldId id="750" r:id="rId35"/>
    <p:sldId id="769" r:id="rId36"/>
    <p:sldId id="770" r:id="rId37"/>
    <p:sldId id="754" r:id="rId38"/>
    <p:sldId id="778" r:id="rId39"/>
    <p:sldId id="756" r:id="rId40"/>
    <p:sldId id="757" r:id="rId41"/>
    <p:sldId id="771" r:id="rId42"/>
    <p:sldId id="759" r:id="rId43"/>
    <p:sldId id="760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4" d="100"/>
          <a:sy n="74" d="100"/>
        </p:scale>
        <p:origin x="3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8A287-384C-5FB5-DA58-50BE11EF88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41A60F-82BB-EB5D-CA45-8D08FC5F25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BEBB66-2CF0-7586-3C89-6801CB474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739A2-9E12-6FAB-CA87-872CF0FBA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E01B3-3525-F91D-9B25-DE2555C8D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678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3F545-46CB-1612-853D-C78BFE53F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8E291-2EF0-1B55-292F-D507C7C5B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C64C6-AB57-A2BB-4F0E-570624D4E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14709-21E3-5AFA-FFBB-9083BF2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306D2-1A99-96D0-1E57-B79EFE3C3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99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67646-217A-87FE-ADB9-1258FED7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9BC665-A199-A882-3739-7C2D50BB8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719DF-4C2C-BD5D-2FF0-30CA96607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7DEEE-894B-5C9B-015A-1C2A5A6CB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7E6EB-D464-895D-7D06-0A5964726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0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993C5-2296-E1B1-97B7-595E1A358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78374-9E74-9FE6-AE44-26F4692896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6A1971-9D6D-5396-0C34-92BA5BC80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6A000-5CF9-D3AB-5D3F-E56BE505A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79AE05-DFBB-6172-2147-B9E25B153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8B0CC0-BB71-2154-59F1-780AB198E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13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5B8D5-4F07-17EA-2C6D-A873926D0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F471FF-F8DB-A721-A9C7-0682846C0F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529FDC-5176-AE12-9748-5AAFCCD045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1D8B16-28A8-AEAC-FBF0-44BCC9119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C75C31-910C-1FA4-DFB8-D3C7BE98F1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248FD5-630A-0AAC-DAFE-991B73FF0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68EB28-6380-4A7E-E27D-8219605B9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C4371D-DB3D-2C48-B78D-7F53F2363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934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0561-9CE5-5E21-6678-E1CDACF64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8642D1-49A1-BA12-F72F-51E9492E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C08DE1-8D7B-8C97-C045-A80D54B0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B073A1-7FBF-0448-DB59-5FEA434C5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836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7D7D7F-2586-ADBE-1650-769F74F6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7FC92D-BE20-CF26-472B-539D7E2BB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35A3A-B385-2D81-8714-64099594C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074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6448C-19B7-6AEB-77C5-8883EFAA2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1DD89-1D12-E6B4-781D-71319FAD7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91305C-9EAF-0491-1941-43AA099BC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4804E2-BCB2-7C65-09D2-15722522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FEFED7-FF3B-844D-6858-2A783540E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3B1A3-E45D-F375-6188-A8F4FB6D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18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2FEFE-F419-08CC-9741-B57F02784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D2F785-CE96-DCA3-37F2-086BB1B37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DBF00C-590A-9BA5-E0DC-E67DE8EC90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73658-E87F-DFBD-4DF0-2EFCE40DB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129A6-ACC0-5D04-68CB-796E1F08C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0F041-B34A-5555-2016-ABD3D9AA8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963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E530A-0EB5-F8DF-7A19-48F2FCBA3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C78F02-B656-0107-7222-24D824A9B1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9D3EE-2EC1-A60B-EA63-6BD3E6671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E66E2-81B5-60DF-8172-D289D57C4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2A47E-8548-CB29-167A-EB85094C3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623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7B0988-3E7C-1D8B-10B0-E9173F9427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2A57BE-FD71-2E3C-4162-9DA3AF379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E3C26-16BD-46AE-58F1-268A5FADE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5169D-8D8D-411B-A12B-61A22539516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AB6FA-F1C2-D361-376B-397055312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3C5620-BB36-ED01-BA87-2C901708C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AFCC67-E18C-4576-B6B7-CEB59EE58D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853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0090B-E881-3176-62AC-86AF3FB83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920957-417B-56D6-D5B3-02F61C7FD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5B8EB-4A7B-3BEF-F0E1-02BF58897A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BC75169D-8D8D-411B-A12B-61A22539516B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F1B31-286F-2503-A99D-5AA2DB8A5D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5D2C1C-B65F-65C8-6833-A7F3FCA16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6DAFCC67-E18C-4576-B6B7-CEB59EE58D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92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m9-_sxSU_WQ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5.png"/><Relationship Id="rId7" Type="http://schemas.openxmlformats.org/officeDocument/2006/relationships/image" Target="../media/image17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dmarmerola.github.io/probability-calibration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en.wikipedia.org/wiki/Iteratively_reweighted_least_square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46C8B-9AB5-4B36-A44B-C6B45DD2D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628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INST 414: Data Science Techniques </a:t>
            </a:r>
            <a:br>
              <a:rPr lang="en-US"/>
            </a:br>
            <a:br>
              <a:rPr lang="en-US" sz="4900" dirty="0"/>
            </a:br>
            <a:r>
              <a:rPr lang="en-US" sz="4900" dirty="0"/>
              <a:t>Regression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73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Estimating P(Y|X) directly</a:t>
            </a:r>
          </a:p>
        </p:txBody>
      </p:sp>
    </p:spTree>
    <p:extLst>
      <p:ext uri="{BB962C8B-B14F-4D97-AF65-F5344CB8AC3E}">
        <p14:creationId xmlns:p14="http://schemas.microsoft.com/office/powerpoint/2010/main" val="8097797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8D20B-1CFE-4C34-9C30-242F7900E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Naïve Bayes to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E0AB7-AC0D-47E8-82C7-7F898C15ED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conditional independence assumption in Naïve Bayes leads to </a:t>
                </a:r>
                <a:r>
                  <a:rPr lang="en-US" dirty="0" err="1"/>
                  <a:t>miscalibrated</a:t>
                </a:r>
                <a:r>
                  <a:rPr lang="en-US" dirty="0"/>
                  <a:t> probability estimates: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But it’s needed for computational reasons</a:t>
                </a:r>
              </a:p>
              <a:p>
                <a:endParaRPr lang="en-US" dirty="0"/>
              </a:p>
              <a:p>
                <a:r>
                  <a:rPr lang="en-US" dirty="0"/>
                  <a:t>Modeling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directly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BE0AB7-AC0D-47E8-82C7-7F898C15ED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365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0C242-5BF6-41B4-A9BE-67E334FF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 for a 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84054-B318-4F88-8447-4C6A862675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the slope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the intercept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84054-B318-4F88-8447-4C6A862675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hlinkClick r:id="rId3"/>
            <a:extLst>
              <a:ext uri="{FF2B5EF4-FFF2-40B4-BE49-F238E27FC236}">
                <a16:creationId xmlns:a16="http://schemas.microsoft.com/office/drawing/2014/main" id="{6E130362-D0E4-4B2A-A63E-1D4BA2EBF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8083" y="1777633"/>
            <a:ext cx="7708605" cy="4336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0029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0C242-5BF6-41B4-A9BE-67E334FF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Equation for a 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84054-B318-4F88-8447-4C6A862675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is the slope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the intercept</a:t>
                </a:r>
              </a:p>
              <a:p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b="0" dirty="0">
                    <a:latin typeface="Cambria Math" panose="02040503050406030204" pitchFamily="18" charset="0"/>
                  </a:rPr>
                  <a:t>Alter in two ways</a:t>
                </a:r>
              </a:p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984054-B318-4F88-8447-4C6A862675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79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38B1D-4390-44C0-AF54-79228BA96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Can We Do With a Line?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415C1-7B2D-47D3-9E28-B2CE24359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model relationships between two (or more) variables</a:t>
            </a:r>
          </a:p>
          <a:p>
            <a:endParaRPr lang="en-US" dirty="0"/>
          </a:p>
          <a:p>
            <a:r>
              <a:rPr lang="en-US" dirty="0"/>
              <a:t>Keep in mind the maxim:</a:t>
            </a:r>
          </a:p>
          <a:p>
            <a:pPr lvl="1"/>
            <a:r>
              <a:rPr lang="en-US" dirty="0"/>
              <a:t>“All models are wrong, but some are useful”</a:t>
            </a:r>
          </a:p>
          <a:p>
            <a:pPr lvl="1"/>
            <a:endParaRPr lang="en-US" dirty="0"/>
          </a:p>
          <a:p>
            <a:r>
              <a:rPr lang="en-US" dirty="0"/>
              <a:t>Linear regression is a great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5620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FB529-3ED4-4549-9D6F-338ADB97E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493963-E87B-4453-8A2B-3AAC1CD51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Goal:</a:t>
                </a:r>
              </a:p>
              <a:p>
                <a:pPr lvl="1"/>
                <a:r>
                  <a:rPr lang="en-US" dirty="0"/>
                  <a:t>Fit the above </a:t>
                </a:r>
              </a:p>
              <a:p>
                <a:pPr marL="457200" lvl="1" indent="0">
                  <a:buNone/>
                </a:pPr>
                <a:r>
                  <a:rPr lang="en-US" dirty="0"/>
                  <a:t>equation to the data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What should criteria be?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493963-E87B-4453-8A2B-3AAC1CD51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52310BA-FE8D-4146-9AED-BAA32279F6F3}"/>
              </a:ext>
            </a:extLst>
          </p:cNvPr>
          <p:cNvSpPr txBox="1"/>
          <p:nvPr/>
        </p:nvSpPr>
        <p:spPr>
          <a:xfrm>
            <a:off x="1503363" y="1466453"/>
            <a:ext cx="1615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Intercept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23B4-CEAE-4FDA-B3F7-E42AC1779171}"/>
              </a:ext>
            </a:extLst>
          </p:cNvPr>
          <p:cNvSpPr txBox="1"/>
          <p:nvPr/>
        </p:nvSpPr>
        <p:spPr>
          <a:xfrm>
            <a:off x="2499043" y="1475105"/>
            <a:ext cx="1615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Slope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8F82D0-8BC8-AEC3-49BC-C8B527AD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015" y="471041"/>
            <a:ext cx="6576307" cy="547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4475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FB529-3ED4-4549-9D6F-338ADB97E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our objective?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93963-E87B-4453-8A2B-3AAC1CD51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hypothetical lines</a:t>
            </a:r>
          </a:p>
          <a:p>
            <a:endParaRPr lang="en-US" dirty="0"/>
          </a:p>
          <a:p>
            <a:r>
              <a:rPr lang="en-US" dirty="0"/>
              <a:t>Which one fits data best?</a:t>
            </a:r>
          </a:p>
          <a:p>
            <a:endParaRPr lang="en-US" dirty="0"/>
          </a:p>
          <a:p>
            <a:r>
              <a:rPr lang="en-US" dirty="0"/>
              <a:t>What do you like about it?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69337F-53A7-76A8-0E0E-25D06F71D7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055" y="1354961"/>
            <a:ext cx="6576307" cy="5475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226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4F13CB-066C-DCF2-5EB1-057FA971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9375" y="1365121"/>
            <a:ext cx="6576307" cy="5475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EFB529-3ED4-4549-9D6F-338ADB97E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our objective?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93963-E87B-4453-8A2B-3AAC1CD51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 you like about it?</a:t>
            </a:r>
          </a:p>
          <a:p>
            <a:endParaRPr lang="en-US" dirty="0"/>
          </a:p>
          <a:p>
            <a:r>
              <a:rPr lang="en-US" dirty="0"/>
              <a:t>Two potential objectives</a:t>
            </a:r>
          </a:p>
          <a:p>
            <a:pPr lvl="1"/>
            <a:r>
              <a:rPr lang="en-US" dirty="0"/>
              <a:t>The vertical distance</a:t>
            </a:r>
          </a:p>
          <a:p>
            <a:pPr marL="457200" lvl="1" indent="0">
              <a:buNone/>
            </a:pPr>
            <a:r>
              <a:rPr lang="en-US" dirty="0"/>
              <a:t>between the line and the points </a:t>
            </a:r>
          </a:p>
          <a:p>
            <a:pPr marL="457200" lvl="1" indent="0">
              <a:buNone/>
            </a:pPr>
            <a:r>
              <a:rPr lang="en-US" dirty="0"/>
              <a:t>is smallest</a:t>
            </a:r>
          </a:p>
          <a:p>
            <a:pPr lvl="1"/>
            <a:r>
              <a:rPr lang="en-US" dirty="0"/>
              <a:t>The perpendicular distance</a:t>
            </a:r>
          </a:p>
          <a:p>
            <a:pPr marL="457200" lvl="1" indent="0">
              <a:buNone/>
            </a:pPr>
            <a:r>
              <a:rPr lang="en-US" dirty="0"/>
              <a:t>is smallest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ABB5D63-F8E5-41A8-ADE2-48E65C4CC71C}"/>
              </a:ext>
            </a:extLst>
          </p:cNvPr>
          <p:cNvCxnSpPr>
            <a:cxnSpLocks/>
          </p:cNvCxnSpPr>
          <p:nvPr/>
        </p:nvCxnSpPr>
        <p:spPr>
          <a:xfrm flipV="1">
            <a:off x="7673421" y="4370825"/>
            <a:ext cx="0" cy="1129996"/>
          </a:xfrm>
          <a:prstGeom prst="straightConnector1">
            <a:avLst/>
          </a:prstGeom>
          <a:ln w="412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9E1687-45E3-7BBC-3458-4863AF3004D8}"/>
              </a:ext>
            </a:extLst>
          </p:cNvPr>
          <p:cNvCxnSpPr>
            <a:cxnSpLocks/>
          </p:cNvCxnSpPr>
          <p:nvPr/>
        </p:nvCxnSpPr>
        <p:spPr>
          <a:xfrm flipH="1" flipV="1">
            <a:off x="9946519" y="3118500"/>
            <a:ext cx="1020779" cy="1962363"/>
          </a:xfrm>
          <a:prstGeom prst="straightConnector1">
            <a:avLst/>
          </a:prstGeom>
          <a:ln w="41275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B498EE-3D01-1D34-2E67-00D5DFA08DCA}"/>
              </a:ext>
            </a:extLst>
          </p:cNvPr>
          <p:cNvCxnSpPr>
            <a:cxnSpLocks/>
          </p:cNvCxnSpPr>
          <p:nvPr/>
        </p:nvCxnSpPr>
        <p:spPr>
          <a:xfrm>
            <a:off x="11760823" y="3429000"/>
            <a:ext cx="0" cy="1101903"/>
          </a:xfrm>
          <a:prstGeom prst="straightConnector1">
            <a:avLst/>
          </a:prstGeom>
          <a:ln w="412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2647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525C-8BB8-415C-90D5-1CDE6F980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Objective: Target Vertical distance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C35A93-4094-41CB-8318-413113A45F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69059" cy="43513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We want to find a line that minimizes the average vertical distance</a:t>
                </a:r>
              </a:p>
              <a:p>
                <a:endParaRPr lang="en-US" dirty="0"/>
              </a:p>
              <a:p>
                <a:r>
                  <a:rPr lang="en-US" dirty="0"/>
                  <a:t>When x=1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/>
                  <a:t>6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=8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When x=7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=14.5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=−1.5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C35A93-4094-41CB-8318-413113A45F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69059" cy="4351338"/>
              </a:xfrm>
              <a:blipFill>
                <a:blip r:embed="rId2"/>
                <a:stretch>
                  <a:fillRect l="-2286" t="-3501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2E509179-70DE-416F-BA24-D647E661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725" y="0"/>
            <a:ext cx="6772275" cy="6657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2CE9D2-825D-431A-826B-D05B40A850C4}"/>
              </a:ext>
            </a:extLst>
          </p:cNvPr>
          <p:cNvCxnSpPr>
            <a:cxnSpLocks/>
          </p:cNvCxnSpPr>
          <p:nvPr/>
        </p:nvCxnSpPr>
        <p:spPr>
          <a:xfrm flipV="1">
            <a:off x="6130412" y="589936"/>
            <a:ext cx="5830529" cy="5134158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547969-214D-471C-92AA-447B25647503}"/>
              </a:ext>
            </a:extLst>
          </p:cNvPr>
          <p:cNvCxnSpPr>
            <a:cxnSpLocks/>
          </p:cNvCxnSpPr>
          <p:nvPr/>
        </p:nvCxnSpPr>
        <p:spPr>
          <a:xfrm flipV="1">
            <a:off x="7236541" y="3972233"/>
            <a:ext cx="0" cy="77674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113F34-C6F8-46D8-9ED7-643506E51341}"/>
              </a:ext>
            </a:extLst>
          </p:cNvPr>
          <p:cNvCxnSpPr>
            <a:cxnSpLocks/>
          </p:cNvCxnSpPr>
          <p:nvPr/>
        </p:nvCxnSpPr>
        <p:spPr>
          <a:xfrm>
            <a:off x="11449844" y="1048215"/>
            <a:ext cx="0" cy="50246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063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525C-8BB8-415C-90D5-1CDE6F980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Objective: Target Vertical distance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C35A93-4094-41CB-8318-413113A45F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269059" cy="435133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Idea:</a:t>
                </a:r>
              </a:p>
              <a:p>
                <a:pPr marL="0" indent="0">
                  <a:buNone/>
                </a:pPr>
                <a:r>
                  <a:rPr lang="en-US" dirty="0"/>
                  <a:t>The line of best fit should minimize the average error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∑</m:t>
                    </m:r>
                  </m:oMath>
                </a14:m>
                <a:r>
                  <a:rPr lang="en-US" dirty="0"/>
                  <a:t> means sum</a:t>
                </a:r>
              </a:p>
              <a:p>
                <a:pPr lvl="1"/>
                <a:r>
                  <a:rPr lang="en-US" dirty="0"/>
                  <a:t>So if you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equal to list of three numbers: [1, 5, 8]</a:t>
                </a:r>
              </a:p>
              <a:p>
                <a:pPr lvl="1"/>
                <a:r>
                  <a:rPr lang="en-US" dirty="0"/>
                  <a:t>Then,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dirty="0"/>
                  <a:t>= 1 + 5 + 8 = 14</a:t>
                </a:r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goes from 1 to 3 and keeps track of which element in the list you’re on. </a:t>
                </a:r>
              </a:p>
              <a:p>
                <a:pPr lvl="1"/>
                <a:r>
                  <a:rPr lang="en-US" dirty="0"/>
                  <a:t>For example,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 means we’re looking at 5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C35A93-4094-41CB-8318-413113A45F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269059" cy="4351338"/>
              </a:xfrm>
              <a:blipFill>
                <a:blip r:embed="rId2"/>
                <a:stretch>
                  <a:fillRect l="-1571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2E509179-70DE-416F-BA24-D647E661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725" y="0"/>
            <a:ext cx="6772275" cy="6657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2CE9D2-825D-431A-826B-D05B40A850C4}"/>
              </a:ext>
            </a:extLst>
          </p:cNvPr>
          <p:cNvCxnSpPr>
            <a:cxnSpLocks/>
          </p:cNvCxnSpPr>
          <p:nvPr/>
        </p:nvCxnSpPr>
        <p:spPr>
          <a:xfrm flipV="1">
            <a:off x="6130412" y="589936"/>
            <a:ext cx="5830529" cy="5134158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547969-214D-471C-92AA-447B25647503}"/>
              </a:ext>
            </a:extLst>
          </p:cNvPr>
          <p:cNvCxnSpPr>
            <a:cxnSpLocks/>
          </p:cNvCxnSpPr>
          <p:nvPr/>
        </p:nvCxnSpPr>
        <p:spPr>
          <a:xfrm flipV="1">
            <a:off x="7236541" y="3972233"/>
            <a:ext cx="0" cy="77674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113F34-C6F8-46D8-9ED7-643506E51341}"/>
              </a:ext>
            </a:extLst>
          </p:cNvPr>
          <p:cNvCxnSpPr>
            <a:cxnSpLocks/>
          </p:cNvCxnSpPr>
          <p:nvPr/>
        </p:nvCxnSpPr>
        <p:spPr>
          <a:xfrm>
            <a:off x="11449844" y="1048215"/>
            <a:ext cx="0" cy="50246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8739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525C-8BB8-415C-90D5-1CDE6F980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Objective: Target Vertical distance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7">
                <a:extLst>
                  <a:ext uri="{FF2B5EF4-FFF2-40B4-BE49-F238E27FC236}">
                    <a16:creationId xmlns:a16="http://schemas.microsoft.com/office/drawing/2014/main" id="{9EF4D59B-013B-4101-A632-774C52259B08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199" y="1825625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{93296810-A885-4BE3-A3E7-6D5BEEA58F35}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14.5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-1.5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7">
                <a:extLst>
                  <a:ext uri="{FF2B5EF4-FFF2-40B4-BE49-F238E27FC236}">
                    <a16:creationId xmlns:a16="http://schemas.microsoft.com/office/drawing/2014/main" id="{9EF4D59B-013B-4101-A632-774C52259B0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526948261"/>
                  </p:ext>
                </p:extLst>
              </p:nvPr>
            </p:nvGraphicFramePr>
            <p:xfrm>
              <a:off x="838199" y="1825625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{93296810-A885-4BE3-A3E7-6D5BEEA58F35}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95" t="-4494" r="-20247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494" r="-10147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90" t="-4494" r="-1980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14.5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-1.5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2E509179-70DE-416F-BA24-D647E661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725" y="0"/>
            <a:ext cx="6772275" cy="6657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2CE9D2-825D-431A-826B-D05B40A850C4}"/>
              </a:ext>
            </a:extLst>
          </p:cNvPr>
          <p:cNvCxnSpPr>
            <a:cxnSpLocks/>
          </p:cNvCxnSpPr>
          <p:nvPr/>
        </p:nvCxnSpPr>
        <p:spPr>
          <a:xfrm flipV="1">
            <a:off x="6130412" y="589936"/>
            <a:ext cx="5830529" cy="5134158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547969-214D-471C-92AA-447B25647503}"/>
              </a:ext>
            </a:extLst>
          </p:cNvPr>
          <p:cNvCxnSpPr>
            <a:cxnSpLocks/>
          </p:cNvCxnSpPr>
          <p:nvPr/>
        </p:nvCxnSpPr>
        <p:spPr>
          <a:xfrm flipV="1">
            <a:off x="7236541" y="3972233"/>
            <a:ext cx="0" cy="77674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113F34-C6F8-46D8-9ED7-643506E51341}"/>
              </a:ext>
            </a:extLst>
          </p:cNvPr>
          <p:cNvCxnSpPr>
            <a:cxnSpLocks/>
          </p:cNvCxnSpPr>
          <p:nvPr/>
        </p:nvCxnSpPr>
        <p:spPr>
          <a:xfrm>
            <a:off x="11449844" y="1048215"/>
            <a:ext cx="0" cy="50246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891F1E-3E2A-4B55-B4C8-729E11F9F544}"/>
              </a:ext>
            </a:extLst>
          </p:cNvPr>
          <p:cNvCxnSpPr>
            <a:cxnSpLocks/>
          </p:cNvCxnSpPr>
          <p:nvPr/>
        </p:nvCxnSpPr>
        <p:spPr>
          <a:xfrm flipV="1">
            <a:off x="6130412" y="2812026"/>
            <a:ext cx="5830529" cy="275304"/>
          </a:xfrm>
          <a:prstGeom prst="line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3285AF-2118-4BDD-B514-ED5C22B7F395}"/>
              </a:ext>
            </a:extLst>
          </p:cNvPr>
          <p:cNvCxnSpPr>
            <a:cxnSpLocks/>
          </p:cNvCxnSpPr>
          <p:nvPr/>
        </p:nvCxnSpPr>
        <p:spPr>
          <a:xfrm flipV="1">
            <a:off x="11449844" y="1550682"/>
            <a:ext cx="0" cy="1261344"/>
          </a:xfrm>
          <a:prstGeom prst="straightConnector1">
            <a:avLst/>
          </a:prstGeom>
          <a:ln w="28575">
            <a:solidFill>
              <a:schemeClr val="tx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8EBD9D-AC36-4A0C-84CC-F903E3391240}"/>
              </a:ext>
            </a:extLst>
          </p:cNvPr>
          <p:cNvCxnSpPr>
            <a:cxnSpLocks/>
          </p:cNvCxnSpPr>
          <p:nvPr/>
        </p:nvCxnSpPr>
        <p:spPr>
          <a:xfrm>
            <a:off x="7236541" y="3029103"/>
            <a:ext cx="0" cy="943130"/>
          </a:xfrm>
          <a:prstGeom prst="straightConnector1">
            <a:avLst/>
          </a:prstGeom>
          <a:ln w="28575">
            <a:solidFill>
              <a:schemeClr val="tx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E30674A4-60E0-4B14-87B5-A5FBFB0FBFB0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38199" y="4360607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{00A15C55-8517-42AA-B614-E9B94910E393}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-2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E30674A4-60E0-4B14-87B5-A5FBFB0FBFB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98613606"/>
                  </p:ext>
                </p:extLst>
              </p:nvPr>
            </p:nvGraphicFramePr>
            <p:xfrm>
              <a:off x="838199" y="4360607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{00A15C55-8517-42AA-B614-E9B94910E393}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95" t="-4545" r="-202475" b="-3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4545" r="-101478" b="-3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990" t="-4545" r="-1980" b="-3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-2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0.25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3599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525C-8BB8-415C-90D5-1CDE6F980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Objective: Target Vertical distance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7">
                <a:extLst>
                  <a:ext uri="{FF2B5EF4-FFF2-40B4-BE49-F238E27FC236}">
                    <a16:creationId xmlns:a16="http://schemas.microsoft.com/office/drawing/2014/main" id="{9EF4D59B-013B-4101-A632-774C52259B08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838199" y="1825625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{93296810-A885-4BE3-A3E7-6D5BEEA58F35}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14.5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1.75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7">
                <a:extLst>
                  <a:ext uri="{FF2B5EF4-FFF2-40B4-BE49-F238E27FC236}">
                    <a16:creationId xmlns:a16="http://schemas.microsoft.com/office/drawing/2014/main" id="{9EF4D59B-013B-4101-A632-774C52259B0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020493913"/>
                  </p:ext>
                </p:extLst>
              </p:nvPr>
            </p:nvGraphicFramePr>
            <p:xfrm>
              <a:off x="838199" y="1825625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{93296810-A885-4BE3-A3E7-6D5BEEA58F35}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95" t="-4494" r="-20247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494" r="-10147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990" t="-4494" r="-1980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14.5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1.75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2E509179-70DE-416F-BA24-D647E661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725" y="0"/>
            <a:ext cx="6772275" cy="6657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52CE9D2-825D-431A-826B-D05B40A850C4}"/>
              </a:ext>
            </a:extLst>
          </p:cNvPr>
          <p:cNvCxnSpPr>
            <a:cxnSpLocks/>
          </p:cNvCxnSpPr>
          <p:nvPr/>
        </p:nvCxnSpPr>
        <p:spPr>
          <a:xfrm flipV="1">
            <a:off x="6130412" y="589936"/>
            <a:ext cx="5830529" cy="5134158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547969-214D-471C-92AA-447B25647503}"/>
              </a:ext>
            </a:extLst>
          </p:cNvPr>
          <p:cNvCxnSpPr>
            <a:cxnSpLocks/>
          </p:cNvCxnSpPr>
          <p:nvPr/>
        </p:nvCxnSpPr>
        <p:spPr>
          <a:xfrm flipV="1">
            <a:off x="7236541" y="3972233"/>
            <a:ext cx="0" cy="77674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113F34-C6F8-46D8-9ED7-643506E51341}"/>
              </a:ext>
            </a:extLst>
          </p:cNvPr>
          <p:cNvCxnSpPr>
            <a:cxnSpLocks/>
          </p:cNvCxnSpPr>
          <p:nvPr/>
        </p:nvCxnSpPr>
        <p:spPr>
          <a:xfrm>
            <a:off x="11449844" y="1048215"/>
            <a:ext cx="0" cy="50246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891F1E-3E2A-4B55-B4C8-729E11F9F544}"/>
              </a:ext>
            </a:extLst>
          </p:cNvPr>
          <p:cNvCxnSpPr>
            <a:cxnSpLocks/>
          </p:cNvCxnSpPr>
          <p:nvPr/>
        </p:nvCxnSpPr>
        <p:spPr>
          <a:xfrm flipV="1">
            <a:off x="6130412" y="2812026"/>
            <a:ext cx="5830529" cy="275304"/>
          </a:xfrm>
          <a:prstGeom prst="line">
            <a:avLst/>
          </a:prstGeom>
          <a:ln w="285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3285AF-2118-4BDD-B514-ED5C22B7F395}"/>
              </a:ext>
            </a:extLst>
          </p:cNvPr>
          <p:cNvCxnSpPr>
            <a:cxnSpLocks/>
          </p:cNvCxnSpPr>
          <p:nvPr/>
        </p:nvCxnSpPr>
        <p:spPr>
          <a:xfrm flipV="1">
            <a:off x="11449844" y="1550682"/>
            <a:ext cx="0" cy="1261344"/>
          </a:xfrm>
          <a:prstGeom prst="straightConnector1">
            <a:avLst/>
          </a:prstGeom>
          <a:ln w="28575">
            <a:solidFill>
              <a:schemeClr val="tx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D8EBD9D-AC36-4A0C-84CC-F903E3391240}"/>
              </a:ext>
            </a:extLst>
          </p:cNvPr>
          <p:cNvCxnSpPr>
            <a:cxnSpLocks/>
          </p:cNvCxnSpPr>
          <p:nvPr/>
        </p:nvCxnSpPr>
        <p:spPr>
          <a:xfrm>
            <a:off x="7236541" y="3029103"/>
            <a:ext cx="0" cy="943130"/>
          </a:xfrm>
          <a:prstGeom prst="straightConnector1">
            <a:avLst/>
          </a:prstGeom>
          <a:ln w="28575">
            <a:solidFill>
              <a:schemeClr val="tx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E30674A4-60E0-4B14-87B5-A5FBFB0FBFB0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38199" y="4360607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{00A15C55-8517-42AA-B614-E9B94910E393}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2.25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E30674A4-60E0-4B14-87B5-A5FBFB0FBFB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03738240"/>
                  </p:ext>
                </p:extLst>
              </p:nvPr>
            </p:nvGraphicFramePr>
            <p:xfrm>
              <a:off x="838199" y="4360607"/>
              <a:ext cx="3694470" cy="2149904"/>
            </p:xfrm>
            <a:graphic>
              <a:graphicData uri="http://schemas.openxmlformats.org/drawingml/2006/table">
                <a:tbl>
                  <a:tblPr firstRow="1" lastRow="1" bandRow="1">
                    <a:tableStyleId>{00A15C55-8517-42AA-B614-E9B94910E393}</a:tableStyleId>
                  </a:tblPr>
                  <a:tblGrid>
                    <a:gridCol w="1231490">
                      <a:extLst>
                        <a:ext uri="{9D8B030D-6E8A-4147-A177-3AD203B41FA5}">
                          <a16:colId xmlns:a16="http://schemas.microsoft.com/office/drawing/2014/main" val="945606254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803113587"/>
                        </a:ext>
                      </a:extLst>
                    </a:gridCol>
                    <a:gridCol w="1231490">
                      <a:extLst>
                        <a:ext uri="{9D8B030D-6E8A-4147-A177-3AD203B41FA5}">
                          <a16:colId xmlns:a16="http://schemas.microsoft.com/office/drawing/2014/main" val="2209550882"/>
                        </a:ext>
                      </a:extLst>
                    </a:gridCol>
                  </a:tblGrid>
                  <a:tr h="53747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95" t="-4545" r="-202475" b="-3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0" t="-4545" r="-101478" b="-30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990" t="-4545" r="-1980" b="-30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42558251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94016225"/>
                      </a:ext>
                    </a:extLst>
                  </a:tr>
                  <a:tr h="53747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10.5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30105549"/>
                      </a:ext>
                    </a:extLst>
                  </a:tr>
                  <a:tr h="537476">
                    <a:tc gridSpan="2">
                      <a:txBody>
                        <a:bodyPr/>
                        <a:lstStyle/>
                        <a:p>
                          <a:pPr algn="r"/>
                          <a:r>
                            <a:rPr lang="en-US" dirty="0"/>
                            <a:t>Average Error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2.25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923110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61002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29A7-3870-4938-A923-E796CFAC3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Objective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86DF9C-EB90-4FA7-98C0-7F42AF9340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Cambria Math" panose="02040503050406030204" pitchFamily="18" charset="0"/>
                  </a:rPr>
                  <a:t>What’s your objective?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Here’s a reasonable one: “</a:t>
                </a:r>
                <a:r>
                  <a:rPr lang="en-US" b="0" dirty="0">
                    <a:latin typeface="Cambria Math" panose="02040503050406030204" pitchFamily="18" charset="0"/>
                  </a:rPr>
                  <a:t>To be as accurate as possible. To have no error.”</a:t>
                </a:r>
              </a:p>
              <a:p>
                <a:r>
                  <a:rPr lang="en-US" dirty="0">
                    <a:latin typeface="Cambria Math" panose="02040503050406030204" pitchFamily="18" charset="0"/>
                  </a:rPr>
                  <a:t>The error term: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We want the error not just for one instance, but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So we add them up: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86DF9C-EB90-4FA7-98C0-7F42AF9340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066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D992A75-3BB1-414D-94DC-F0DE4E8BB36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But How Do We Get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D992A75-3BB1-414D-94DC-F0DE4E8BB3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72098C-1253-455B-A5A5-4C17F9F356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Recall that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So if we plug this into to the objective, we get Sum of Absolute Errors (SAE):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/>
                  <a:t>, original objective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−(</m:t>
                        </m:r>
                      </m:e>
                    </m:nary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)|, after plugging in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The goal: Find values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that make SAE = 0 </a:t>
                </a:r>
              </a:p>
              <a:p>
                <a:endParaRPr lang="en-US" dirty="0"/>
              </a:p>
              <a:p>
                <a:r>
                  <a:rPr lang="en-US" dirty="0"/>
                  <a:t>Sometimes that’s not possible, so we alternatively want SAE to be </a:t>
                </a:r>
                <a:r>
                  <a:rPr lang="en-US" i="1" dirty="0">
                    <a:solidFill>
                      <a:srgbClr val="FF0000"/>
                    </a:solidFill>
                  </a:rPr>
                  <a:t>as small as possible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72098C-1253-455B-A5A5-4C17F9F35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r="-348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57162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F090240-C911-4D20-BFEB-9CA5A68E50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But How Do We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F090240-C911-4D20-BFEB-9CA5A68E50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AB7C3-405D-45E4-BBD1-465B525505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“Minimize the Objective!”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>
                  <a:buFontTx/>
                  <a:buChar char="-"/>
                </a:pPr>
                <a:r>
                  <a:rPr lang="en-US" dirty="0"/>
                  <a:t>Least Absolute Deviation: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3800" b="1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3800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  <m:sup/>
                      <m:e>
                        <m:r>
                          <a:rPr lang="en-US" sz="3800" b="1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3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en-US" sz="3800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a:rPr lang="en-US" sz="3800" b="1" i="1" smtClean="0">
                            <a:latin typeface="Cambria Math" panose="02040503050406030204" pitchFamily="18" charset="0"/>
                          </a:rPr>
                          <m:t>−(</m:t>
                        </m:r>
                      </m:e>
                    </m:nary>
                    <m:sSub>
                      <m:sSubPr>
                        <m:ctrlPr>
                          <a:rPr lang="en-US" sz="3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380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800" b="1" i="1" dirty="0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</m:acc>
                      </m:e>
                      <m:sub>
                        <m:r>
                          <a:rPr lang="en-US" sz="3800" b="1" i="1" dirty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sz="3800" b="1" i="1" dirty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3800" b="1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800" b="1" i="1" dirty="0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</m:acc>
                      </m:e>
                      <m:sub>
                        <m:r>
                          <a:rPr lang="en-US" sz="3800" b="1" i="1" dirty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b>
                      <m:sSubPr>
                        <m:ctrlPr>
                          <a:rPr lang="en-US" sz="3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800" b="1" i="1" dirty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3800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sz="3800" b="1" dirty="0"/>
                  <a:t>)|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>
                  <a:buFontTx/>
                  <a:buChar char="-"/>
                </a:pPr>
                <a:r>
                  <a:rPr lang="en-US" dirty="0"/>
                  <a:t>Least Squares: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sub>
                                  </m:sSub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𝜷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𝟎</m:t>
                                          </m:r>
                                        </m:sub>
                                      </m:sSub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𝜷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𝟏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b="1" dirty="0"/>
              </a:p>
              <a:p>
                <a:pPr lvl="1">
                  <a:buFontTx/>
                  <a:buChar char="-"/>
                </a:pPr>
                <a:endParaRPr lang="en-US" dirty="0"/>
              </a:p>
              <a:p>
                <a:pPr lvl="1">
                  <a:buFontTx/>
                  <a:buChar char="-"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AB7C3-405D-45E4-BBD1-465B525505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17324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90240-C911-4D20-BFEB-9CA5A68E5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Minimizing the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AB7C3-405D-45E4-BBD1-465B525505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Out of scope for this course, but </a:t>
                </a:r>
              </a:p>
              <a:p>
                <a:pPr>
                  <a:buFontTx/>
                  <a:buChar char="-"/>
                </a:pPr>
                <a:r>
                  <a:rPr lang="en-US" dirty="0"/>
                  <a:t>Least Absolute Deviations</a:t>
                </a:r>
              </a:p>
              <a:p>
                <a:pPr lvl="1">
                  <a:buFontTx/>
                  <a:buChar char="-"/>
                </a:pPr>
                <a:r>
                  <a:rPr lang="en-US" dirty="0"/>
                  <a:t>Requires “numerical solution” (i.e. there is no formula for it), requires trying different values and seeing which one gives the lowest objective function value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- Least squares has an “analytic solution” (i.e. formulas) for getting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s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̅"/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AAB7C3-405D-45E4-BBD1-465B525505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145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Modeling P(Y|X) Directly</a:t>
            </a:r>
          </a:p>
        </p:txBody>
      </p:sp>
    </p:spTree>
    <p:extLst>
      <p:ext uri="{BB962C8B-B14F-4D97-AF65-F5344CB8AC3E}">
        <p14:creationId xmlns:p14="http://schemas.microsoft.com/office/powerpoint/2010/main" val="3404192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E5B4B-CE6B-4A52-A39D-EBA58E4FA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Conditional Probabilities Directly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A87113-5854-4AAC-B580-F86CCDD023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290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Cambria Math" panose="02040503050406030204" pitchFamily="18" charset="0"/>
                  </a:rPr>
                  <a:t>New Assumption: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Outcomes are result  of a Bernoulli random variable. </a:t>
                </a:r>
              </a:p>
              <a:p>
                <a:pPr lvl="2"/>
                <a:r>
                  <a:rPr lang="en-US" b="0" dirty="0">
                    <a:latin typeface="Cambria Math" panose="02040503050406030204" pitchFamily="18" charset="0"/>
                  </a:rPr>
                  <a:t>Take on value of Y=1 with probability p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Each individual will have a separate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b="0" dirty="0">
                    <a:latin typeface="Cambria Math" panose="02040503050406030204" pitchFamily="18" charset="0"/>
                  </a:rPr>
                  <a:t>We want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A87113-5854-4AAC-B580-F86CCDD023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29063" cy="4351338"/>
              </a:xfrm>
              <a:blipFill>
                <a:blip r:embed="rId2"/>
                <a:stretch>
                  <a:fillRect l="-158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 descr="Group with solid fill">
            <a:extLst>
              <a:ext uri="{FF2B5EF4-FFF2-40B4-BE49-F238E27FC236}">
                <a16:creationId xmlns:a16="http://schemas.microsoft.com/office/drawing/2014/main" id="{0E11CB8E-1FCB-4648-AC7C-276185EFD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02529" y="3220819"/>
            <a:ext cx="2507028" cy="2507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97B127-AEB7-4521-94C7-DF3BF989889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374" t="23329" r="27960" b="23335"/>
          <a:stretch/>
        </p:blipFill>
        <p:spPr>
          <a:xfrm>
            <a:off x="9446586" y="2828682"/>
            <a:ext cx="431428" cy="5392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A9D940-02A5-4948-A7CC-C412C5F5274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374" t="23329" r="27960" b="23335"/>
          <a:stretch/>
        </p:blipFill>
        <p:spPr>
          <a:xfrm>
            <a:off x="8967131" y="2849812"/>
            <a:ext cx="431428" cy="5392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74320F-7B63-4363-ABC7-B9B4611230B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374" t="23329" r="27960" b="23335"/>
          <a:stretch/>
        </p:blipFill>
        <p:spPr>
          <a:xfrm>
            <a:off x="9974068" y="2832602"/>
            <a:ext cx="431428" cy="5392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1C9109-B7D2-48F4-9732-2D20C94D7D3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374" t="23329" r="27960" b="23335"/>
          <a:stretch/>
        </p:blipFill>
        <p:spPr>
          <a:xfrm>
            <a:off x="10501550" y="2828682"/>
            <a:ext cx="431428" cy="539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BAD9DE-BFE5-4FE8-8905-311C48211CAE}"/>
                  </a:ext>
                </a:extLst>
              </p:cNvPr>
              <p:cNvSpPr txBox="1"/>
              <p:nvPr/>
            </p:nvSpPr>
            <p:spPr>
              <a:xfrm>
                <a:off x="8821090" y="2306065"/>
                <a:ext cx="744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BAD9DE-BFE5-4FE8-8905-311C48211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1090" y="2306065"/>
                <a:ext cx="744057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F19182-DE1B-4BB5-883A-B22842E4D00D}"/>
                  </a:ext>
                </a:extLst>
              </p:cNvPr>
              <p:cNvSpPr txBox="1"/>
              <p:nvPr/>
            </p:nvSpPr>
            <p:spPr>
              <a:xfrm>
                <a:off x="9300545" y="2305251"/>
                <a:ext cx="744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8F19182-DE1B-4BB5-883A-B22842E4D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0545" y="2305251"/>
                <a:ext cx="744057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3897A12-CB84-428C-94B1-B41287814C94}"/>
                  </a:ext>
                </a:extLst>
              </p:cNvPr>
              <p:cNvSpPr txBox="1"/>
              <p:nvPr/>
            </p:nvSpPr>
            <p:spPr>
              <a:xfrm>
                <a:off x="9878404" y="2301893"/>
                <a:ext cx="744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3897A12-CB84-428C-94B1-B41287814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8404" y="2301893"/>
                <a:ext cx="744057" cy="369332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0848DC7-E524-4BC0-828C-1793CB7E9A55}"/>
                  </a:ext>
                </a:extLst>
              </p:cNvPr>
              <p:cNvSpPr txBox="1"/>
              <p:nvPr/>
            </p:nvSpPr>
            <p:spPr>
              <a:xfrm>
                <a:off x="10398955" y="2301079"/>
                <a:ext cx="7440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0848DC7-E524-4BC0-828C-1793CB7E9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8955" y="2301079"/>
                <a:ext cx="744057" cy="369332"/>
              </a:xfrm>
              <a:prstGeom prst="rect">
                <a:avLst/>
              </a:prstGeom>
              <a:blipFill>
                <a:blip r:embed="rId9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264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60B5F-73AC-4E7C-80B7-FF7465F02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Outcomes Are “Modeled” as the Outcome of a Coin Toss</a:t>
            </a:r>
          </a:p>
        </p:txBody>
      </p:sp>
      <p:pic>
        <p:nvPicPr>
          <p:cNvPr id="5" name="Content Placeholder 4" descr="Group with solid fill">
            <a:extLst>
              <a:ext uri="{FF2B5EF4-FFF2-40B4-BE49-F238E27FC236}">
                <a16:creationId xmlns:a16="http://schemas.microsoft.com/office/drawing/2014/main" id="{49C7CE8D-CDB5-4B58-B67B-649F8A51EE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05833" y="4466910"/>
            <a:ext cx="2507028" cy="250702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7FD0F-AA90-458C-B5B0-8D7BF776413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2449890" y="4074773"/>
            <a:ext cx="431428" cy="539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E36F53-7CB2-41CF-A02D-A8A85D154A5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1970435" y="4095903"/>
            <a:ext cx="431428" cy="5392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05F7-B527-490B-98F9-139BBCB8121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2977372" y="4078693"/>
            <a:ext cx="431428" cy="5392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6F94A2-9B6F-4AE2-865C-6FB1FEAF1F8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3504854" y="4074773"/>
            <a:ext cx="431428" cy="539285"/>
          </a:xfrm>
          <a:prstGeom prst="rect">
            <a:avLst/>
          </a:prstGeom>
        </p:spPr>
      </p:pic>
      <p:pic>
        <p:nvPicPr>
          <p:cNvPr id="12" name="Content Placeholder 4" descr="Group with solid fill">
            <a:extLst>
              <a:ext uri="{FF2B5EF4-FFF2-40B4-BE49-F238E27FC236}">
                <a16:creationId xmlns:a16="http://schemas.microsoft.com/office/drawing/2014/main" id="{F16373AB-EA49-4B28-8020-F15B63514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8782" y="4488040"/>
            <a:ext cx="2507028" cy="25070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6871897-51B1-4998-916A-4FA874D55A7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8422839" y="4095903"/>
            <a:ext cx="431428" cy="5392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6B7AF98-9DAB-4DC6-98A7-E8B32C83082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7943384" y="4117033"/>
            <a:ext cx="431428" cy="53928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4CBAE9-166D-4A3F-808B-60960D63408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8950321" y="4099823"/>
            <a:ext cx="431428" cy="53928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CDC4D80-DF19-46BB-974B-B4E599AA52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9477803" y="4095903"/>
            <a:ext cx="431428" cy="539285"/>
          </a:xfrm>
          <a:prstGeom prst="rect">
            <a:avLst/>
          </a:prstGeom>
        </p:spPr>
      </p:pic>
      <p:pic>
        <p:nvPicPr>
          <p:cNvPr id="17" name="Content Placeholder 4" descr="Group with solid fill">
            <a:extLst>
              <a:ext uri="{FF2B5EF4-FFF2-40B4-BE49-F238E27FC236}">
                <a16:creationId xmlns:a16="http://schemas.microsoft.com/office/drawing/2014/main" id="{F2959486-4E3F-4769-AC1A-7D7009AE2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53934" y="4509170"/>
            <a:ext cx="2507028" cy="25070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172F927-6875-42FB-A935-8A25B86FD4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5497991" y="4117033"/>
            <a:ext cx="431428" cy="5392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6D3BAA8-738D-42B2-A85F-8687DE6E424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5018536" y="4138163"/>
            <a:ext cx="431428" cy="5392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8D96FDD-C308-4600-9459-21D867017A3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6025473" y="4120953"/>
            <a:ext cx="431428" cy="53928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9B1F9C1-27BC-4F5B-9296-374382C013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9374" t="23329" r="27960" b="23335"/>
          <a:stretch/>
        </p:blipFill>
        <p:spPr>
          <a:xfrm>
            <a:off x="6552955" y="4117033"/>
            <a:ext cx="431428" cy="539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91A2BFE-4BC5-46FE-AFA1-D8EDDFF0B929}"/>
                  </a:ext>
                </a:extLst>
              </p:cNvPr>
              <p:cNvSpPr txBox="1"/>
              <p:nvPr/>
            </p:nvSpPr>
            <p:spPr>
              <a:xfrm>
                <a:off x="1333071" y="1764650"/>
                <a:ext cx="10215081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We model each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as a conditional probability:</a:t>
                </a: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𝑝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0" lang="en-US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i</m:t>
                          </m:r>
                        </m:sub>
                      </m:sSub>
                      <m:r>
                        <a:rPr kumimoji="0" lang="en-US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𝑌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𝛽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𝛽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</m:e>
                            <m:sub>
                              <m:r>
                                <a:rPr kumimoji="0" lang="en-US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For OLS, </a:t>
                </a:r>
                <a14:m>
                  <m:oMath xmlns:m="http://schemas.openxmlformats.org/officeDocument/2006/math">
                    <m:r>
                      <a:rPr kumimoji="0" lang="en-US" sz="24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 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0</m:t>
                            </m:r>
                          </m:sub>
                        </m:s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𝛽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0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+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𝛽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𝑋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91A2BFE-4BC5-46FE-AFA1-D8EDDFF0B9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3071" y="1764650"/>
                <a:ext cx="10215081" cy="1569660"/>
              </a:xfrm>
              <a:prstGeom prst="rect">
                <a:avLst/>
              </a:prstGeom>
              <a:blipFill>
                <a:blip r:embed="rId5"/>
                <a:stretch>
                  <a:fillRect l="-955" t="-3101" b="-7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4760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C3027-941E-4FF3-8284-BA9FFACC9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3C651A-A1B5-44BC-95B3-74FB21DA7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are modeling a conditional probability here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endParaRPr lang="en-US" dirty="0"/>
              </a:p>
              <a:p>
                <a:r>
                  <a:rPr lang="en-US" dirty="0"/>
                  <a:t>So if we have reduced the error to zero, we have achieved calibration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𝑆𝐴𝐸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can see how, unlike Naïve Bayes, it’s in </a:t>
                </a:r>
                <a:r>
                  <a:rPr lang="en-US" i="1" dirty="0"/>
                  <a:t>theory</a:t>
                </a:r>
                <a:r>
                  <a:rPr lang="en-US" dirty="0"/>
                  <a:t> possible to get the “right” answer for a probability estimate by directly modeling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3C651A-A1B5-44BC-95B3-74FB21DA7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13812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96AD9-3208-409B-9052-F4A233CF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Least Squares (OLS)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B89AFB-F455-4C8A-B573-75EEA72FCE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In OLS, we’ll assume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the identify function: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s are referred to as:</a:t>
                </a:r>
              </a:p>
              <a:p>
                <a:pPr lvl="1"/>
                <a:r>
                  <a:rPr lang="en-US" dirty="0"/>
                  <a:t>Weights</a:t>
                </a:r>
              </a:p>
              <a:p>
                <a:pPr lvl="1"/>
                <a:r>
                  <a:rPr lang="en-US" dirty="0"/>
                  <a:t>Coefficients</a:t>
                </a:r>
              </a:p>
              <a:p>
                <a:pPr lvl="1"/>
                <a:r>
                  <a:rPr lang="en-US" dirty="0"/>
                  <a:t>Parameters</a:t>
                </a:r>
              </a:p>
              <a:p>
                <a:endParaRPr lang="en-US" dirty="0"/>
              </a:p>
              <a:p>
                <a:r>
                  <a:rPr lang="en-US" dirty="0"/>
                  <a:t>We need a way to estimate them</a:t>
                </a:r>
              </a:p>
              <a:p>
                <a:r>
                  <a:rPr lang="en-US" dirty="0"/>
                  <a:t>After we estimate, we can produce a prediction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lang="en-US" dirty="0"/>
                  <a:t>):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B89AFB-F455-4C8A-B573-75EEA72FCE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2024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95074-C2C7-440C-A328-C534B5DB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are predicting arrest in 2021 based on arrests in 2020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𝐴𝑟𝑟𝑒𝑠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2021,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𝐴𝑟𝑟𝑒𝑠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2020,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2020,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 OLS this would be represented as: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2021,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2020,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Let’s say we got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2021,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=0.25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0.2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𝐴𝑟𝑟𝑒𝑠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2020,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474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95074-C2C7-440C-A328-C534B5DB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𝐴𝑟𝑟𝑒𝑠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2021,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=0.25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𝐴𝑟𝑟𝑒𝑠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2020,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a person didn’t get arrested in 2020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𝐴𝑟𝑟𝑒𝑠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2021,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𝐴𝑟𝑟𝑒𝑠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2020,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0.25+0.2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=0.2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model predicts a 25% chance of arrest in 2021 for someone without and arrest in 2020 </a:t>
                </a:r>
              </a:p>
              <a:p>
                <a:r>
                  <a:rPr lang="en-US" dirty="0"/>
                  <a:t>If a person did get arrested in 2020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𝐴𝑟𝑟𝑒𝑠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2021,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𝐴𝑟𝑟𝑒𝑠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2020,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0.25+0.2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45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model predicts a 45% chance of arrest in 2021 for someone without and arrest in 2020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03399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95074-C2C7-440C-A328-C534B5DB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40002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𝐴𝑟𝑟𝑒𝑠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2021,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=0.25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0.2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𝐴𝑟𝑟𝑒𝑠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2020,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600" dirty="0"/>
              </a:p>
              <a:p>
                <a:endParaRPr lang="en-US" sz="2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=0.25</m:t>
                    </m:r>
                  </m:oMath>
                </a14:m>
                <a:r>
                  <a:rPr lang="en-US" sz="2600" dirty="0"/>
                  <a:t>, the intercept, or the predicted re-arrest rate for people with no arrests in 2020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sz="2600" dirty="0"/>
                  <a:t>, the slope, or the increase in arrest probability in 2021 from having an arrest in 2020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40002" cy="4351338"/>
              </a:xfrm>
              <a:blipFill>
                <a:blip r:embed="rId2"/>
                <a:stretch>
                  <a:fillRect r="-2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00" name="Picture 4">
            <a:extLst>
              <a:ext uri="{FF2B5EF4-FFF2-40B4-BE49-F238E27FC236}">
                <a16:creationId xmlns:a16="http://schemas.microsoft.com/office/drawing/2014/main" id="{B1B70B99-723A-410E-97F2-65F591A76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979" y="1248603"/>
            <a:ext cx="54864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03063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1275108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859E7-7563-C1EF-7446-44F494CA2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want calibrated probabilities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67265-2B67-2DD2-49B3-C0AF652EA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35357" cy="400343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This is called a calibration plot or a “reliability curve”</a:t>
            </a:r>
          </a:p>
          <a:p>
            <a:r>
              <a:rPr lang="en-US" dirty="0"/>
              <a:t>Steps:</a:t>
            </a:r>
          </a:p>
          <a:p>
            <a:pPr lvl="1"/>
            <a:r>
              <a:rPr lang="en-US" dirty="0"/>
              <a:t>Split predicted probabilities into N-bins of equal size (each bin has same number of data points)</a:t>
            </a:r>
          </a:p>
          <a:p>
            <a:pPr lvl="1"/>
            <a:r>
              <a:rPr lang="en-US" dirty="0"/>
              <a:t>For each bin, compute average of predicted probabilities and average of actual outcomes</a:t>
            </a:r>
          </a:p>
          <a:p>
            <a:r>
              <a:rPr lang="en-US" dirty="0"/>
              <a:t>X-axis: Average of predicted probabilities</a:t>
            </a:r>
          </a:p>
          <a:p>
            <a:r>
              <a:rPr lang="en-US" dirty="0"/>
              <a:t>Y-axis: Average of actual outcomes</a:t>
            </a:r>
          </a:p>
          <a:p>
            <a:r>
              <a:rPr lang="en-US" dirty="0"/>
              <a:t>If calibrated, the resulting line connecting the points should fall close to the “45-degree” line</a:t>
            </a:r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68433664-D87C-3D21-3FAA-6E5174887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18" y="2173527"/>
            <a:ext cx="6213219" cy="3655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144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1B2F-C66E-1E5E-79F1-553961969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Naïve Bayes Doesn’t Achieve Calibration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DAEE4B-4344-4A73-407B-0B3F45656A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Cambria Math" panose="02040503050406030204" pitchFamily="18" charset="0"/>
                  </a:rPr>
                  <a:t>Conditional independence assumption means that the probability that would be calculated by Naïve Bayes is not the true probability of the event we are interested in:</a:t>
                </a:r>
              </a:p>
              <a:p>
                <a:endParaRPr lang="en-US" b="0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DAEE4B-4344-4A73-407B-0B3F45656A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0472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84CA7-135A-EA58-0014-FF622F5A7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approach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759371-1792-1357-E4CE-DD4D8ACD98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Each person will be modeled as a coin flip.</a:t>
                </a:r>
              </a:p>
              <a:p>
                <a:r>
                  <a:rPr lang="en-US" dirty="0"/>
                  <a:t>They will have their own probability of the outcome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want to know what is the relationship between the predictors and the outcome</a:t>
                </a:r>
              </a:p>
              <a:p>
                <a:r>
                  <a:rPr lang="en-US" dirty="0"/>
                  <a:t>Linear Regression: </a:t>
                </a:r>
              </a:p>
              <a:p>
                <a:pPr lvl="1"/>
                <a:r>
                  <a:rPr lang="en-US" dirty="0"/>
                  <a:t>We will model it 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simplicity, just consider one predictor: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759371-1792-1357-E4CE-DD4D8ACD98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026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0BB816-5B36-A0A2-502E-1F5B9FB2017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Do We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80BB816-5B36-A0A2-502E-1F5B9FB201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9B8F86-6B25-4E17-49FA-0A8059B4F6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want to minimize the errors. Define the following objective function which keeps track of the errors: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Same thing as:</a:t>
                </a:r>
              </a:p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Find the values of the betas that get this as close to zero as possible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9B8F86-6B25-4E17-49FA-0A8059B4F6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0961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95074-C2C7-440C-A328-C534B5DB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40002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𝐴𝑟𝑟𝑒𝑠</m:t>
                    </m:r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2021,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=0.25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0.2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𝐴𝑟𝑟𝑒𝑠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2020,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600" dirty="0"/>
              </a:p>
              <a:p>
                <a:endParaRPr lang="en-US" sz="26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=0.25</m:t>
                    </m:r>
                  </m:oMath>
                </a14:m>
                <a:r>
                  <a:rPr lang="en-US" sz="2600" dirty="0"/>
                  <a:t>, the intercept, or the predicted re-arrest rate for people with no arrests in 2020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en-US" sz="2600" dirty="0"/>
                  <a:t>, the slope, or the increase in arrest probability in 2021 from having an arrest in 2020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CE2CD-AB01-4516-8BD8-178B40DF29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40002" cy="4351338"/>
              </a:xfrm>
              <a:blipFill>
                <a:blip r:embed="rId2"/>
                <a:stretch>
                  <a:fillRect r="-2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00" name="Picture 4">
            <a:extLst>
              <a:ext uri="{FF2B5EF4-FFF2-40B4-BE49-F238E27FC236}">
                <a16:creationId xmlns:a16="http://schemas.microsoft.com/office/drawing/2014/main" id="{B1B70B99-723A-410E-97F2-65F591A76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6979" y="1248603"/>
            <a:ext cx="54864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969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EC707-F448-4691-8468-F7D859F1A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Shortcoming of Linear Probability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7689F-1BAD-4A14-A893-77A6668B3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58563" cy="4351338"/>
          </a:xfrm>
        </p:spPr>
        <p:txBody>
          <a:bodyPr/>
          <a:lstStyle/>
          <a:p>
            <a:r>
              <a:rPr lang="en-US" dirty="0"/>
              <a:t>Plot shows relationship b/w state-level population in 2020 versus if there were more than 500 homicides.</a:t>
            </a:r>
          </a:p>
          <a:p>
            <a:endParaRPr lang="en-US" dirty="0"/>
          </a:p>
          <a:p>
            <a:r>
              <a:rPr lang="en-US" dirty="0"/>
              <a:t>What is the P(</a:t>
            </a:r>
            <a:r>
              <a:rPr lang="en-US" dirty="0" err="1"/>
              <a:t>Y|Population</a:t>
            </a:r>
            <a:r>
              <a:rPr lang="en-US" dirty="0"/>
              <a:t>&lt;1million)?</a:t>
            </a:r>
          </a:p>
          <a:p>
            <a:endParaRPr lang="en-US" dirty="0"/>
          </a:p>
          <a:p>
            <a:r>
              <a:rPr lang="en-US" dirty="0"/>
              <a:t>Less than zero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F106DD9-AD52-46CC-82AC-FEABD63F99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8730" y="2043113"/>
            <a:ext cx="5448300" cy="413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DDD88E77-60E7-4646-AE9F-25124D9E82A4}"/>
              </a:ext>
            </a:extLst>
          </p:cNvPr>
          <p:cNvSpPr/>
          <p:nvPr/>
        </p:nvSpPr>
        <p:spPr>
          <a:xfrm>
            <a:off x="6780362" y="4715838"/>
            <a:ext cx="690113" cy="462337"/>
          </a:xfrm>
          <a:prstGeom prst="ellipse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008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Logistic Regression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90BA9B-F4BA-476D-F535-5CC417B525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8538" y="0"/>
            <a:ext cx="43211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6962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7238B-3B63-64B1-CDAF-581AAB167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starting assumption as 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63866C-97F3-CE3B-93BB-3F060E3648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Each person is a coin flip, and the chance that their coin ends up heads, depends on their attributes/predictive features</a:t>
                </a:r>
              </a:p>
              <a:p>
                <a:endParaRPr lang="en-US" dirty="0"/>
              </a:p>
              <a:p>
                <a:r>
                  <a:rPr lang="en-US" dirty="0"/>
                  <a:t>Let’s say we N people (a large number)</a:t>
                </a:r>
              </a:p>
              <a:p>
                <a:endParaRPr lang="en-US" dirty="0"/>
              </a:p>
              <a:p>
                <a:r>
                  <a:rPr lang="en-US" dirty="0"/>
                  <a:t>Each one has their own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63866C-97F3-CE3B-93BB-3F060E3648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12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50712-3FE0-46EF-9CAE-1B8D1711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D8E3C-2E4E-4DF6-883D-C014F80DC6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Explicitly model probabilities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What should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look like?</a:t>
                </a:r>
              </a:p>
              <a:p>
                <a:pPr lvl="1"/>
                <a:r>
                  <a:rPr lang="en-US" dirty="0"/>
                  <a:t>For linear regression,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logistic function: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, which is the logistic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ED8E3C-2E4E-4DF6-883D-C014F80DC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685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DADB2-D1D6-49E7-8182-2ADA741E7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function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A641C60-29F6-461C-9060-6F5B5AE7C9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9902" y="1485733"/>
            <a:ext cx="7514191" cy="5007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C0EC48E-3E93-4F67-B89C-D6E8EBEC4836}"/>
              </a:ext>
            </a:extLst>
          </p:cNvPr>
          <p:cNvCxnSpPr/>
          <p:nvPr/>
        </p:nvCxnSpPr>
        <p:spPr>
          <a:xfrm flipV="1">
            <a:off x="3127485" y="1807535"/>
            <a:ext cx="6539023" cy="3997842"/>
          </a:xfrm>
          <a:prstGeom prst="line">
            <a:avLst/>
          </a:prstGeom>
          <a:ln w="349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67B875-5727-40C0-80C2-AA4B683099BC}"/>
              </a:ext>
            </a:extLst>
          </p:cNvPr>
          <p:cNvSpPr txBox="1"/>
          <p:nvPr/>
        </p:nvSpPr>
        <p:spPr>
          <a:xfrm>
            <a:off x="10154093" y="2777490"/>
            <a:ext cx="1801702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Compare to linear relationship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6A01B2-D477-4CF8-9C85-8B7C35293A0F}"/>
              </a:ext>
            </a:extLst>
          </p:cNvPr>
          <p:cNvCxnSpPr/>
          <p:nvPr/>
        </p:nvCxnSpPr>
        <p:spPr>
          <a:xfrm flipH="1" flipV="1">
            <a:off x="9009450" y="2366010"/>
            <a:ext cx="1144641" cy="868680"/>
          </a:xfrm>
          <a:prstGeom prst="straightConnector1">
            <a:avLst/>
          </a:prstGeom>
          <a:ln w="41275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B27144-18F6-14A4-384B-0E39333DE197}"/>
              </a:ext>
            </a:extLst>
          </p:cNvPr>
          <p:cNvCxnSpPr>
            <a:cxnSpLocks/>
          </p:cNvCxnSpPr>
          <p:nvPr/>
        </p:nvCxnSpPr>
        <p:spPr>
          <a:xfrm>
            <a:off x="2349833" y="5245768"/>
            <a:ext cx="1620588" cy="409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2E4959F-D9D1-0AB7-D7D3-E05138D95788}"/>
              </a:ext>
            </a:extLst>
          </p:cNvPr>
          <p:cNvSpPr txBox="1"/>
          <p:nvPr/>
        </p:nvSpPr>
        <p:spPr>
          <a:xfrm>
            <a:off x="617425" y="3700820"/>
            <a:ext cx="1538903" cy="2862322"/>
          </a:xfrm>
          <a:prstGeom prst="rect">
            <a:avLst/>
          </a:prstGeom>
          <a:solidFill>
            <a:schemeClr val="bg2">
              <a:lumMod val="75000"/>
              <a:alpha val="24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At extreme values on the X-axis, when we move in the X-direction, the predicted probability has smaller changes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B66DD8-4185-E544-4A31-E6509A4FC0CB}"/>
              </a:ext>
            </a:extLst>
          </p:cNvPr>
          <p:cNvCxnSpPr>
            <a:cxnSpLocks/>
          </p:cNvCxnSpPr>
          <p:nvPr/>
        </p:nvCxnSpPr>
        <p:spPr>
          <a:xfrm flipV="1">
            <a:off x="2349833" y="1892968"/>
            <a:ext cx="6738020" cy="33528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8594DF0-3598-D179-264A-7E07968AB3F6}"/>
              </a:ext>
            </a:extLst>
          </p:cNvPr>
          <p:cNvSpPr txBox="1"/>
          <p:nvPr/>
        </p:nvSpPr>
        <p:spPr>
          <a:xfrm>
            <a:off x="7331047" y="3499859"/>
            <a:ext cx="2335461" cy="1754326"/>
          </a:xfrm>
          <a:prstGeom prst="rect">
            <a:avLst/>
          </a:prstGeom>
          <a:solidFill>
            <a:schemeClr val="bg2">
              <a:lumMod val="75000"/>
              <a:alpha val="24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At intermediate values, when we move in the X-direction, the predicted probability has bigger changes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41BB23-0401-4D67-2D5B-E6336E62066D}"/>
              </a:ext>
            </a:extLst>
          </p:cNvPr>
          <p:cNvCxnSpPr>
            <a:cxnSpLocks/>
          </p:cNvCxnSpPr>
          <p:nvPr/>
        </p:nvCxnSpPr>
        <p:spPr>
          <a:xfrm flipH="1">
            <a:off x="6264613" y="3989304"/>
            <a:ext cx="1010286" cy="3103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8334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0779D-B19C-2955-F3B2-250242AF8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0903F-5155-7BCC-A5E3-055B1D8848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Cambria Math" panose="02040503050406030204" pitchFamily="18" charset="0"/>
                  </a:rPr>
                  <a:t>Our old friend, Bayes Theorem: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What is the “likelihood” of seeing the data we see, if the parameters were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0903F-5155-7BCC-A5E3-055B1D8848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1587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B70CC-1693-5EC5-F72F-EC4642675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Visualized</a:t>
            </a:r>
          </a:p>
        </p:txBody>
      </p:sp>
      <p:pic>
        <p:nvPicPr>
          <p:cNvPr id="2050" name="Picture 2" descr="Visualization of three Gaussian curves for the likelihood, prior and posterior distribution">
            <a:extLst>
              <a:ext uri="{FF2B5EF4-FFF2-40B4-BE49-F238E27FC236}">
                <a16:creationId xmlns:a16="http://schemas.microsoft.com/office/drawing/2014/main" id="{506E7FC4-D007-0110-AD54-92378882E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7441" y="1916059"/>
            <a:ext cx="64008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ACA171-CC9E-8F55-0DC4-10952A0113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8055" y="3082060"/>
            <a:ext cx="903051" cy="431192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Prior (Before)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A1062E-526D-19B7-7E33-2147B87817A0}"/>
                  </a:ext>
                </a:extLst>
              </p:cNvPr>
              <p:cNvSpPr txBox="1"/>
              <p:nvPr/>
            </p:nvSpPr>
            <p:spPr>
              <a:xfrm>
                <a:off x="13759" y="3523027"/>
                <a:ext cx="6094324" cy="6790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A1062E-526D-19B7-7E33-2147B8781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59" y="3523027"/>
                <a:ext cx="6094324" cy="6790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DDEBDC8-3826-1A72-75DA-AC8ECE195679}"/>
              </a:ext>
            </a:extLst>
          </p:cNvPr>
          <p:cNvSpPr txBox="1">
            <a:spLocks/>
          </p:cNvSpPr>
          <p:nvPr/>
        </p:nvSpPr>
        <p:spPr>
          <a:xfrm>
            <a:off x="1331068" y="3213404"/>
            <a:ext cx="1266217" cy="431192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Posterior (After)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6205A94F-F0C6-A627-A9AD-BA95FF41523C}"/>
              </a:ext>
            </a:extLst>
          </p:cNvPr>
          <p:cNvSpPr txBox="1">
            <a:spLocks/>
          </p:cNvSpPr>
          <p:nvPr/>
        </p:nvSpPr>
        <p:spPr>
          <a:xfrm>
            <a:off x="2890297" y="3263711"/>
            <a:ext cx="1167758" cy="431192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Likelihood</a:t>
            </a:r>
          </a:p>
        </p:txBody>
      </p:sp>
    </p:spTree>
    <p:extLst>
      <p:ext uri="{BB962C8B-B14F-4D97-AF65-F5344CB8AC3E}">
        <p14:creationId xmlns:p14="http://schemas.microsoft.com/office/powerpoint/2010/main" val="11855640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E986-1852-489F-937A-64206A012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for a binary outcome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20C2D-D89D-C23F-C591-4BB2A81C0F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 data points (for example, 2,240 people on the Titanic) </a:t>
                </a:r>
              </a:p>
              <a:p>
                <a:r>
                  <a:rPr lang="en-US" dirty="0"/>
                  <a:t>M of them have Y=1 (for example, 705 people survived)</a:t>
                </a:r>
              </a:p>
              <a:p>
                <a:r>
                  <a:rPr lang="en-US" dirty="0"/>
                  <a:t>Q=N-M have Y=0</a:t>
                </a:r>
              </a:p>
              <a:p>
                <a:r>
                  <a:rPr lang="en-US" dirty="0"/>
                  <a:t>X is a predictor, say gender of person on Titanic.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Say we want to use X to predict Y:</a:t>
                </a:r>
              </a:p>
              <a:p>
                <a:pPr marL="0" indent="0">
                  <a:buNone/>
                </a:pPr>
                <a:r>
                  <a:rPr lang="en-US" dirty="0"/>
                  <a:t>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20C2D-D89D-C23F-C591-4BB2A81C0F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4664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A5CE1-CF71-A7C0-0CC2-1174C968C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Assume Independence Between Data Samples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64D31-E2DA-8C59-81DD-8B39BE394F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latin typeface="Cambria Math" panose="02040503050406030204" pitchFamily="18" charset="0"/>
                  </a:rPr>
                  <a:t>Each person’s outcome is independent of other people’s outcomes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The chance that a man A survives on the </a:t>
                </a:r>
                <a:r>
                  <a:rPr lang="en-US" dirty="0" err="1">
                    <a:latin typeface="Cambria Math" panose="02040503050406030204" pitchFamily="18" charset="0"/>
                  </a:rPr>
                  <a:t>titantic</a:t>
                </a:r>
                <a:r>
                  <a:rPr lang="en-US" dirty="0">
                    <a:latin typeface="Cambria Math" panose="02040503050406030204" pitchFamily="18" charset="0"/>
                  </a:rPr>
                  <a:t> is unrelated to whether man B survives. 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Independence means that the joint probability of seeing the data that we see can be written as: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 …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64D31-E2DA-8C59-81DD-8B39BE394F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0612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A5CE1-CF71-A7C0-0CC2-1174C968C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Assume Independence Between Data Samples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64D31-E2DA-8C59-81DD-8B39BE394F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Split the righthand side into two parts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Rewrite: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64D31-E2DA-8C59-81DD-8B39BE394F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144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A5CE1-CF71-A7C0-0CC2-1174C968C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Likelihood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64D31-E2DA-8C59-81DD-8B39BE394F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model the conditional probability with the sigmoid function: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substitute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1+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𝛽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0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𝛽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b="0" i="1" smtClean="0">
                                                      <a:solidFill>
                                                        <a:schemeClr val="accent1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  <m:sup/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𝛽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solidFill>
                                                    <a:schemeClr val="accent1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b="0" i="1" smtClean="0">
                                              <a:solidFill>
                                                <a:schemeClr val="accent1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364D31-E2DA-8C59-81DD-8B39BE394F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893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4B72-28B9-860D-2B85-07284C93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How Logistic Regression Can Achieve Calibration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D21C55-5AEA-DA5F-64DC-949CD7F120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We want the value of the likelihood function to be as high as possible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nary>
                            <m:naryPr>
                              <m:chr m:val="∏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d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The algorithm tries to find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that achieve this goal</a:t>
                </a:r>
              </a:p>
              <a:p>
                <a:pPr lvl="1"/>
                <a:r>
                  <a:rPr lang="en-US" dirty="0"/>
                  <a:t>How it does it (</a:t>
                </a:r>
                <a:r>
                  <a:rPr lang="en-US" dirty="0">
                    <a:hlinkClick r:id="rId2"/>
                  </a:rPr>
                  <a:t>iteratively reweighted least squares</a:t>
                </a:r>
                <a:r>
                  <a:rPr lang="en-US" dirty="0"/>
                  <a:t>) out of scope for the course</a:t>
                </a:r>
              </a:p>
              <a:p>
                <a:r>
                  <a:rPr lang="en-US" dirty="0"/>
                  <a:t>What happens when the goal is achieved?</a:t>
                </a:r>
              </a:p>
              <a:p>
                <a:r>
                  <a:rPr lang="en-US" dirty="0"/>
                  <a:t>By design, the likelihood function is maximized when the predicted probabilities generated by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s are equal to the true rate of the outcome. Exactly the definition of calibration.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CD21C55-5AEA-DA5F-64DC-949CD7F120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454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1655</TotalTime>
  <Words>1895</Words>
  <Application>Microsoft Office PowerPoint</Application>
  <PresentationFormat>Widescreen</PresentationFormat>
  <Paragraphs>332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</vt:lpstr>
      <vt:lpstr>Cambria Math</vt:lpstr>
      <vt:lpstr>Office Theme</vt:lpstr>
      <vt:lpstr>INST 414: Data Science Techniques   Regression</vt:lpstr>
      <vt:lpstr>Estimating P(Y|X) directly</vt:lpstr>
      <vt:lpstr>From Naïve Bayes to Regression</vt:lpstr>
      <vt:lpstr>Equation for a Line</vt:lpstr>
      <vt:lpstr>Equation for a Line</vt:lpstr>
      <vt:lpstr>What Can We Do With a Line?</vt:lpstr>
      <vt:lpstr>Linear Regression</vt:lpstr>
      <vt:lpstr>What’s our objective?</vt:lpstr>
      <vt:lpstr>What’s our objective?</vt:lpstr>
      <vt:lpstr>Objective: Target Vertical distance</vt:lpstr>
      <vt:lpstr>Objective: Target Vertical distance</vt:lpstr>
      <vt:lpstr>Objective: Target Vertical distance</vt:lpstr>
      <vt:lpstr>Objective: Target Vertical distance</vt:lpstr>
      <vt:lpstr>Recap: Objective Function</vt:lpstr>
      <vt:lpstr>But How Do We Get the y ̂_i?</vt:lpstr>
      <vt:lpstr>But How Do We Get β ̂_0and β ̂_1  ?</vt:lpstr>
      <vt:lpstr>Minimizing the Objective</vt:lpstr>
      <vt:lpstr>Modeling P(Y|X) Directly</vt:lpstr>
      <vt:lpstr>Modeling Conditional Probabilities Directly</vt:lpstr>
      <vt:lpstr>Individual Outcomes Are “Modeled” as the Outcome of a Coin Toss</vt:lpstr>
      <vt:lpstr>So What?</vt:lpstr>
      <vt:lpstr>Ordinary Least Squares (OLS) Regression</vt:lpstr>
      <vt:lpstr>Interpretation</vt:lpstr>
      <vt:lpstr>Interpretation</vt:lpstr>
      <vt:lpstr>Interpretation</vt:lpstr>
      <vt:lpstr>Recap</vt:lpstr>
      <vt:lpstr>We want calibrated probabilities</vt:lpstr>
      <vt:lpstr>Naïve Bayes Doesn’t Achieve Calibration</vt:lpstr>
      <vt:lpstr>Another approach</vt:lpstr>
      <vt:lpstr>How Do We Find β_0 and β_1? </vt:lpstr>
      <vt:lpstr>Interpretation</vt:lpstr>
      <vt:lpstr>Shortcoming of Linear Probability Model</vt:lpstr>
      <vt:lpstr>Logistic Regression</vt:lpstr>
      <vt:lpstr>Same starting assumption as linear regression</vt:lpstr>
      <vt:lpstr>Linear Regression</vt:lpstr>
      <vt:lpstr>Logistic function</vt:lpstr>
      <vt:lpstr>Likelihood function</vt:lpstr>
      <vt:lpstr>Likelihood Visualized</vt:lpstr>
      <vt:lpstr>Likelihood for a binary outcome</vt:lpstr>
      <vt:lpstr>Assume Independence Between Data Samples</vt:lpstr>
      <vt:lpstr>Assume Independence Between Data Samples</vt:lpstr>
      <vt:lpstr>Going Back to the Likelihood function</vt:lpstr>
      <vt:lpstr>How Logistic Regression Can Achieve Calibration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 414: Data Science Techniques   Lecture 5 Regression</dc:title>
  <dc:creator>Zubin Jelveh</dc:creator>
  <cp:lastModifiedBy>Zubin Jelveh</cp:lastModifiedBy>
  <cp:revision>14</cp:revision>
  <dcterms:created xsi:type="dcterms:W3CDTF">2022-09-29T19:27:56Z</dcterms:created>
  <dcterms:modified xsi:type="dcterms:W3CDTF">2026-03-03T21:02:27Z</dcterms:modified>
</cp:coreProperties>
</file>