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5"/>
  </p:notesMasterIdLst>
  <p:sldIdLst>
    <p:sldId id="268" r:id="rId3"/>
    <p:sldId id="256" r:id="rId4"/>
    <p:sldId id="257" r:id="rId5"/>
    <p:sldId id="258" r:id="rId6"/>
    <p:sldId id="259" r:id="rId7"/>
    <p:sldId id="260" r:id="rId8"/>
    <p:sldId id="267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3" autoAdjust="0"/>
    <p:restoredTop sz="94660"/>
  </p:normalViewPr>
  <p:slideViewPr>
    <p:cSldViewPr snapToGrid="0">
      <p:cViewPr>
        <p:scale>
          <a:sx n="75" d="100"/>
          <a:sy n="75" d="100"/>
        </p:scale>
        <p:origin x="132" y="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04826B-A3D5-45F3-8F36-8A4F0179AFBF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362B0A-8E86-41B8-A8BE-607A2B888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413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1A6C-5781-4E08-AB6B-22B5D9169F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F3CD05-9910-4DE4-8E04-24A38D1281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F43E5D-8CE8-4627-82BC-C05F8BBFA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836C9-039A-46E3-8B8C-694019AC96F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6448DF-E6F1-4068-AA6E-90AF5261D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82231-ED52-4B70-BECE-75CAF3F7C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2BABE-A70E-4755-92B9-F4D9EAACBF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894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E1FD9-0B15-4F50-B821-75F2A0CF6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35455A-683E-486D-86A2-81F9BD15F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17FFB-2D14-44F0-9A2F-9FC817E23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836C9-039A-46E3-8B8C-694019AC96F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DF48E7-397C-4078-9C9A-3608FC928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F032E-985B-4584-8994-8224B61C2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2BABE-A70E-4755-92B9-F4D9EAACBF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75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202C2-040D-46AA-BB67-EC6E7C504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CD598B-990F-48D4-9407-6A088B0958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0ECC02-8F23-4111-9837-748253372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836C9-039A-46E3-8B8C-694019AC96F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621A13-D843-4BBD-A351-BAEC99E3B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A2EE65-52D4-475E-A3B5-EC5B9DB3D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2BABE-A70E-4755-92B9-F4D9EAACBF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43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A9307-9FE3-4842-B312-704EE8C1B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91079-3046-46F3-913E-575AC916F1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2F180C-0189-48B8-84A3-D2DC611977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0EF064-1C33-41D4-9C6B-AA2385345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836C9-039A-46E3-8B8C-694019AC96F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BB4948-9FA6-4A22-87B3-8DBB06C2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FC8D03-1D7B-40D1-A011-2EE91F483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2BABE-A70E-4755-92B9-F4D9EAACBF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725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7B984-8156-4F72-8174-BE932773D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139793-60BB-4BD4-9607-7E53428B4C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0E2C85-A954-4011-9047-474774CDBB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75CA91-4365-493D-A32A-5F4A4FC48F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6CA0E1-7086-41D5-B26F-C6BFA0E75E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A45612-6F11-4C4B-8DD2-B2019ED10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836C9-039A-46E3-8B8C-694019AC96F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6A59BE-F169-4594-84E0-EB35DDC0A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D1195B-0854-40FB-9F7B-29738C798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2BABE-A70E-4755-92B9-F4D9EAACBF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8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4A397-FDB4-425A-A6E1-13B2BA735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A998DD-8176-489D-9628-791A872D7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836C9-039A-46E3-8B8C-694019AC96F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15923E-CCF8-4D93-A966-D9D461E19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D842AA-D029-46C4-96F2-FA351DABB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2BABE-A70E-4755-92B9-F4D9EAACBF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7366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42A4D0-9BDF-4EF5-A838-8B5420D7F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836C9-039A-46E3-8B8C-694019AC96F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1BD02E-472B-41FB-9761-923C2B96F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5B42F-CBB3-4AF4-BAA0-8D2875C7C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2BABE-A70E-4755-92B9-F4D9EAACBF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5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60476-B223-4D8C-B118-9414F9737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F57344-B897-47CC-93ED-879E329B4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125F9B-4FB1-4FA9-9A92-E0E7ACEA9B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B9515A-D7EE-4015-A5FA-30D35AB71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836C9-039A-46E3-8B8C-694019AC96F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B38AAA-6AE2-4EDF-81C0-21F37E5AE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B062C7-709D-4F26-B429-9451A2C92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2BABE-A70E-4755-92B9-F4D9EAACBF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375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5CF9C-D09D-4B64-9BC8-10FFE8F36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B0254D-2148-4DD0-A55E-728BD7A063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780E45-87DD-444D-A7BF-106889A5C7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AEA485-674A-4AAC-A8D2-0524959A8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836C9-039A-46E3-8B8C-694019AC96F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BB3887-1C60-4250-9AAE-F1EC387E2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A4F366-B352-4EB5-8554-44101F65E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2BABE-A70E-4755-92B9-F4D9EAACBF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32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67938-2121-452F-9988-C48C69417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CB89EB-B995-437C-BBA6-F5C9A3142C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66E515-D013-4451-A1A4-F958FE3FE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836C9-039A-46E3-8B8C-694019AC96F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BC6A62-3F2C-4137-B328-230C70202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A01A4F-FBDF-4302-9196-1591CCBF5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2BABE-A70E-4755-92B9-F4D9EAACBF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7573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F8AD1D-3809-4063-9963-AC0D8DEFA4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912556-DF62-43A3-BF65-7B8B3ED1E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2F9EC6-6A58-4388-8C78-3F09A44CB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836C9-039A-46E3-8B8C-694019AC96F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0059A-9FC5-4BDD-AF78-933C248D0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87AB5-1E6E-48D1-84DD-4AD96DE89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22BABE-A70E-4755-92B9-F4D9EAACBF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0786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612EB-3179-41D3-A096-8DCB61249F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7BD838-3438-4680-B866-9D7E1FEE84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40411-FB31-46C4-8953-92293CA18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E61B5E-166A-4148-A1D3-BDA269D2E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51C9A-CE0E-4805-A440-829676A19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023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F6ABA-6299-4495-99FC-09EB37033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338CE-B9F2-4AE7-8E72-F2C6FCF12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8221BB-0056-42CE-96C6-EA0A13D9F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DBE94-8840-4E84-BDC8-5280B5996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94774-6C2D-4ADD-82AB-EFD4B7FC4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5124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20EDF-1128-42E0-ACAB-CDA85BF00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F07AE2-74AF-4958-8014-BF860FDFD1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984849-9341-42C6-BCB3-2EBB7C8CA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E087C-672D-4D70-BDA0-16B0E159B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7765A-6F92-4ED6-9471-36D2D4EDC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1057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DEF5C-594B-48CA-9C2F-E0DFAB4F8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A38CF-FD18-41D8-8CA1-E9EC9B178A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DA21BA-BDBA-4D11-A39B-4495280464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91829-2FAB-4B9C-BB28-D2F2E5F99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C9729A-D136-46EB-A156-53B88DCA9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61C00C-BF98-4B3C-81E9-C0B5581E8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61377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F0142-15D0-4DC4-8750-9CC10E1B7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E127EE-957F-47B4-A3C6-EE228348F9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009707-32C4-4346-9EE7-C7BA9B2A94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78DD51-DCAE-41F3-BB86-50F6CCB2A0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7D6B3A-BBDF-4E26-ABEC-672635F6F7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DB6DB1-59AE-47C7-8BA4-20920850F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08553A-2093-4385-B648-52691CB98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617BE2-2190-4E00-AEAC-3CFC6FF71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3992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AD891-D033-4A44-A132-B946D6B64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AF1F32-4957-4FAD-955B-A5D05A917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FFCBD1-0205-4242-91D8-56FCFBD18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01ED64-FF13-40D7-B90A-832EC5D39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1217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0B3508-EE54-4F3D-87DE-3A51299DC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7BBA0A-9E7E-4BD0-A702-DFC19BF97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5C9C6-D8FC-44B9-B620-D15AD47E6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1047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13B93-ECA3-426D-BCCC-1929803CF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107FF-6D7B-4822-A757-F59FE2697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A57C69-22C7-4803-B016-4B509A3B4E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D301D1-A652-48E7-9F7B-C10F7AE0F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60AE2-13CC-43F4-9256-4E5508C72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08DB03-AE86-4205-A7A1-E9B5B3246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62378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A7918-6960-49A1-9FFB-D5634BC8A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4006C2-73A7-4424-B46D-EA3C1441F4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746E7C-C8FB-41B9-AD31-C10378BBA0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CB3712-24D3-4EA7-A67B-ABAE4FD9D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749887-39D4-49FE-80EC-6D275C4E9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7367C0-B54D-449A-9E59-6174CB8F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4953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54C52-2024-438A-9671-7D71CDF51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197685-1070-4F47-AF99-C683386C54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983AC2-06DC-44DD-B42B-30ED4A2EE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73B7F7-890F-4FCB-9330-5EB8A15A0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CB25B-35A8-402C-88E1-95D0265FE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921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205C23A-7B0F-4EA1-91CE-529209B4F9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267A7F-9DBB-4D42-88AD-7034EBA9D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78ADF-108B-4331-BCB0-1C210AC78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5499DA-E50C-4123-BBCB-F0986EDF5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6D7CA4-D399-4D10-87F3-9CD947C00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827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0FEE89-2F29-451D-A8B9-7BEA3D929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4272B-9845-4390-9592-3A77427277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0C35F4-412E-4487-9D57-9B52365EDC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B836C9-039A-46E3-8B8C-694019AC96F9}" type="datetimeFigureOut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A53FE-D695-4F21-9EBD-A00FCFD3F1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752C1-66DA-4135-B887-4959B1AA7E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22BABE-A70E-4755-92B9-F4D9EAACBF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4673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E57241-2BE3-441C-8E98-CA31C0C66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FC63E2-5534-43F6-A3CE-1A14C115EE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A4378-E36C-4AC3-9180-A80F97F71C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D7BAAD77-0952-4A0F-B406-0526A080BBE6}" type="datetimeFigureOut">
              <a:rPr lang="en-US" smtClean="0"/>
              <a:pPr/>
              <a:t>3/30/2026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039C37-3F94-4A04-8CE9-816F0A7D64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0B407-A594-4387-9126-1FFF8C5759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E2D1D4AE-D363-4A45-A752-CD0CBC5A38B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071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46C8B-9AB5-4B36-A44B-C6B45DD2D0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56288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INST 414: Data Science Techniques </a:t>
            </a:r>
            <a:br>
              <a:rPr lang="en-US" dirty="0"/>
            </a:br>
            <a:r>
              <a:rPr lang="en-US" dirty="0"/>
              <a:t> </a:t>
            </a:r>
            <a:br>
              <a:rPr lang="en-US" dirty="0"/>
            </a:br>
            <a:r>
              <a:rPr lang="en-US" sz="4900" dirty="0"/>
              <a:t>Gradient Boosting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373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0">
                <a:solidFill>
                  <a:srgbClr val="000000"/>
                </a:solidFill>
                <a:latin typeface="Cambria"/>
              </a:rPr>
              <a:t>Gradient Boosting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800" b="0">
                <a:solidFill>
                  <a:srgbClr val="000000"/>
                </a:solidFill>
                <a:latin typeface="Cambria"/>
              </a:rPr>
              <a:t>Another tree-based ensemble method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Different from Random Forest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Random Forest: build many trees independently, then average predictions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Gradient Boosting: build trees sequentially, where each new tree tries to improve the current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0">
                <a:solidFill>
                  <a:srgbClr val="000000"/>
                </a:solidFill>
                <a:latin typeface="Cambria"/>
              </a:rPr>
              <a:t>Two Different Ideas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sz="2800" b="0">
                <a:solidFill>
                  <a:srgbClr val="000000"/>
                </a:solidFill>
                <a:latin typeface="Cambria"/>
              </a:rPr>
              <a:t>Random Forest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Main goal: reduce variance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Add randomness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Average across many trees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sz="2800" b="0">
                <a:solidFill>
                  <a:srgbClr val="000000"/>
                </a:solidFill>
                <a:latin typeface="Cambria"/>
              </a:rPr>
              <a:t>Gradient Boosting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Main goal: improve fit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Usually thought of as a bias-reduction story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Add trees one at a time as corrections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0">
                <a:solidFill>
                  <a:srgbClr val="000000"/>
                </a:solidFill>
                <a:latin typeface="Cambria"/>
              </a:rPr>
              <a:t>How Gradient Boosting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800" b="0">
                <a:solidFill>
                  <a:srgbClr val="000000"/>
                </a:solidFill>
                <a:latin typeface="Cambria"/>
              </a:rPr>
              <a:t>1. Start with a simple prediction for everyone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2. Find where the model is doing poorly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3. Fit a small tree to those mistakes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4. Update the predictions a little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5. Repeat many times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4068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Cambria"/>
              </a:rPr>
              <a:t>Bottom line: the model improves step by step.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0">
                <a:solidFill>
                  <a:srgbClr val="000000"/>
                </a:solidFill>
                <a:latin typeface="Cambria"/>
              </a:rPr>
              <a:t>A Simple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mbria"/>
              </a:rPr>
              <a:t>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057400"/>
            <a:ext cx="4389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000000"/>
                </a:solidFill>
                <a:latin typeface="Cambria"/>
              </a:rPr>
              <a:t>Start with the base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4762586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dirty="0">
                <a:solidFill>
                  <a:srgbClr val="787878"/>
                </a:solidFill>
                <a:latin typeface="Cambria"/>
              </a:rPr>
              <a:t>Suppose the base rate is 0.10, so</a:t>
            </a:r>
            <a:endParaRPr lang="en-US" sz="2000" b="0" dirty="0">
              <a:solidFill>
                <a:srgbClr val="787878"/>
              </a:solidFill>
              <a:latin typeface="Cambria"/>
            </a:endParaRPr>
          </a:p>
          <a:p>
            <a:pPr algn="l"/>
            <a:r>
              <a:rPr sz="2000" b="0" dirty="0">
                <a:solidFill>
                  <a:srgbClr val="787878"/>
                </a:solidFill>
                <a:latin typeface="Cambria"/>
              </a:rPr>
              <a:t> everyone starts with the same prediction.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0" y="4526279"/>
            <a:ext cx="3931920" cy="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5943600" y="1608826"/>
            <a:ext cx="0" cy="2926079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0" y="4737627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dirty="0">
                <a:solidFill>
                  <a:srgbClr val="000000"/>
                </a:solidFill>
                <a:latin typeface="Cambria"/>
              </a:rPr>
              <a:t>Feature 1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5311285" y="2829463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Cambria"/>
              </a:rPr>
              <a:t>Feature 2</a:t>
            </a:r>
          </a:p>
        </p:txBody>
      </p:sp>
      <p:sp>
        <p:nvSpPr>
          <p:cNvPr id="10" name="Oval 9"/>
          <p:cNvSpPr/>
          <p:nvPr/>
        </p:nvSpPr>
        <p:spPr>
          <a:xfrm>
            <a:off x="6355080" y="3977639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583680" y="3749039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812280" y="388620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178040" y="3520439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589520" y="402336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909560" y="365760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600" y="388620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549640" y="361188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869680" y="338328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189720" y="3749039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635240" y="274320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823960" y="288036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1280160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ambria"/>
              </a:rPr>
              <a:t>Initial prediction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093032"/>
            <a:ext cx="3857082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dirty="0">
                <a:solidFill>
                  <a:srgbClr val="787878"/>
                </a:solidFill>
                <a:latin typeface="Cambria"/>
              </a:rPr>
              <a:t>At the start, every region gets the </a:t>
            </a:r>
            <a:endParaRPr lang="en-US" sz="2000" b="0" dirty="0">
              <a:solidFill>
                <a:srgbClr val="787878"/>
              </a:solidFill>
              <a:latin typeface="Cambria"/>
            </a:endParaRPr>
          </a:p>
          <a:p>
            <a:pPr algn="l"/>
            <a:r>
              <a:rPr sz="2000" b="0" dirty="0">
                <a:solidFill>
                  <a:srgbClr val="787878"/>
                </a:solidFill>
                <a:latin typeface="Cambria"/>
              </a:rPr>
              <a:t>same probability: 0.10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292608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70AD47"/>
                </a:solidFill>
                <a:latin typeface="Cambria"/>
              </a:rPr>
              <a:t>0.10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0">
                <a:solidFill>
                  <a:srgbClr val="000000"/>
                </a:solidFill>
                <a:latin typeface="Cambria"/>
              </a:rPr>
              <a:t>A Simple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mbria"/>
              </a:rPr>
              <a:t>Step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057400"/>
            <a:ext cx="3922677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 dirty="0">
                <a:solidFill>
                  <a:srgbClr val="000000"/>
                </a:solidFill>
                <a:latin typeface="Cambria"/>
              </a:rPr>
              <a:t>Fit a small tree and raise</a:t>
            </a:r>
            <a:endParaRPr lang="en-US" sz="2800" b="0" dirty="0">
              <a:solidFill>
                <a:srgbClr val="000000"/>
              </a:solidFill>
              <a:latin typeface="Cambria"/>
            </a:endParaRPr>
          </a:p>
          <a:p>
            <a:pPr algn="l"/>
            <a:r>
              <a:rPr sz="2800" b="0" dirty="0">
                <a:solidFill>
                  <a:srgbClr val="000000"/>
                </a:solidFill>
                <a:latin typeface="Cambria"/>
              </a:rPr>
              <a:t>one</a:t>
            </a:r>
            <a:r>
              <a:rPr lang="en-US" sz="2800" dirty="0">
                <a:solidFill>
                  <a:srgbClr val="000000"/>
                </a:solidFill>
                <a:latin typeface="Cambria"/>
              </a:rPr>
              <a:t> </a:t>
            </a:r>
            <a:r>
              <a:rPr sz="2800" b="0" dirty="0">
                <a:solidFill>
                  <a:srgbClr val="000000"/>
                </a:solidFill>
                <a:latin typeface="Cambria"/>
              </a:rPr>
              <a:t>region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4111703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dirty="0">
                <a:solidFill>
                  <a:srgbClr val="787878"/>
                </a:solidFill>
                <a:latin typeface="Cambria"/>
              </a:rPr>
              <a:t>The model finds one region where </a:t>
            </a:r>
            <a:endParaRPr lang="en-US" sz="2000" b="0" dirty="0">
              <a:solidFill>
                <a:srgbClr val="787878"/>
              </a:solidFill>
              <a:latin typeface="Cambria"/>
            </a:endParaRPr>
          </a:p>
          <a:p>
            <a:pPr algn="l"/>
            <a:r>
              <a:rPr sz="2000" b="0" dirty="0">
                <a:solidFill>
                  <a:srgbClr val="787878"/>
                </a:solidFill>
                <a:latin typeface="Cambria"/>
              </a:rPr>
              <a:t>the actual rate is higher and adjusts </a:t>
            </a:r>
            <a:endParaRPr lang="en-US" sz="2000" b="0" dirty="0">
              <a:solidFill>
                <a:srgbClr val="787878"/>
              </a:solidFill>
              <a:latin typeface="Cambria"/>
            </a:endParaRPr>
          </a:p>
          <a:p>
            <a:pPr algn="l"/>
            <a:r>
              <a:rPr sz="2000" b="0" dirty="0">
                <a:solidFill>
                  <a:srgbClr val="787878"/>
                </a:solidFill>
                <a:latin typeface="Cambria"/>
              </a:rPr>
              <a:t>upward there.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0" y="4526279"/>
            <a:ext cx="3931920" cy="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5943600" y="1600200"/>
            <a:ext cx="0" cy="2926079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0" y="4754879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Cambria"/>
              </a:rPr>
              <a:t>Feature 1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5440680" y="27432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dirty="0">
                <a:solidFill>
                  <a:srgbClr val="000000"/>
                </a:solidFill>
                <a:latin typeface="Cambria"/>
              </a:rPr>
              <a:t>Feature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0124" y="2994659"/>
            <a:ext cx="1463040" cy="1234440"/>
          </a:xfrm>
          <a:prstGeom prst="rect">
            <a:avLst/>
          </a:prstGeom>
          <a:solidFill>
            <a:srgbClr val="DDEBF7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17623" y="3100074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dirty="0">
                <a:solidFill>
                  <a:srgbClr val="5B9BD5"/>
                </a:solidFill>
                <a:latin typeface="Cambria"/>
              </a:rPr>
              <a:t>0.18</a:t>
            </a:r>
          </a:p>
        </p:txBody>
      </p:sp>
      <p:sp>
        <p:nvSpPr>
          <p:cNvPr id="12" name="Oval 11"/>
          <p:cNvSpPr/>
          <p:nvPr/>
        </p:nvSpPr>
        <p:spPr>
          <a:xfrm>
            <a:off x="6355080" y="3977639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83680" y="3749039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12280" y="388620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178040" y="3520439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589520" y="402336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909560" y="365760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229600" y="388620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549640" y="361188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69680" y="338328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189720" y="3749039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635240" y="274320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823960" y="288036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1280160"/>
            <a:ext cx="2560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ambria"/>
              </a:rPr>
              <a:t>After first correction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136165"/>
            <a:ext cx="4048096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dirty="0">
                <a:solidFill>
                  <a:srgbClr val="787878"/>
                </a:solidFill>
                <a:latin typeface="Cambria"/>
              </a:rPr>
              <a:t>One local region is updated upward</a:t>
            </a:r>
            <a:endParaRPr lang="en-US" sz="2000" b="0" dirty="0">
              <a:solidFill>
                <a:srgbClr val="787878"/>
              </a:solidFill>
              <a:latin typeface="Cambria"/>
            </a:endParaRPr>
          </a:p>
          <a:p>
            <a:pPr algn="l"/>
            <a:r>
              <a:rPr sz="2000" b="0" dirty="0">
                <a:solidFill>
                  <a:srgbClr val="787878"/>
                </a:solidFill>
                <a:latin typeface="Cambria"/>
              </a:rPr>
              <a:t>from the base rate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F0F86E2E-9939-9242-8813-5EC6E6CDE766}"/>
              </a:ext>
            </a:extLst>
          </p:cNvPr>
          <p:cNvSpPr/>
          <p:nvPr/>
        </p:nvSpPr>
        <p:spPr>
          <a:xfrm>
            <a:off x="8412480" y="3063240"/>
            <a:ext cx="960120" cy="822960"/>
          </a:xfrm>
          <a:prstGeom prst="rect">
            <a:avLst/>
          </a:prstGeom>
          <a:solidFill>
            <a:srgbClr val="FCE4D6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0">
                <a:solidFill>
                  <a:srgbClr val="000000"/>
                </a:solidFill>
                <a:latin typeface="Cambria"/>
              </a:rPr>
              <a:t>A Simple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mbria"/>
              </a:rPr>
              <a:t>Step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057400"/>
            <a:ext cx="3560142" cy="138499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2800" b="0" dirty="0">
                <a:solidFill>
                  <a:srgbClr val="000000"/>
                </a:solidFill>
                <a:latin typeface="Cambria"/>
              </a:rPr>
              <a:t>Fit another small tree </a:t>
            </a:r>
          </a:p>
          <a:p>
            <a:pPr algn="l"/>
            <a:r>
              <a:rPr lang="en-US" sz="2800" b="0" dirty="0">
                <a:solidFill>
                  <a:srgbClr val="000000"/>
                </a:solidFill>
                <a:latin typeface="Cambria"/>
              </a:rPr>
              <a:t>and make another</a:t>
            </a:r>
          </a:p>
          <a:p>
            <a:pPr algn="l"/>
            <a:r>
              <a:rPr lang="en-US" sz="2800" b="0" dirty="0">
                <a:solidFill>
                  <a:srgbClr val="000000"/>
                </a:solidFill>
                <a:latin typeface="Cambria"/>
              </a:rPr>
              <a:t>correction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34308"/>
            <a:ext cx="3924279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2000" b="0" dirty="0">
                <a:solidFill>
                  <a:srgbClr val="787878"/>
                </a:solidFill>
                <a:latin typeface="Cambria"/>
              </a:rPr>
              <a:t>Now the model adjusts a different </a:t>
            </a:r>
          </a:p>
          <a:p>
            <a:pPr algn="l"/>
            <a:r>
              <a:rPr lang="en-US" sz="2000" b="0" dirty="0">
                <a:solidFill>
                  <a:srgbClr val="787878"/>
                </a:solidFill>
                <a:latin typeface="Cambria"/>
              </a:rPr>
              <a:t>region downward while keeping </a:t>
            </a:r>
          </a:p>
          <a:p>
            <a:pPr algn="l"/>
            <a:r>
              <a:rPr lang="en-US" sz="2000" b="0" dirty="0">
                <a:solidFill>
                  <a:srgbClr val="787878"/>
                </a:solidFill>
                <a:latin typeface="Cambria"/>
              </a:rPr>
              <a:t>the earlier correction.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0" y="4526279"/>
            <a:ext cx="3931920" cy="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5943600" y="1600200"/>
            <a:ext cx="0" cy="2926079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0" y="4754879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Cambria"/>
              </a:rPr>
              <a:t>Feature 1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5440680" y="27432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dirty="0">
                <a:solidFill>
                  <a:srgbClr val="000000"/>
                </a:solidFill>
                <a:latin typeface="Cambria"/>
              </a:rPr>
              <a:t>Feature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0124" y="2994659"/>
            <a:ext cx="1463040" cy="1234440"/>
          </a:xfrm>
          <a:prstGeom prst="rect">
            <a:avLst/>
          </a:prstGeom>
          <a:solidFill>
            <a:srgbClr val="DDEBF7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17623" y="3100074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dirty="0">
                <a:solidFill>
                  <a:srgbClr val="5B9BD5"/>
                </a:solidFill>
                <a:latin typeface="Cambria"/>
              </a:rPr>
              <a:t>0.18</a:t>
            </a:r>
          </a:p>
        </p:txBody>
      </p:sp>
      <p:sp>
        <p:nvSpPr>
          <p:cNvPr id="12" name="Oval 11"/>
          <p:cNvSpPr/>
          <p:nvPr/>
        </p:nvSpPr>
        <p:spPr>
          <a:xfrm>
            <a:off x="6355080" y="3977639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83680" y="3749039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12280" y="388620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178040" y="3520439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589520" y="402336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909560" y="365760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229600" y="388620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549640" y="361188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69680" y="338328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189720" y="3749039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635240" y="274320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823960" y="2880360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1280160"/>
            <a:ext cx="294734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dirty="0">
                <a:solidFill>
                  <a:srgbClr val="000000"/>
                </a:solidFill>
                <a:latin typeface="Cambria"/>
              </a:rPr>
              <a:t>After </a:t>
            </a:r>
            <a:r>
              <a:rPr lang="en-US" sz="2000" b="1" dirty="0">
                <a:solidFill>
                  <a:srgbClr val="000000"/>
                </a:solidFill>
                <a:latin typeface="Cambria"/>
              </a:rPr>
              <a:t>second</a:t>
            </a:r>
            <a:r>
              <a:rPr sz="2000" b="1" dirty="0">
                <a:solidFill>
                  <a:srgbClr val="000000"/>
                </a:solidFill>
                <a:latin typeface="Cambria"/>
              </a:rPr>
              <a:t> correction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136165"/>
            <a:ext cx="3558859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2000" b="0" dirty="0">
                <a:solidFill>
                  <a:srgbClr val="787878"/>
                </a:solidFill>
                <a:latin typeface="Cambria"/>
              </a:rPr>
              <a:t>Predictions are built up region </a:t>
            </a:r>
          </a:p>
          <a:p>
            <a:pPr algn="l"/>
            <a:r>
              <a:rPr lang="en-US" sz="2000" b="0" dirty="0">
                <a:solidFill>
                  <a:srgbClr val="787878"/>
                </a:solidFill>
                <a:latin typeface="Cambria"/>
              </a:rPr>
              <a:t>by region over time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77AC76-01B9-EF86-FA6F-60ACF6973778}"/>
              </a:ext>
            </a:extLst>
          </p:cNvPr>
          <p:cNvSpPr txBox="1"/>
          <p:nvPr/>
        </p:nvSpPr>
        <p:spPr>
          <a:xfrm>
            <a:off x="8641080" y="3060484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dirty="0">
                <a:solidFill>
                  <a:srgbClr val="ED7D31"/>
                </a:solidFill>
                <a:latin typeface="Cambria"/>
              </a:rPr>
              <a:t>0.06</a:t>
            </a:r>
          </a:p>
        </p:txBody>
      </p:sp>
    </p:spTree>
    <p:extLst>
      <p:ext uri="{BB962C8B-B14F-4D97-AF65-F5344CB8AC3E}">
        <p14:creationId xmlns:p14="http://schemas.microsoft.com/office/powerpoint/2010/main" val="4163333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0">
                <a:solidFill>
                  <a:srgbClr val="000000"/>
                </a:solidFill>
                <a:latin typeface="Cambria"/>
              </a:rPr>
              <a:t>A Simple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630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Cambria"/>
              </a:rPr>
              <a:t>Key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4572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>
                <a:solidFill>
                  <a:srgbClr val="000000"/>
                </a:solidFill>
                <a:latin typeface="Cambria"/>
              </a:rPr>
              <a:t>Each tree is one correction.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4207434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 dirty="0">
                <a:solidFill>
                  <a:srgbClr val="000000"/>
                </a:solidFill>
                <a:latin typeface="Cambria"/>
              </a:rPr>
              <a:t>Each tree is not the whole </a:t>
            </a:r>
            <a:endParaRPr lang="en-US" sz="2800" b="0" dirty="0">
              <a:solidFill>
                <a:srgbClr val="000000"/>
              </a:solidFill>
              <a:latin typeface="Cambria"/>
            </a:endParaRPr>
          </a:p>
          <a:p>
            <a:pPr algn="l"/>
            <a:r>
              <a:rPr sz="2800" b="0" dirty="0">
                <a:solidFill>
                  <a:srgbClr val="000000"/>
                </a:solidFill>
                <a:latin typeface="Cambria"/>
              </a:rPr>
              <a:t>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122562"/>
            <a:ext cx="4548681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0" dirty="0">
                <a:solidFill>
                  <a:srgbClr val="000000"/>
                </a:solidFill>
                <a:latin typeface="Cambria"/>
              </a:rPr>
              <a:t>Predictions are updated </a:t>
            </a:r>
            <a:endParaRPr lang="en-US" sz="2800" b="0" dirty="0">
              <a:solidFill>
                <a:srgbClr val="000000"/>
              </a:solidFill>
              <a:latin typeface="Cambria"/>
            </a:endParaRPr>
          </a:p>
          <a:p>
            <a:pPr algn="l"/>
            <a:r>
              <a:rPr sz="2800" b="0" dirty="0">
                <a:solidFill>
                  <a:srgbClr val="000000"/>
                </a:solidFill>
                <a:latin typeface="Cambria"/>
              </a:rPr>
              <a:t>gradually over many rounds.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6916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  <a:latin typeface="Cambria"/>
              </a:rPr>
              <a:t>0.10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16916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5B9BD5"/>
                </a:solidFill>
                <a:latin typeface="Cambria"/>
              </a:rPr>
              <a:t>+ tree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2600" y="16916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ED7D31"/>
                </a:solidFill>
                <a:latin typeface="Cambria"/>
              </a:rPr>
              <a:t>+ tree 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903720" y="1920240"/>
            <a:ext cx="548640" cy="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549640" y="1920240"/>
            <a:ext cx="731520" cy="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0" y="2523066"/>
            <a:ext cx="4206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 dirty="0">
                <a:solidFill>
                  <a:srgbClr val="000000"/>
                </a:solidFill>
                <a:latin typeface="Cambria"/>
              </a:rPr>
              <a:t>Final prediction = baseline + corrections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803A07-D06B-B7AA-DCF1-476FD8BF5B7C}"/>
              </a:ext>
            </a:extLst>
          </p:cNvPr>
          <p:cNvSpPr/>
          <p:nvPr/>
        </p:nvSpPr>
        <p:spPr>
          <a:xfrm>
            <a:off x="9521613" y="4790446"/>
            <a:ext cx="960120" cy="822960"/>
          </a:xfrm>
          <a:prstGeom prst="rect">
            <a:avLst/>
          </a:prstGeom>
          <a:solidFill>
            <a:srgbClr val="FCE4D6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5">
            <a:extLst>
              <a:ext uri="{FF2B5EF4-FFF2-40B4-BE49-F238E27FC236}">
                <a16:creationId xmlns:a16="http://schemas.microsoft.com/office/drawing/2014/main" id="{8C46D861-D6D7-A461-C399-30AE63FF7CE8}"/>
              </a:ext>
            </a:extLst>
          </p:cNvPr>
          <p:cNvCxnSpPr/>
          <p:nvPr/>
        </p:nvCxnSpPr>
        <p:spPr>
          <a:xfrm>
            <a:off x="7052733" y="6253485"/>
            <a:ext cx="3931920" cy="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6">
            <a:extLst>
              <a:ext uri="{FF2B5EF4-FFF2-40B4-BE49-F238E27FC236}">
                <a16:creationId xmlns:a16="http://schemas.microsoft.com/office/drawing/2014/main" id="{C81DF018-E335-175D-9DE4-7245CE4EE13A}"/>
              </a:ext>
            </a:extLst>
          </p:cNvPr>
          <p:cNvCxnSpPr/>
          <p:nvPr/>
        </p:nvCxnSpPr>
        <p:spPr>
          <a:xfrm flipV="1">
            <a:off x="7052733" y="3327406"/>
            <a:ext cx="0" cy="2926079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D748DA7-6BA5-E310-202B-CE7EB1664803}"/>
              </a:ext>
            </a:extLst>
          </p:cNvPr>
          <p:cNvSpPr txBox="1"/>
          <p:nvPr/>
        </p:nvSpPr>
        <p:spPr>
          <a:xfrm>
            <a:off x="8424333" y="6482085"/>
            <a:ext cx="1463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Cambria"/>
              </a:rPr>
              <a:t>Feature 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2A37D7-331C-F161-542C-C15DEDA4AE4C}"/>
              </a:ext>
            </a:extLst>
          </p:cNvPr>
          <p:cNvSpPr txBox="1"/>
          <p:nvPr/>
        </p:nvSpPr>
        <p:spPr>
          <a:xfrm rot="16200000">
            <a:off x="6549813" y="447040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dirty="0">
                <a:solidFill>
                  <a:srgbClr val="000000"/>
                </a:solidFill>
                <a:latin typeface="Cambria"/>
              </a:rPr>
              <a:t>Feature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905F878-5183-A140-CDBA-5EF8A12C3506}"/>
              </a:ext>
            </a:extLst>
          </p:cNvPr>
          <p:cNvSpPr/>
          <p:nvPr/>
        </p:nvSpPr>
        <p:spPr>
          <a:xfrm>
            <a:off x="7139257" y="4721865"/>
            <a:ext cx="1463040" cy="1234440"/>
          </a:xfrm>
          <a:prstGeom prst="rect">
            <a:avLst/>
          </a:prstGeom>
          <a:solidFill>
            <a:srgbClr val="DDEBF7"/>
          </a:solidFill>
          <a:ln>
            <a:solidFill>
              <a:srgbClr val="5B9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B9B666-CA9C-342F-8693-591ECEFBA184}"/>
              </a:ext>
            </a:extLst>
          </p:cNvPr>
          <p:cNvSpPr txBox="1"/>
          <p:nvPr/>
        </p:nvSpPr>
        <p:spPr>
          <a:xfrm>
            <a:off x="7526756" y="482728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dirty="0">
                <a:solidFill>
                  <a:srgbClr val="5B9BD5"/>
                </a:solidFill>
                <a:latin typeface="Cambria"/>
              </a:rPr>
              <a:t>0.18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AE4D799-F704-A619-6E92-F65606FA6562}"/>
              </a:ext>
            </a:extLst>
          </p:cNvPr>
          <p:cNvSpPr/>
          <p:nvPr/>
        </p:nvSpPr>
        <p:spPr>
          <a:xfrm>
            <a:off x="7464213" y="5704845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D5792662-1D11-25DA-4998-2703F58905A3}"/>
              </a:ext>
            </a:extLst>
          </p:cNvPr>
          <p:cNvSpPr/>
          <p:nvPr/>
        </p:nvSpPr>
        <p:spPr>
          <a:xfrm>
            <a:off x="7692813" y="5476245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F7A0079-9CB6-3E8C-BD49-F7A0629FFD84}"/>
              </a:ext>
            </a:extLst>
          </p:cNvPr>
          <p:cNvSpPr/>
          <p:nvPr/>
        </p:nvSpPr>
        <p:spPr>
          <a:xfrm>
            <a:off x="7921413" y="5613406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FAC201F5-9F55-3A66-C265-8E7BD36CDB99}"/>
              </a:ext>
            </a:extLst>
          </p:cNvPr>
          <p:cNvSpPr/>
          <p:nvPr/>
        </p:nvSpPr>
        <p:spPr>
          <a:xfrm>
            <a:off x="8287173" y="5247645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F6F07A9-C06E-16BD-46DD-E175774FA10A}"/>
              </a:ext>
            </a:extLst>
          </p:cNvPr>
          <p:cNvSpPr/>
          <p:nvPr/>
        </p:nvSpPr>
        <p:spPr>
          <a:xfrm>
            <a:off x="8698653" y="5750566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989CEB26-734D-304E-E4ED-C0D9C4CF4C53}"/>
              </a:ext>
            </a:extLst>
          </p:cNvPr>
          <p:cNvSpPr/>
          <p:nvPr/>
        </p:nvSpPr>
        <p:spPr>
          <a:xfrm>
            <a:off x="9018693" y="5384806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AB4811F-4B19-10EF-C6D1-F039CCE358CC}"/>
              </a:ext>
            </a:extLst>
          </p:cNvPr>
          <p:cNvSpPr/>
          <p:nvPr/>
        </p:nvSpPr>
        <p:spPr>
          <a:xfrm>
            <a:off x="9338733" y="5613406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D4F0DA1-7537-B775-20AB-D0B1A1AAC5CF}"/>
              </a:ext>
            </a:extLst>
          </p:cNvPr>
          <p:cNvSpPr/>
          <p:nvPr/>
        </p:nvSpPr>
        <p:spPr>
          <a:xfrm>
            <a:off x="9658773" y="5339086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8061089C-EB5A-4AE4-698D-C4337F567CFC}"/>
              </a:ext>
            </a:extLst>
          </p:cNvPr>
          <p:cNvSpPr/>
          <p:nvPr/>
        </p:nvSpPr>
        <p:spPr>
          <a:xfrm>
            <a:off x="9978813" y="5110486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DBB4655-744B-6E9B-397A-4D0D8F795681}"/>
              </a:ext>
            </a:extLst>
          </p:cNvPr>
          <p:cNvSpPr/>
          <p:nvPr/>
        </p:nvSpPr>
        <p:spPr>
          <a:xfrm>
            <a:off x="10298853" y="5476245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DA722FE7-CF8D-40B0-DC94-22925930564C}"/>
              </a:ext>
            </a:extLst>
          </p:cNvPr>
          <p:cNvSpPr/>
          <p:nvPr/>
        </p:nvSpPr>
        <p:spPr>
          <a:xfrm>
            <a:off x="8744373" y="4470406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D6D9744-8437-1E1C-E751-2D2456972757}"/>
              </a:ext>
            </a:extLst>
          </p:cNvPr>
          <p:cNvSpPr/>
          <p:nvPr/>
        </p:nvSpPr>
        <p:spPr>
          <a:xfrm>
            <a:off x="9933093" y="4607566"/>
            <a:ext cx="64008" cy="64008"/>
          </a:xfrm>
          <a:prstGeom prst="ellipse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EEECB2-427E-86A5-F0DC-39DB43C73EA5}"/>
              </a:ext>
            </a:extLst>
          </p:cNvPr>
          <p:cNvSpPr txBox="1"/>
          <p:nvPr/>
        </p:nvSpPr>
        <p:spPr>
          <a:xfrm>
            <a:off x="7235613" y="6863371"/>
            <a:ext cx="3558859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2000" b="0" dirty="0">
                <a:solidFill>
                  <a:srgbClr val="787878"/>
                </a:solidFill>
                <a:latin typeface="Cambria"/>
              </a:rPr>
              <a:t>Predictions are built up region </a:t>
            </a:r>
          </a:p>
          <a:p>
            <a:pPr algn="l"/>
            <a:r>
              <a:rPr lang="en-US" sz="2000" b="0" dirty="0">
                <a:solidFill>
                  <a:srgbClr val="787878"/>
                </a:solidFill>
                <a:latin typeface="Cambria"/>
              </a:rPr>
              <a:t>by region over time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9B86CB-BFCB-13E0-E143-8F6089B6C27D}"/>
              </a:ext>
            </a:extLst>
          </p:cNvPr>
          <p:cNvSpPr txBox="1"/>
          <p:nvPr/>
        </p:nvSpPr>
        <p:spPr>
          <a:xfrm>
            <a:off x="9750213" y="4787690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dirty="0">
                <a:solidFill>
                  <a:srgbClr val="ED7D31"/>
                </a:solidFill>
                <a:latin typeface="Cambria"/>
              </a:rPr>
              <a:t>0.06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0">
                <a:solidFill>
                  <a:srgbClr val="000000"/>
                </a:solidFill>
                <a:latin typeface="Cambria"/>
              </a:rPr>
              <a:t>Why Small Trees?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800" b="0">
                <a:solidFill>
                  <a:srgbClr val="000000"/>
                </a:solidFill>
                <a:latin typeface="Cambria"/>
              </a:rPr>
              <a:t>Trees are usually shallow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Often depth 1, 2, or 3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Each tree makes a small adjustment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Many small adjustments can add up to a strong model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Interactions can emerge across many rounds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0">
                <a:solidFill>
                  <a:srgbClr val="000000"/>
                </a:solidFill>
                <a:latin typeface="Cambria"/>
              </a:rPr>
              <a:t>Hyperparameters in Gradient Boosting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79" y="1508760"/>
            <a:ext cx="4787053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0" dirty="0">
                <a:solidFill>
                  <a:srgbClr val="000000"/>
                </a:solidFill>
                <a:latin typeface="Cambria"/>
              </a:rPr>
              <a:t>- </a:t>
            </a:r>
            <a:r>
              <a:rPr sz="2800" b="0" dirty="0">
                <a:solidFill>
                  <a:srgbClr val="000000"/>
                </a:solidFill>
                <a:latin typeface="Cambria"/>
              </a:rPr>
              <a:t>Number of trees
</a:t>
            </a:r>
            <a:r>
              <a:rPr lang="en-US" sz="2800" b="0" dirty="0">
                <a:solidFill>
                  <a:srgbClr val="000000"/>
                </a:solidFill>
                <a:latin typeface="Cambria"/>
              </a:rPr>
              <a:t>- </a:t>
            </a:r>
            <a:r>
              <a:rPr sz="2800" b="0" dirty="0">
                <a:solidFill>
                  <a:srgbClr val="000000"/>
                </a:solidFill>
                <a:latin typeface="Cambria"/>
              </a:rPr>
              <a:t>Learning rate
</a:t>
            </a:r>
            <a:r>
              <a:rPr lang="en-US" sz="2800" b="0" dirty="0">
                <a:solidFill>
                  <a:srgbClr val="000000"/>
                </a:solidFill>
                <a:latin typeface="Cambria"/>
              </a:rPr>
              <a:t>- </a:t>
            </a:r>
            <a:r>
              <a:rPr sz="2800" b="0" dirty="0">
                <a:solidFill>
                  <a:srgbClr val="000000"/>
                </a:solidFill>
                <a:latin typeface="Cambria"/>
              </a:rPr>
              <a:t>Maximum depth
</a:t>
            </a:r>
            <a:r>
              <a:rPr lang="en-US" sz="2800" b="0" dirty="0">
                <a:solidFill>
                  <a:srgbClr val="000000"/>
                </a:solidFill>
                <a:latin typeface="Cambria"/>
              </a:rPr>
              <a:t>- </a:t>
            </a:r>
            <a:r>
              <a:rPr sz="2800" b="0" dirty="0">
                <a:solidFill>
                  <a:srgbClr val="000000"/>
                </a:solidFill>
                <a:latin typeface="Cambria"/>
              </a:rPr>
              <a:t>Minimum samples per leaf / split
</a:t>
            </a:r>
            <a:r>
              <a:rPr sz="2800" b="1" dirty="0">
                <a:solidFill>
                  <a:srgbClr val="000000"/>
                </a:solidFill>
                <a:latin typeface="Cambria"/>
              </a:rPr>
              <a:t>These are tuned with cross-validation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1" y="1508760"/>
            <a:ext cx="503936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dirty="0">
                <a:solidFill>
                  <a:srgbClr val="000000"/>
                </a:solidFill>
                <a:latin typeface="Cambria"/>
              </a:rPr>
              <a:t>What is attractive about</a:t>
            </a:r>
            <a:endParaRPr lang="en-US" sz="2800" b="0" dirty="0">
              <a:solidFill>
                <a:srgbClr val="000000"/>
              </a:solidFill>
              <a:latin typeface="Cambria"/>
            </a:endParaRPr>
          </a:p>
          <a:p>
            <a:pPr algn="l"/>
            <a:r>
              <a:rPr sz="2800" b="0" dirty="0">
                <a:solidFill>
                  <a:srgbClr val="000000"/>
                </a:solidFill>
                <a:latin typeface="Cambria"/>
              </a:rPr>
              <a:t>Gradient Boosting?
• Automatic interactions
• With log loss, the model is directly trying to learn probabilities
• So it can potentially give us both interactions and calibration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0">
                <a:solidFill>
                  <a:srgbClr val="000000"/>
                </a:solidFill>
                <a:latin typeface="Cambria"/>
              </a:rPr>
              <a:t>Random Forest vs Gradient Boosting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sz="2800" b="0">
                <a:solidFill>
                  <a:srgbClr val="000000"/>
                </a:solidFill>
                <a:latin typeface="Cambria"/>
              </a:rPr>
              <a:t>Random Forest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Trees built independently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Average predictions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Mainly a variance story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Automatic interactions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Usually not thought of as calibrated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sz="2800" b="0">
                <a:solidFill>
                  <a:srgbClr val="000000"/>
                </a:solidFill>
                <a:latin typeface="Cambria"/>
              </a:rPr>
              <a:t>Gradient Boosting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Trees built sequentially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Add corrections step by step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Mainly a bias story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Automatic interactions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With log loss, can target probabilities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0">
                <a:solidFill>
                  <a:srgbClr val="000000"/>
                </a:solidFill>
                <a:latin typeface="Cambria"/>
              </a:rPr>
              <a:t>Where This Fits in the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800" b="0">
                <a:solidFill>
                  <a:srgbClr val="000000"/>
                </a:solidFill>
                <a:latin typeface="Cambria"/>
              </a:rPr>
              <a:t>Naive Bayes: simple model, strong assumptions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Logistic regression: better for probabilities, but interactions must be added manually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Decision trees: automatic interactions, but unstable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Random forest: improves trees by averaging many of them</a:t>
            </a:r>
          </a:p>
          <a:p>
            <a:r>
              <a:rPr sz="2800" b="0">
                <a:solidFill>
                  <a:srgbClr val="000000"/>
                </a:solidFill>
                <a:latin typeface="Cambria"/>
              </a:rPr>
              <a:t>Gradient boosting: can combine automatic interactions with probability-focused training via log loss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3268</TotalTime>
  <Words>547</Words>
  <Application>Microsoft Office PowerPoint</Application>
  <PresentationFormat>Widescreen</PresentationFormat>
  <Paragraphs>107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Cambria</vt:lpstr>
      <vt:lpstr>Office Theme</vt:lpstr>
      <vt:lpstr>1_Office Theme</vt:lpstr>
      <vt:lpstr>INST 414: Data Science Techniques    Gradient Boosting</vt:lpstr>
      <vt:lpstr>Gradient Boosting</vt:lpstr>
      <vt:lpstr>Two Different Ideas</vt:lpstr>
      <vt:lpstr>How Gradient Boosting Works</vt:lpstr>
      <vt:lpstr>A Simple Example</vt:lpstr>
      <vt:lpstr>A Simple Example</vt:lpstr>
      <vt:lpstr>A Simple Example</vt:lpstr>
      <vt:lpstr>A Simple Example</vt:lpstr>
      <vt:lpstr>Why Small Trees?</vt:lpstr>
      <vt:lpstr>Hyperparameters in Gradient Boosting</vt:lpstr>
      <vt:lpstr>Random Forest vs Gradient Boosting</vt:lpstr>
      <vt:lpstr>Where This Fits in the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 414: Data Science Techniques   Lecture 8 Unsupervised Learning / Text-as-Data</dc:title>
  <dc:creator>Zubin Jelveh</dc:creator>
  <cp:lastModifiedBy>Zubin Jelveh</cp:lastModifiedBy>
  <cp:revision>140</cp:revision>
  <dcterms:created xsi:type="dcterms:W3CDTF">2021-04-06T01:13:24Z</dcterms:created>
  <dcterms:modified xsi:type="dcterms:W3CDTF">2026-03-30T17:17:52Z</dcterms:modified>
</cp:coreProperties>
</file>