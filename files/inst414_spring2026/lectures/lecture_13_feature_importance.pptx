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Cambria"/>
              </a:rPr>
              <a:t>INST 414: Data Science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9601200" cy="54864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600" b="0">
                <a:solidFill>
                  <a:srgbClr val="191919"/>
                </a:solidFill>
                <a:latin typeface="Cambria"/>
              </a:rPr>
              <a:t>Lecture 13 | Feature Importance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Maryland data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03504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2000">
                <a:solidFill>
                  <a:srgbClr val="191919"/>
                </a:solidFill>
                <a:latin typeface="Cambria"/>
              </a:defRPr>
            </a:pPr>
            <a:r>
              <a:t>• One 2017 Maryland arrest cohort</a:t>
            </a:r>
          </a:p>
          <a:p>
            <a:pPr>
              <a:lnSpc>
                <a:spcPct val="115000"/>
              </a:lnSpc>
              <a:defRPr sz="2000">
                <a:solidFill>
                  <a:srgbClr val="191919"/>
                </a:solidFill>
                <a:latin typeface="Cambria"/>
              </a:defRPr>
            </a:pPr>
            <a:r>
              <a:t>• Outcome: violent rearrest within one year</a:t>
            </a:r>
          </a:p>
          <a:p>
            <a:pPr>
              <a:lnSpc>
                <a:spcPct val="115000"/>
              </a:lnSpc>
              <a:defRPr sz="2000">
                <a:solidFill>
                  <a:srgbClr val="191919"/>
                </a:solidFill>
                <a:latin typeface="Cambria"/>
              </a:defRPr>
            </a:pPr>
            <a:r>
              <a:t>• Three feature groups: prior history, current charge, demographics</a:t>
            </a:r>
          </a:p>
          <a:p>
            <a:pPr>
              <a:lnSpc>
                <a:spcPct val="115000"/>
              </a:lnSpc>
              <a:defRPr sz="2000">
                <a:solidFill>
                  <a:srgbClr val="191919"/>
                </a:solidFill>
                <a:latin typeface="Cambria"/>
              </a:defRPr>
            </a:pPr>
            <a:r>
              <a:t>• Black and White defendants only, so the comparison stays focused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37160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87680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l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7,914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l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5,255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l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One-year violent rearrest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l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Feature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l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Predictors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4572000"/>
            <a:ext cx="45720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Cambria"/>
              </a:rPr>
              <a:t>• The same data will answer three questions.
• Which variables matter?
• What changes when a group is removed?
• Do those choices change group-level metrics?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OLS coefficients: the baseline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40080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In a linear model, each coefficient says how the prediction changes when one feature changes, holding the rest fixed.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That makes OLS the easiest place to start.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It is still conditional on the other variables, so scaling and correlation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463040"/>
            <a:ext cx="4114800" cy="1828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Cambria"/>
              </a:rPr>
              <a:t>• Coefficient = conditional change in predicted probability.
• It is a useful benchmark, but not the only notion of importance.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OLS coefficients: what the model learned</a:t>
            </a:r>
          </a:p>
        </p:txBody>
      </p:sp>
      <p:pic>
        <p:nvPicPr>
          <p:cNvPr id="3" name="Picture 2" descr="ols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9182"/>
            <a:ext cx="7315200" cy="433107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55279" y="109728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9624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Prior violent arrests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Current charge: felony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-0.032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Current charge: drug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Current charge: 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3840480"/>
            <a:ext cx="36576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Cambria"/>
              </a:rPr>
              <a:t>Look at the sign and the size. The table helps translate the plot into feature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Tree-based importance: a different 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583680" cy="4480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Trees do not have coefficients.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Instead, importance comes from how much each feature helps split the data.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This gives a global view of how the tree used the features, not a person-by-person explanation.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It is also model-specific: change the tree model, and the ranking can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463040"/>
            <a:ext cx="402336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Cambria"/>
              </a:rPr>
              <a:t>• Tree importance is about how much a feature helps the forest split the data.
• It is not the same thing as a causal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Random forest feature importance</a:t>
            </a:r>
          </a:p>
        </p:txBody>
      </p:sp>
      <p:pic>
        <p:nvPicPr>
          <p:cNvPr id="3" name="Picture 2" descr="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9182"/>
            <a:ext cx="7315200" cy="433107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55279" y="109728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9624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Total prior arrests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Current charge: 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Prior violent arrests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3840480"/>
            <a:ext cx="36576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Cambria"/>
              </a:rPr>
              <a:t>This ranking shows which inputs the forest used most to separate the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SHAP: local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58368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SHAP explains one prediction at a time.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Start with a baseline prediction, then add feature contributions.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That helps you ask why one person got a particular score.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Averaging SHAP values gives a global picture,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463040"/>
            <a:ext cx="4023360" cy="16459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Cambria"/>
              </a:rPr>
              <a:t>• Baseline + feature pushes up or down.
• Local first, then global.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SHAP summary plot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50928"/>
            <a:ext cx="7315200" cy="504758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55279" y="109728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9624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Mean |SHAP|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Total prior arrests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Current charge: 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3840480"/>
            <a:ext cx="36576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Cambria"/>
              </a:rPr>
              <a:t>The summary plot shows which features move predictions the most on average.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SHAP dependence on age</a:t>
            </a:r>
          </a:p>
        </p:txBody>
      </p:sp>
      <p:pic>
        <p:nvPicPr>
          <p:cNvPr id="3" name="Picture 2" descr="shap_dependence_arrests_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36" y="914400"/>
            <a:ext cx="701308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300" b="0">
                <a:solidFill>
                  <a:srgbClr val="191919"/>
                </a:solidFill>
                <a:latin typeface="Cambria"/>
              </a:rPr>
              <a:t>Age does not have to act linearly. The dependence plot shows how the SHAP contribution changes across the age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Ablation: remove a feature group and retrain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49224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Ablation asks what the model loses when a feature group disappears.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That is a direct way to see what the model depends on.</a:t>
            </a:r>
          </a:p>
          <a:p>
            <a:pPr>
              <a:lnSpc>
                <a:spcPct val="115000"/>
              </a:lnSpc>
              <a:defRPr sz="1800">
                <a:solidFill>
                  <a:srgbClr val="191919"/>
                </a:solidFill>
                <a:latin typeface="Cambria"/>
              </a:defRPr>
            </a:pPr>
            <a:r>
              <a:t>• Here we compare the full model to versions with one feature group removed.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463040"/>
            <a:ext cx="4023360" cy="1828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Cambria"/>
              </a:rPr>
              <a:t>• Remove a group.
• Retrain.
• See what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Ablation: AUC</a:t>
            </a:r>
          </a:p>
        </p:txBody>
      </p:sp>
      <p:pic>
        <p:nvPicPr>
          <p:cNvPr id="3" name="Picture 2" descr="ablati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3252"/>
            <a:ext cx="7315200" cy="434293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55279" y="109728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full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prior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current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demographics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3657600"/>
            <a:ext cx="36576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300" b="0">
                <a:solidFill>
                  <a:srgbClr val="191919"/>
                </a:solidFill>
                <a:latin typeface="Cambria"/>
              </a:rPr>
              <a:t>• AUC tells us whether the ranking gets better or worse when we remove a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Ablation: top-100 precision</a:t>
            </a:r>
          </a:p>
        </p:txBody>
      </p:sp>
      <p:pic>
        <p:nvPicPr>
          <p:cNvPr id="3" name="Picture 2" descr="ablation_top_100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19"/>
            <a:ext cx="7315200" cy="433700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55279" y="1097280"/>
          <a:ext cx="3657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93776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Share flagged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full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prior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current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demographics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3840480"/>
            <a:ext cx="3657600" cy="9144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300" b="0">
                <a:solidFill>
                  <a:srgbClr val="191919"/>
                </a:solidFill>
                <a:latin typeface="Cambria"/>
              </a:rPr>
              <a:t>• Top 100 covers 2.5% of the test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Fairness by race: full model vs. no demographics</a:t>
            </a:r>
          </a:p>
        </p:txBody>
      </p:sp>
      <p:pic>
        <p:nvPicPr>
          <p:cNvPr id="3" name="Picture 2" descr="fairness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3121"/>
            <a:ext cx="8138160" cy="271167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0" y="1097280"/>
          <a:ext cx="3017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/>
                <a:gridCol w="603504"/>
                <a:gridCol w="603504"/>
                <a:gridCol w="603504"/>
                <a:gridCol w="603504"/>
              </a:tblGrid>
              <a:tr h="87782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PPV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FNR</a:t>
                      </a:r>
                    </a:p>
                  </a:txBody>
                  <a:tcPr>
                    <a:solidFill>
                      <a:srgbClr val="B71C1C"/>
                    </a:solidFill>
                  </a:tcPr>
                </a:tc>
              </a:tr>
              <a:tr h="877824"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full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full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demographics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no demographics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  <a:latin typeface="Cambria"/>
                        </a:defRPr>
                      </a:pPr>
                      <a:r>
                        <a:t>0.297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300" b="0">
                <a:solidFill>
                  <a:srgbClr val="191919"/>
                </a:solidFill>
                <a:latin typeface="Cambria"/>
              </a:rPr>
              <a:t>• The key fairness question is whether dropping demographics changes the group gaps.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1919"/>
                </a:solidFill>
                <a:latin typeface="Cambria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5000"/>
              </a:lnSpc>
              <a:defRPr sz="2200">
                <a:solidFill>
                  <a:srgbClr val="191919"/>
                </a:solidFill>
                <a:latin typeface="Cambria"/>
              </a:defRPr>
            </a:pPr>
            <a:r>
              <a:t>• OLS coefficients, tree importance, SHAP, and ablation answer different questions.</a:t>
            </a:r>
          </a:p>
          <a:p>
            <a:pPr>
              <a:lnSpc>
                <a:spcPct val="115000"/>
              </a:lnSpc>
              <a:defRPr sz="2200">
                <a:solidFill>
                  <a:srgbClr val="191919"/>
                </a:solidFill>
                <a:latin typeface="Cambria"/>
              </a:defRPr>
            </a:pPr>
            <a:r>
              <a:t>• A feature can be predictive without being the right feature to rely on.</a:t>
            </a:r>
          </a:p>
          <a:p>
            <a:pPr>
              <a:lnSpc>
                <a:spcPct val="115000"/>
              </a:lnSpc>
              <a:defRPr sz="2200">
                <a:solidFill>
                  <a:srgbClr val="191919"/>
                </a:solidFill>
                <a:latin typeface="Cambria"/>
              </a:defRPr>
            </a:pPr>
            <a:r>
              <a:t>• A model can look strong overall and still behave differently across groups.</a:t>
            </a:r>
          </a:p>
          <a:p>
            <a:pPr>
              <a:lnSpc>
                <a:spcPct val="115000"/>
              </a:lnSpc>
              <a:defRPr sz="2200">
                <a:solidFill>
                  <a:srgbClr val="191919"/>
                </a:solidFill>
                <a:latin typeface="Cambria"/>
              </a:defRPr>
            </a:pPr>
            <a:r>
              <a:t>• Feature importance and fairness are related, but they are not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