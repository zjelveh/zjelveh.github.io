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7" r:id="rId3"/>
    <p:sldId id="647" r:id="rId4"/>
    <p:sldId id="741" r:id="rId5"/>
    <p:sldId id="711" r:id="rId6"/>
    <p:sldId id="774" r:id="rId7"/>
    <p:sldId id="775" r:id="rId8"/>
    <p:sldId id="776" r:id="rId9"/>
    <p:sldId id="777" r:id="rId10"/>
    <p:sldId id="778" r:id="rId11"/>
    <p:sldId id="779" r:id="rId12"/>
    <p:sldId id="780" r:id="rId13"/>
    <p:sldId id="720" r:id="rId14"/>
    <p:sldId id="742" r:id="rId15"/>
    <p:sldId id="743" r:id="rId16"/>
    <p:sldId id="721" r:id="rId17"/>
    <p:sldId id="722" r:id="rId18"/>
    <p:sldId id="696" r:id="rId19"/>
    <p:sldId id="672" r:id="rId20"/>
    <p:sldId id="772" r:id="rId21"/>
    <p:sldId id="673" r:id="rId22"/>
    <p:sldId id="733" r:id="rId23"/>
    <p:sldId id="697" r:id="rId24"/>
    <p:sldId id="698" r:id="rId25"/>
    <p:sldId id="649" r:id="rId26"/>
    <p:sldId id="699" r:id="rId27"/>
    <p:sldId id="700" r:id="rId28"/>
    <p:sldId id="701" r:id="rId29"/>
    <p:sldId id="679" r:id="rId30"/>
    <p:sldId id="702" r:id="rId31"/>
    <p:sldId id="724" r:id="rId32"/>
    <p:sldId id="767" r:id="rId33"/>
    <p:sldId id="656" r:id="rId34"/>
    <p:sldId id="704" r:id="rId35"/>
    <p:sldId id="659" r:id="rId36"/>
    <p:sldId id="658" r:id="rId37"/>
    <p:sldId id="657" r:id="rId38"/>
    <p:sldId id="738" r:id="rId39"/>
    <p:sldId id="705" r:id="rId40"/>
    <p:sldId id="768" r:id="rId41"/>
    <p:sldId id="769" r:id="rId42"/>
    <p:sldId id="771" r:id="rId43"/>
    <p:sldId id="707" r:id="rId44"/>
    <p:sldId id="703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612EB-3179-41D3-A096-8DCB61249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7BD838-3438-4680-B866-9D7E1FEE8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0411-FB31-46C4-8953-92293CA18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61B5E-166A-4148-A1D3-BDA269D2E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51C9A-CE0E-4805-A440-829676A19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211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F6ABA-6299-4495-99FC-09EB37033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338CE-B9F2-4AE7-8E72-F2C6FCF12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221BB-0056-42CE-96C6-EA0A13D9F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DBE94-8840-4E84-BDC8-5280B5996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94774-6C2D-4ADD-82AB-EFD4B7FC4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795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0EDF-1128-42E0-ACAB-CDA85BF00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07AE2-74AF-4958-8014-BF860FDFD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84849-9341-42C6-BCB3-2EBB7C8CA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E087C-672D-4D70-BDA0-16B0E159B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7765A-6F92-4ED6-9471-36D2D4EDC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29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EF5C-594B-48CA-9C2F-E0DFAB4F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A38CF-FD18-41D8-8CA1-E9EC9B178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A21BA-BDBA-4D11-A39B-449528046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91829-2FAB-4B9C-BB28-D2F2E5F9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9729A-D136-46EB-A156-53B88DCA9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1C00C-BF98-4B3C-81E9-C0B5581E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798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F0142-15D0-4DC4-8750-9CC10E1B7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127EE-957F-47B4-A3C6-EE228348F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09707-32C4-4346-9EE7-C7BA9B2A9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78DD51-DCAE-41F3-BB86-50F6CCB2A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7D6B3A-BBDF-4E26-ABEC-672635F6F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DB6DB1-59AE-47C7-8BA4-20920850F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08553A-2093-4385-B648-52691CB9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617BE2-2190-4E00-AEAC-3CFC6FF7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97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AD891-D033-4A44-A132-B946D6B64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AF1F32-4957-4FAD-955B-A5D05A917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FCBD1-0205-4242-91D8-56FCFBD18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01ED64-FF13-40D7-B90A-832EC5D39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64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B3508-EE54-4F3D-87DE-3A51299DC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7BBA0A-9E7E-4BD0-A702-DFC19BF97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5C9C6-D8FC-44B9-B620-D15AD47E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52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13B93-ECA3-426D-BCCC-1929803CF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107FF-6D7B-4822-A757-F59FE2697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57C69-22C7-4803-B016-4B509A3B4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301D1-A652-48E7-9F7B-C10F7AE0F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60AE2-13CC-43F4-9256-4E5508C7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8DB03-AE86-4205-A7A1-E9B5B324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20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A7918-6960-49A1-9FFB-D5634BC8A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4006C2-73A7-4424-B46D-EA3C1441F4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46E7C-C8FB-41B9-AD31-C10378BBA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B3712-24D3-4EA7-A67B-ABAE4FD9D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49887-39D4-49FE-80EC-6D275C4E9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367C0-B54D-449A-9E59-6174CB8F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8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54C52-2024-438A-9671-7D71CDF51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197685-1070-4F47-AF99-C683386C5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83AC2-06DC-44DD-B42B-30ED4A2EE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3B7F7-890F-4FCB-9330-5EB8A15A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CB25B-35A8-402C-88E1-95D0265FE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67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5C23A-7B0F-4EA1-91CE-529209B4F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267A7F-9DBB-4D42-88AD-7034EBA9D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78ADF-108B-4331-BCB0-1C210AC78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499DA-E50C-4123-BBCB-F0986EDF5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D7CA4-D399-4D10-87F3-9CD947C00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379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1A6C-5781-4E08-AB6B-22B5D9169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3CD05-9910-4DE4-8E04-24A38D128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43E5D-8CE8-4627-82BC-C05F8BBFA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49B836C9-039A-46E3-8B8C-694019AC96F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448DF-E6F1-4068-AA6E-90AF5261D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82231-ED52-4B70-BECE-75CAF3F7C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5F22BABE-A70E-4755-92B9-F4D9EAACBF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20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E1FD9-0B15-4F50-B821-75F2A0CF6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5455A-683E-486D-86A2-81F9BD15F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17FFB-2D14-44F0-9A2F-9FC817E2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49B836C9-039A-46E3-8B8C-694019AC96F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F48E7-397C-4078-9C9A-3608FC928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F032E-985B-4584-8994-8224B61C2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5F22BABE-A70E-4755-92B9-F4D9EAACBF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27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202C2-040D-46AA-BB67-EC6E7C504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D598B-990F-48D4-9407-6A088B095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ECC02-8F23-4111-9837-748253372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21A13-D843-4BBD-A351-BAEC99E3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2EE65-52D4-475E-A3B5-EC5B9DB3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89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A9307-9FE3-4842-B312-704EE8C1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91079-3046-46F3-913E-575AC916F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F180C-0189-48B8-84A3-D2DC61197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EF064-1C33-41D4-9C6B-AA2385345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B4948-9FA6-4A22-87B3-8DBB06C2F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C8D03-1D7B-40D1-A011-2EE91F483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88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B984-8156-4F72-8174-BE932773D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39793-60BB-4BD4-9607-7E53428B4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E2C85-A954-4011-9047-474774CDB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75CA91-4365-493D-A32A-5F4A4FC48F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6CA0E1-7086-41D5-B26F-C6BFA0E75E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A45612-6F11-4C4B-8DD2-B2019ED10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6A59BE-F169-4594-84E0-EB35DDC0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D1195B-0854-40FB-9F7B-29738C798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903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4A397-FDB4-425A-A6E1-13B2BA735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A998DD-8176-489D-9628-791A872D7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5923E-CCF8-4D93-A966-D9D461E19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842AA-D029-46C4-96F2-FA351DABB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969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42A4D0-9BDF-4EF5-A838-8B5420D7F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1BD02E-472B-41FB-9761-923C2B96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5B42F-CBB3-4AF4-BAA0-8D2875C7C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0204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0476-B223-4D8C-B118-9414F9737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57344-B897-47CC-93ED-879E329B4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25F9B-4FB1-4FA9-9A92-E0E7ACEA9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9515A-D7EE-4015-A5FA-30D35AB71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38AAA-6AE2-4EDF-81C0-21F37E5AE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062C7-709D-4F26-B429-9451A2C9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065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5CF9C-D09D-4B64-9BC8-10FFE8F36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B0254D-2148-4DD0-A55E-728BD7A063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80E45-87DD-444D-A7BF-106889A5C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EA485-674A-4AAC-A8D2-0524959A8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B3887-1C60-4250-9AAE-F1EC387E2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4F366-B352-4EB5-8554-44101F65E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88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7938-2121-452F-9988-C48C69417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CB89EB-B995-437C-BBA6-F5C9A3142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6E515-D013-4451-A1A4-F958FE3FE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C6A62-3F2C-4137-B328-230C70202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01A4F-FBDF-4302-9196-1591CCBF5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709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F8AD1D-3809-4063-9963-AC0D8DEFA4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12556-DF62-43A3-BF65-7B8B3ED1E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F9EC6-6A58-4388-8C78-3F09A44CB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0059A-9FC5-4BDD-AF78-933C248D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87AB5-1E6E-48D1-84DD-4AD96DE89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0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E57241-2BE3-441C-8E98-CA31C0C66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C63E2-5534-43F6-A3CE-1A14C115E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A4378-E36C-4AC3-9180-A80F97F71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D7BAAD77-0952-4A0F-B406-0526A080BBE6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39C37-3F94-4A04-8CE9-816F0A7D64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0B407-A594-4387-9126-1FFF8C575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E2D1D4AE-D363-4A45-A752-CD0CBC5A38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28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FEE89-2F29-451D-A8B9-7BEA3D929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4272B-9845-4390-9592-3A7742727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C35F4-412E-4487-9D57-9B52365EDC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836C9-039A-46E3-8B8C-694019AC96F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A53FE-D695-4F21-9EBD-A00FCFD3F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752C1-66DA-4135-B887-4959B1AA7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729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educative.io/edpresso/overfitting-and-underfitting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cott.fortmann-roe.com/docs/BiasVariance.html" TargetMode="Externa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ai-pool.com/a/s/random-forests-understanding" TargetMode="Externa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46C8B-9AB5-4B36-A44B-C6B45DD2D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628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INST 414: Data Science Techniques 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sz="4900" dirty="0"/>
              <a:t>Random Forest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373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626C-6016-4AFE-A3A3-82B8BA19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Recap Overfitting + Decision Trees</a:t>
            </a:r>
          </a:p>
        </p:txBody>
      </p:sp>
    </p:spTree>
    <p:extLst>
      <p:ext uri="{BB962C8B-B14F-4D97-AF65-F5344CB8AC3E}">
        <p14:creationId xmlns:p14="http://schemas.microsoft.com/office/powerpoint/2010/main" val="211426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0F463-42CA-4F17-8DC3-B690F17E0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Overfitting/Underfitting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919DE-343A-4FF3-B188-26C09DBF9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026" name="Picture 2">
            <a:hlinkClick r:id="rId2"/>
            <a:extLst>
              <a:ext uri="{FF2B5EF4-FFF2-40B4-BE49-F238E27FC236}">
                <a16:creationId xmlns:a16="http://schemas.microsoft.com/office/drawing/2014/main" id="{F48E9D4F-CFC0-4621-A75E-804C0C979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6857" y="2426666"/>
            <a:ext cx="71437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092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FBE75-68A0-477F-9934-4F0D70B9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+ Cons of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93115-6BCD-47EE-A9B9-38DD8195C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2961" cy="4351338"/>
          </a:xfrm>
        </p:spPr>
        <p:txBody>
          <a:bodyPr/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Automatically detect interactions</a:t>
            </a:r>
          </a:p>
          <a:p>
            <a:pPr lvl="1"/>
            <a:r>
              <a:rPr lang="en-US" dirty="0"/>
              <a:t>Easy to explain </a:t>
            </a:r>
          </a:p>
          <a:p>
            <a:pPr lvl="1"/>
            <a:r>
              <a:rPr lang="en-US" dirty="0"/>
              <a:t>Handle both categorical and numeric features</a:t>
            </a:r>
          </a:p>
          <a:p>
            <a:pPr lvl="2"/>
            <a:r>
              <a:rPr lang="en-US" dirty="0"/>
              <a:t>No need to rescale</a:t>
            </a:r>
          </a:p>
          <a:p>
            <a:r>
              <a:rPr lang="en-US" dirty="0"/>
              <a:t>Disadvantages:</a:t>
            </a:r>
          </a:p>
          <a:p>
            <a:pPr lvl="1"/>
            <a:r>
              <a:rPr lang="en-US" dirty="0"/>
              <a:t>Tend to be outperformed by other methods</a:t>
            </a:r>
          </a:p>
          <a:p>
            <a:pPr lvl="1"/>
            <a:r>
              <a:rPr lang="en-US" dirty="0"/>
              <a:t>Brittle</a:t>
            </a:r>
          </a:p>
          <a:p>
            <a:pPr lvl="1"/>
            <a:r>
              <a:rPr lang="en-US" dirty="0"/>
              <a:t>Can’t extrapolate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CDE4BE-6E67-4A64-848C-CA541594D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123" y="0"/>
            <a:ext cx="53643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862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1C08-F088-44F3-A554-2C9BCDFF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 Can’t Extrapolate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B37C-7C75-41C8-821A-F09082E29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77" y="1947683"/>
            <a:ext cx="2691581" cy="4554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Training Data</a:t>
            </a:r>
          </a:p>
        </p:txBody>
      </p:sp>
      <p:pic>
        <p:nvPicPr>
          <p:cNvPr id="2050" name="Picture 2" descr="By6Y9ht39imXAAAAAElFTkSuQmCC (482×357)">
            <a:extLst>
              <a:ext uri="{FF2B5EF4-FFF2-40B4-BE49-F238E27FC236}">
                <a16:creationId xmlns:a16="http://schemas.microsoft.com/office/drawing/2014/main" id="{DD123E85-49DA-44AE-B8DC-522426C0F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158" y="2446542"/>
            <a:ext cx="459105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8CF654-B655-4278-BCA2-A0592C74BE10}"/>
              </a:ext>
            </a:extLst>
          </p:cNvPr>
          <p:cNvSpPr/>
          <p:nvPr/>
        </p:nvSpPr>
        <p:spPr>
          <a:xfrm>
            <a:off x="3606728" y="2403142"/>
            <a:ext cx="2521668" cy="3559277"/>
          </a:xfrm>
          <a:prstGeom prst="rect">
            <a:avLst/>
          </a:prstGeom>
          <a:solidFill>
            <a:srgbClr val="FADECB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128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1C08-F088-44F3-A554-2C9BCDFF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 Can’t Extrapolate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B37C-7C75-41C8-821A-F09082E29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77" y="1947683"/>
            <a:ext cx="2691581" cy="4554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Training Data</a:t>
            </a:r>
          </a:p>
        </p:txBody>
      </p:sp>
      <p:pic>
        <p:nvPicPr>
          <p:cNvPr id="2050" name="Picture 2" descr="By6Y9ht39imXAAAAAElFTkSuQmCC (482×357)">
            <a:extLst>
              <a:ext uri="{FF2B5EF4-FFF2-40B4-BE49-F238E27FC236}">
                <a16:creationId xmlns:a16="http://schemas.microsoft.com/office/drawing/2014/main" id="{DD123E85-49DA-44AE-B8DC-522426C0F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158" y="2446542"/>
            <a:ext cx="459105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8CF654-B655-4278-BCA2-A0592C74BE10}"/>
              </a:ext>
            </a:extLst>
          </p:cNvPr>
          <p:cNvSpPr/>
          <p:nvPr/>
        </p:nvSpPr>
        <p:spPr>
          <a:xfrm>
            <a:off x="3606728" y="2403142"/>
            <a:ext cx="2521668" cy="3559277"/>
          </a:xfrm>
          <a:prstGeom prst="rect">
            <a:avLst/>
          </a:prstGeom>
          <a:solidFill>
            <a:srgbClr val="FADECB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C41949-E3D7-956A-6608-150D83B8DE82}"/>
              </a:ext>
            </a:extLst>
          </p:cNvPr>
          <p:cNvCxnSpPr/>
          <p:nvPr/>
        </p:nvCxnSpPr>
        <p:spPr>
          <a:xfrm flipV="1">
            <a:off x="4463933" y="2560320"/>
            <a:ext cx="0" cy="302583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105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1C08-F088-44F3-A554-2C9BCDFF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 Can’t Extrapolate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B37C-7C75-41C8-821A-F09082E29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77" y="1947683"/>
            <a:ext cx="2691581" cy="4554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Training Data</a:t>
            </a:r>
          </a:p>
        </p:txBody>
      </p:sp>
      <p:pic>
        <p:nvPicPr>
          <p:cNvPr id="2050" name="Picture 2" descr="By6Y9ht39imXAAAAAElFTkSuQmCC (482×357)">
            <a:extLst>
              <a:ext uri="{FF2B5EF4-FFF2-40B4-BE49-F238E27FC236}">
                <a16:creationId xmlns:a16="http://schemas.microsoft.com/office/drawing/2014/main" id="{DD123E85-49DA-44AE-B8DC-522426C0F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158" y="2446542"/>
            <a:ext cx="459105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8CF654-B655-4278-BCA2-A0592C74BE10}"/>
              </a:ext>
            </a:extLst>
          </p:cNvPr>
          <p:cNvSpPr/>
          <p:nvPr/>
        </p:nvSpPr>
        <p:spPr>
          <a:xfrm>
            <a:off x="3606728" y="2403142"/>
            <a:ext cx="2521668" cy="3559277"/>
          </a:xfrm>
          <a:prstGeom prst="rect">
            <a:avLst/>
          </a:prstGeom>
          <a:solidFill>
            <a:srgbClr val="FADECB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C41949-E3D7-956A-6608-150D83B8DE82}"/>
              </a:ext>
            </a:extLst>
          </p:cNvPr>
          <p:cNvCxnSpPr>
            <a:cxnSpLocks/>
          </p:cNvCxnSpPr>
          <p:nvPr/>
        </p:nvCxnSpPr>
        <p:spPr>
          <a:xfrm flipV="1">
            <a:off x="4463933" y="2446542"/>
            <a:ext cx="0" cy="313961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30D586-FE3F-DB99-D55C-F85424372C67}"/>
              </a:ext>
            </a:extLst>
          </p:cNvPr>
          <p:cNvCxnSpPr>
            <a:cxnSpLocks/>
          </p:cNvCxnSpPr>
          <p:nvPr/>
        </p:nvCxnSpPr>
        <p:spPr>
          <a:xfrm flipV="1">
            <a:off x="5264725" y="2446542"/>
            <a:ext cx="0" cy="3156237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174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1C08-F088-44F3-A554-2C9BCDFF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Predict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B37C-7C75-41C8-821A-F09082E29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8737" y="1947683"/>
            <a:ext cx="2691581" cy="4554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Training Data</a:t>
            </a:r>
          </a:p>
        </p:txBody>
      </p:sp>
      <p:pic>
        <p:nvPicPr>
          <p:cNvPr id="2050" name="Picture 2" descr="By6Y9ht39imXAAAAAElFTkSuQmCC (482×357)">
            <a:extLst>
              <a:ext uri="{FF2B5EF4-FFF2-40B4-BE49-F238E27FC236}">
                <a16:creationId xmlns:a16="http://schemas.microsoft.com/office/drawing/2014/main" id="{DD123E85-49DA-44AE-B8DC-522426C0F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718" y="2446542"/>
            <a:ext cx="459105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8CF654-B655-4278-BCA2-A0592C74BE10}"/>
              </a:ext>
            </a:extLst>
          </p:cNvPr>
          <p:cNvSpPr/>
          <p:nvPr/>
        </p:nvSpPr>
        <p:spPr>
          <a:xfrm>
            <a:off x="8280061" y="2348132"/>
            <a:ext cx="2521668" cy="3559277"/>
          </a:xfrm>
          <a:prstGeom prst="rect">
            <a:avLst/>
          </a:prstGeom>
          <a:solidFill>
            <a:srgbClr val="FADECB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C41949-E3D7-956A-6608-150D83B8DE82}"/>
              </a:ext>
            </a:extLst>
          </p:cNvPr>
          <p:cNvCxnSpPr>
            <a:cxnSpLocks/>
          </p:cNvCxnSpPr>
          <p:nvPr/>
        </p:nvCxnSpPr>
        <p:spPr>
          <a:xfrm flipV="1">
            <a:off x="6658493" y="2446542"/>
            <a:ext cx="0" cy="313961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30D586-FE3F-DB99-D55C-F85424372C67}"/>
              </a:ext>
            </a:extLst>
          </p:cNvPr>
          <p:cNvCxnSpPr>
            <a:cxnSpLocks/>
          </p:cNvCxnSpPr>
          <p:nvPr/>
        </p:nvCxnSpPr>
        <p:spPr>
          <a:xfrm flipV="1">
            <a:off x="7459285" y="2446542"/>
            <a:ext cx="0" cy="3156237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8C82ABE-E9D5-1BCC-6C1D-44E2EE74A229}"/>
              </a:ext>
            </a:extLst>
          </p:cNvPr>
          <p:cNvSpPr txBox="1"/>
          <p:nvPr/>
        </p:nvSpPr>
        <p:spPr>
          <a:xfrm>
            <a:off x="838200" y="2204720"/>
            <a:ext cx="40994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X &lt; -1.6, then predicted Y is around 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EFB0B14-127F-C969-9A9C-5234DB085316}"/>
              </a:ext>
            </a:extLst>
          </p:cNvPr>
          <p:cNvSpPr/>
          <p:nvPr/>
        </p:nvSpPr>
        <p:spPr>
          <a:xfrm>
            <a:off x="6104194" y="2762882"/>
            <a:ext cx="760202" cy="1514478"/>
          </a:xfrm>
          <a:custGeom>
            <a:avLst/>
            <a:gdLst>
              <a:gd name="connsiteX0" fmla="*/ 357566 w 760202"/>
              <a:gd name="connsiteY0" fmla="*/ 638 h 1514478"/>
              <a:gd name="connsiteX1" fmla="*/ 255966 w 760202"/>
              <a:gd name="connsiteY1" fmla="*/ 10798 h 1514478"/>
              <a:gd name="connsiteX2" fmla="*/ 205166 w 760202"/>
              <a:gd name="connsiteY2" fmla="*/ 51438 h 1514478"/>
              <a:gd name="connsiteX3" fmla="*/ 174686 w 760202"/>
              <a:gd name="connsiteY3" fmla="*/ 61598 h 1514478"/>
              <a:gd name="connsiteX4" fmla="*/ 32446 w 760202"/>
              <a:gd name="connsiteY4" fmla="*/ 224158 h 1514478"/>
              <a:gd name="connsiteX5" fmla="*/ 22286 w 760202"/>
              <a:gd name="connsiteY5" fmla="*/ 274958 h 1514478"/>
              <a:gd name="connsiteX6" fmla="*/ 1966 w 760202"/>
              <a:gd name="connsiteY6" fmla="*/ 315598 h 1514478"/>
              <a:gd name="connsiteX7" fmla="*/ 42606 w 760202"/>
              <a:gd name="connsiteY7" fmla="*/ 610238 h 1514478"/>
              <a:gd name="connsiteX8" fmla="*/ 123886 w 760202"/>
              <a:gd name="connsiteY8" fmla="*/ 711838 h 1514478"/>
              <a:gd name="connsiteX9" fmla="*/ 154366 w 760202"/>
              <a:gd name="connsiteY9" fmla="*/ 742318 h 1514478"/>
              <a:gd name="connsiteX10" fmla="*/ 174686 w 760202"/>
              <a:gd name="connsiteY10" fmla="*/ 782958 h 1514478"/>
              <a:gd name="connsiteX11" fmla="*/ 184846 w 760202"/>
              <a:gd name="connsiteY11" fmla="*/ 833758 h 1514478"/>
              <a:gd name="connsiteX12" fmla="*/ 164526 w 760202"/>
              <a:gd name="connsiteY12" fmla="*/ 1026798 h 1514478"/>
              <a:gd name="connsiteX13" fmla="*/ 174686 w 760202"/>
              <a:gd name="connsiteY13" fmla="*/ 1351918 h 1514478"/>
              <a:gd name="connsiteX14" fmla="*/ 205166 w 760202"/>
              <a:gd name="connsiteY14" fmla="*/ 1423038 h 1514478"/>
              <a:gd name="connsiteX15" fmla="*/ 286446 w 760202"/>
              <a:gd name="connsiteY15" fmla="*/ 1504318 h 1514478"/>
              <a:gd name="connsiteX16" fmla="*/ 337246 w 760202"/>
              <a:gd name="connsiteY16" fmla="*/ 1514478 h 1514478"/>
              <a:gd name="connsiteX17" fmla="*/ 509966 w 760202"/>
              <a:gd name="connsiteY17" fmla="*/ 1433198 h 1514478"/>
              <a:gd name="connsiteX18" fmla="*/ 621726 w 760202"/>
              <a:gd name="connsiteY18" fmla="*/ 1290958 h 1514478"/>
              <a:gd name="connsiteX19" fmla="*/ 692846 w 760202"/>
              <a:gd name="connsiteY19" fmla="*/ 1108078 h 1514478"/>
              <a:gd name="connsiteX20" fmla="*/ 703006 w 760202"/>
              <a:gd name="connsiteY20" fmla="*/ 1057278 h 1514478"/>
              <a:gd name="connsiteX21" fmla="*/ 723326 w 760202"/>
              <a:gd name="connsiteY21" fmla="*/ 894718 h 1514478"/>
              <a:gd name="connsiteX22" fmla="*/ 743646 w 760202"/>
              <a:gd name="connsiteY22" fmla="*/ 793118 h 1514478"/>
              <a:gd name="connsiteX23" fmla="*/ 733486 w 760202"/>
              <a:gd name="connsiteY23" fmla="*/ 305438 h 1514478"/>
              <a:gd name="connsiteX24" fmla="*/ 672526 w 760202"/>
              <a:gd name="connsiteY24" fmla="*/ 153038 h 1514478"/>
              <a:gd name="connsiteX25" fmla="*/ 479486 w 760202"/>
              <a:gd name="connsiteY25" fmla="*/ 10798 h 1514478"/>
              <a:gd name="connsiteX26" fmla="*/ 357566 w 760202"/>
              <a:gd name="connsiteY26" fmla="*/ 638 h 1514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60202" h="1514478">
                <a:moveTo>
                  <a:pt x="357566" y="638"/>
                </a:moveTo>
                <a:cubicBezTo>
                  <a:pt x="320313" y="638"/>
                  <a:pt x="288255" y="35"/>
                  <a:pt x="255966" y="10798"/>
                </a:cubicBezTo>
                <a:cubicBezTo>
                  <a:pt x="235394" y="17655"/>
                  <a:pt x="223555" y="39945"/>
                  <a:pt x="205166" y="51438"/>
                </a:cubicBezTo>
                <a:cubicBezTo>
                  <a:pt x="196084" y="57114"/>
                  <a:pt x="184846" y="58211"/>
                  <a:pt x="174686" y="61598"/>
                </a:cubicBezTo>
                <a:cubicBezTo>
                  <a:pt x="48962" y="187322"/>
                  <a:pt x="90032" y="128182"/>
                  <a:pt x="32446" y="224158"/>
                </a:cubicBezTo>
                <a:cubicBezTo>
                  <a:pt x="29059" y="241091"/>
                  <a:pt x="27747" y="258575"/>
                  <a:pt x="22286" y="274958"/>
                </a:cubicBezTo>
                <a:cubicBezTo>
                  <a:pt x="17497" y="289326"/>
                  <a:pt x="2571" y="300464"/>
                  <a:pt x="1966" y="315598"/>
                </a:cubicBezTo>
                <a:cubicBezTo>
                  <a:pt x="-1140" y="393247"/>
                  <a:pt x="-6924" y="529190"/>
                  <a:pt x="42606" y="610238"/>
                </a:cubicBezTo>
                <a:cubicBezTo>
                  <a:pt x="65222" y="647245"/>
                  <a:pt x="93218" y="681170"/>
                  <a:pt x="123886" y="711838"/>
                </a:cubicBezTo>
                <a:cubicBezTo>
                  <a:pt x="134046" y="721998"/>
                  <a:pt x="146015" y="730626"/>
                  <a:pt x="154366" y="742318"/>
                </a:cubicBezTo>
                <a:cubicBezTo>
                  <a:pt x="163169" y="754643"/>
                  <a:pt x="167913" y="769411"/>
                  <a:pt x="174686" y="782958"/>
                </a:cubicBezTo>
                <a:cubicBezTo>
                  <a:pt x="178073" y="799891"/>
                  <a:pt x="184846" y="816489"/>
                  <a:pt x="184846" y="833758"/>
                </a:cubicBezTo>
                <a:cubicBezTo>
                  <a:pt x="184846" y="936271"/>
                  <a:pt x="179870" y="950077"/>
                  <a:pt x="164526" y="1026798"/>
                </a:cubicBezTo>
                <a:cubicBezTo>
                  <a:pt x="167913" y="1135171"/>
                  <a:pt x="168672" y="1243659"/>
                  <a:pt x="174686" y="1351918"/>
                </a:cubicBezTo>
                <a:cubicBezTo>
                  <a:pt x="176178" y="1378774"/>
                  <a:pt x="187270" y="1403353"/>
                  <a:pt x="205166" y="1423038"/>
                </a:cubicBezTo>
                <a:cubicBezTo>
                  <a:pt x="230940" y="1451389"/>
                  <a:pt x="248874" y="1496804"/>
                  <a:pt x="286446" y="1504318"/>
                </a:cubicBezTo>
                <a:lnTo>
                  <a:pt x="337246" y="1514478"/>
                </a:lnTo>
                <a:cubicBezTo>
                  <a:pt x="451965" y="1501731"/>
                  <a:pt x="420282" y="1522882"/>
                  <a:pt x="509966" y="1433198"/>
                </a:cubicBezTo>
                <a:cubicBezTo>
                  <a:pt x="533852" y="1409312"/>
                  <a:pt x="605060" y="1322775"/>
                  <a:pt x="621726" y="1290958"/>
                </a:cubicBezTo>
                <a:cubicBezTo>
                  <a:pt x="661142" y="1215710"/>
                  <a:pt x="677496" y="1177153"/>
                  <a:pt x="692846" y="1108078"/>
                </a:cubicBezTo>
                <a:cubicBezTo>
                  <a:pt x="696592" y="1091221"/>
                  <a:pt x="700564" y="1074373"/>
                  <a:pt x="703006" y="1057278"/>
                </a:cubicBezTo>
                <a:cubicBezTo>
                  <a:pt x="710729" y="1003218"/>
                  <a:pt x="715603" y="948778"/>
                  <a:pt x="723326" y="894718"/>
                </a:cubicBezTo>
                <a:cubicBezTo>
                  <a:pt x="735001" y="812996"/>
                  <a:pt x="725913" y="846316"/>
                  <a:pt x="743646" y="793118"/>
                </a:cubicBezTo>
                <a:cubicBezTo>
                  <a:pt x="772610" y="590371"/>
                  <a:pt x="759944" y="711121"/>
                  <a:pt x="733486" y="305438"/>
                </a:cubicBezTo>
                <a:cubicBezTo>
                  <a:pt x="729951" y="251228"/>
                  <a:pt x="700241" y="196151"/>
                  <a:pt x="672526" y="153038"/>
                </a:cubicBezTo>
                <a:cubicBezTo>
                  <a:pt x="641158" y="104243"/>
                  <a:pt x="480695" y="11432"/>
                  <a:pt x="479486" y="10798"/>
                </a:cubicBezTo>
                <a:cubicBezTo>
                  <a:pt x="451586" y="-3816"/>
                  <a:pt x="394819" y="638"/>
                  <a:pt x="357566" y="638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8416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1C08-F088-44F3-A554-2C9BCDFF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Predict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B37C-7C75-41C8-821A-F09082E29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8737" y="1947683"/>
            <a:ext cx="2691581" cy="4554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Training Data</a:t>
            </a:r>
          </a:p>
        </p:txBody>
      </p:sp>
      <p:pic>
        <p:nvPicPr>
          <p:cNvPr id="2050" name="Picture 2" descr="By6Y9ht39imXAAAAAElFTkSuQmCC (482×357)">
            <a:extLst>
              <a:ext uri="{FF2B5EF4-FFF2-40B4-BE49-F238E27FC236}">
                <a16:creationId xmlns:a16="http://schemas.microsoft.com/office/drawing/2014/main" id="{DD123E85-49DA-44AE-B8DC-522426C0F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718" y="2446542"/>
            <a:ext cx="459105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8CF654-B655-4278-BCA2-A0592C74BE10}"/>
              </a:ext>
            </a:extLst>
          </p:cNvPr>
          <p:cNvSpPr/>
          <p:nvPr/>
        </p:nvSpPr>
        <p:spPr>
          <a:xfrm>
            <a:off x="8280061" y="2348132"/>
            <a:ext cx="2521668" cy="3559277"/>
          </a:xfrm>
          <a:prstGeom prst="rect">
            <a:avLst/>
          </a:prstGeom>
          <a:solidFill>
            <a:srgbClr val="FADECB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C41949-E3D7-956A-6608-150D83B8DE82}"/>
              </a:ext>
            </a:extLst>
          </p:cNvPr>
          <p:cNvCxnSpPr>
            <a:cxnSpLocks/>
          </p:cNvCxnSpPr>
          <p:nvPr/>
        </p:nvCxnSpPr>
        <p:spPr>
          <a:xfrm flipV="1">
            <a:off x="6658493" y="2446542"/>
            <a:ext cx="0" cy="313961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30D586-FE3F-DB99-D55C-F85424372C67}"/>
              </a:ext>
            </a:extLst>
          </p:cNvPr>
          <p:cNvCxnSpPr>
            <a:cxnSpLocks/>
          </p:cNvCxnSpPr>
          <p:nvPr/>
        </p:nvCxnSpPr>
        <p:spPr>
          <a:xfrm flipV="1">
            <a:off x="7459285" y="2446542"/>
            <a:ext cx="0" cy="3156237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8C82ABE-E9D5-1BCC-6C1D-44E2EE74A229}"/>
              </a:ext>
            </a:extLst>
          </p:cNvPr>
          <p:cNvSpPr txBox="1"/>
          <p:nvPr/>
        </p:nvSpPr>
        <p:spPr>
          <a:xfrm>
            <a:off x="838200" y="2204720"/>
            <a:ext cx="409941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X &lt; -1.6, then predicted Y is around 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X is between -1.6 and -0.7, then predicted Y is around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99B575E-AFCA-31D0-E004-C3ECB0B9F05E}"/>
              </a:ext>
            </a:extLst>
          </p:cNvPr>
          <p:cNvSpPr/>
          <p:nvPr/>
        </p:nvSpPr>
        <p:spPr>
          <a:xfrm>
            <a:off x="6624320" y="3482821"/>
            <a:ext cx="904309" cy="1485419"/>
          </a:xfrm>
          <a:custGeom>
            <a:avLst/>
            <a:gdLst>
              <a:gd name="connsiteX0" fmla="*/ 660400 w 904309"/>
              <a:gd name="connsiteY0" fmla="*/ 2059 h 1485419"/>
              <a:gd name="connsiteX1" fmla="*/ 802640 w 904309"/>
              <a:gd name="connsiteY1" fmla="*/ 12219 h 1485419"/>
              <a:gd name="connsiteX2" fmla="*/ 883920 w 904309"/>
              <a:gd name="connsiteY2" fmla="*/ 123979 h 1485419"/>
              <a:gd name="connsiteX3" fmla="*/ 894080 w 904309"/>
              <a:gd name="connsiteY3" fmla="*/ 195099 h 1485419"/>
              <a:gd name="connsiteX4" fmla="*/ 904240 w 904309"/>
              <a:gd name="connsiteY4" fmla="*/ 245899 h 1485419"/>
              <a:gd name="connsiteX5" fmla="*/ 853440 w 904309"/>
              <a:gd name="connsiteY5" fmla="*/ 510059 h 1485419"/>
              <a:gd name="connsiteX6" fmla="*/ 833120 w 904309"/>
              <a:gd name="connsiteY6" fmla="*/ 581179 h 1485419"/>
              <a:gd name="connsiteX7" fmla="*/ 822960 w 904309"/>
              <a:gd name="connsiteY7" fmla="*/ 652299 h 1485419"/>
              <a:gd name="connsiteX8" fmla="*/ 802640 w 904309"/>
              <a:gd name="connsiteY8" fmla="*/ 703099 h 1485419"/>
              <a:gd name="connsiteX9" fmla="*/ 731520 w 904309"/>
              <a:gd name="connsiteY9" fmla="*/ 916459 h 1485419"/>
              <a:gd name="connsiteX10" fmla="*/ 711200 w 904309"/>
              <a:gd name="connsiteY10" fmla="*/ 1119659 h 1485419"/>
              <a:gd name="connsiteX11" fmla="*/ 701040 w 904309"/>
              <a:gd name="connsiteY11" fmla="*/ 1160299 h 1485419"/>
              <a:gd name="connsiteX12" fmla="*/ 670560 w 904309"/>
              <a:gd name="connsiteY12" fmla="*/ 1221259 h 1485419"/>
              <a:gd name="connsiteX13" fmla="*/ 640080 w 904309"/>
              <a:gd name="connsiteY13" fmla="*/ 1434619 h 1485419"/>
              <a:gd name="connsiteX14" fmla="*/ 609600 w 904309"/>
              <a:gd name="connsiteY14" fmla="*/ 1444779 h 1485419"/>
              <a:gd name="connsiteX15" fmla="*/ 568960 w 904309"/>
              <a:gd name="connsiteY15" fmla="*/ 1454939 h 1485419"/>
              <a:gd name="connsiteX16" fmla="*/ 375920 w 904309"/>
              <a:gd name="connsiteY16" fmla="*/ 1485419 h 1485419"/>
              <a:gd name="connsiteX17" fmla="*/ 264160 w 904309"/>
              <a:gd name="connsiteY17" fmla="*/ 1444779 h 1485419"/>
              <a:gd name="connsiteX18" fmla="*/ 233680 w 904309"/>
              <a:gd name="connsiteY18" fmla="*/ 1393979 h 1485419"/>
              <a:gd name="connsiteX19" fmla="*/ 172720 w 904309"/>
              <a:gd name="connsiteY19" fmla="*/ 1322859 h 1485419"/>
              <a:gd name="connsiteX20" fmla="*/ 132080 w 904309"/>
              <a:gd name="connsiteY20" fmla="*/ 1241579 h 1485419"/>
              <a:gd name="connsiteX21" fmla="*/ 60960 w 904309"/>
              <a:gd name="connsiteY21" fmla="*/ 1119659 h 1485419"/>
              <a:gd name="connsiteX22" fmla="*/ 40640 w 904309"/>
              <a:gd name="connsiteY22" fmla="*/ 1058699 h 1485419"/>
              <a:gd name="connsiteX23" fmla="*/ 0 w 904309"/>
              <a:gd name="connsiteY23" fmla="*/ 957099 h 1485419"/>
              <a:gd name="connsiteX24" fmla="*/ 30480 w 904309"/>
              <a:gd name="connsiteY24" fmla="*/ 835179 h 1485419"/>
              <a:gd name="connsiteX25" fmla="*/ 71120 w 904309"/>
              <a:gd name="connsiteY25" fmla="*/ 753899 h 1485419"/>
              <a:gd name="connsiteX26" fmla="*/ 20320 w 904309"/>
              <a:gd name="connsiteY26" fmla="*/ 479579 h 1485419"/>
              <a:gd name="connsiteX27" fmla="*/ 40640 w 904309"/>
              <a:gd name="connsiteY27" fmla="*/ 428779 h 1485419"/>
              <a:gd name="connsiteX28" fmla="*/ 71120 w 904309"/>
              <a:gd name="connsiteY28" fmla="*/ 337339 h 1485419"/>
              <a:gd name="connsiteX29" fmla="*/ 101600 w 904309"/>
              <a:gd name="connsiteY29" fmla="*/ 266219 h 1485419"/>
              <a:gd name="connsiteX30" fmla="*/ 152400 w 904309"/>
              <a:gd name="connsiteY30" fmla="*/ 256059 h 1485419"/>
              <a:gd name="connsiteX31" fmla="*/ 182880 w 904309"/>
              <a:gd name="connsiteY31" fmla="*/ 184939 h 1485419"/>
              <a:gd name="connsiteX32" fmla="*/ 243840 w 904309"/>
              <a:gd name="connsiteY32" fmla="*/ 164619 h 1485419"/>
              <a:gd name="connsiteX33" fmla="*/ 345440 w 904309"/>
              <a:gd name="connsiteY33" fmla="*/ 93499 h 1485419"/>
              <a:gd name="connsiteX34" fmla="*/ 375920 w 904309"/>
              <a:gd name="connsiteY34" fmla="*/ 73179 h 1485419"/>
              <a:gd name="connsiteX35" fmla="*/ 497840 w 904309"/>
              <a:gd name="connsiteY35" fmla="*/ 42699 h 1485419"/>
              <a:gd name="connsiteX36" fmla="*/ 558800 w 904309"/>
              <a:gd name="connsiteY36" fmla="*/ 32539 h 1485419"/>
              <a:gd name="connsiteX37" fmla="*/ 660400 w 904309"/>
              <a:gd name="connsiteY37" fmla="*/ 2059 h 148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904309" h="1485419">
                <a:moveTo>
                  <a:pt x="660400" y="2059"/>
                </a:moveTo>
                <a:cubicBezTo>
                  <a:pt x="701040" y="-1328"/>
                  <a:pt x="757312" y="-2095"/>
                  <a:pt x="802640" y="12219"/>
                </a:cubicBezTo>
                <a:cubicBezTo>
                  <a:pt x="842341" y="24756"/>
                  <a:pt x="868500" y="93139"/>
                  <a:pt x="883920" y="123979"/>
                </a:cubicBezTo>
                <a:cubicBezTo>
                  <a:pt x="887307" y="147686"/>
                  <a:pt x="890143" y="171477"/>
                  <a:pt x="894080" y="195099"/>
                </a:cubicBezTo>
                <a:cubicBezTo>
                  <a:pt x="896919" y="212133"/>
                  <a:pt x="905148" y="228654"/>
                  <a:pt x="904240" y="245899"/>
                </a:cubicBezTo>
                <a:cubicBezTo>
                  <a:pt x="899348" y="338844"/>
                  <a:pt x="876860" y="421061"/>
                  <a:pt x="853440" y="510059"/>
                </a:cubicBezTo>
                <a:cubicBezTo>
                  <a:pt x="847165" y="533903"/>
                  <a:pt x="838286" y="557071"/>
                  <a:pt x="833120" y="581179"/>
                </a:cubicBezTo>
                <a:cubicBezTo>
                  <a:pt x="828102" y="604595"/>
                  <a:pt x="828768" y="629067"/>
                  <a:pt x="822960" y="652299"/>
                </a:cubicBezTo>
                <a:cubicBezTo>
                  <a:pt x="818537" y="669992"/>
                  <a:pt x="808945" y="685986"/>
                  <a:pt x="802640" y="703099"/>
                </a:cubicBezTo>
                <a:cubicBezTo>
                  <a:pt x="749994" y="845995"/>
                  <a:pt x="762514" y="807979"/>
                  <a:pt x="731520" y="916459"/>
                </a:cubicBezTo>
                <a:cubicBezTo>
                  <a:pt x="724501" y="1014730"/>
                  <a:pt x="727177" y="1039772"/>
                  <a:pt x="711200" y="1119659"/>
                </a:cubicBezTo>
                <a:cubicBezTo>
                  <a:pt x="708462" y="1133351"/>
                  <a:pt x="706541" y="1147464"/>
                  <a:pt x="701040" y="1160299"/>
                </a:cubicBezTo>
                <a:cubicBezTo>
                  <a:pt x="641954" y="1298167"/>
                  <a:pt x="713371" y="1092825"/>
                  <a:pt x="670560" y="1221259"/>
                </a:cubicBezTo>
                <a:cubicBezTo>
                  <a:pt x="660400" y="1292379"/>
                  <a:pt x="658983" y="1365308"/>
                  <a:pt x="640080" y="1434619"/>
                </a:cubicBezTo>
                <a:cubicBezTo>
                  <a:pt x="637262" y="1444951"/>
                  <a:pt x="619898" y="1441837"/>
                  <a:pt x="609600" y="1444779"/>
                </a:cubicBezTo>
                <a:cubicBezTo>
                  <a:pt x="596174" y="1448615"/>
                  <a:pt x="582717" y="1452546"/>
                  <a:pt x="568960" y="1454939"/>
                </a:cubicBezTo>
                <a:cubicBezTo>
                  <a:pt x="504780" y="1466101"/>
                  <a:pt x="440267" y="1475259"/>
                  <a:pt x="375920" y="1485419"/>
                </a:cubicBezTo>
                <a:cubicBezTo>
                  <a:pt x="361676" y="1481349"/>
                  <a:pt x="282968" y="1463587"/>
                  <a:pt x="264160" y="1444779"/>
                </a:cubicBezTo>
                <a:cubicBezTo>
                  <a:pt x="250196" y="1430815"/>
                  <a:pt x="245528" y="1409777"/>
                  <a:pt x="233680" y="1393979"/>
                </a:cubicBezTo>
                <a:cubicBezTo>
                  <a:pt x="214946" y="1369000"/>
                  <a:pt x="190040" y="1348839"/>
                  <a:pt x="172720" y="1322859"/>
                </a:cubicBezTo>
                <a:cubicBezTo>
                  <a:pt x="155917" y="1297655"/>
                  <a:pt x="146678" y="1268121"/>
                  <a:pt x="132080" y="1241579"/>
                </a:cubicBezTo>
                <a:cubicBezTo>
                  <a:pt x="109406" y="1200354"/>
                  <a:pt x="75838" y="1164294"/>
                  <a:pt x="60960" y="1119659"/>
                </a:cubicBezTo>
                <a:cubicBezTo>
                  <a:pt x="54187" y="1099339"/>
                  <a:pt x="48329" y="1078690"/>
                  <a:pt x="40640" y="1058699"/>
                </a:cubicBezTo>
                <a:cubicBezTo>
                  <a:pt x="-17191" y="908338"/>
                  <a:pt x="27921" y="1040863"/>
                  <a:pt x="0" y="957099"/>
                </a:cubicBezTo>
                <a:cubicBezTo>
                  <a:pt x="10160" y="916459"/>
                  <a:pt x="16641" y="874718"/>
                  <a:pt x="30480" y="835179"/>
                </a:cubicBezTo>
                <a:cubicBezTo>
                  <a:pt x="40487" y="806588"/>
                  <a:pt x="68704" y="784094"/>
                  <a:pt x="71120" y="753899"/>
                </a:cubicBezTo>
                <a:cubicBezTo>
                  <a:pt x="79099" y="654164"/>
                  <a:pt x="47678" y="570771"/>
                  <a:pt x="20320" y="479579"/>
                </a:cubicBezTo>
                <a:cubicBezTo>
                  <a:pt x="27093" y="462646"/>
                  <a:pt x="34506" y="445954"/>
                  <a:pt x="40640" y="428779"/>
                </a:cubicBezTo>
                <a:cubicBezTo>
                  <a:pt x="51446" y="398522"/>
                  <a:pt x="59839" y="367422"/>
                  <a:pt x="71120" y="337339"/>
                </a:cubicBezTo>
                <a:cubicBezTo>
                  <a:pt x="80176" y="313189"/>
                  <a:pt x="83362" y="284457"/>
                  <a:pt x="101600" y="266219"/>
                </a:cubicBezTo>
                <a:cubicBezTo>
                  <a:pt x="113811" y="254008"/>
                  <a:pt x="135467" y="259446"/>
                  <a:pt x="152400" y="256059"/>
                </a:cubicBezTo>
                <a:cubicBezTo>
                  <a:pt x="162560" y="232352"/>
                  <a:pt x="164642" y="203177"/>
                  <a:pt x="182880" y="184939"/>
                </a:cubicBezTo>
                <a:cubicBezTo>
                  <a:pt x="198026" y="169793"/>
                  <a:pt x="243840" y="164619"/>
                  <a:pt x="243840" y="164619"/>
                </a:cubicBezTo>
                <a:cubicBezTo>
                  <a:pt x="320947" y="102934"/>
                  <a:pt x="266131" y="143067"/>
                  <a:pt x="345440" y="93499"/>
                </a:cubicBezTo>
                <a:cubicBezTo>
                  <a:pt x="355795" y="87027"/>
                  <a:pt x="364336" y="77040"/>
                  <a:pt x="375920" y="73179"/>
                </a:cubicBezTo>
                <a:cubicBezTo>
                  <a:pt x="415661" y="59932"/>
                  <a:pt x="456519" y="49586"/>
                  <a:pt x="497840" y="42699"/>
                </a:cubicBezTo>
                <a:cubicBezTo>
                  <a:pt x="518160" y="39312"/>
                  <a:pt x="538815" y="37535"/>
                  <a:pt x="558800" y="32539"/>
                </a:cubicBezTo>
                <a:cubicBezTo>
                  <a:pt x="579580" y="27344"/>
                  <a:pt x="619760" y="5446"/>
                  <a:pt x="660400" y="2059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823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1C08-F088-44F3-A554-2C9BCDFF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Predict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B37C-7C75-41C8-821A-F09082E29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8737" y="1947683"/>
            <a:ext cx="2691581" cy="4554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Training Data</a:t>
            </a:r>
          </a:p>
        </p:txBody>
      </p:sp>
      <p:pic>
        <p:nvPicPr>
          <p:cNvPr id="2050" name="Picture 2" descr="By6Y9ht39imXAAAAAElFTkSuQmCC (482×357)">
            <a:extLst>
              <a:ext uri="{FF2B5EF4-FFF2-40B4-BE49-F238E27FC236}">
                <a16:creationId xmlns:a16="http://schemas.microsoft.com/office/drawing/2014/main" id="{DD123E85-49DA-44AE-B8DC-522426C0F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718" y="2446542"/>
            <a:ext cx="459105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8CF654-B655-4278-BCA2-A0592C74BE10}"/>
              </a:ext>
            </a:extLst>
          </p:cNvPr>
          <p:cNvSpPr/>
          <p:nvPr/>
        </p:nvSpPr>
        <p:spPr>
          <a:xfrm>
            <a:off x="8280061" y="2348132"/>
            <a:ext cx="2521668" cy="3559277"/>
          </a:xfrm>
          <a:prstGeom prst="rect">
            <a:avLst/>
          </a:prstGeom>
          <a:solidFill>
            <a:srgbClr val="FADECB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C41949-E3D7-956A-6608-150D83B8DE82}"/>
              </a:ext>
            </a:extLst>
          </p:cNvPr>
          <p:cNvCxnSpPr>
            <a:cxnSpLocks/>
          </p:cNvCxnSpPr>
          <p:nvPr/>
        </p:nvCxnSpPr>
        <p:spPr>
          <a:xfrm flipV="1">
            <a:off x="6658493" y="2446542"/>
            <a:ext cx="0" cy="313961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30D586-FE3F-DB99-D55C-F85424372C67}"/>
              </a:ext>
            </a:extLst>
          </p:cNvPr>
          <p:cNvCxnSpPr>
            <a:cxnSpLocks/>
          </p:cNvCxnSpPr>
          <p:nvPr/>
        </p:nvCxnSpPr>
        <p:spPr>
          <a:xfrm flipV="1">
            <a:off x="7459285" y="2446542"/>
            <a:ext cx="0" cy="3156237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8C82ABE-E9D5-1BCC-6C1D-44E2EE74A229}"/>
              </a:ext>
            </a:extLst>
          </p:cNvPr>
          <p:cNvSpPr txBox="1"/>
          <p:nvPr/>
        </p:nvSpPr>
        <p:spPr>
          <a:xfrm>
            <a:off x="838200" y="2204720"/>
            <a:ext cx="409941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X &lt; -1.6, then predicted Y is around 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X is between -1.6 and -0.7, then predicted Y is around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X is greater than -0.7, then predicted Y is around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D22E9D0-7F53-2819-29DC-43B16DDB89B5}"/>
              </a:ext>
            </a:extLst>
          </p:cNvPr>
          <p:cNvSpPr/>
          <p:nvPr/>
        </p:nvSpPr>
        <p:spPr>
          <a:xfrm>
            <a:off x="7345680" y="4307840"/>
            <a:ext cx="965200" cy="975360"/>
          </a:xfrm>
          <a:custGeom>
            <a:avLst/>
            <a:gdLst>
              <a:gd name="connsiteX0" fmla="*/ 223520 w 965200"/>
              <a:gd name="connsiteY0" fmla="*/ 101600 h 975360"/>
              <a:gd name="connsiteX1" fmla="*/ 162560 w 965200"/>
              <a:gd name="connsiteY1" fmla="*/ 203200 h 975360"/>
              <a:gd name="connsiteX2" fmla="*/ 101600 w 965200"/>
              <a:gd name="connsiteY2" fmla="*/ 314960 h 975360"/>
              <a:gd name="connsiteX3" fmla="*/ 91440 w 965200"/>
              <a:gd name="connsiteY3" fmla="*/ 375920 h 975360"/>
              <a:gd name="connsiteX4" fmla="*/ 60960 w 965200"/>
              <a:gd name="connsiteY4" fmla="*/ 426720 h 975360"/>
              <a:gd name="connsiteX5" fmla="*/ 20320 w 965200"/>
              <a:gd name="connsiteY5" fmla="*/ 497840 h 975360"/>
              <a:gd name="connsiteX6" fmla="*/ 0 w 965200"/>
              <a:gd name="connsiteY6" fmla="*/ 568960 h 975360"/>
              <a:gd name="connsiteX7" fmla="*/ 50800 w 965200"/>
              <a:gd name="connsiteY7" fmla="*/ 721360 h 975360"/>
              <a:gd name="connsiteX8" fmla="*/ 142240 w 965200"/>
              <a:gd name="connsiteY8" fmla="*/ 853440 h 975360"/>
              <a:gd name="connsiteX9" fmla="*/ 233680 w 965200"/>
              <a:gd name="connsiteY9" fmla="*/ 894080 h 975360"/>
              <a:gd name="connsiteX10" fmla="*/ 284480 w 965200"/>
              <a:gd name="connsiteY10" fmla="*/ 914400 h 975360"/>
              <a:gd name="connsiteX11" fmla="*/ 355600 w 965200"/>
              <a:gd name="connsiteY11" fmla="*/ 924560 h 975360"/>
              <a:gd name="connsiteX12" fmla="*/ 538480 w 965200"/>
              <a:gd name="connsiteY12" fmla="*/ 944880 h 975360"/>
              <a:gd name="connsiteX13" fmla="*/ 579120 w 965200"/>
              <a:gd name="connsiteY13" fmla="*/ 955040 h 975360"/>
              <a:gd name="connsiteX14" fmla="*/ 640080 w 965200"/>
              <a:gd name="connsiteY14" fmla="*/ 965200 h 975360"/>
              <a:gd name="connsiteX15" fmla="*/ 670560 w 965200"/>
              <a:gd name="connsiteY15" fmla="*/ 975360 h 975360"/>
              <a:gd name="connsiteX16" fmla="*/ 853440 w 965200"/>
              <a:gd name="connsiteY16" fmla="*/ 965200 h 975360"/>
              <a:gd name="connsiteX17" fmla="*/ 873760 w 965200"/>
              <a:gd name="connsiteY17" fmla="*/ 914400 h 975360"/>
              <a:gd name="connsiteX18" fmla="*/ 894080 w 965200"/>
              <a:gd name="connsiteY18" fmla="*/ 883920 h 975360"/>
              <a:gd name="connsiteX19" fmla="*/ 914400 w 965200"/>
              <a:gd name="connsiteY19" fmla="*/ 843280 h 975360"/>
              <a:gd name="connsiteX20" fmla="*/ 924560 w 965200"/>
              <a:gd name="connsiteY20" fmla="*/ 599440 h 975360"/>
              <a:gd name="connsiteX21" fmla="*/ 955040 w 965200"/>
              <a:gd name="connsiteY21" fmla="*/ 508000 h 975360"/>
              <a:gd name="connsiteX22" fmla="*/ 965200 w 965200"/>
              <a:gd name="connsiteY22" fmla="*/ 396240 h 975360"/>
              <a:gd name="connsiteX23" fmla="*/ 955040 w 965200"/>
              <a:gd name="connsiteY23" fmla="*/ 284480 h 975360"/>
              <a:gd name="connsiteX24" fmla="*/ 873760 w 965200"/>
              <a:gd name="connsiteY24" fmla="*/ 142240 h 975360"/>
              <a:gd name="connsiteX25" fmla="*/ 802640 w 965200"/>
              <a:gd name="connsiteY25" fmla="*/ 40640 h 975360"/>
              <a:gd name="connsiteX26" fmla="*/ 772160 w 965200"/>
              <a:gd name="connsiteY26" fmla="*/ 10160 h 975360"/>
              <a:gd name="connsiteX27" fmla="*/ 487680 w 965200"/>
              <a:gd name="connsiteY27" fmla="*/ 0 h 975360"/>
              <a:gd name="connsiteX28" fmla="*/ 284480 w 965200"/>
              <a:gd name="connsiteY28" fmla="*/ 20320 h 975360"/>
              <a:gd name="connsiteX29" fmla="*/ 254000 w 965200"/>
              <a:gd name="connsiteY29" fmla="*/ 30480 h 975360"/>
              <a:gd name="connsiteX30" fmla="*/ 223520 w 965200"/>
              <a:gd name="connsiteY30" fmla="*/ 101600 h 97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65200" h="975360">
                <a:moveTo>
                  <a:pt x="223520" y="101600"/>
                </a:moveTo>
                <a:cubicBezTo>
                  <a:pt x="208280" y="130387"/>
                  <a:pt x="177228" y="166530"/>
                  <a:pt x="162560" y="203200"/>
                </a:cubicBezTo>
                <a:cubicBezTo>
                  <a:pt x="133170" y="276675"/>
                  <a:pt x="152356" y="238825"/>
                  <a:pt x="101600" y="314960"/>
                </a:cubicBezTo>
                <a:cubicBezTo>
                  <a:pt x="98213" y="335280"/>
                  <a:pt x="98480" y="356560"/>
                  <a:pt x="91440" y="375920"/>
                </a:cubicBezTo>
                <a:cubicBezTo>
                  <a:pt x="84691" y="394479"/>
                  <a:pt x="71426" y="409974"/>
                  <a:pt x="60960" y="426720"/>
                </a:cubicBezTo>
                <a:cubicBezTo>
                  <a:pt x="43297" y="454981"/>
                  <a:pt x="32385" y="464661"/>
                  <a:pt x="20320" y="497840"/>
                </a:cubicBezTo>
                <a:cubicBezTo>
                  <a:pt x="11894" y="521011"/>
                  <a:pt x="6773" y="545253"/>
                  <a:pt x="0" y="568960"/>
                </a:cubicBezTo>
                <a:cubicBezTo>
                  <a:pt x="20262" y="660139"/>
                  <a:pt x="9984" y="648799"/>
                  <a:pt x="50800" y="721360"/>
                </a:cubicBezTo>
                <a:cubicBezTo>
                  <a:pt x="72711" y="760313"/>
                  <a:pt x="100728" y="822306"/>
                  <a:pt x="142240" y="853440"/>
                </a:cubicBezTo>
                <a:cubicBezTo>
                  <a:pt x="199329" y="896256"/>
                  <a:pt x="177902" y="875487"/>
                  <a:pt x="233680" y="894080"/>
                </a:cubicBezTo>
                <a:cubicBezTo>
                  <a:pt x="250982" y="899847"/>
                  <a:pt x="266787" y="909977"/>
                  <a:pt x="284480" y="914400"/>
                </a:cubicBezTo>
                <a:cubicBezTo>
                  <a:pt x="307712" y="920208"/>
                  <a:pt x="331978" y="920623"/>
                  <a:pt x="355600" y="924560"/>
                </a:cubicBezTo>
                <a:cubicBezTo>
                  <a:pt x="484650" y="946068"/>
                  <a:pt x="299811" y="926521"/>
                  <a:pt x="538480" y="944880"/>
                </a:cubicBezTo>
                <a:cubicBezTo>
                  <a:pt x="552027" y="948267"/>
                  <a:pt x="565428" y="952302"/>
                  <a:pt x="579120" y="955040"/>
                </a:cubicBezTo>
                <a:cubicBezTo>
                  <a:pt x="599320" y="959080"/>
                  <a:pt x="619970" y="960731"/>
                  <a:pt x="640080" y="965200"/>
                </a:cubicBezTo>
                <a:cubicBezTo>
                  <a:pt x="650535" y="967523"/>
                  <a:pt x="660400" y="971973"/>
                  <a:pt x="670560" y="975360"/>
                </a:cubicBezTo>
                <a:lnTo>
                  <a:pt x="853440" y="965200"/>
                </a:lnTo>
                <a:cubicBezTo>
                  <a:pt x="870909" y="959959"/>
                  <a:pt x="865604" y="930712"/>
                  <a:pt x="873760" y="914400"/>
                </a:cubicBezTo>
                <a:cubicBezTo>
                  <a:pt x="879221" y="903478"/>
                  <a:pt x="888022" y="894522"/>
                  <a:pt x="894080" y="883920"/>
                </a:cubicBezTo>
                <a:cubicBezTo>
                  <a:pt x="901594" y="870770"/>
                  <a:pt x="907627" y="856827"/>
                  <a:pt x="914400" y="843280"/>
                </a:cubicBezTo>
                <a:cubicBezTo>
                  <a:pt x="917787" y="762000"/>
                  <a:pt x="914771" y="680199"/>
                  <a:pt x="924560" y="599440"/>
                </a:cubicBezTo>
                <a:cubicBezTo>
                  <a:pt x="928426" y="567545"/>
                  <a:pt x="948739" y="539505"/>
                  <a:pt x="955040" y="508000"/>
                </a:cubicBezTo>
                <a:cubicBezTo>
                  <a:pt x="962376" y="471319"/>
                  <a:pt x="961813" y="433493"/>
                  <a:pt x="965200" y="396240"/>
                </a:cubicBezTo>
                <a:cubicBezTo>
                  <a:pt x="961813" y="358987"/>
                  <a:pt x="965316" y="320448"/>
                  <a:pt x="955040" y="284480"/>
                </a:cubicBezTo>
                <a:cubicBezTo>
                  <a:pt x="937079" y="221617"/>
                  <a:pt x="908886" y="189074"/>
                  <a:pt x="873760" y="142240"/>
                </a:cubicBezTo>
                <a:cubicBezTo>
                  <a:pt x="854412" y="84195"/>
                  <a:pt x="868572" y="113898"/>
                  <a:pt x="802640" y="40640"/>
                </a:cubicBezTo>
                <a:cubicBezTo>
                  <a:pt x="793028" y="29960"/>
                  <a:pt x="786410" y="11999"/>
                  <a:pt x="772160" y="10160"/>
                </a:cubicBezTo>
                <a:cubicBezTo>
                  <a:pt x="678053" y="-1983"/>
                  <a:pt x="582507" y="3387"/>
                  <a:pt x="487680" y="0"/>
                </a:cubicBezTo>
                <a:cubicBezTo>
                  <a:pt x="399039" y="5909"/>
                  <a:pt x="357734" y="2007"/>
                  <a:pt x="284480" y="20320"/>
                </a:cubicBezTo>
                <a:cubicBezTo>
                  <a:pt x="274090" y="22917"/>
                  <a:pt x="264160" y="27093"/>
                  <a:pt x="254000" y="30480"/>
                </a:cubicBezTo>
                <a:cubicBezTo>
                  <a:pt x="242325" y="65504"/>
                  <a:pt x="238760" y="72813"/>
                  <a:pt x="223520" y="10160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7736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1C08-F088-44F3-A554-2C9BCDFF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Predict on Unseen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B37C-7C75-41C8-821A-F09082E29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8737" y="1947683"/>
            <a:ext cx="2691581" cy="4554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Training Data</a:t>
            </a:r>
          </a:p>
        </p:txBody>
      </p:sp>
      <p:pic>
        <p:nvPicPr>
          <p:cNvPr id="2050" name="Picture 2" descr="By6Y9ht39imXAAAAAElFTkSuQmCC (482×357)">
            <a:extLst>
              <a:ext uri="{FF2B5EF4-FFF2-40B4-BE49-F238E27FC236}">
                <a16:creationId xmlns:a16="http://schemas.microsoft.com/office/drawing/2014/main" id="{DD123E85-49DA-44AE-B8DC-522426C0F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718" y="2446542"/>
            <a:ext cx="459105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C41949-E3D7-956A-6608-150D83B8DE82}"/>
              </a:ext>
            </a:extLst>
          </p:cNvPr>
          <p:cNvCxnSpPr>
            <a:cxnSpLocks/>
          </p:cNvCxnSpPr>
          <p:nvPr/>
        </p:nvCxnSpPr>
        <p:spPr>
          <a:xfrm flipV="1">
            <a:off x="6658493" y="2446542"/>
            <a:ext cx="0" cy="313961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30D586-FE3F-DB99-D55C-F85424372C67}"/>
              </a:ext>
            </a:extLst>
          </p:cNvPr>
          <p:cNvCxnSpPr>
            <a:cxnSpLocks/>
          </p:cNvCxnSpPr>
          <p:nvPr/>
        </p:nvCxnSpPr>
        <p:spPr>
          <a:xfrm flipV="1">
            <a:off x="7459285" y="2446542"/>
            <a:ext cx="0" cy="3156237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8C82ABE-E9D5-1BCC-6C1D-44E2EE74A229}"/>
              </a:ext>
            </a:extLst>
          </p:cNvPr>
          <p:cNvSpPr txBox="1"/>
          <p:nvPr/>
        </p:nvSpPr>
        <p:spPr>
          <a:xfrm>
            <a:off x="838200" y="2204720"/>
            <a:ext cx="40994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will be predicted for unseen data with X &gt; 0?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decision tree model learned that if the X value is greater than -0.7, then the prediction should be around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32981B2-95A9-7D4D-913E-9C1DE15FFF8C}"/>
              </a:ext>
            </a:extLst>
          </p:cNvPr>
          <p:cNvSpPr/>
          <p:nvPr/>
        </p:nvSpPr>
        <p:spPr>
          <a:xfrm>
            <a:off x="8158480" y="2743200"/>
            <a:ext cx="2428240" cy="2714563"/>
          </a:xfrm>
          <a:custGeom>
            <a:avLst/>
            <a:gdLst>
              <a:gd name="connsiteX0" fmla="*/ 91440 w 2428240"/>
              <a:gd name="connsiteY0" fmla="*/ 2692400 h 2714563"/>
              <a:gd name="connsiteX1" fmla="*/ 40640 w 2428240"/>
              <a:gd name="connsiteY1" fmla="*/ 2540000 h 2714563"/>
              <a:gd name="connsiteX2" fmla="*/ 0 w 2428240"/>
              <a:gd name="connsiteY2" fmla="*/ 2428240 h 2714563"/>
              <a:gd name="connsiteX3" fmla="*/ 40640 w 2428240"/>
              <a:gd name="connsiteY3" fmla="*/ 2225040 h 2714563"/>
              <a:gd name="connsiteX4" fmla="*/ 111760 w 2428240"/>
              <a:gd name="connsiteY4" fmla="*/ 2153920 h 2714563"/>
              <a:gd name="connsiteX5" fmla="*/ 152400 w 2428240"/>
              <a:gd name="connsiteY5" fmla="*/ 2082800 h 2714563"/>
              <a:gd name="connsiteX6" fmla="*/ 172720 w 2428240"/>
              <a:gd name="connsiteY6" fmla="*/ 1991360 h 2714563"/>
              <a:gd name="connsiteX7" fmla="*/ 294640 w 2428240"/>
              <a:gd name="connsiteY7" fmla="*/ 1767840 h 2714563"/>
              <a:gd name="connsiteX8" fmla="*/ 355600 w 2428240"/>
              <a:gd name="connsiteY8" fmla="*/ 1625600 h 2714563"/>
              <a:gd name="connsiteX9" fmla="*/ 406400 w 2428240"/>
              <a:gd name="connsiteY9" fmla="*/ 1524000 h 2714563"/>
              <a:gd name="connsiteX10" fmla="*/ 528320 w 2428240"/>
              <a:gd name="connsiteY10" fmla="*/ 1300480 h 2714563"/>
              <a:gd name="connsiteX11" fmla="*/ 568960 w 2428240"/>
              <a:gd name="connsiteY11" fmla="*/ 1229360 h 2714563"/>
              <a:gd name="connsiteX12" fmla="*/ 660400 w 2428240"/>
              <a:gd name="connsiteY12" fmla="*/ 1056640 h 2714563"/>
              <a:gd name="connsiteX13" fmla="*/ 822960 w 2428240"/>
              <a:gd name="connsiteY13" fmla="*/ 853440 h 2714563"/>
              <a:gd name="connsiteX14" fmla="*/ 1036320 w 2428240"/>
              <a:gd name="connsiteY14" fmla="*/ 650240 h 2714563"/>
              <a:gd name="connsiteX15" fmla="*/ 1127760 w 2428240"/>
              <a:gd name="connsiteY15" fmla="*/ 558800 h 2714563"/>
              <a:gd name="connsiteX16" fmla="*/ 1188720 w 2428240"/>
              <a:gd name="connsiteY16" fmla="*/ 497840 h 2714563"/>
              <a:gd name="connsiteX17" fmla="*/ 1493520 w 2428240"/>
              <a:gd name="connsiteY17" fmla="*/ 294640 h 2714563"/>
              <a:gd name="connsiteX18" fmla="*/ 1564640 w 2428240"/>
              <a:gd name="connsiteY18" fmla="*/ 274320 h 2714563"/>
              <a:gd name="connsiteX19" fmla="*/ 1889760 w 2428240"/>
              <a:gd name="connsiteY19" fmla="*/ 91440 h 2714563"/>
              <a:gd name="connsiteX20" fmla="*/ 1991360 w 2428240"/>
              <a:gd name="connsiteY20" fmla="*/ 40640 h 2714563"/>
              <a:gd name="connsiteX21" fmla="*/ 2153920 w 2428240"/>
              <a:gd name="connsiteY21" fmla="*/ 0 h 2714563"/>
              <a:gd name="connsiteX22" fmla="*/ 2397760 w 2428240"/>
              <a:gd name="connsiteY22" fmla="*/ 213360 h 2714563"/>
              <a:gd name="connsiteX23" fmla="*/ 2428240 w 2428240"/>
              <a:gd name="connsiteY23" fmla="*/ 314960 h 2714563"/>
              <a:gd name="connsiteX24" fmla="*/ 2387600 w 2428240"/>
              <a:gd name="connsiteY24" fmla="*/ 436880 h 2714563"/>
              <a:gd name="connsiteX25" fmla="*/ 2346960 w 2428240"/>
              <a:gd name="connsiteY25" fmla="*/ 548640 h 2714563"/>
              <a:gd name="connsiteX26" fmla="*/ 2286000 w 2428240"/>
              <a:gd name="connsiteY26" fmla="*/ 640080 h 2714563"/>
              <a:gd name="connsiteX27" fmla="*/ 2225040 w 2428240"/>
              <a:gd name="connsiteY27" fmla="*/ 762000 h 2714563"/>
              <a:gd name="connsiteX28" fmla="*/ 2082800 w 2428240"/>
              <a:gd name="connsiteY28" fmla="*/ 1117600 h 2714563"/>
              <a:gd name="connsiteX29" fmla="*/ 1971040 w 2428240"/>
              <a:gd name="connsiteY29" fmla="*/ 1412240 h 2714563"/>
              <a:gd name="connsiteX30" fmla="*/ 1869440 w 2428240"/>
              <a:gd name="connsiteY30" fmla="*/ 1605280 h 2714563"/>
              <a:gd name="connsiteX31" fmla="*/ 1737360 w 2428240"/>
              <a:gd name="connsiteY31" fmla="*/ 1889760 h 2714563"/>
              <a:gd name="connsiteX32" fmla="*/ 1706880 w 2428240"/>
              <a:gd name="connsiteY32" fmla="*/ 1991360 h 2714563"/>
              <a:gd name="connsiteX33" fmla="*/ 1696720 w 2428240"/>
              <a:gd name="connsiteY33" fmla="*/ 2113280 h 2714563"/>
              <a:gd name="connsiteX34" fmla="*/ 1676400 w 2428240"/>
              <a:gd name="connsiteY34" fmla="*/ 2143760 h 2714563"/>
              <a:gd name="connsiteX35" fmla="*/ 1666240 w 2428240"/>
              <a:gd name="connsiteY35" fmla="*/ 2174240 h 2714563"/>
              <a:gd name="connsiteX36" fmla="*/ 1645920 w 2428240"/>
              <a:gd name="connsiteY36" fmla="*/ 2286000 h 2714563"/>
              <a:gd name="connsiteX37" fmla="*/ 1605280 w 2428240"/>
              <a:gd name="connsiteY37" fmla="*/ 2346960 h 2714563"/>
              <a:gd name="connsiteX38" fmla="*/ 1483360 w 2428240"/>
              <a:gd name="connsiteY38" fmla="*/ 2479040 h 2714563"/>
              <a:gd name="connsiteX39" fmla="*/ 1452880 w 2428240"/>
              <a:gd name="connsiteY39" fmla="*/ 2499360 h 2714563"/>
              <a:gd name="connsiteX40" fmla="*/ 1412240 w 2428240"/>
              <a:gd name="connsiteY40" fmla="*/ 2550160 h 2714563"/>
              <a:gd name="connsiteX41" fmla="*/ 1371600 w 2428240"/>
              <a:gd name="connsiteY41" fmla="*/ 2570480 h 2714563"/>
              <a:gd name="connsiteX42" fmla="*/ 1290320 w 2428240"/>
              <a:gd name="connsiteY42" fmla="*/ 2631440 h 2714563"/>
              <a:gd name="connsiteX43" fmla="*/ 1188720 w 2428240"/>
              <a:gd name="connsiteY43" fmla="*/ 2651760 h 2714563"/>
              <a:gd name="connsiteX44" fmla="*/ 1076960 w 2428240"/>
              <a:gd name="connsiteY44" fmla="*/ 2682240 h 2714563"/>
              <a:gd name="connsiteX45" fmla="*/ 497840 w 2428240"/>
              <a:gd name="connsiteY45" fmla="*/ 2712720 h 2714563"/>
              <a:gd name="connsiteX46" fmla="*/ 91440 w 2428240"/>
              <a:gd name="connsiteY46" fmla="*/ 2692400 h 2714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2428240" h="2714563">
                <a:moveTo>
                  <a:pt x="91440" y="2692400"/>
                </a:moveTo>
                <a:cubicBezTo>
                  <a:pt x="15240" y="2663613"/>
                  <a:pt x="58156" y="2590602"/>
                  <a:pt x="40640" y="2540000"/>
                </a:cubicBezTo>
                <a:cubicBezTo>
                  <a:pt x="27673" y="2502541"/>
                  <a:pt x="0" y="2428240"/>
                  <a:pt x="0" y="2428240"/>
                </a:cubicBezTo>
                <a:cubicBezTo>
                  <a:pt x="7031" y="2371995"/>
                  <a:pt x="16311" y="2271266"/>
                  <a:pt x="40640" y="2225040"/>
                </a:cubicBezTo>
                <a:cubicBezTo>
                  <a:pt x="56255" y="2195372"/>
                  <a:pt x="91047" y="2180282"/>
                  <a:pt x="111760" y="2153920"/>
                </a:cubicBezTo>
                <a:cubicBezTo>
                  <a:pt x="128629" y="2132450"/>
                  <a:pt x="138853" y="2106507"/>
                  <a:pt x="152400" y="2082800"/>
                </a:cubicBezTo>
                <a:cubicBezTo>
                  <a:pt x="159173" y="2052320"/>
                  <a:pt x="160270" y="2019994"/>
                  <a:pt x="172720" y="1991360"/>
                </a:cubicBezTo>
                <a:cubicBezTo>
                  <a:pt x="290044" y="1721514"/>
                  <a:pt x="217921" y="1954157"/>
                  <a:pt x="294640" y="1767840"/>
                </a:cubicBezTo>
                <a:cubicBezTo>
                  <a:pt x="398059" y="1516681"/>
                  <a:pt x="267597" y="1790605"/>
                  <a:pt x="355600" y="1625600"/>
                </a:cubicBezTo>
                <a:cubicBezTo>
                  <a:pt x="373418" y="1592191"/>
                  <a:pt x="388636" y="1557438"/>
                  <a:pt x="406400" y="1524000"/>
                </a:cubicBezTo>
                <a:cubicBezTo>
                  <a:pt x="446217" y="1449050"/>
                  <a:pt x="487321" y="1374790"/>
                  <a:pt x="528320" y="1300480"/>
                </a:cubicBezTo>
                <a:cubicBezTo>
                  <a:pt x="541510" y="1276573"/>
                  <a:pt x="557661" y="1254217"/>
                  <a:pt x="568960" y="1229360"/>
                </a:cubicBezTo>
                <a:cubicBezTo>
                  <a:pt x="606281" y="1147254"/>
                  <a:pt x="611136" y="1120683"/>
                  <a:pt x="660400" y="1056640"/>
                </a:cubicBezTo>
                <a:cubicBezTo>
                  <a:pt x="713287" y="987887"/>
                  <a:pt x="758777" y="911788"/>
                  <a:pt x="822960" y="853440"/>
                </a:cubicBezTo>
                <a:cubicBezTo>
                  <a:pt x="864395" y="815772"/>
                  <a:pt x="999733" y="695973"/>
                  <a:pt x="1036320" y="650240"/>
                </a:cubicBezTo>
                <a:cubicBezTo>
                  <a:pt x="1112181" y="555413"/>
                  <a:pt x="1038352" y="640080"/>
                  <a:pt x="1127760" y="558800"/>
                </a:cubicBezTo>
                <a:cubicBezTo>
                  <a:pt x="1149024" y="539470"/>
                  <a:pt x="1166739" y="516350"/>
                  <a:pt x="1188720" y="497840"/>
                </a:cubicBezTo>
                <a:cubicBezTo>
                  <a:pt x="1287017" y="415063"/>
                  <a:pt x="1377215" y="352792"/>
                  <a:pt x="1493520" y="294640"/>
                </a:cubicBezTo>
                <a:cubicBezTo>
                  <a:pt x="1515572" y="283614"/>
                  <a:pt x="1540933" y="281093"/>
                  <a:pt x="1564640" y="274320"/>
                </a:cubicBezTo>
                <a:cubicBezTo>
                  <a:pt x="1930291" y="51750"/>
                  <a:pt x="1677140" y="192155"/>
                  <a:pt x="1889760" y="91440"/>
                </a:cubicBezTo>
                <a:cubicBezTo>
                  <a:pt x="1923979" y="75231"/>
                  <a:pt x="1956204" y="54702"/>
                  <a:pt x="1991360" y="40640"/>
                </a:cubicBezTo>
                <a:cubicBezTo>
                  <a:pt x="2060692" y="12907"/>
                  <a:pt x="2088379" y="10923"/>
                  <a:pt x="2153920" y="0"/>
                </a:cubicBezTo>
                <a:cubicBezTo>
                  <a:pt x="2294382" y="100330"/>
                  <a:pt x="2351948" y="91195"/>
                  <a:pt x="2397760" y="213360"/>
                </a:cubicBezTo>
                <a:cubicBezTo>
                  <a:pt x="2410175" y="246467"/>
                  <a:pt x="2418080" y="281093"/>
                  <a:pt x="2428240" y="314960"/>
                </a:cubicBezTo>
                <a:cubicBezTo>
                  <a:pt x="2410575" y="403287"/>
                  <a:pt x="2428538" y="331612"/>
                  <a:pt x="2387600" y="436880"/>
                </a:cubicBezTo>
                <a:cubicBezTo>
                  <a:pt x="2373233" y="473825"/>
                  <a:pt x="2364688" y="513185"/>
                  <a:pt x="2346960" y="548640"/>
                </a:cubicBezTo>
                <a:cubicBezTo>
                  <a:pt x="2330577" y="581405"/>
                  <a:pt x="2304175" y="608274"/>
                  <a:pt x="2286000" y="640080"/>
                </a:cubicBezTo>
                <a:cubicBezTo>
                  <a:pt x="2263457" y="679530"/>
                  <a:pt x="2243595" y="720524"/>
                  <a:pt x="2225040" y="762000"/>
                </a:cubicBezTo>
                <a:cubicBezTo>
                  <a:pt x="2026289" y="1206266"/>
                  <a:pt x="2168540" y="884877"/>
                  <a:pt x="2082800" y="1117600"/>
                </a:cubicBezTo>
                <a:cubicBezTo>
                  <a:pt x="2046487" y="1216165"/>
                  <a:pt x="2025083" y="1322168"/>
                  <a:pt x="1971040" y="1412240"/>
                </a:cubicBezTo>
                <a:cubicBezTo>
                  <a:pt x="1871946" y="1577397"/>
                  <a:pt x="1943833" y="1448228"/>
                  <a:pt x="1869440" y="1605280"/>
                </a:cubicBezTo>
                <a:cubicBezTo>
                  <a:pt x="1830105" y="1688321"/>
                  <a:pt x="1761259" y="1810098"/>
                  <a:pt x="1737360" y="1889760"/>
                </a:cubicBezTo>
                <a:lnTo>
                  <a:pt x="1706880" y="1991360"/>
                </a:lnTo>
                <a:cubicBezTo>
                  <a:pt x="1703493" y="2032000"/>
                  <a:pt x="1704718" y="2073291"/>
                  <a:pt x="1696720" y="2113280"/>
                </a:cubicBezTo>
                <a:cubicBezTo>
                  <a:pt x="1694325" y="2125254"/>
                  <a:pt x="1681861" y="2132838"/>
                  <a:pt x="1676400" y="2143760"/>
                </a:cubicBezTo>
                <a:cubicBezTo>
                  <a:pt x="1671611" y="2153339"/>
                  <a:pt x="1668484" y="2163768"/>
                  <a:pt x="1666240" y="2174240"/>
                </a:cubicBezTo>
                <a:cubicBezTo>
                  <a:pt x="1658306" y="2211264"/>
                  <a:pt x="1658522" y="2250295"/>
                  <a:pt x="1645920" y="2286000"/>
                </a:cubicBezTo>
                <a:cubicBezTo>
                  <a:pt x="1637792" y="2309029"/>
                  <a:pt x="1620170" y="2327603"/>
                  <a:pt x="1605280" y="2346960"/>
                </a:cubicBezTo>
                <a:cubicBezTo>
                  <a:pt x="1575839" y="2385233"/>
                  <a:pt x="1520177" y="2446314"/>
                  <a:pt x="1483360" y="2479040"/>
                </a:cubicBezTo>
                <a:cubicBezTo>
                  <a:pt x="1474234" y="2487152"/>
                  <a:pt x="1461514" y="2490726"/>
                  <a:pt x="1452880" y="2499360"/>
                </a:cubicBezTo>
                <a:cubicBezTo>
                  <a:pt x="1437546" y="2514694"/>
                  <a:pt x="1428560" y="2535880"/>
                  <a:pt x="1412240" y="2550160"/>
                </a:cubicBezTo>
                <a:cubicBezTo>
                  <a:pt x="1400842" y="2560133"/>
                  <a:pt x="1384202" y="2562079"/>
                  <a:pt x="1371600" y="2570480"/>
                </a:cubicBezTo>
                <a:cubicBezTo>
                  <a:pt x="1343421" y="2589266"/>
                  <a:pt x="1321268" y="2617685"/>
                  <a:pt x="1290320" y="2631440"/>
                </a:cubicBezTo>
                <a:cubicBezTo>
                  <a:pt x="1258759" y="2645467"/>
                  <a:pt x="1222318" y="2643760"/>
                  <a:pt x="1188720" y="2651760"/>
                </a:cubicBezTo>
                <a:cubicBezTo>
                  <a:pt x="1151156" y="2660704"/>
                  <a:pt x="1114762" y="2674365"/>
                  <a:pt x="1076960" y="2682240"/>
                </a:cubicBezTo>
                <a:cubicBezTo>
                  <a:pt x="883020" y="2722644"/>
                  <a:pt x="703459" y="2710181"/>
                  <a:pt x="497840" y="2712720"/>
                </a:cubicBezTo>
                <a:cubicBezTo>
                  <a:pt x="372543" y="2714267"/>
                  <a:pt x="167640" y="2721187"/>
                  <a:pt x="91440" y="269240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7134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E52D4-550E-4C42-A319-86B73A60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Decision Trees Tend to Overfit?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0C7A32-1B77-4D1D-A6B5-83CEADF85C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09016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Each additional split adds complexity</a:t>
                </a:r>
              </a:p>
              <a:p>
                <a:endParaRPr lang="en-US" dirty="0"/>
              </a:p>
              <a:p>
                <a:r>
                  <a:rPr lang="en-US" dirty="0"/>
                  <a:t>Similar to estimating more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s in linear regression</a:t>
                </a:r>
              </a:p>
              <a:p>
                <a:endParaRPr lang="en-US" dirty="0"/>
              </a:p>
              <a:p>
                <a:r>
                  <a:rPr lang="en-US" dirty="0"/>
                  <a:t>Biggest challenge is that as we have more leaves, the number of datapoints in each leaf will fall.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0C7A32-1B77-4D1D-A6B5-83CEADF85C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09016" cy="4351338"/>
              </a:xfrm>
              <a:blipFill>
                <a:blip r:embed="rId2"/>
                <a:stretch>
                  <a:fillRect l="-1567" t="-2241" r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0EFE97A5-DEA8-4654-A79B-7EC406EE1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581" y="1690688"/>
            <a:ext cx="404187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34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BF51B-318B-47C8-B5AE-01D441B53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Reduce/Prevent Over-fitting?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8230F5-4881-425C-97B7-0392AD7EE1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Regularize:</a:t>
                </a:r>
              </a:p>
              <a:p>
                <a:pPr lvl="1"/>
                <a:r>
                  <a:rPr lang="en-US" dirty="0"/>
                  <a:t>“Make regular” --- exert more control over the model building process 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Ordinary least squares</a:t>
                </a:r>
              </a:p>
              <a:p>
                <a:pPr lvl="2"/>
                <a:r>
                  <a:rPr lang="en-US" dirty="0"/>
                  <a:t>We changed the objective function to penalize big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s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Decision trees</a:t>
                </a:r>
              </a:p>
              <a:p>
                <a:pPr lvl="2"/>
                <a:r>
                  <a:rPr lang="en-US" dirty="0"/>
                  <a:t>Limit the growth of tree depth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8230F5-4881-425C-97B7-0392AD7EE1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234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44B35-62D8-4B7B-AD58-D17B5B8ED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Regularize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BB22B1-CF02-44EC-83CC-68AC74E7C0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Through specifying </a:t>
                </a:r>
                <a:r>
                  <a:rPr lang="en-US" b="1" i="1" dirty="0"/>
                  <a:t>hyperparameters</a:t>
                </a:r>
                <a:r>
                  <a:rPr lang="en-US" dirty="0"/>
                  <a:t> that exert that extra control over the model building process</a:t>
                </a:r>
              </a:p>
              <a:p>
                <a:endParaRPr lang="en-US" dirty="0"/>
              </a:p>
              <a:p>
                <a:r>
                  <a:rPr lang="en-US" dirty="0"/>
                  <a:t>Linear regression: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, lambda</a:t>
                </a:r>
              </a:p>
              <a:p>
                <a:pPr lvl="1"/>
                <a:r>
                  <a:rPr lang="en-US" dirty="0"/>
                  <a:t>Controls how much to penalize for big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s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r>
                  <a:rPr lang="en-US" dirty="0"/>
                  <a:t>Decision trees:</a:t>
                </a:r>
              </a:p>
              <a:p>
                <a:pPr lvl="1"/>
                <a:r>
                  <a:rPr lang="en-US" dirty="0"/>
                  <a:t>Maximum depth</a:t>
                </a:r>
              </a:p>
              <a:p>
                <a:pPr lvl="1"/>
                <a:r>
                  <a:rPr lang="en-US" dirty="0"/>
                  <a:t>Minimum number of data points in a node to make a split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BB22B1-CF02-44EC-83CC-68AC74E7C0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0141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E52D4-550E-4C42-A319-86B73A60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Tradeoff for 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C7A32-1B77-4D1D-A6B5-83CEADF85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09016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Setup: Run many models with different samples. Look at the predictions across models.</a:t>
            </a:r>
          </a:p>
          <a:p>
            <a:endParaRPr lang="en-US" dirty="0"/>
          </a:p>
          <a:p>
            <a:r>
              <a:rPr lang="en-US" dirty="0"/>
              <a:t>High bias: On average, the predictions are systematically different from the true values</a:t>
            </a:r>
          </a:p>
          <a:p>
            <a:endParaRPr lang="en-US" dirty="0"/>
          </a:p>
          <a:p>
            <a:r>
              <a:rPr lang="en-US" dirty="0"/>
              <a:t>High variance: On average, get very different predictions for the same data point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EFE97A5-DEA8-4654-A79B-7EC406EE1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581" y="1690688"/>
            <a:ext cx="404187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888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EE6AC-3A1C-4987-89B1-6530E284D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Tradeoff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135AA-AD39-47C0-8893-040870981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Source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BB11D2-1ABC-4E85-8C78-A43392A77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169" y="1623581"/>
            <a:ext cx="6142032" cy="486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86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626C-6016-4AFE-A3A3-82B8BA19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Random Forest</a:t>
            </a:r>
          </a:p>
        </p:txBody>
      </p:sp>
    </p:spTree>
    <p:extLst>
      <p:ext uri="{BB962C8B-B14F-4D97-AF65-F5344CB8AC3E}">
        <p14:creationId xmlns:p14="http://schemas.microsoft.com/office/powerpoint/2010/main" val="2015937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644FD-2A1B-4B49-98E6-89F21EC28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Variance via Ensemble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2CAD93-D4BE-48E2-AD2A-41C750C869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Combining models:</a:t>
                </a:r>
              </a:p>
              <a:p>
                <a:pPr lvl="1"/>
                <a:r>
                  <a:rPr lang="en-US" dirty="0"/>
                  <a:t>Often do better when compared to building single model</a:t>
                </a:r>
              </a:p>
              <a:p>
                <a:r>
                  <a:rPr lang="en-US" dirty="0"/>
                  <a:t>Idea:</a:t>
                </a:r>
              </a:p>
              <a:p>
                <a:pPr lvl="1"/>
                <a:r>
                  <a:rPr lang="en-US" dirty="0"/>
                  <a:t>Generate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models predicting an outcome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. Produce a final prediction by combining the models</a:t>
                </a:r>
              </a:p>
              <a:p>
                <a:pPr lvl="2"/>
                <a:r>
                  <a:rPr lang="en-US" dirty="0"/>
                  <a:t>Simplest way, just average them: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Slightly more complicated, weighted average: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b="0" dirty="0"/>
              </a:p>
              <a:p>
                <a:r>
                  <a:rPr lang="en-US" dirty="0"/>
                  <a:t>Upshot: Model averaging reduces variance</a:t>
                </a:r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2CAD93-D4BE-48E2-AD2A-41C750C869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8864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202-E0DF-40FE-B5F6-5AE467A69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on 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7A3A3-1092-473A-BE6F-6C3E8A9B1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illustration of the real power of machine learning</a:t>
            </a:r>
          </a:p>
          <a:p>
            <a:endParaRPr lang="en-US" dirty="0"/>
          </a:p>
          <a:p>
            <a:r>
              <a:rPr lang="en-US" dirty="0"/>
              <a:t>Smash a bunch of apparently “dumb” things together to get a very predictive model</a:t>
            </a:r>
          </a:p>
          <a:p>
            <a:endParaRPr lang="en-US" dirty="0"/>
          </a:p>
          <a:p>
            <a:r>
              <a:rPr lang="en-US" dirty="0"/>
              <a:t>In the process, we’ll move away from transparency</a:t>
            </a:r>
          </a:p>
          <a:p>
            <a:pPr lvl="1"/>
            <a:r>
              <a:rPr lang="en-US" dirty="0"/>
              <a:t>Random forest is hard to visualize </a:t>
            </a:r>
          </a:p>
        </p:txBody>
      </p:sp>
    </p:spTree>
    <p:extLst>
      <p:ext uri="{BB962C8B-B14F-4D97-AF65-F5344CB8AC3E}">
        <p14:creationId xmlns:p14="http://schemas.microsoft.com/office/powerpoint/2010/main" val="3084008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24619-2A21-4F8B-BAB7-B56286977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This Idea to 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315B7-6353-4769-BD68-847B8F859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many trees and average their predictions</a:t>
            </a:r>
          </a:p>
          <a:p>
            <a:endParaRPr lang="en-US" dirty="0"/>
          </a:p>
          <a:p>
            <a:r>
              <a:rPr lang="en-US" dirty="0"/>
              <a:t>BUT, we only have one dataset, so how do we prevent each tree from being identical?</a:t>
            </a:r>
          </a:p>
          <a:p>
            <a:endParaRPr lang="en-US" dirty="0"/>
          </a:p>
          <a:p>
            <a:r>
              <a:rPr lang="en-US" dirty="0"/>
              <a:t>Introduce some randomness</a:t>
            </a:r>
          </a:p>
        </p:txBody>
      </p:sp>
    </p:spTree>
    <p:extLst>
      <p:ext uri="{BB962C8B-B14F-4D97-AF65-F5344CB8AC3E}">
        <p14:creationId xmlns:p14="http://schemas.microsoft.com/office/powerpoint/2010/main" val="2419964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F546-9E6E-49B8-832F-A8400CF8E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Source</a:t>
            </a:r>
            <a:endParaRPr lang="en-US" dirty="0"/>
          </a:p>
        </p:txBody>
      </p:sp>
      <p:pic>
        <p:nvPicPr>
          <p:cNvPr id="3074" name="Picture 2" descr="Article">
            <a:extLst>
              <a:ext uri="{FF2B5EF4-FFF2-40B4-BE49-F238E27FC236}">
                <a16:creationId xmlns:a16="http://schemas.microsoft.com/office/drawing/2014/main" id="{ED4BA519-A66D-4289-9A50-D0BBA4D86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8" y="1835180"/>
            <a:ext cx="7058025" cy="478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4979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B511-D9C7-4736-BF14-7FD5633B6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8F449-A11F-4EE9-9DD6-F5D9B29E2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Randomness 1</a:t>
            </a:r>
          </a:p>
          <a:p>
            <a:pPr lvl="1"/>
            <a:r>
              <a:rPr lang="en-US" dirty="0"/>
              <a:t>When building each tree take a </a:t>
            </a:r>
            <a:r>
              <a:rPr lang="en-US" b="1" dirty="0"/>
              <a:t>bootstrap sample</a:t>
            </a:r>
            <a:r>
              <a:rPr lang="en-US" dirty="0"/>
              <a:t> of all datapoints</a:t>
            </a:r>
          </a:p>
          <a:p>
            <a:pPr lvl="2"/>
            <a:r>
              <a:rPr lang="en-US" dirty="0"/>
              <a:t>A bootstrap sample will be the same size as the original sample, but we are sampling with replacement.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Example:</a:t>
            </a:r>
          </a:p>
          <a:p>
            <a:pPr lvl="3"/>
            <a:r>
              <a:rPr lang="en-US" dirty="0"/>
              <a:t>[1, 4, 5, 7]</a:t>
            </a:r>
          </a:p>
          <a:p>
            <a:pPr lvl="3"/>
            <a:r>
              <a:rPr lang="en-US" dirty="0"/>
              <a:t>Bootstrap Sample 1: [1, 1, 5, 7]</a:t>
            </a:r>
          </a:p>
          <a:p>
            <a:pPr lvl="3"/>
            <a:r>
              <a:rPr lang="en-US" dirty="0"/>
              <a:t>Bootstrap Sample 2: [1, 4, 5, 7]</a:t>
            </a:r>
          </a:p>
          <a:p>
            <a:pPr lvl="3"/>
            <a:r>
              <a:rPr lang="en-US" dirty="0"/>
              <a:t>Bootstrap Sample 3: [1, 1, 1, 1]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563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3F928-181C-44CE-BC1B-13520F5BA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F747F-10EB-425B-A156-4832DD394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data points will show up more than once</a:t>
            </a:r>
          </a:p>
          <a:p>
            <a:r>
              <a:rPr lang="en-US" dirty="0"/>
              <a:t>On average, a data point will be in 2/3</a:t>
            </a:r>
            <a:r>
              <a:rPr lang="en-US" baseline="30000" dirty="0"/>
              <a:t>rd</a:t>
            </a:r>
            <a:r>
              <a:rPr lang="en-US" dirty="0"/>
              <a:t> of trees</a:t>
            </a:r>
          </a:p>
          <a:p>
            <a:r>
              <a:rPr lang="en-US" dirty="0"/>
              <a:t>Notice that there are datapoints that are not in a particular tree</a:t>
            </a:r>
          </a:p>
          <a:p>
            <a:pPr lvl="1"/>
            <a:r>
              <a:rPr lang="en-US" dirty="0"/>
              <a:t>These are called </a:t>
            </a:r>
            <a:r>
              <a:rPr lang="en-US" b="1" dirty="0"/>
              <a:t>Out of Bag (OOB)</a:t>
            </a:r>
          </a:p>
          <a:p>
            <a:r>
              <a:rPr lang="en-US" dirty="0"/>
              <a:t>You can use OOB data points to obtain out of sample performance estimates</a:t>
            </a:r>
          </a:p>
          <a:p>
            <a:pPr lvl="1"/>
            <a:r>
              <a:rPr lang="en-US" b="1" dirty="0"/>
              <a:t>Alternative to Cross-Validation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930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2A050-8A9E-45E1-8884-66EF6960C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Randomness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7DBCE-E99F-4FCB-96CC-99F08C6B8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each node sample some proportion of the features.</a:t>
            </a:r>
          </a:p>
          <a:p>
            <a:pPr lvl="1"/>
            <a:r>
              <a:rPr lang="en-US" dirty="0"/>
              <a:t>A commonly used proportion is the square root of the number of features, but you can treat this value as a hyperparameter</a:t>
            </a:r>
          </a:p>
          <a:p>
            <a:pPr lvl="1"/>
            <a:endParaRPr lang="en-US" dirty="0"/>
          </a:p>
          <a:p>
            <a:r>
              <a:rPr lang="en-US" dirty="0"/>
              <a:t>Upshot: You are not considering EACH FEATURE at EACH SPLIT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975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4DB0C-7FE7-4063-AB06-D0C3CC82F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375762-71D6-41DA-ABA1-68B30BDD00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Random Forest Algorithm</a:t>
                </a:r>
              </a:p>
              <a:p>
                <a:pPr lvl="1"/>
                <a:r>
                  <a:rPr lang="en-US" dirty="0"/>
                  <a:t>Start with outcome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and feature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rows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columns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For each of </a:t>
                </a:r>
                <a:r>
                  <a:rPr lang="en-US" b="1" dirty="0"/>
                  <a:t>T</a:t>
                </a:r>
                <a:r>
                  <a:rPr lang="en-US" dirty="0"/>
                  <a:t> trees</a:t>
                </a:r>
              </a:p>
              <a:p>
                <a:pPr lvl="2"/>
                <a:r>
                  <a:rPr lang="en-US" dirty="0"/>
                  <a:t>Generate a bootstrap sample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Build a decision tree with bootstrap sample</a:t>
                </a:r>
              </a:p>
              <a:p>
                <a:pPr lvl="3"/>
                <a:r>
                  <a:rPr lang="en-US" dirty="0"/>
                  <a:t>For each node in the tree,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column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To generate a prediction, take the average value across all trees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375762-71D6-41DA-ABA1-68B30BDD00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414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513D7-BF1C-4FE3-9013-F6D348935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Hyperparameters in 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A5E33-A84A-4374-AFB4-30B2886E6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Specific to Random Forest</a:t>
            </a:r>
          </a:p>
          <a:p>
            <a:pPr lvl="1"/>
            <a:r>
              <a:rPr lang="en-US" dirty="0"/>
              <a:t>Number of trees</a:t>
            </a:r>
          </a:p>
          <a:p>
            <a:pPr lvl="1"/>
            <a:r>
              <a:rPr lang="en-US" dirty="0"/>
              <a:t>Percentage of columns to sample for each node</a:t>
            </a:r>
          </a:p>
          <a:p>
            <a:endParaRPr lang="en-US" dirty="0"/>
          </a:p>
          <a:p>
            <a:r>
              <a:rPr lang="en-US" dirty="0"/>
              <a:t>Common with Decision Tree</a:t>
            </a:r>
          </a:p>
          <a:p>
            <a:pPr lvl="1"/>
            <a:r>
              <a:rPr lang="en-US" dirty="0"/>
              <a:t>Max depth for each tree</a:t>
            </a:r>
          </a:p>
          <a:p>
            <a:pPr lvl="1"/>
            <a:r>
              <a:rPr lang="en-US" dirty="0"/>
              <a:t>Minimum samples for splitting</a:t>
            </a:r>
          </a:p>
          <a:p>
            <a:pPr lvl="1"/>
            <a:r>
              <a:rPr lang="en-US" dirty="0"/>
              <a:t>Minimum samples in leaf</a:t>
            </a:r>
          </a:p>
          <a:p>
            <a:endParaRPr lang="en-US" dirty="0"/>
          </a:p>
          <a:p>
            <a:r>
              <a:rPr lang="en-US" dirty="0"/>
              <a:t>There are hyperparameters but these are the most commonly tuned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621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BEAA-157A-4021-AB38-B89F55A33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Decision Tree to Random Forest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41309F-C7C1-4D3E-AE8B-46AD0C4AF6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 = 450</a:t>
                </a:r>
              </a:p>
              <a:p>
                <a:r>
                  <a:rPr lang="en-US" dirty="0"/>
                  <a:t>Y = 1, 50</a:t>
                </a:r>
              </a:p>
              <a:p>
                <a:r>
                  <a:rPr lang="en-US" dirty="0"/>
                  <a:t>Base Rate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450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41309F-C7C1-4D3E-AE8B-46AD0C4AF6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E547C2B0-C991-40C8-91D2-4221F09BA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587" y="2043906"/>
            <a:ext cx="6810375" cy="391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754709-21D6-4034-BF6C-581011E411C0}"/>
                  </a:ext>
                </a:extLst>
              </p:cNvPr>
              <p:cNvSpPr txBox="1"/>
              <p:nvPr/>
            </p:nvSpPr>
            <p:spPr>
              <a:xfrm>
                <a:off x="7954774" y="6062846"/>
                <a:ext cx="568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754709-21D6-4034-BF6C-581011E41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774" y="6062846"/>
                <a:ext cx="5684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266545-00DA-4731-BF1F-31917FFF08C6}"/>
                  </a:ext>
                </a:extLst>
              </p:cNvPr>
              <p:cNvSpPr txBox="1"/>
              <p:nvPr/>
            </p:nvSpPr>
            <p:spPr>
              <a:xfrm>
                <a:off x="4006529" y="3757904"/>
                <a:ext cx="568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266545-00DA-4731-BF1F-31917FFF0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529" y="3757904"/>
                <a:ext cx="5684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3611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85FF0-6C9E-4B65-9F1E-965F77FF9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Stumps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7D79B-C497-4C09-B5EE-920A2A93A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Stumps are trees that only split once</a:t>
            </a:r>
          </a:p>
          <a:p>
            <a:endParaRPr lang="en-US" dirty="0"/>
          </a:p>
          <a:p>
            <a:r>
              <a:rPr lang="en-US" dirty="0"/>
              <a:t>Can’t model interactions</a:t>
            </a:r>
          </a:p>
          <a:p>
            <a:endParaRPr lang="en-US" dirty="0"/>
          </a:p>
          <a:p>
            <a:r>
              <a:rPr lang="en-US" dirty="0"/>
              <a:t>Compare a </a:t>
            </a:r>
            <a:r>
              <a:rPr lang="en-US" b="1" dirty="0"/>
              <a:t>decision stump</a:t>
            </a:r>
          </a:p>
          <a:p>
            <a:pPr marL="0" indent="0">
              <a:buNone/>
            </a:pPr>
            <a:r>
              <a:rPr lang="en-US" dirty="0"/>
              <a:t>With a </a:t>
            </a:r>
            <a:r>
              <a:rPr lang="en-US" b="1" dirty="0"/>
              <a:t>forest of stumps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C9947FB-7750-4E34-A31C-983FE10F0F44}"/>
              </a:ext>
            </a:extLst>
          </p:cNvPr>
          <p:cNvSpPr/>
          <p:nvPr/>
        </p:nvSpPr>
        <p:spPr>
          <a:xfrm>
            <a:off x="8279524" y="1781373"/>
            <a:ext cx="1245476" cy="12139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B7E1056-A749-48A2-8A16-7AF53A384660}"/>
              </a:ext>
            </a:extLst>
          </p:cNvPr>
          <p:cNvSpPr/>
          <p:nvPr/>
        </p:nvSpPr>
        <p:spPr>
          <a:xfrm>
            <a:off x="6450724" y="3851391"/>
            <a:ext cx="1245476" cy="12139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FE4C387-5BED-4759-8923-6D4BD84C919A}"/>
              </a:ext>
            </a:extLst>
          </p:cNvPr>
          <p:cNvSpPr/>
          <p:nvPr/>
        </p:nvSpPr>
        <p:spPr>
          <a:xfrm>
            <a:off x="10108324" y="3851390"/>
            <a:ext cx="1245476" cy="12139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1DBE29-48BA-4C9D-8379-D43E46534E0E}"/>
              </a:ext>
            </a:extLst>
          </p:cNvPr>
          <p:cNvCxnSpPr>
            <a:stCxn id="4" idx="5"/>
            <a:endCxn id="6" idx="1"/>
          </p:cNvCxnSpPr>
          <p:nvPr/>
        </p:nvCxnSpPr>
        <p:spPr>
          <a:xfrm>
            <a:off x="9342604" y="2817540"/>
            <a:ext cx="948116" cy="1211628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A26ADF-3F93-4D5B-84C3-B1AABD208D0B}"/>
              </a:ext>
            </a:extLst>
          </p:cNvPr>
          <p:cNvCxnSpPr>
            <a:cxnSpLocks/>
            <a:stCxn id="4" idx="3"/>
            <a:endCxn id="5" idx="7"/>
          </p:cNvCxnSpPr>
          <p:nvPr/>
        </p:nvCxnSpPr>
        <p:spPr>
          <a:xfrm flipH="1">
            <a:off x="7513804" y="2817540"/>
            <a:ext cx="948116" cy="1211629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591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92C0-655A-43E0-B795-146BA4A33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Under-fitting with a Decision Stump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56DD8CF-C6DB-4FEC-901F-EB3A491CB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900" y="2018027"/>
            <a:ext cx="5410200" cy="391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593F2B-3680-4E8A-827D-98FA4AA4F430}"/>
                  </a:ext>
                </a:extLst>
              </p:cNvPr>
              <p:cNvSpPr txBox="1"/>
              <p:nvPr/>
            </p:nvSpPr>
            <p:spPr>
              <a:xfrm>
                <a:off x="5706522" y="6062846"/>
                <a:ext cx="568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593F2B-3680-4E8A-827D-98FA4AA4F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522" y="6062846"/>
                <a:ext cx="5684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158FC6-ACAA-485A-B623-204677DF65B4}"/>
                  </a:ext>
                </a:extLst>
              </p:cNvPr>
              <p:cNvSpPr txBox="1"/>
              <p:nvPr/>
            </p:nvSpPr>
            <p:spPr>
              <a:xfrm>
                <a:off x="2991460" y="3674014"/>
                <a:ext cx="568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158FC6-ACAA-485A-B623-204677DF6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460" y="3674014"/>
                <a:ext cx="5684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036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85FF0-6C9E-4B65-9F1E-965F77FF9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Stump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C9947FB-7750-4E34-A31C-983FE10F0F44}"/>
                  </a:ext>
                </a:extLst>
              </p:cNvPr>
              <p:cNvSpPr/>
              <p:nvPr/>
            </p:nvSpPr>
            <p:spPr>
              <a:xfrm>
                <a:off x="5058147" y="2058210"/>
                <a:ext cx="1703379" cy="121394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&gt;2.5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C9947FB-7750-4E34-A31C-983FE10F0F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147" y="2058210"/>
                <a:ext cx="1703379" cy="121394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B7E1056-A749-48A2-8A16-7AF53A384660}"/>
                  </a:ext>
                </a:extLst>
              </p:cNvPr>
              <p:cNvSpPr/>
              <p:nvPr/>
            </p:nvSpPr>
            <p:spPr>
              <a:xfrm>
                <a:off x="3413906" y="4128228"/>
                <a:ext cx="1376208" cy="1213945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=.16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B7E1056-A749-48A2-8A16-7AF53A3846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906" y="4128228"/>
                <a:ext cx="1376208" cy="121394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FE4C387-5BED-4759-8923-6D4BD84C919A}"/>
                  </a:ext>
                </a:extLst>
              </p:cNvPr>
              <p:cNvSpPr/>
              <p:nvPr/>
            </p:nvSpPr>
            <p:spPr>
              <a:xfrm>
                <a:off x="7038363" y="4128227"/>
                <a:ext cx="1245476" cy="1213945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FE4C387-5BED-4759-8923-6D4BD84C91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363" y="4128227"/>
                <a:ext cx="1245476" cy="121394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1DBE29-48BA-4C9D-8379-D43E46534E0E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6512072" y="3094377"/>
            <a:ext cx="708687" cy="1211628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A26ADF-3F93-4D5B-84C3-B1AABD208D0B}"/>
              </a:ext>
            </a:extLst>
          </p:cNvPr>
          <p:cNvCxnSpPr>
            <a:cxnSpLocks/>
            <a:stCxn id="4" idx="3"/>
            <a:endCxn id="5" idx="7"/>
          </p:cNvCxnSpPr>
          <p:nvPr/>
        </p:nvCxnSpPr>
        <p:spPr>
          <a:xfrm flipH="1">
            <a:off x="4588573" y="3094377"/>
            <a:ext cx="719028" cy="1211629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200AF06-65F5-4BD4-8A2F-20E0B6395B38}"/>
              </a:ext>
            </a:extLst>
          </p:cNvPr>
          <p:cNvSpPr txBox="1"/>
          <p:nvPr/>
        </p:nvSpPr>
        <p:spPr>
          <a:xfrm>
            <a:off x="7038363" y="3272155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False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3ACB37-427B-4E82-A6E2-DA4E6C73615D}"/>
              </a:ext>
            </a:extLst>
          </p:cNvPr>
          <p:cNvSpPr txBox="1"/>
          <p:nvPr/>
        </p:nvSpPr>
        <p:spPr>
          <a:xfrm>
            <a:off x="4196655" y="3240813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761621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BEAA-157A-4021-AB38-B89F55A33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846"/>
            <a:ext cx="10515600" cy="1325563"/>
          </a:xfrm>
        </p:spPr>
        <p:txBody>
          <a:bodyPr/>
          <a:lstStyle/>
          <a:p>
            <a:r>
              <a:rPr lang="en-US" dirty="0"/>
              <a:t>Average Underfit Stumps w/ Random Forest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47C2B0-C991-40C8-91D2-4221F09BA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43" y="1918071"/>
            <a:ext cx="6810375" cy="391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9787C9-B169-4F8C-B162-A6A3770A7203}"/>
              </a:ext>
            </a:extLst>
          </p:cNvPr>
          <p:cNvCxnSpPr/>
          <p:nvPr/>
        </p:nvCxnSpPr>
        <p:spPr>
          <a:xfrm>
            <a:off x="5134062" y="2063692"/>
            <a:ext cx="0" cy="339754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15DD20-8B6A-444A-B53E-81017F4AB498}"/>
              </a:ext>
            </a:extLst>
          </p:cNvPr>
          <p:cNvCxnSpPr/>
          <p:nvPr/>
        </p:nvCxnSpPr>
        <p:spPr>
          <a:xfrm>
            <a:off x="6830036" y="2063692"/>
            <a:ext cx="0" cy="339754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611F58-EEFC-4001-80CB-4781B0CCC696}"/>
              </a:ext>
            </a:extLst>
          </p:cNvPr>
          <p:cNvCxnSpPr>
            <a:cxnSpLocks/>
          </p:cNvCxnSpPr>
          <p:nvPr/>
        </p:nvCxnSpPr>
        <p:spPr>
          <a:xfrm flipH="1">
            <a:off x="3112315" y="4429387"/>
            <a:ext cx="5872295" cy="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CC8E9D-E3FC-4738-B4D6-027FDBA567FD}"/>
              </a:ext>
            </a:extLst>
          </p:cNvPr>
          <p:cNvCxnSpPr>
            <a:cxnSpLocks/>
          </p:cNvCxnSpPr>
          <p:nvPr/>
        </p:nvCxnSpPr>
        <p:spPr>
          <a:xfrm flipH="1">
            <a:off x="3031222" y="3483137"/>
            <a:ext cx="5953388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985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807DE4-638C-4101-AA24-D191D549B416}"/>
              </a:ext>
            </a:extLst>
          </p:cNvPr>
          <p:cNvSpPr/>
          <p:nvPr/>
        </p:nvSpPr>
        <p:spPr>
          <a:xfrm>
            <a:off x="3113314" y="618332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1A3DBD-92C7-43BD-B82E-52BA0A15FA9D}"/>
              </a:ext>
            </a:extLst>
          </p:cNvPr>
          <p:cNvSpPr/>
          <p:nvPr/>
        </p:nvSpPr>
        <p:spPr>
          <a:xfrm>
            <a:off x="5018314" y="618332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829A1-765F-4922-8380-14305B748A14}"/>
              </a:ext>
            </a:extLst>
          </p:cNvPr>
          <p:cNvSpPr/>
          <p:nvPr/>
        </p:nvSpPr>
        <p:spPr>
          <a:xfrm>
            <a:off x="6923314" y="618331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4EBF0E-4414-4FF1-A98F-24457028608C}"/>
              </a:ext>
            </a:extLst>
          </p:cNvPr>
          <p:cNvSpPr/>
          <p:nvPr/>
        </p:nvSpPr>
        <p:spPr>
          <a:xfrm>
            <a:off x="3113314" y="2514600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533D58-AE72-4A6C-B363-EDDA3C9594A2}"/>
              </a:ext>
            </a:extLst>
          </p:cNvPr>
          <p:cNvSpPr/>
          <p:nvPr/>
        </p:nvSpPr>
        <p:spPr>
          <a:xfrm>
            <a:off x="5018314" y="2514600"/>
            <a:ext cx="1828800" cy="18288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9A15D0-30F5-43B0-9058-897E10CD5305}"/>
              </a:ext>
            </a:extLst>
          </p:cNvPr>
          <p:cNvSpPr/>
          <p:nvPr/>
        </p:nvSpPr>
        <p:spPr>
          <a:xfrm>
            <a:off x="6923314" y="2514600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3B240F-51A4-4E0D-B3A0-2FD0857A26B1}"/>
              </a:ext>
            </a:extLst>
          </p:cNvPr>
          <p:cNvSpPr/>
          <p:nvPr/>
        </p:nvSpPr>
        <p:spPr>
          <a:xfrm>
            <a:off x="3113314" y="4405530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9F250-4BBD-4D59-9880-79121F29B27D}"/>
              </a:ext>
            </a:extLst>
          </p:cNvPr>
          <p:cNvSpPr/>
          <p:nvPr/>
        </p:nvSpPr>
        <p:spPr>
          <a:xfrm>
            <a:off x="5018314" y="4405530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B56D23-BE70-47B1-B692-6800A44F364A}"/>
              </a:ext>
            </a:extLst>
          </p:cNvPr>
          <p:cNvSpPr/>
          <p:nvPr/>
        </p:nvSpPr>
        <p:spPr>
          <a:xfrm>
            <a:off x="6923314" y="4405530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ECEB2C-2635-4986-9468-9EF56D7AFFCF}"/>
              </a:ext>
            </a:extLst>
          </p:cNvPr>
          <p:cNvSpPr txBox="1"/>
          <p:nvPr/>
        </p:nvSpPr>
        <p:spPr>
          <a:xfrm flipH="1">
            <a:off x="2411414" y="2324596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44E8F3-E347-4B27-A6B1-89923E5C3A60}"/>
              </a:ext>
            </a:extLst>
          </p:cNvPr>
          <p:cNvSpPr txBox="1"/>
          <p:nvPr/>
        </p:nvSpPr>
        <p:spPr>
          <a:xfrm flipH="1">
            <a:off x="2411414" y="4164073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9AD3BC-E6A7-4524-9A10-6D1F52656274}"/>
              </a:ext>
            </a:extLst>
          </p:cNvPr>
          <p:cNvSpPr txBox="1"/>
          <p:nvPr/>
        </p:nvSpPr>
        <p:spPr>
          <a:xfrm flipH="1">
            <a:off x="4753340" y="6234330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520743-8D17-4411-85EA-5645867ED360}"/>
              </a:ext>
            </a:extLst>
          </p:cNvPr>
          <p:cNvSpPr txBox="1"/>
          <p:nvPr/>
        </p:nvSpPr>
        <p:spPr>
          <a:xfrm flipH="1">
            <a:off x="6626481" y="6228038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7.5</a:t>
            </a:r>
          </a:p>
        </p:txBody>
      </p:sp>
    </p:spTree>
    <p:extLst>
      <p:ext uri="{BB962C8B-B14F-4D97-AF65-F5344CB8AC3E}">
        <p14:creationId xmlns:p14="http://schemas.microsoft.com/office/powerpoint/2010/main" val="1354715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CE3D845-F5D5-4758-AD96-328B40960504}"/>
              </a:ext>
            </a:extLst>
          </p:cNvPr>
          <p:cNvGrpSpPr/>
          <p:nvPr/>
        </p:nvGrpSpPr>
        <p:grpSpPr>
          <a:xfrm>
            <a:off x="185804" y="618331"/>
            <a:ext cx="6340700" cy="5985331"/>
            <a:chOff x="2411414" y="618331"/>
            <a:chExt cx="6340700" cy="598533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0807DE4-638C-4101-AA24-D191D549B416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01A3DBD-92C7-43BD-B82E-52BA0A15FA9D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A9829A1-765F-4922-8380-14305B748A14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4EBF0E-4414-4FF1-A98F-24457028608C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533D58-AE72-4A6C-B363-EDDA3C9594A2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19A15D0-30F5-43B0-9058-897E10CD5305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3B240F-51A4-4E0D-B3A0-2FD0857A26B1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4C9F250-4BBD-4D59-9880-79121F29B27D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1B56D23-BE70-47B1-B692-6800A44F364A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D1DF45B-42CB-4EFA-9A1E-D45CDE2D56D1}"/>
                </a:ext>
              </a:extLst>
            </p:cNvPr>
            <p:cNvSpPr txBox="1"/>
            <p:nvPr/>
          </p:nvSpPr>
          <p:spPr>
            <a:xfrm flipH="1">
              <a:off x="2411414" y="2324596"/>
              <a:ext cx="701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7.5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69DAA9-B2EE-4FD8-9236-2461C6C37E58}"/>
                </a:ext>
              </a:extLst>
            </p:cNvPr>
            <p:cNvSpPr txBox="1"/>
            <p:nvPr/>
          </p:nvSpPr>
          <p:spPr>
            <a:xfrm flipH="1">
              <a:off x="2411414" y="4164073"/>
              <a:ext cx="701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20E044C-0D87-4894-BB2D-CBCB6F3430C0}"/>
                </a:ext>
              </a:extLst>
            </p:cNvPr>
            <p:cNvSpPr txBox="1"/>
            <p:nvPr/>
          </p:nvSpPr>
          <p:spPr>
            <a:xfrm flipH="1">
              <a:off x="4753340" y="6234330"/>
              <a:ext cx="701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9AA1F49-6FDC-4484-AFB0-8ABB48F8C9BA}"/>
                </a:ext>
              </a:extLst>
            </p:cNvPr>
            <p:cNvSpPr txBox="1"/>
            <p:nvPr/>
          </p:nvSpPr>
          <p:spPr>
            <a:xfrm flipH="1">
              <a:off x="6626481" y="6228038"/>
              <a:ext cx="701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7.5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0C4D35-8A7F-49B3-A761-37199BA69392}"/>
                  </a:ext>
                </a:extLst>
              </p:cNvPr>
              <p:cNvSpPr/>
              <p:nvPr/>
            </p:nvSpPr>
            <p:spPr>
              <a:xfrm>
                <a:off x="8707115" y="2058210"/>
                <a:ext cx="1703379" cy="121394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&gt;2.5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0C4D35-8A7F-49B3-A761-37199BA693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115" y="2058210"/>
                <a:ext cx="1703379" cy="121394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5BA2CC1-FF17-4493-9C5A-CF2AAED3D04D}"/>
                  </a:ext>
                </a:extLst>
              </p:cNvPr>
              <p:cNvSpPr/>
              <p:nvPr/>
            </p:nvSpPr>
            <p:spPr>
              <a:xfrm>
                <a:off x="7062874" y="4128228"/>
                <a:ext cx="1376208" cy="1213945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=.16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5BA2CC1-FF17-4493-9C5A-CF2AAED3D0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874" y="4128228"/>
                <a:ext cx="1376208" cy="121394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A663A71-DF03-4C0D-AB09-C02C380DDAEF}"/>
                  </a:ext>
                </a:extLst>
              </p:cNvPr>
              <p:cNvSpPr/>
              <p:nvPr/>
            </p:nvSpPr>
            <p:spPr>
              <a:xfrm>
                <a:off x="10687331" y="4128227"/>
                <a:ext cx="1245476" cy="1213945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A663A71-DF03-4C0D-AB09-C02C380DDA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331" y="4128227"/>
                <a:ext cx="1245476" cy="121394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EAC3178-4657-4C3D-ACF5-9BC0AFEED4A8}"/>
              </a:ext>
            </a:extLst>
          </p:cNvPr>
          <p:cNvCxnSpPr>
            <a:cxnSpLocks/>
            <a:stCxn id="18" idx="5"/>
            <a:endCxn id="20" idx="1"/>
          </p:cNvCxnSpPr>
          <p:nvPr/>
        </p:nvCxnSpPr>
        <p:spPr>
          <a:xfrm>
            <a:off x="10161040" y="3094377"/>
            <a:ext cx="708687" cy="1211628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E95162-3964-4CDB-8658-03A9E6899E9C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8237541" y="3094377"/>
            <a:ext cx="719028" cy="1211629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25800C9-E71C-441F-B04C-D942A8037DE8}"/>
              </a:ext>
            </a:extLst>
          </p:cNvPr>
          <p:cNvSpPr txBox="1"/>
          <p:nvPr/>
        </p:nvSpPr>
        <p:spPr>
          <a:xfrm>
            <a:off x="10687331" y="3272155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False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2E8C2E-5E68-41E2-BE76-D757C5B78547}"/>
              </a:ext>
            </a:extLst>
          </p:cNvPr>
          <p:cNvSpPr txBox="1"/>
          <p:nvPr/>
        </p:nvSpPr>
        <p:spPr>
          <a:xfrm>
            <a:off x="7845623" y="3240813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363016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9A43D27-696E-4AE8-AB69-787765EF552C}"/>
              </a:ext>
            </a:extLst>
          </p:cNvPr>
          <p:cNvGrpSpPr/>
          <p:nvPr/>
        </p:nvGrpSpPr>
        <p:grpSpPr>
          <a:xfrm>
            <a:off x="228938" y="618331"/>
            <a:ext cx="6340700" cy="5985331"/>
            <a:chOff x="2411414" y="618331"/>
            <a:chExt cx="6340700" cy="598533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0807DE4-638C-4101-AA24-D191D549B416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01A3DBD-92C7-43BD-B82E-52BA0A15FA9D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A9829A1-765F-4922-8380-14305B748A14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4EBF0E-4414-4FF1-A98F-24457028608C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533D58-AE72-4A6C-B363-EDDA3C9594A2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19A15D0-30F5-43B0-9058-897E10CD5305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3B240F-51A4-4E0D-B3A0-2FD0857A26B1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4C9F250-4BBD-4D59-9880-79121F29B27D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1B56D23-BE70-47B1-B692-6800A44F364A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B4F85B7-AFD9-401A-BF58-AE0F1D9CDE20}"/>
                </a:ext>
              </a:extLst>
            </p:cNvPr>
            <p:cNvSpPr txBox="1"/>
            <p:nvPr/>
          </p:nvSpPr>
          <p:spPr>
            <a:xfrm flipH="1">
              <a:off x="2411414" y="2324596"/>
              <a:ext cx="701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7.5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58F8705-69D4-4F72-8A88-6BF5E8C2C3E5}"/>
                </a:ext>
              </a:extLst>
            </p:cNvPr>
            <p:cNvSpPr txBox="1"/>
            <p:nvPr/>
          </p:nvSpPr>
          <p:spPr>
            <a:xfrm flipH="1">
              <a:off x="2411414" y="4164073"/>
              <a:ext cx="701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9A18B5-7C98-4474-906C-A440A5CB1023}"/>
                </a:ext>
              </a:extLst>
            </p:cNvPr>
            <p:cNvSpPr txBox="1"/>
            <p:nvPr/>
          </p:nvSpPr>
          <p:spPr>
            <a:xfrm flipH="1">
              <a:off x="4753340" y="6234330"/>
              <a:ext cx="701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46936F-45D7-476B-BAD3-4D89ED0AAEA1}"/>
                </a:ext>
              </a:extLst>
            </p:cNvPr>
            <p:cNvSpPr txBox="1"/>
            <p:nvPr/>
          </p:nvSpPr>
          <p:spPr>
            <a:xfrm flipH="1">
              <a:off x="6626481" y="6228038"/>
              <a:ext cx="701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7.5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C7E21D-7609-4A07-9D2A-8435E6351640}"/>
                  </a:ext>
                </a:extLst>
              </p:cNvPr>
              <p:cNvSpPr/>
              <p:nvPr/>
            </p:nvSpPr>
            <p:spPr>
              <a:xfrm>
                <a:off x="8560465" y="2058210"/>
                <a:ext cx="1703379" cy="121394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&lt;7.5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C7E21D-7609-4A07-9D2A-8435E63516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465" y="2058210"/>
                <a:ext cx="1703379" cy="121394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708021D-9984-4B3D-8251-7429A99C8342}"/>
                  </a:ext>
                </a:extLst>
              </p:cNvPr>
              <p:cNvSpPr/>
              <p:nvPr/>
            </p:nvSpPr>
            <p:spPr>
              <a:xfrm>
                <a:off x="6916224" y="4128228"/>
                <a:ext cx="1376208" cy="1213945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=.16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708021D-9984-4B3D-8251-7429A99C83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224" y="4128228"/>
                <a:ext cx="1376208" cy="121394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8D3BAF1-A198-486B-BBDA-DAF1ADF97D30}"/>
                  </a:ext>
                </a:extLst>
              </p:cNvPr>
              <p:cNvSpPr/>
              <p:nvPr/>
            </p:nvSpPr>
            <p:spPr>
              <a:xfrm>
                <a:off x="10540681" y="4128227"/>
                <a:ext cx="1245476" cy="1213945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8D3BAF1-A198-486B-BBDA-DAF1ADF97D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681" y="4128227"/>
                <a:ext cx="1245476" cy="121394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1DFCF53-A0AC-4227-9191-89F27E4F2D8C}"/>
              </a:ext>
            </a:extLst>
          </p:cNvPr>
          <p:cNvCxnSpPr>
            <a:cxnSpLocks/>
            <a:stCxn id="25" idx="5"/>
            <a:endCxn id="27" idx="1"/>
          </p:cNvCxnSpPr>
          <p:nvPr/>
        </p:nvCxnSpPr>
        <p:spPr>
          <a:xfrm>
            <a:off x="10014390" y="3094377"/>
            <a:ext cx="708687" cy="1211628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1E15855-2749-4686-995A-4D1FB1125073}"/>
              </a:ext>
            </a:extLst>
          </p:cNvPr>
          <p:cNvCxnSpPr>
            <a:cxnSpLocks/>
            <a:stCxn id="25" idx="3"/>
            <a:endCxn id="26" idx="7"/>
          </p:cNvCxnSpPr>
          <p:nvPr/>
        </p:nvCxnSpPr>
        <p:spPr>
          <a:xfrm flipH="1">
            <a:off x="8090891" y="3094377"/>
            <a:ext cx="719028" cy="1211629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C79D1ED-8A9A-4683-9E00-E2583D749623}"/>
              </a:ext>
            </a:extLst>
          </p:cNvPr>
          <p:cNvSpPr txBox="1"/>
          <p:nvPr/>
        </p:nvSpPr>
        <p:spPr>
          <a:xfrm>
            <a:off x="10540681" y="3272155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False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043210-0A17-4A11-A52B-8DC598C86000}"/>
              </a:ext>
            </a:extLst>
          </p:cNvPr>
          <p:cNvSpPr txBox="1"/>
          <p:nvPr/>
        </p:nvSpPr>
        <p:spPr>
          <a:xfrm>
            <a:off x="7698973" y="3240813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597109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807DE4-638C-4101-AA24-D191D549B416}"/>
              </a:ext>
            </a:extLst>
          </p:cNvPr>
          <p:cNvSpPr/>
          <p:nvPr/>
        </p:nvSpPr>
        <p:spPr>
          <a:xfrm>
            <a:off x="956716" y="618332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1A3DBD-92C7-43BD-B82E-52BA0A15FA9D}"/>
              </a:ext>
            </a:extLst>
          </p:cNvPr>
          <p:cNvSpPr/>
          <p:nvPr/>
        </p:nvSpPr>
        <p:spPr>
          <a:xfrm>
            <a:off x="2861716" y="618332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829A1-765F-4922-8380-14305B748A14}"/>
              </a:ext>
            </a:extLst>
          </p:cNvPr>
          <p:cNvSpPr/>
          <p:nvPr/>
        </p:nvSpPr>
        <p:spPr>
          <a:xfrm>
            <a:off x="4766716" y="618331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4EBF0E-4414-4FF1-A98F-24457028608C}"/>
              </a:ext>
            </a:extLst>
          </p:cNvPr>
          <p:cNvSpPr/>
          <p:nvPr/>
        </p:nvSpPr>
        <p:spPr>
          <a:xfrm>
            <a:off x="956716" y="251460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533D58-AE72-4A6C-B363-EDDA3C9594A2}"/>
              </a:ext>
            </a:extLst>
          </p:cNvPr>
          <p:cNvSpPr/>
          <p:nvPr/>
        </p:nvSpPr>
        <p:spPr>
          <a:xfrm>
            <a:off x="2861716" y="251460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9A15D0-30F5-43B0-9058-897E10CD5305}"/>
              </a:ext>
            </a:extLst>
          </p:cNvPr>
          <p:cNvSpPr/>
          <p:nvPr/>
        </p:nvSpPr>
        <p:spPr>
          <a:xfrm>
            <a:off x="4766716" y="251460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3B240F-51A4-4E0D-B3A0-2FD0857A26B1}"/>
              </a:ext>
            </a:extLst>
          </p:cNvPr>
          <p:cNvSpPr/>
          <p:nvPr/>
        </p:nvSpPr>
        <p:spPr>
          <a:xfrm>
            <a:off x="956716" y="440553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9F250-4BBD-4D59-9880-79121F29B27D}"/>
              </a:ext>
            </a:extLst>
          </p:cNvPr>
          <p:cNvSpPr/>
          <p:nvPr/>
        </p:nvSpPr>
        <p:spPr>
          <a:xfrm>
            <a:off x="2861716" y="440553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B56D23-BE70-47B1-B692-6800A44F364A}"/>
              </a:ext>
            </a:extLst>
          </p:cNvPr>
          <p:cNvSpPr/>
          <p:nvPr/>
        </p:nvSpPr>
        <p:spPr>
          <a:xfrm>
            <a:off x="4766716" y="440553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AE8808-B04A-49B3-AB4D-304B1152D115}"/>
              </a:ext>
            </a:extLst>
          </p:cNvPr>
          <p:cNvSpPr txBox="1"/>
          <p:nvPr/>
        </p:nvSpPr>
        <p:spPr>
          <a:xfrm flipH="1">
            <a:off x="254816" y="2324596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8DA6E0-8370-414B-BCFE-D37F34D6732B}"/>
              </a:ext>
            </a:extLst>
          </p:cNvPr>
          <p:cNvSpPr txBox="1"/>
          <p:nvPr/>
        </p:nvSpPr>
        <p:spPr>
          <a:xfrm flipH="1">
            <a:off x="254816" y="4164073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AF8BED-0C59-4CD3-8309-89839C542F98}"/>
              </a:ext>
            </a:extLst>
          </p:cNvPr>
          <p:cNvSpPr txBox="1"/>
          <p:nvPr/>
        </p:nvSpPr>
        <p:spPr>
          <a:xfrm flipH="1">
            <a:off x="2596742" y="6234330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EE9EFC-27E8-47C4-96C7-D755A3844F98}"/>
              </a:ext>
            </a:extLst>
          </p:cNvPr>
          <p:cNvSpPr txBox="1"/>
          <p:nvPr/>
        </p:nvSpPr>
        <p:spPr>
          <a:xfrm flipH="1">
            <a:off x="4469883" y="6228038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2E297E2-DA43-47F7-91F1-2D899B6CC7BA}"/>
                  </a:ext>
                </a:extLst>
              </p:cNvPr>
              <p:cNvSpPr/>
              <p:nvPr/>
            </p:nvSpPr>
            <p:spPr>
              <a:xfrm>
                <a:off x="8638109" y="1717623"/>
                <a:ext cx="1703379" cy="121394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&lt;7.5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2E297E2-DA43-47F7-91F1-2D899B6CC7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109" y="1717623"/>
                <a:ext cx="1703379" cy="121394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ED4D937-53EB-4250-ADEA-AFD3BFFEA6AC}"/>
                  </a:ext>
                </a:extLst>
              </p:cNvPr>
              <p:cNvSpPr/>
              <p:nvPr/>
            </p:nvSpPr>
            <p:spPr>
              <a:xfrm>
                <a:off x="6993868" y="3787641"/>
                <a:ext cx="1376208" cy="1213945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=.16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ED4D937-53EB-4250-ADEA-AFD3BFFEA6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868" y="3787641"/>
                <a:ext cx="1376208" cy="121394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DB78EC8-EBA9-4A7E-8DB5-D5529F6159D4}"/>
                  </a:ext>
                </a:extLst>
              </p:cNvPr>
              <p:cNvSpPr/>
              <p:nvPr/>
            </p:nvSpPr>
            <p:spPr>
              <a:xfrm>
                <a:off x="10618325" y="3787640"/>
                <a:ext cx="1245476" cy="1213945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DB78EC8-EBA9-4A7E-8DB5-D5529F6159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8325" y="3787640"/>
                <a:ext cx="1245476" cy="121394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70F13-58BC-4268-8BE7-5C78C5E4842F}"/>
              </a:ext>
            </a:extLst>
          </p:cNvPr>
          <p:cNvCxnSpPr>
            <a:cxnSpLocks/>
            <a:stCxn id="18" idx="5"/>
            <a:endCxn id="20" idx="1"/>
          </p:cNvCxnSpPr>
          <p:nvPr/>
        </p:nvCxnSpPr>
        <p:spPr>
          <a:xfrm>
            <a:off x="10092034" y="2753790"/>
            <a:ext cx="708687" cy="1211628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4FCF952-9B46-4952-8EF3-BA3CFC26FAC7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8168535" y="2753790"/>
            <a:ext cx="719028" cy="1211629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2BCA6EE-BC11-4E30-9A45-15811A95BE91}"/>
              </a:ext>
            </a:extLst>
          </p:cNvPr>
          <p:cNvSpPr txBox="1"/>
          <p:nvPr/>
        </p:nvSpPr>
        <p:spPr>
          <a:xfrm>
            <a:off x="10618325" y="2931568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False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CC9D02-DBD8-410C-AD27-BA2A21385E8E}"/>
              </a:ext>
            </a:extLst>
          </p:cNvPr>
          <p:cNvSpPr txBox="1"/>
          <p:nvPr/>
        </p:nvSpPr>
        <p:spPr>
          <a:xfrm>
            <a:off x="7776617" y="2900226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161069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807DE4-638C-4101-AA24-D191D549B416}"/>
              </a:ext>
            </a:extLst>
          </p:cNvPr>
          <p:cNvSpPr/>
          <p:nvPr/>
        </p:nvSpPr>
        <p:spPr>
          <a:xfrm>
            <a:off x="853200" y="618332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1A3DBD-92C7-43BD-B82E-52BA0A15FA9D}"/>
              </a:ext>
            </a:extLst>
          </p:cNvPr>
          <p:cNvSpPr/>
          <p:nvPr/>
        </p:nvSpPr>
        <p:spPr>
          <a:xfrm>
            <a:off x="2758200" y="618332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829A1-765F-4922-8380-14305B748A14}"/>
              </a:ext>
            </a:extLst>
          </p:cNvPr>
          <p:cNvSpPr/>
          <p:nvPr/>
        </p:nvSpPr>
        <p:spPr>
          <a:xfrm>
            <a:off x="4663200" y="618331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4EBF0E-4414-4FF1-A98F-24457028608C}"/>
              </a:ext>
            </a:extLst>
          </p:cNvPr>
          <p:cNvSpPr/>
          <p:nvPr/>
        </p:nvSpPr>
        <p:spPr>
          <a:xfrm>
            <a:off x="853200" y="2514600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533D58-AE72-4A6C-B363-EDDA3C9594A2}"/>
              </a:ext>
            </a:extLst>
          </p:cNvPr>
          <p:cNvSpPr/>
          <p:nvPr/>
        </p:nvSpPr>
        <p:spPr>
          <a:xfrm>
            <a:off x="2758200" y="251460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9A15D0-30F5-43B0-9058-897E10CD5305}"/>
              </a:ext>
            </a:extLst>
          </p:cNvPr>
          <p:cNvSpPr/>
          <p:nvPr/>
        </p:nvSpPr>
        <p:spPr>
          <a:xfrm>
            <a:off x="4663200" y="251460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3B240F-51A4-4E0D-B3A0-2FD0857A26B1}"/>
              </a:ext>
            </a:extLst>
          </p:cNvPr>
          <p:cNvSpPr/>
          <p:nvPr/>
        </p:nvSpPr>
        <p:spPr>
          <a:xfrm>
            <a:off x="853200" y="4405530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9F250-4BBD-4D59-9880-79121F29B27D}"/>
              </a:ext>
            </a:extLst>
          </p:cNvPr>
          <p:cNvSpPr/>
          <p:nvPr/>
        </p:nvSpPr>
        <p:spPr>
          <a:xfrm>
            <a:off x="2758200" y="440553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B56D23-BE70-47B1-B692-6800A44F364A}"/>
              </a:ext>
            </a:extLst>
          </p:cNvPr>
          <p:cNvSpPr/>
          <p:nvPr/>
        </p:nvSpPr>
        <p:spPr>
          <a:xfrm>
            <a:off x="4663200" y="440553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80DC0-F505-4B51-B63D-6543AE738629}"/>
              </a:ext>
            </a:extLst>
          </p:cNvPr>
          <p:cNvSpPr txBox="1"/>
          <p:nvPr/>
        </p:nvSpPr>
        <p:spPr>
          <a:xfrm flipH="1">
            <a:off x="151300" y="2324596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D833D-2361-43BC-96CF-D26EB31A5073}"/>
              </a:ext>
            </a:extLst>
          </p:cNvPr>
          <p:cNvSpPr txBox="1"/>
          <p:nvPr/>
        </p:nvSpPr>
        <p:spPr>
          <a:xfrm flipH="1">
            <a:off x="151300" y="4164073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8BF22C-939C-4DCF-BB31-6E37D6C13EF7}"/>
              </a:ext>
            </a:extLst>
          </p:cNvPr>
          <p:cNvSpPr txBox="1"/>
          <p:nvPr/>
        </p:nvSpPr>
        <p:spPr>
          <a:xfrm flipH="1">
            <a:off x="2493226" y="6234330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0619BE-17C0-48E0-8C14-10F6E51FE6BB}"/>
              </a:ext>
            </a:extLst>
          </p:cNvPr>
          <p:cNvSpPr txBox="1"/>
          <p:nvPr/>
        </p:nvSpPr>
        <p:spPr>
          <a:xfrm flipH="1">
            <a:off x="4366367" y="6228038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814666A-EFEF-4AF6-9DD4-C5ACFAA5F31A}"/>
                  </a:ext>
                </a:extLst>
              </p:cNvPr>
              <p:cNvSpPr/>
              <p:nvPr/>
            </p:nvSpPr>
            <p:spPr>
              <a:xfrm>
                <a:off x="8750248" y="1428484"/>
                <a:ext cx="1703379" cy="121394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&gt;2.5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814666A-EFEF-4AF6-9DD4-C5ACFAA5F3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248" y="1428484"/>
                <a:ext cx="1703379" cy="121394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672AE34-E908-4CBA-8FFB-4DDC6C64ADD1}"/>
                  </a:ext>
                </a:extLst>
              </p:cNvPr>
              <p:cNvSpPr/>
              <p:nvPr/>
            </p:nvSpPr>
            <p:spPr>
              <a:xfrm>
                <a:off x="7106007" y="3498502"/>
                <a:ext cx="1376208" cy="1213945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=.16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672AE34-E908-4CBA-8FFB-4DDC6C64AD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6007" y="3498502"/>
                <a:ext cx="1376208" cy="121394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F6281DD-42E1-4918-AE12-AB6A4DE6E7A8}"/>
                  </a:ext>
                </a:extLst>
              </p:cNvPr>
              <p:cNvSpPr/>
              <p:nvPr/>
            </p:nvSpPr>
            <p:spPr>
              <a:xfrm>
                <a:off x="10730464" y="3498501"/>
                <a:ext cx="1245476" cy="1213945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F6281DD-42E1-4918-AE12-AB6A4DE6E7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464" y="3498501"/>
                <a:ext cx="1245476" cy="121394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EB7F5C9-47CB-4163-A766-E8EF81759C54}"/>
              </a:ext>
            </a:extLst>
          </p:cNvPr>
          <p:cNvCxnSpPr>
            <a:cxnSpLocks/>
            <a:stCxn id="18" idx="5"/>
            <a:endCxn id="20" idx="1"/>
          </p:cNvCxnSpPr>
          <p:nvPr/>
        </p:nvCxnSpPr>
        <p:spPr>
          <a:xfrm>
            <a:off x="10204173" y="2464651"/>
            <a:ext cx="708687" cy="1211628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5D04FB4-96B5-4EFB-A316-48D41859418B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8280674" y="2464651"/>
            <a:ext cx="719028" cy="1211629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F715076-3337-49DF-B7B4-E6A68DA75CE4}"/>
              </a:ext>
            </a:extLst>
          </p:cNvPr>
          <p:cNvSpPr txBox="1"/>
          <p:nvPr/>
        </p:nvSpPr>
        <p:spPr>
          <a:xfrm>
            <a:off x="10730464" y="2642429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False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D911C5-AFF2-4A0C-AA73-2B598E62F31C}"/>
              </a:ext>
            </a:extLst>
          </p:cNvPr>
          <p:cNvSpPr txBox="1"/>
          <p:nvPr/>
        </p:nvSpPr>
        <p:spPr>
          <a:xfrm>
            <a:off x="7888756" y="2611087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769971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D7BD803-8863-48CF-9536-0DCDD24FF84F}"/>
              </a:ext>
            </a:extLst>
          </p:cNvPr>
          <p:cNvGrpSpPr/>
          <p:nvPr/>
        </p:nvGrpSpPr>
        <p:grpSpPr>
          <a:xfrm>
            <a:off x="7786555" y="29616"/>
            <a:ext cx="3766672" cy="3259733"/>
            <a:chOff x="2411414" y="618331"/>
            <a:chExt cx="6340700" cy="601991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5383483-F882-4402-AA5E-56E0D69FA31E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A233A9-F26E-4CEF-82ED-2D5F2CECEF3C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D2946C9-F9F8-4BCB-950E-8949C23A8FF5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CA263AB-701C-4437-9AB6-D5D4C63D7979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BA0436-16F6-4253-852C-9234BE8B336A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92CC838-4134-4894-B70A-9B3A4605B226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5B1F9F0-6DCB-4C60-A7FB-C8927BDB2050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099F7E6-2044-4B93-B8D8-06BF39CD48E9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05DDBA-72FC-4F85-AE93-FEF94301F153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FB9A256-13E4-421E-893F-AE01C53C154A}"/>
                </a:ext>
              </a:extLst>
            </p:cNvPr>
            <p:cNvSpPr txBox="1"/>
            <p:nvPr/>
          </p:nvSpPr>
          <p:spPr>
            <a:xfrm flipH="1">
              <a:off x="2411414" y="2324597"/>
              <a:ext cx="701900" cy="403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7.5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DEB9F1F-5226-4D0E-8AC9-2203C1A9AFA3}"/>
                </a:ext>
              </a:extLst>
            </p:cNvPr>
            <p:cNvSpPr txBox="1"/>
            <p:nvPr/>
          </p:nvSpPr>
          <p:spPr>
            <a:xfrm flipH="1">
              <a:off x="2411414" y="4164072"/>
              <a:ext cx="701900" cy="403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5B5F776-1C7D-4056-80DB-96C76258A7A1}"/>
                </a:ext>
              </a:extLst>
            </p:cNvPr>
            <p:cNvSpPr txBox="1"/>
            <p:nvPr/>
          </p:nvSpPr>
          <p:spPr>
            <a:xfrm flipH="1">
              <a:off x="4753339" y="6234329"/>
              <a:ext cx="701900" cy="403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0C570EF-B862-4065-9F5F-314D75ACCCA0}"/>
                </a:ext>
              </a:extLst>
            </p:cNvPr>
            <p:cNvSpPr txBox="1"/>
            <p:nvPr/>
          </p:nvSpPr>
          <p:spPr>
            <a:xfrm flipH="1">
              <a:off x="6626481" y="6228038"/>
              <a:ext cx="701900" cy="403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7.5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8FB2519-9FBD-474D-8929-8DCBADED0743}"/>
              </a:ext>
            </a:extLst>
          </p:cNvPr>
          <p:cNvGrpSpPr/>
          <p:nvPr/>
        </p:nvGrpSpPr>
        <p:grpSpPr>
          <a:xfrm>
            <a:off x="29986" y="34283"/>
            <a:ext cx="3762712" cy="3256536"/>
            <a:chOff x="2411414" y="618331"/>
            <a:chExt cx="6340700" cy="602033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44D48B4-5894-41C0-8368-2993D04E4664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2548F0A-51F4-411F-96C9-C468EA58FE95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2E6890D-73E4-4D77-8772-92E5061D4A40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1F2C1E4-CB9F-4731-B34A-8C81D446E8CA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C01BA9D-AA20-4CAD-8EBD-C338BB1C80C6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7BAFE0B-D24C-4046-9141-70805B3DEDAF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BC86D56-2F57-4890-B090-962CBF48709F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1C21A1-896B-4EC7-80E5-A4C8A16448F4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820843C-A036-43A8-9D3C-6120E6B51E3A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1835E48-C461-48A7-A16E-EF3F58329C06}"/>
                </a:ext>
              </a:extLst>
            </p:cNvPr>
            <p:cNvSpPr txBox="1"/>
            <p:nvPr/>
          </p:nvSpPr>
          <p:spPr>
            <a:xfrm flipH="1">
              <a:off x="2411414" y="2324595"/>
              <a:ext cx="701900" cy="404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7.5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EC24504-FEBC-4023-B6DE-1883019000D9}"/>
                </a:ext>
              </a:extLst>
            </p:cNvPr>
            <p:cNvSpPr txBox="1"/>
            <p:nvPr/>
          </p:nvSpPr>
          <p:spPr>
            <a:xfrm flipH="1">
              <a:off x="2411414" y="4164073"/>
              <a:ext cx="701900" cy="404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37A5B3A-C4A9-4445-BD4D-FC6CED18A695}"/>
                </a:ext>
              </a:extLst>
            </p:cNvPr>
            <p:cNvSpPr txBox="1"/>
            <p:nvPr/>
          </p:nvSpPr>
          <p:spPr>
            <a:xfrm flipH="1">
              <a:off x="4753340" y="6234330"/>
              <a:ext cx="701900" cy="404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F03C4AA-F06F-4AAF-B0D9-AD7E9894FC16}"/>
                </a:ext>
              </a:extLst>
            </p:cNvPr>
            <p:cNvSpPr txBox="1"/>
            <p:nvPr/>
          </p:nvSpPr>
          <p:spPr>
            <a:xfrm flipH="1">
              <a:off x="6626481" y="6228037"/>
              <a:ext cx="701900" cy="404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7.5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B0A42FC-7450-49BA-A726-96149B1F43A0}"/>
              </a:ext>
            </a:extLst>
          </p:cNvPr>
          <p:cNvGrpSpPr/>
          <p:nvPr/>
        </p:nvGrpSpPr>
        <p:grpSpPr>
          <a:xfrm>
            <a:off x="5837465" y="3476190"/>
            <a:ext cx="3724574" cy="3225747"/>
            <a:chOff x="2411414" y="618331"/>
            <a:chExt cx="6340700" cy="602447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C447A91-E303-44A1-9D15-43819C70C08F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6F7C185-7A7C-4DE0-A2F3-1E6FAD0904E3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1AB94B1-A5CE-438B-A678-0684AA1AC8B1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7C26943-540B-4B5B-9F33-A329B527216D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38F8C01-6C5D-4157-8ED3-14360739C0C3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43E58DE-1226-4560-8008-7976DE84ED3A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E3A5A89-3AF9-45EB-BDFE-A4C290E921AE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E0B1126-98D1-471C-8D68-648781547C23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3820AB1-BBAD-4538-A83B-A043D024E74F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3ED9227-338A-42C9-93CE-04435A372770}"/>
                </a:ext>
              </a:extLst>
            </p:cNvPr>
            <p:cNvSpPr txBox="1"/>
            <p:nvPr/>
          </p:nvSpPr>
          <p:spPr>
            <a:xfrm flipH="1">
              <a:off x="2411414" y="2324596"/>
              <a:ext cx="701900" cy="408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7.5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9E7B3C6-015F-4E8E-8F03-AE8A9A6D5CC2}"/>
                </a:ext>
              </a:extLst>
            </p:cNvPr>
            <p:cNvSpPr txBox="1"/>
            <p:nvPr/>
          </p:nvSpPr>
          <p:spPr>
            <a:xfrm flipH="1">
              <a:off x="2411414" y="4164073"/>
              <a:ext cx="701900" cy="408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C53D844-C3D9-4457-8EBD-6EB1A335768B}"/>
                </a:ext>
              </a:extLst>
            </p:cNvPr>
            <p:cNvSpPr txBox="1"/>
            <p:nvPr/>
          </p:nvSpPr>
          <p:spPr>
            <a:xfrm flipH="1">
              <a:off x="4753341" y="6234330"/>
              <a:ext cx="701900" cy="408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6F1110D-BC82-4C04-8152-3C800AEDCE22}"/>
                </a:ext>
              </a:extLst>
            </p:cNvPr>
            <p:cNvSpPr txBox="1"/>
            <p:nvPr/>
          </p:nvSpPr>
          <p:spPr>
            <a:xfrm flipH="1">
              <a:off x="6626481" y="6228038"/>
              <a:ext cx="701900" cy="408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7.5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2520A96-079B-486D-9633-999CC43395E4}"/>
              </a:ext>
            </a:extLst>
          </p:cNvPr>
          <p:cNvGrpSpPr/>
          <p:nvPr/>
        </p:nvGrpSpPr>
        <p:grpSpPr>
          <a:xfrm>
            <a:off x="2046915" y="3462555"/>
            <a:ext cx="3572165" cy="3269569"/>
            <a:chOff x="2411414" y="618331"/>
            <a:chExt cx="6340700" cy="5892998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3A43A84-78BB-47D5-ACE6-CA9BF91AC99C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6FFB85F-0435-4AC0-A560-E34EA4896530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98C5395-D680-4037-B20B-AA840C2BD459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A1BE7E28-AD11-4304-BAF5-899568983213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36C0377-AAB5-4AEA-BC7F-6F759D205F3F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A5B0FF0D-BA9B-46EF-8DCD-C7C2A6C2C694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4D73563-AD95-4FA0-AE2A-68B904A5E062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9B6895D8-CAA2-4596-8EE7-E9298B24374E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102365BE-B406-4904-9BE2-7DA8F1A5EF34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7A5A439-C088-43CD-BEBA-50C16DE53D58}"/>
                </a:ext>
              </a:extLst>
            </p:cNvPr>
            <p:cNvSpPr txBox="1"/>
            <p:nvPr/>
          </p:nvSpPr>
          <p:spPr>
            <a:xfrm flipH="1">
              <a:off x="2411414" y="2324596"/>
              <a:ext cx="701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7.5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85A9B12-0615-44FC-B638-AB04E2AB0985}"/>
                </a:ext>
              </a:extLst>
            </p:cNvPr>
            <p:cNvSpPr txBox="1"/>
            <p:nvPr/>
          </p:nvSpPr>
          <p:spPr>
            <a:xfrm flipH="1">
              <a:off x="2411414" y="4164073"/>
              <a:ext cx="701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30D8EF9-0E61-47C4-A2D4-F438F56040C8}"/>
                </a:ext>
              </a:extLst>
            </p:cNvPr>
            <p:cNvSpPr txBox="1"/>
            <p:nvPr/>
          </p:nvSpPr>
          <p:spPr>
            <a:xfrm flipH="1">
              <a:off x="4753340" y="6234330"/>
              <a:ext cx="701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42B20B6-D9A2-4A83-AF2A-9B4DF0744449}"/>
                </a:ext>
              </a:extLst>
            </p:cNvPr>
            <p:cNvSpPr txBox="1"/>
            <p:nvPr/>
          </p:nvSpPr>
          <p:spPr>
            <a:xfrm flipH="1">
              <a:off x="6626481" y="6228038"/>
              <a:ext cx="701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7.5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6908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807DE4-638C-4101-AA24-D191D549B416}"/>
              </a:ext>
            </a:extLst>
          </p:cNvPr>
          <p:cNvSpPr/>
          <p:nvPr/>
        </p:nvSpPr>
        <p:spPr>
          <a:xfrm>
            <a:off x="913585" y="618332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1A3DBD-92C7-43BD-B82E-52BA0A15FA9D}"/>
              </a:ext>
            </a:extLst>
          </p:cNvPr>
          <p:cNvSpPr/>
          <p:nvPr/>
        </p:nvSpPr>
        <p:spPr>
          <a:xfrm>
            <a:off x="2818585" y="618332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829A1-765F-4922-8380-14305B748A14}"/>
              </a:ext>
            </a:extLst>
          </p:cNvPr>
          <p:cNvSpPr/>
          <p:nvPr/>
        </p:nvSpPr>
        <p:spPr>
          <a:xfrm>
            <a:off x="4723585" y="618331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4EBF0E-4414-4FF1-A98F-24457028608C}"/>
              </a:ext>
            </a:extLst>
          </p:cNvPr>
          <p:cNvSpPr/>
          <p:nvPr/>
        </p:nvSpPr>
        <p:spPr>
          <a:xfrm>
            <a:off x="913585" y="2514600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533D58-AE72-4A6C-B363-EDDA3C9594A2}"/>
              </a:ext>
            </a:extLst>
          </p:cNvPr>
          <p:cNvSpPr/>
          <p:nvPr/>
        </p:nvSpPr>
        <p:spPr>
          <a:xfrm>
            <a:off x="2818585" y="251460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9A15D0-30F5-43B0-9058-897E10CD5305}"/>
              </a:ext>
            </a:extLst>
          </p:cNvPr>
          <p:cNvSpPr/>
          <p:nvPr/>
        </p:nvSpPr>
        <p:spPr>
          <a:xfrm>
            <a:off x="4723585" y="2514600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3B240F-51A4-4E0D-B3A0-2FD0857A26B1}"/>
              </a:ext>
            </a:extLst>
          </p:cNvPr>
          <p:cNvSpPr/>
          <p:nvPr/>
        </p:nvSpPr>
        <p:spPr>
          <a:xfrm>
            <a:off x="913585" y="4405530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9F250-4BBD-4D59-9880-79121F29B27D}"/>
              </a:ext>
            </a:extLst>
          </p:cNvPr>
          <p:cNvSpPr/>
          <p:nvPr/>
        </p:nvSpPr>
        <p:spPr>
          <a:xfrm>
            <a:off x="2818585" y="4405530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B56D23-BE70-47B1-B692-6800A44F364A}"/>
              </a:ext>
            </a:extLst>
          </p:cNvPr>
          <p:cNvSpPr/>
          <p:nvPr/>
        </p:nvSpPr>
        <p:spPr>
          <a:xfrm>
            <a:off x="4723585" y="4405530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6A1641-558E-4FDB-8D63-A574F2C3F03F}"/>
              </a:ext>
            </a:extLst>
          </p:cNvPr>
          <p:cNvSpPr txBox="1"/>
          <p:nvPr/>
        </p:nvSpPr>
        <p:spPr>
          <a:xfrm flipH="1">
            <a:off x="211685" y="2324596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3950E8-18A7-475F-9719-793274FE53E3}"/>
              </a:ext>
            </a:extLst>
          </p:cNvPr>
          <p:cNvSpPr txBox="1"/>
          <p:nvPr/>
        </p:nvSpPr>
        <p:spPr>
          <a:xfrm flipH="1">
            <a:off x="211685" y="4164073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C81903-C2EC-47BB-A2F3-4C50F47EA3CE}"/>
              </a:ext>
            </a:extLst>
          </p:cNvPr>
          <p:cNvSpPr txBox="1"/>
          <p:nvPr/>
        </p:nvSpPr>
        <p:spPr>
          <a:xfrm flipH="1">
            <a:off x="2553611" y="6234330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2C380C-31A3-438C-B269-7E8761506CAE}"/>
              </a:ext>
            </a:extLst>
          </p:cNvPr>
          <p:cNvSpPr txBox="1"/>
          <p:nvPr/>
        </p:nvSpPr>
        <p:spPr>
          <a:xfrm flipH="1">
            <a:off x="4426752" y="6228038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0A7A37-4C13-4444-90F3-D415B2942B89}"/>
              </a:ext>
            </a:extLst>
          </p:cNvPr>
          <p:cNvSpPr txBox="1"/>
          <p:nvPr/>
        </p:nvSpPr>
        <p:spPr>
          <a:xfrm>
            <a:off x="7108981" y="715994"/>
            <a:ext cx="45288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often does a region fall in True branch of a split?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2357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807DE4-638C-4101-AA24-D191D549B416}"/>
              </a:ext>
            </a:extLst>
          </p:cNvPr>
          <p:cNvSpPr/>
          <p:nvPr/>
        </p:nvSpPr>
        <p:spPr>
          <a:xfrm>
            <a:off x="913585" y="618331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1A3DBD-92C7-43BD-B82E-52BA0A15FA9D}"/>
              </a:ext>
            </a:extLst>
          </p:cNvPr>
          <p:cNvSpPr/>
          <p:nvPr/>
        </p:nvSpPr>
        <p:spPr>
          <a:xfrm>
            <a:off x="2818585" y="618332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829A1-765F-4922-8380-14305B748A14}"/>
              </a:ext>
            </a:extLst>
          </p:cNvPr>
          <p:cNvSpPr/>
          <p:nvPr/>
        </p:nvSpPr>
        <p:spPr>
          <a:xfrm>
            <a:off x="4723585" y="618331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4EBF0E-4414-4FF1-A98F-24457028608C}"/>
              </a:ext>
            </a:extLst>
          </p:cNvPr>
          <p:cNvSpPr/>
          <p:nvPr/>
        </p:nvSpPr>
        <p:spPr>
          <a:xfrm>
            <a:off x="913585" y="2514600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533D58-AE72-4A6C-B363-EDDA3C9594A2}"/>
              </a:ext>
            </a:extLst>
          </p:cNvPr>
          <p:cNvSpPr/>
          <p:nvPr/>
        </p:nvSpPr>
        <p:spPr>
          <a:xfrm>
            <a:off x="2818585" y="251460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9A15D0-30F5-43B0-9058-897E10CD5305}"/>
              </a:ext>
            </a:extLst>
          </p:cNvPr>
          <p:cNvSpPr/>
          <p:nvPr/>
        </p:nvSpPr>
        <p:spPr>
          <a:xfrm>
            <a:off x="4723585" y="2514600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3B240F-51A4-4E0D-B3A0-2FD0857A26B1}"/>
              </a:ext>
            </a:extLst>
          </p:cNvPr>
          <p:cNvSpPr/>
          <p:nvPr/>
        </p:nvSpPr>
        <p:spPr>
          <a:xfrm>
            <a:off x="913585" y="4405530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9F250-4BBD-4D59-9880-79121F29B27D}"/>
              </a:ext>
            </a:extLst>
          </p:cNvPr>
          <p:cNvSpPr/>
          <p:nvPr/>
        </p:nvSpPr>
        <p:spPr>
          <a:xfrm>
            <a:off x="2818585" y="4405530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B56D23-BE70-47B1-B692-6800A44F364A}"/>
              </a:ext>
            </a:extLst>
          </p:cNvPr>
          <p:cNvSpPr/>
          <p:nvPr/>
        </p:nvSpPr>
        <p:spPr>
          <a:xfrm>
            <a:off x="4723585" y="4405530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6A1641-558E-4FDB-8D63-A574F2C3F03F}"/>
              </a:ext>
            </a:extLst>
          </p:cNvPr>
          <p:cNvSpPr txBox="1"/>
          <p:nvPr/>
        </p:nvSpPr>
        <p:spPr>
          <a:xfrm flipH="1">
            <a:off x="211685" y="2324596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3950E8-18A7-475F-9719-793274FE53E3}"/>
              </a:ext>
            </a:extLst>
          </p:cNvPr>
          <p:cNvSpPr txBox="1"/>
          <p:nvPr/>
        </p:nvSpPr>
        <p:spPr>
          <a:xfrm flipH="1">
            <a:off x="211685" y="4164073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C81903-C2EC-47BB-A2F3-4C50F47EA3CE}"/>
              </a:ext>
            </a:extLst>
          </p:cNvPr>
          <p:cNvSpPr txBox="1"/>
          <p:nvPr/>
        </p:nvSpPr>
        <p:spPr>
          <a:xfrm flipH="1">
            <a:off x="2553611" y="6234330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2C380C-31A3-438C-B269-7E8761506CAE}"/>
              </a:ext>
            </a:extLst>
          </p:cNvPr>
          <p:cNvSpPr txBox="1"/>
          <p:nvPr/>
        </p:nvSpPr>
        <p:spPr>
          <a:xfrm flipH="1">
            <a:off x="4426752" y="6228038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6D19E4-4A7C-4645-A336-037DBA274BB6}"/>
              </a:ext>
            </a:extLst>
          </p:cNvPr>
          <p:cNvSpPr txBox="1"/>
          <p:nvPr/>
        </p:nvSpPr>
        <p:spPr>
          <a:xfrm>
            <a:off x="7108981" y="715994"/>
            <a:ext cx="45288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often does a region fall in True branch of a split?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2990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807DE4-638C-4101-AA24-D191D549B416}"/>
              </a:ext>
            </a:extLst>
          </p:cNvPr>
          <p:cNvSpPr/>
          <p:nvPr/>
        </p:nvSpPr>
        <p:spPr>
          <a:xfrm>
            <a:off x="913585" y="618331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1A3DBD-92C7-43BD-B82E-52BA0A15FA9D}"/>
              </a:ext>
            </a:extLst>
          </p:cNvPr>
          <p:cNvSpPr/>
          <p:nvPr/>
        </p:nvSpPr>
        <p:spPr>
          <a:xfrm>
            <a:off x="2818585" y="618332"/>
            <a:ext cx="1828800" cy="1828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829A1-765F-4922-8380-14305B748A14}"/>
              </a:ext>
            </a:extLst>
          </p:cNvPr>
          <p:cNvSpPr/>
          <p:nvPr/>
        </p:nvSpPr>
        <p:spPr>
          <a:xfrm>
            <a:off x="4723585" y="618331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4EBF0E-4414-4FF1-A98F-24457028608C}"/>
              </a:ext>
            </a:extLst>
          </p:cNvPr>
          <p:cNvSpPr/>
          <p:nvPr/>
        </p:nvSpPr>
        <p:spPr>
          <a:xfrm>
            <a:off x="913585" y="2514600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533D58-AE72-4A6C-B363-EDDA3C9594A2}"/>
              </a:ext>
            </a:extLst>
          </p:cNvPr>
          <p:cNvSpPr/>
          <p:nvPr/>
        </p:nvSpPr>
        <p:spPr>
          <a:xfrm>
            <a:off x="2818585" y="251460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9A15D0-30F5-43B0-9058-897E10CD5305}"/>
              </a:ext>
            </a:extLst>
          </p:cNvPr>
          <p:cNvSpPr/>
          <p:nvPr/>
        </p:nvSpPr>
        <p:spPr>
          <a:xfrm>
            <a:off x="4723585" y="2514600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3B240F-51A4-4E0D-B3A0-2FD0857A26B1}"/>
              </a:ext>
            </a:extLst>
          </p:cNvPr>
          <p:cNvSpPr/>
          <p:nvPr/>
        </p:nvSpPr>
        <p:spPr>
          <a:xfrm>
            <a:off x="913585" y="4405530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9F250-4BBD-4D59-9880-79121F29B27D}"/>
              </a:ext>
            </a:extLst>
          </p:cNvPr>
          <p:cNvSpPr/>
          <p:nvPr/>
        </p:nvSpPr>
        <p:spPr>
          <a:xfrm>
            <a:off x="2818585" y="4405530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B56D23-BE70-47B1-B692-6800A44F364A}"/>
              </a:ext>
            </a:extLst>
          </p:cNvPr>
          <p:cNvSpPr/>
          <p:nvPr/>
        </p:nvSpPr>
        <p:spPr>
          <a:xfrm>
            <a:off x="4723585" y="4405530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6A1641-558E-4FDB-8D63-A574F2C3F03F}"/>
              </a:ext>
            </a:extLst>
          </p:cNvPr>
          <p:cNvSpPr txBox="1"/>
          <p:nvPr/>
        </p:nvSpPr>
        <p:spPr>
          <a:xfrm flipH="1">
            <a:off x="211685" y="2324596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3950E8-18A7-475F-9719-793274FE53E3}"/>
              </a:ext>
            </a:extLst>
          </p:cNvPr>
          <p:cNvSpPr txBox="1"/>
          <p:nvPr/>
        </p:nvSpPr>
        <p:spPr>
          <a:xfrm flipH="1">
            <a:off x="211685" y="4164073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C81903-C2EC-47BB-A2F3-4C50F47EA3CE}"/>
              </a:ext>
            </a:extLst>
          </p:cNvPr>
          <p:cNvSpPr txBox="1"/>
          <p:nvPr/>
        </p:nvSpPr>
        <p:spPr>
          <a:xfrm flipH="1">
            <a:off x="2553611" y="6234330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2C380C-31A3-438C-B269-7E8761506CAE}"/>
              </a:ext>
            </a:extLst>
          </p:cNvPr>
          <p:cNvSpPr txBox="1"/>
          <p:nvPr/>
        </p:nvSpPr>
        <p:spPr>
          <a:xfrm flipH="1">
            <a:off x="4426752" y="6228038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6D19E4-4A7C-4645-A336-037DBA274BB6}"/>
                  </a:ext>
                </a:extLst>
              </p:cNvPr>
              <p:cNvSpPr txBox="1"/>
              <p:nvPr/>
            </p:nvSpPr>
            <p:spPr>
              <a:xfrm>
                <a:off x="7108981" y="715994"/>
                <a:ext cx="4528868" cy="5319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Random forest with 4 trees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Let’s make a prediction for a datapoint in the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orange region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To do so we are going to get a prediction from each tree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 one tree, the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orange region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is in the False region, so the predicted probability is 0.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 three trees, the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orange region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is in the True region, so the predicted probability is .167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e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D7D3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𝒐𝒓𝒂𝒏𝒈𝒆</m:t>
                          </m:r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D7D3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D7D3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𝒓𝒆𝒈𝒊𝒐𝒏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.167+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0=0.125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6D19E4-4A7C-4645-A336-037DBA274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981" y="715994"/>
                <a:ext cx="4528868" cy="5319918"/>
              </a:xfrm>
              <a:prstGeom prst="rect">
                <a:avLst/>
              </a:prstGeom>
              <a:blipFill>
                <a:blip r:embed="rId2"/>
                <a:stretch>
                  <a:fillRect l="-1077" t="-573" r="-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198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6D19E4-4A7C-4645-A336-037DBA274BB6}"/>
                  </a:ext>
                </a:extLst>
              </p:cNvPr>
              <p:cNvSpPr txBox="1"/>
              <p:nvPr/>
            </p:nvSpPr>
            <p:spPr>
              <a:xfrm>
                <a:off x="6935638" y="715994"/>
                <a:ext cx="4702211" cy="5319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Random forest with 4 trees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Let’s make a prediction for a datapoint in the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orange region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To do so we are going to get a prediction from each tree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 one tree, the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orange region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is in the False region, so the predicted probability is 0.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 three trees, the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orange region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is in the True region, so the predicted probability is .167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e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D7D3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𝒐𝒓𝒂𝒏𝒈𝒆</m:t>
                          </m:r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D7D3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D7D3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𝒓𝒆𝒈𝒊𝒐𝒏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.167+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0=0.125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6D19E4-4A7C-4645-A336-037DBA274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638" y="715994"/>
                <a:ext cx="4702211" cy="5319918"/>
              </a:xfrm>
              <a:prstGeom prst="rect">
                <a:avLst/>
              </a:prstGeom>
              <a:blipFill>
                <a:blip r:embed="rId2"/>
                <a:stretch>
                  <a:fillRect l="-1167" t="-5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0BFF527-6F9A-4BA4-8D16-198E8F81CB72}"/>
              </a:ext>
            </a:extLst>
          </p:cNvPr>
          <p:cNvGrpSpPr/>
          <p:nvPr/>
        </p:nvGrpSpPr>
        <p:grpSpPr>
          <a:xfrm>
            <a:off x="4877684" y="3694980"/>
            <a:ext cx="1828570" cy="1937058"/>
            <a:chOff x="3113314" y="618331"/>
            <a:chExt cx="5638800" cy="655309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305EBCC-C4B5-46E2-A3CC-49C382135667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BD6251-B893-4D80-8504-2172A18E2DF5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3FEB48B-982A-468B-9DC9-D792D7F50831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B2DC949-3424-4AD9-BD14-2C5C76A371E2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7400D70-89BC-402A-8F65-E4C6F6C7AD86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F739F98-1E54-4369-8552-439A1A3E3EE1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2785F20-EB2D-47A9-8A94-04E593D352E9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C8F915B-EDA6-4A5C-829D-9AF0211196B9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0EA5563-EA92-42BF-B7A2-B68BC8D0678B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347D340-1A27-4E15-976C-3237D4458D2E}"/>
                </a:ext>
              </a:extLst>
            </p:cNvPr>
            <p:cNvSpPr txBox="1"/>
            <p:nvPr/>
          </p:nvSpPr>
          <p:spPr>
            <a:xfrm flipH="1">
              <a:off x="4753339" y="6234331"/>
              <a:ext cx="701901" cy="937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FEC7918-B102-4948-806C-0BE985F5B9B5}"/>
              </a:ext>
            </a:extLst>
          </p:cNvPr>
          <p:cNvGrpSpPr/>
          <p:nvPr/>
        </p:nvGrpSpPr>
        <p:grpSpPr>
          <a:xfrm>
            <a:off x="2202096" y="1040674"/>
            <a:ext cx="1826648" cy="1658313"/>
            <a:chOff x="3113314" y="618331"/>
            <a:chExt cx="5638800" cy="5615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58CBC0E-8CF4-4BA1-8FC3-8ADC0DBFD779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83B38EA-E5FB-4D4F-B1F9-03AB2C7FA7AD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D03F9A8-7BCB-4BD7-8D0C-F66133651CE7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FC24B4D-52EA-4D02-8E52-0A06BDE2DDE7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6AF3F60-223D-498D-8719-F9B350BA89CA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46E36F2-39A7-4456-9B99-83A1C6D99516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DB4F370-C0A1-409E-B1E4-E4BC4A72945E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2B953D1-A3A6-49A8-AC13-44DC76C58274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D0434EC-7AB1-432D-83F7-68B4CCB80F3E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DF5AF8B-BE06-4D8B-857D-E875C3522EC1}"/>
              </a:ext>
            </a:extLst>
          </p:cNvPr>
          <p:cNvGrpSpPr/>
          <p:nvPr/>
        </p:nvGrpSpPr>
        <p:grpSpPr>
          <a:xfrm>
            <a:off x="2371534" y="3694980"/>
            <a:ext cx="2033204" cy="1641505"/>
            <a:chOff x="2411414" y="618331"/>
            <a:chExt cx="6340700" cy="5615999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89CE343-9A72-4015-9E2D-F183610CBEC5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E7355E8-61A6-4743-966A-4847157202B1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207DA3D-7040-46C7-8558-34B5D875C31F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C8E5401-BEF1-4348-8FEC-F2BD56E64B4F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C9A2B92-EFAF-4315-AF7A-7F3D67D538ED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8316FD6-F1C2-4A42-BACE-7E2555BFEB25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8FC0A49-A3E4-4B3F-BAFC-C31503C9FB62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79047FA-8A72-470E-9701-6E6FCC01DDB8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DDD186C-0CE2-48E1-A76D-8F6909FAF3C7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FFDECB5-FFE2-4364-B1C3-0FA3C8BC47B7}"/>
                </a:ext>
              </a:extLst>
            </p:cNvPr>
            <p:cNvSpPr txBox="1"/>
            <p:nvPr/>
          </p:nvSpPr>
          <p:spPr>
            <a:xfrm flipH="1">
              <a:off x="2411414" y="2324597"/>
              <a:ext cx="701901" cy="947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F36C267-9312-4283-AA75-6355CC048DDA}"/>
              </a:ext>
            </a:extLst>
          </p:cNvPr>
          <p:cNvGrpSpPr/>
          <p:nvPr/>
        </p:nvGrpSpPr>
        <p:grpSpPr>
          <a:xfrm>
            <a:off x="410328" y="3694980"/>
            <a:ext cx="1734145" cy="1700927"/>
            <a:chOff x="3113314" y="618331"/>
            <a:chExt cx="5638800" cy="561599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C23DB64-02C8-4A04-80C1-99D6072CEAC1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D99880C-68B3-449D-9BD5-07B0F5681318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721B0DE-5F7A-4245-BE02-26AC8033688C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DB2A8F1-0107-4FDA-BFE2-2A76DA09D745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DE323A9-CD31-4ABB-87BC-5A2DCE6FACAF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191A50A-6D45-4FA3-B220-AE6F529F127F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DA238A3-2C03-49F4-8AEF-A3C08FE27E46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6496810-96C8-4E17-8D5C-39EC36E6C48F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868E4BD-24F3-43B6-8D1B-1733121AEAD4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2053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807DE4-638C-4101-AA24-D191D549B416}"/>
              </a:ext>
            </a:extLst>
          </p:cNvPr>
          <p:cNvSpPr/>
          <p:nvPr/>
        </p:nvSpPr>
        <p:spPr>
          <a:xfrm>
            <a:off x="587828" y="5188176"/>
            <a:ext cx="1349829" cy="134982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1A3DBD-92C7-43BD-B82E-52BA0A15FA9D}"/>
              </a:ext>
            </a:extLst>
          </p:cNvPr>
          <p:cNvSpPr/>
          <p:nvPr/>
        </p:nvSpPr>
        <p:spPr>
          <a:xfrm>
            <a:off x="587828" y="3579245"/>
            <a:ext cx="1349829" cy="13498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533D58-AE72-4A6C-B363-EDDA3C9594A2}"/>
              </a:ext>
            </a:extLst>
          </p:cNvPr>
          <p:cNvSpPr/>
          <p:nvPr/>
        </p:nvSpPr>
        <p:spPr>
          <a:xfrm>
            <a:off x="587828" y="1970314"/>
            <a:ext cx="1349829" cy="13498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100%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89428F9-254A-4054-A067-D1A1990D9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Predictions in Each Region After 1,000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DD90BF85-3FFF-4899-BDD2-B3BF05EA19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20686" y="2078490"/>
                <a:ext cx="10515600" cy="1100139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In 4 out of 4 trees,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=0.167</m:t>
                    </m:r>
                  </m:oMath>
                </a14:m>
                <a:r>
                  <a:rPr lang="en-US" dirty="0"/>
                  <a:t>.  In 0 out of 4 trees,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0.167+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0=0.167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DD90BF85-3FFF-4899-BDD2-B3BF05EA19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20686" y="2078490"/>
                <a:ext cx="10515600" cy="1100139"/>
              </a:xfrm>
              <a:blipFill>
                <a:blip r:embed="rId5"/>
                <a:stretch>
                  <a:fillRect l="-464" t="-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01AFAC87-206C-4B51-AFEE-7099BEB55C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20686" y="3679372"/>
                <a:ext cx="10515600" cy="1100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 3 out of 4 trees,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  <m:r>
                      <a:rPr kumimoji="0" lang="en-US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=0.167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  In 1 out of 4 trees,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  <m:r>
                      <a:rPr kumimoji="0" lang="en-US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</m:t>
                    </m:r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750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1000</m:t>
                          </m:r>
                        </m:den>
                      </m:f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0.167+</m:t>
                      </m:r>
                      <m:f>
                        <m:f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250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1000</m:t>
                          </m:r>
                        </m:den>
                      </m:f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0=0.125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01AFAC87-206C-4B51-AFEE-7099BEB55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686" y="3679372"/>
                <a:ext cx="10515600" cy="1100139"/>
              </a:xfrm>
              <a:prstGeom prst="rect">
                <a:avLst/>
              </a:prstGeom>
              <a:blipFill>
                <a:blip r:embed="rId3"/>
                <a:stretch>
                  <a:fillRect l="-464" t="-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6D3A68A2-F2AA-4410-8756-3AEF1FFC77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20686" y="5280254"/>
                <a:ext cx="10515600" cy="1100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 2 out of 4 trees,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  <m:r>
                      <a:rPr kumimoji="0" lang="en-US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=0.167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  In 2 out of 4 trees,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  <m:r>
                      <a:rPr kumimoji="0" lang="en-US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</m:t>
                    </m:r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500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1000</m:t>
                          </m:r>
                        </m:den>
                      </m:f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0.167+</m:t>
                      </m:r>
                      <m:f>
                        <m:f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500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1000</m:t>
                          </m:r>
                        </m:den>
                      </m:f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0=0.083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6D3A68A2-F2AA-4410-8756-3AEF1FFC7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686" y="5280254"/>
                <a:ext cx="10515600" cy="1100139"/>
              </a:xfrm>
              <a:prstGeom prst="rect">
                <a:avLst/>
              </a:prstGeom>
              <a:blipFill>
                <a:blip r:embed="rId4"/>
                <a:stretch>
                  <a:fillRect l="-464" t="-8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668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3FA3-8736-4925-B2D4-62519D7D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With a Forest of Stumps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C37C7-150A-47ED-8A3E-EA1C8B2AD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2935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Notice 2 things: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model is not calibrated</a:t>
            </a:r>
          </a:p>
          <a:p>
            <a:pPr lvl="1"/>
            <a:r>
              <a:rPr lang="en-US" dirty="0"/>
              <a:t>Data points that are y=1 have a predicted probability of being y=1 of 0.167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model does a great job ranking Y=1 versus Y=0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will come back to this when we talk about the Area Under the Curve metric</a:t>
            </a:r>
          </a:p>
          <a:p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7F7930C-F889-40CA-B53A-75673A967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162" y="2043906"/>
            <a:ext cx="5410200" cy="391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341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1393</Words>
  <Application>Microsoft Office PowerPoint</Application>
  <PresentationFormat>Widescreen</PresentationFormat>
  <Paragraphs>313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Calibri</vt:lpstr>
      <vt:lpstr>Calibri Light</vt:lpstr>
      <vt:lpstr>Cambria</vt:lpstr>
      <vt:lpstr>Cambria Math</vt:lpstr>
      <vt:lpstr>1_Office Theme</vt:lpstr>
      <vt:lpstr>Office Theme</vt:lpstr>
      <vt:lpstr>INST 414: Data Science Techniques    Random Forest</vt:lpstr>
      <vt:lpstr>Recap Overfitting + Decision Trees</vt:lpstr>
      <vt:lpstr>Overfitting/Underfitting</vt:lpstr>
      <vt:lpstr>Pros + Cons of Trees</vt:lpstr>
      <vt:lpstr>Decision Trees Can’t Extrapolate</vt:lpstr>
      <vt:lpstr>Decision Trees Can’t Extrapolate</vt:lpstr>
      <vt:lpstr>Decision Trees Can’t Extrapolate</vt:lpstr>
      <vt:lpstr>Let’s Predict</vt:lpstr>
      <vt:lpstr>Let’s Predict</vt:lpstr>
      <vt:lpstr>Let’s Predict</vt:lpstr>
      <vt:lpstr>Let’s Predict on Unseen Data</vt:lpstr>
      <vt:lpstr>Why Do Decision Trees Tend to Overfit?</vt:lpstr>
      <vt:lpstr>How Do We Reduce/Prevent Over-fitting?</vt:lpstr>
      <vt:lpstr>How Do We Regularize</vt:lpstr>
      <vt:lpstr>Bias-Variance Tradeoff for Decision Trees</vt:lpstr>
      <vt:lpstr>Bias-Variance Tradeoff</vt:lpstr>
      <vt:lpstr>Random Forest</vt:lpstr>
      <vt:lpstr>Reducing Variance via Ensemble Learning</vt:lpstr>
      <vt:lpstr>A Note on Random Forest</vt:lpstr>
      <vt:lpstr>Applying This Idea to Decision Trees</vt:lpstr>
      <vt:lpstr>Source</vt:lpstr>
      <vt:lpstr>Bagging</vt:lpstr>
      <vt:lpstr>Bootstrap</vt:lpstr>
      <vt:lpstr>Randomness 2</vt:lpstr>
      <vt:lpstr>Putting It All Together</vt:lpstr>
      <vt:lpstr>Hyperparameters in Random Forest</vt:lpstr>
      <vt:lpstr>Compare Decision Tree to Random Forest</vt:lpstr>
      <vt:lpstr>Stumps</vt:lpstr>
      <vt:lpstr>Under-fitting with a Decision Stump</vt:lpstr>
      <vt:lpstr>Decision Stump Model</vt:lpstr>
      <vt:lpstr>Average Underfit Stumps w/ Random Forest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Predictions in Each Region After 1,000 Trees</vt:lpstr>
      <vt:lpstr>Predicting With a Forest of Stumps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 414: Data Science Techniques    Random Forest</dc:title>
  <dc:creator>Zubin Jelveh</dc:creator>
  <cp:lastModifiedBy>Zubin Jelveh</cp:lastModifiedBy>
  <cp:revision>2</cp:revision>
  <dcterms:created xsi:type="dcterms:W3CDTF">2026-03-30T15:14:14Z</dcterms:created>
  <dcterms:modified xsi:type="dcterms:W3CDTF">2026-03-30T15:22:47Z</dcterms:modified>
</cp:coreProperties>
</file>