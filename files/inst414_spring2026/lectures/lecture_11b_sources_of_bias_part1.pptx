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1"/>
  </p:notesMasterIdLst>
  <p:sldIdLst>
    <p:sldId id="652" r:id="rId28"/>
    <p:sldId id="775" r:id="rId27"/>
    <p:sldId id="654" r:id="rId29"/>
    <p:sldId id="674" r:id="rId30"/>
    <p:sldId id="670" r:id="rId31"/>
    <p:sldId id="776" r:id="rId26"/>
    <p:sldId id="671" r:id="rId32"/>
    <p:sldId id="672" r:id="rId33"/>
    <p:sldId id="673" r:id="rId34"/>
    <p:sldId id="675" r:id="rId35"/>
    <p:sldId id="676" r:id="rId36"/>
    <p:sldId id="653" r:id="rId37"/>
    <p:sldId id="267" r:id="rId38"/>
    <p:sldId id="677" r:id="rId39"/>
    <p:sldId id="281" r:id="rId40"/>
    <p:sldId id="284" r:id="rId41"/>
    <p:sldId id="282" r:id="rId42"/>
    <p:sldId id="285" r:id="rId43"/>
    <p:sldId id="292" r:id="rId44"/>
    <p:sldId id="288" r:id="rId45"/>
    <p:sldId id="297" r:id="rId46"/>
    <p:sldId id="768" r:id="rId47"/>
    <p:sldId id="291" r:id="rId48"/>
    <p:sldId id="293" r:id="rId49"/>
    <p:sldId id="295" r:id="rId50"/>
    <p:sldId id="770" r:id="rId51"/>
    <p:sldId id="296" r:id="rId52"/>
    <p:sldId id="299" r:id="rId53"/>
    <p:sldId id="301" r:id="rId54"/>
    <p:sldId id="773" r:id="rId55"/>
    <p:sldId id="774" r:id="rId56"/>
    <p:sldId id="772" r:id="rId57"/>
    <p:sldId id="302" r:id="rId58"/>
    <p:sldId id="655" r:id="rId59"/>
    <p:sldId id="656" r:id="rId60"/>
    <p:sldId id="659" r:id="rId61"/>
    <p:sldId id="660" r:id="rId62"/>
    <p:sldId id="777" r:id="rId25"/>
    <p:sldId id="661" r:id="rId63"/>
    <p:sldId id="662" r:id="rId64"/>
    <p:sldId id="663" r:id="rId65"/>
    <p:sldId id="664" r:id="rId66"/>
    <p:sldId id="667" r:id="rId67"/>
    <p:sldId id="668" r:id="rId68"/>
    <p:sldId id="666" r:id="rId69"/>
    <p:sldId id="703" r:id="rId70"/>
    <p:sldId id="708" r:id="rId71"/>
    <p:sldId id="740" r:id="rId72"/>
    <p:sldId id="702" r:id="rId73"/>
    <p:sldId id="711" r:id="rId74"/>
    <p:sldId id="7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0ED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4" Type="http://schemas.openxmlformats.org/officeDocument/2006/relationships/slide" Target="slides/slide51.xml"/><Relationship Id="rId25" Type="http://schemas.openxmlformats.org/officeDocument/2006/relationships/slide" Target="slides/slide50.xml"/><Relationship Id="rId26" Type="http://schemas.openxmlformats.org/officeDocument/2006/relationships/slide" Target="slides/slide49.xml"/><Relationship Id="rId27" Type="http://schemas.openxmlformats.org/officeDocument/2006/relationships/slide" Target="slides/slide48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91" Type="http://schemas.openxmlformats.org/officeDocument/2006/relationships/notesMaster" Target="notesMasters/notesMaster1.xml"/><Relationship Id="rId92" Type="http://schemas.openxmlformats.org/officeDocument/2006/relationships/presProps" Target="presProps.xml"/><Relationship Id="rId93" Type="http://schemas.openxmlformats.org/officeDocument/2006/relationships/viewProps" Target="viewProps.xml"/><Relationship Id="rId94" Type="http://schemas.openxmlformats.org/officeDocument/2006/relationships/theme" Target="theme/theme1.xml"/><Relationship Id="rId9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A8005B-BB1C-4B9D-A8C4-F9CE1FCAFC3D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12B64-0184-4978-B463-8DA5A0637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9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1733-1111-4020-80CF-1027A26D2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31730-60D1-4195-855A-5BFAC6C8B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FCD8F-15CA-4B78-9991-1C8A0A71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1804209A-C6D7-496B-8537-5782FDB96C12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627FA-69D8-4892-ADD0-442AE9FD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5B53B-A9A7-4A38-AC44-97F4F8328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6C87352C-6AF1-4D42-A15A-45C6FA13D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6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1540-682B-4DCA-9361-C88BB971B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AC6AE-DC84-4104-825A-6EF213FFE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6786B-D1CB-4857-A356-C791502C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1804209A-C6D7-496B-8537-5782FDB96C12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2753D-0E21-4FDB-82B0-7F8F3F09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88069-A43B-4E6F-A666-DB8538C0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6C87352C-6AF1-4D42-A15A-45C6FA13D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B819F-5EF8-462B-81F5-242BA4803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7B780-66FE-439F-85AE-04FF909A0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540FF-F5C5-43E7-980B-6288E92BA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1804209A-C6D7-496B-8537-5782FDB96C12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A5E5B-7404-4425-92F7-661962D32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83244-D302-4753-9011-3085E6041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6C87352C-6AF1-4D42-A15A-45C6FA13D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82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C4737-73F0-488A-8143-23784699F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F13FD-7FB4-405C-9701-8AC68AF3A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BEA1A-FFC1-4D32-8E39-484C61747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4E644-5BEF-48FA-94A5-8DDF95D3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6D34E-62BE-42CB-954A-BFADC5C9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B9ABC-C756-4BCD-A926-C8B1CCFD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1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824D4-E554-4CA4-88B9-85F446181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8C30A-382B-4369-8F44-FB7D8F620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51816-F25D-4A70-9847-2D391C1E2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3088ED-9888-4E6B-8267-000EF5B347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BECD2C-3967-4873-B333-A55664A0B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E8580D-F28E-4B19-BC9E-ECC5985A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30A328-AECD-4DD2-A016-8BCD85C2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6B5C51-7186-4B3B-BCB4-8B3ECE62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16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8FF02-719D-4FFC-BF77-1860BD90C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69F0B-E328-495F-9C5E-509BDA933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1804209A-C6D7-496B-8537-5782FDB96C12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322280-409B-4DB7-B729-72B71C0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8E1517-4C78-472E-8444-8DDCEE821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6C87352C-6AF1-4D42-A15A-45C6FA13D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84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46AA6-92A2-4226-BB84-60EE33DF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E6895-C3B0-4240-821D-70BD698B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811DD-B229-4CE6-B27E-C9DDD717A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14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76C51-B600-4F09-BDD2-2B4724C91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5F864-8307-4BB0-8286-75110D953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ED6D0-0213-4761-A2FF-207AF681F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3E146-30D1-4B24-8061-A6C8FF8D3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F91EE-3404-4217-A0A3-C9E2B397B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3FBE4-DEF7-4F86-BF25-3503D58F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0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E020-BD4C-4344-848C-8138D3A69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97018-A452-4434-A6EB-6A6F84874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4A571-6865-4C63-9372-ED1496784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C2509-3A6D-4AE4-A63E-A9ECC5E4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27C3F-25C2-48A9-9D23-4341D6F19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3DBA2-438D-4462-A28E-7AC292EAD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51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4C59-BFB9-4648-8769-81D7F727D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C954F-CF0A-4E8E-8FFC-A03842B30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3C079-FBAA-4617-9C03-2BFC538D0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CF761-8E7C-4A50-B727-6F6086906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F500C-A4CB-4A2A-9F5D-A3F8FFAB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2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DFE6EE-C625-433F-A4C1-17FE127D0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67B4D-7F6B-4A95-83B1-7991DDC8B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4C59D-F805-4DE1-A743-958927DEC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82274-7ABC-4F74-A181-96FA51F2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08FD9-33BB-4C87-9B32-07D183E3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98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33D7A-0A6E-42AD-B3D5-B4ABAB8C8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0CB52-10D8-4250-A12F-C1FA80B5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69C9A885-88C9-4C05-AFCE-22FED3FC0DB3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9DBF8-B560-4428-9C4E-CC977AC8A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6E9FA-577A-4F23-A9C4-33EF271E8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3F6F1116-0702-451C-8E3A-AB937AA20C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368733-2A13-49C0-B174-3B6785DD244B}"/>
              </a:ext>
            </a:extLst>
          </p:cNvPr>
          <p:cNvSpPr txBox="1">
            <a:spLocks/>
          </p:cNvSpPr>
          <p:nvPr userDrawn="1"/>
        </p:nvSpPr>
        <p:spPr>
          <a:xfrm>
            <a:off x="293915" y="223612"/>
            <a:ext cx="116041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b="0" i="0" kern="1200">
                <a:solidFill>
                  <a:srgbClr val="7C0622"/>
                </a:solidFill>
                <a:latin typeface="Graphik Medium" charset="0"/>
                <a:ea typeface="Graphik Medium" charset="0"/>
                <a:cs typeface="Graphik Medium" charset="0"/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none" strike="noStrike" kern="1200" cap="none" spc="0" normalizeH="0" baseline="0" noProof="0" dirty="0">
              <a:ln>
                <a:noFill/>
              </a:ln>
              <a:solidFill>
                <a:srgbClr val="7C0622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9520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781C5-E59C-4BB0-8873-BAE364B44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6E6EC-8099-4621-86BD-B6DF198E7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271C2-25A2-4664-A0AB-5B82465A6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1804209A-C6D7-496B-8537-5782FDB96C12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49414-77F4-48CA-8DC1-3DC095D90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AD38D-6CAF-4577-964B-6FC51F266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6C87352C-6AF1-4D42-A15A-45C6FA13D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51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0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0.png"/><Relationship Id="rId3" Type="http://schemas.openxmlformats.org/officeDocument/2006/relationships/image" Target="../media/image370.png"/><Relationship Id="rId4" Type="http://schemas.openxmlformats.org/officeDocument/2006/relationships/image" Target="../media/image38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0.png"/><Relationship Id="rId3" Type="http://schemas.openxmlformats.org/officeDocument/2006/relationships/image" Target="../media/image390.png"/><Relationship Id="rId4" Type="http://schemas.openxmlformats.org/officeDocument/2006/relationships/image" Target="../media/image40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0.png"/><Relationship Id="rId3" Type="http://schemas.openxmlformats.org/officeDocument/2006/relationships/image" Target="../media/image410.png"/><Relationship Id="rId4" Type="http://schemas.openxmlformats.org/officeDocument/2006/relationships/image" Target="../media/image4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0.png"/><Relationship Id="rId3" Type="http://schemas.openxmlformats.org/officeDocument/2006/relationships/image" Target="../media/image430.png"/><Relationship Id="rId4" Type="http://schemas.openxmlformats.org/officeDocument/2006/relationships/image" Target="../media/image4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1.png"/><Relationship Id="rId3" Type="http://schemas.openxmlformats.org/officeDocument/2006/relationships/image" Target="../media/image45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370.png"/><Relationship Id="rId4" Type="http://schemas.openxmlformats.org/officeDocument/2006/relationships/image" Target="../media/image5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460.png"/><Relationship Id="rId4" Type="http://schemas.openxmlformats.org/officeDocument/2006/relationships/image" Target="../media/image25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0.png"/><Relationship Id="rId3" Type="http://schemas.openxmlformats.org/officeDocument/2006/relationships/image" Target="../media/image5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0.png"/><Relationship Id="rId4" Type="http://schemas.openxmlformats.org/officeDocument/2006/relationships/image" Target="../media/image6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480.png"/><Relationship Id="rId4" Type="http://schemas.openxmlformats.org/officeDocument/2006/relationships/image" Target="../media/image6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6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68.png"/><Relationship Id="rId4" Type="http://schemas.openxmlformats.org/officeDocument/2006/relationships/image" Target="../media/image62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6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0.png"/><Relationship Id="rId3" Type="http://schemas.openxmlformats.org/officeDocument/2006/relationships/image" Target="../media/image63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65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820.png"/><Relationship Id="rId7" Type="http://schemas.openxmlformats.org/officeDocument/2006/relationships/image" Target="../media/image830.png"/><Relationship Id="rId8" Type="http://schemas.openxmlformats.org/officeDocument/2006/relationships/image" Target="../media/image8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1.png"/><Relationship Id="rId3" Type="http://schemas.openxmlformats.org/officeDocument/2006/relationships/image" Target="../media/image113.png"/><Relationship Id="rId4" Type="http://schemas.openxmlformats.org/officeDocument/2006/relationships/image" Target="../media/image31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/Relationships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626C-6016-4AFE-A3A3-82B8BA19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t>Lecture 11b</a:t>
            </a:r>
          </a:p>
          <a:p>
            <a:r>
              <a:t>Sources of Bias in Predictions I</a:t>
            </a:r>
          </a:p>
        </p:txBody>
      </p:sp>
    </p:spTree>
    <p:extLst>
      <p:ext uri="{BB962C8B-B14F-4D97-AF65-F5344CB8AC3E}">
        <p14:creationId xmlns:p14="http://schemas.microsoft.com/office/powerpoint/2010/main" val="3867402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1A6C-BFFA-4B1A-987D-3E9A54FAA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Mean by Bias?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3BC20-96BF-4CEB-AC61-4A6F0D55E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a “fairness criterion” </a:t>
            </a:r>
          </a:p>
          <a:p>
            <a:pPr lvl="1"/>
            <a:r>
              <a:rPr lang="en-US" dirty="0"/>
              <a:t>For example, that False Positive Rates should be balanced between groups (race, gender, age,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Could be more than one</a:t>
            </a:r>
          </a:p>
          <a:p>
            <a:pPr lvl="1"/>
            <a:endParaRPr lang="en-US" dirty="0"/>
          </a:p>
          <a:p>
            <a:r>
              <a:rPr lang="en-US" dirty="0"/>
              <a:t>If the criteria are not balanced, we’ll call this biased or unfair for today’s discussion.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There are infinite definitions of bias, so no claim that this is the only way to measure it</a:t>
            </a:r>
          </a:p>
        </p:txBody>
      </p:sp>
    </p:spTree>
    <p:extLst>
      <p:ext uri="{BB962C8B-B14F-4D97-AF65-F5344CB8AC3E}">
        <p14:creationId xmlns:p14="http://schemas.microsoft.com/office/powerpoint/2010/main" val="981126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9E7E-34E6-4410-9E68-9F8F56130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BC741-AFD6-490A-9F42-8D453E945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be coming from police arrests</a:t>
            </a:r>
          </a:p>
          <a:p>
            <a:endParaRPr lang="en-US" dirty="0"/>
          </a:p>
          <a:p>
            <a:r>
              <a:rPr lang="en-US" dirty="0"/>
              <a:t>So we will either want to predict arrest in the future (next year)</a:t>
            </a:r>
          </a:p>
          <a:p>
            <a:endParaRPr lang="en-US" dirty="0"/>
          </a:p>
          <a:p>
            <a:r>
              <a:rPr lang="en-US" dirty="0"/>
              <a:t>Or use arrest data to predict another outcome (likelihood of dropping out of high school)</a:t>
            </a:r>
          </a:p>
          <a:p>
            <a:endParaRPr lang="en-US" dirty="0"/>
          </a:p>
          <a:p>
            <a:r>
              <a:rPr lang="en-US" dirty="0"/>
              <a:t>Or you could use arrest data as a predictor (X) or outcome to predict (Y)</a:t>
            </a:r>
          </a:p>
        </p:txBody>
      </p:sp>
    </p:spTree>
    <p:extLst>
      <p:ext uri="{BB962C8B-B14F-4D97-AF65-F5344CB8AC3E}">
        <p14:creationId xmlns:p14="http://schemas.microsoft.com/office/powerpoint/2010/main" val="2129432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039ED-9BAD-453D-880A-07999242B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Bias Come From?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5D880-1729-47E7-99B4-A7D4FA2B2FCD}"/>
              </a:ext>
            </a:extLst>
          </p:cNvPr>
          <p:cNvSpPr/>
          <p:nvPr/>
        </p:nvSpPr>
        <p:spPr>
          <a:xfrm>
            <a:off x="8236149" y="2940498"/>
            <a:ext cx="1859623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Arrested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28354E-5F68-49C4-9E54-C980BFC29244}"/>
              </a:ext>
            </a:extLst>
          </p:cNvPr>
          <p:cNvCxnSpPr>
            <a:cxnSpLocks/>
            <a:stCxn id="18" idx="3"/>
            <a:endCxn id="17" idx="1"/>
          </p:cNvCxnSpPr>
          <p:nvPr/>
        </p:nvCxnSpPr>
        <p:spPr>
          <a:xfrm flipV="1">
            <a:off x="2284581" y="2654183"/>
            <a:ext cx="1239470" cy="132580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714EC3-DF6E-4E7D-8FAC-523A324C9F3C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2284581" y="3979986"/>
            <a:ext cx="1281152" cy="154405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BDF326A-FB46-41E6-882F-F0B6AB5A9F56}"/>
              </a:ext>
            </a:extLst>
          </p:cNvPr>
          <p:cNvSpPr/>
          <p:nvPr/>
        </p:nvSpPr>
        <p:spPr>
          <a:xfrm>
            <a:off x="424958" y="3580578"/>
            <a:ext cx="1859623" cy="7988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Crime Committed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06F41C-2101-4BA4-B529-913DC4D1EC2B}"/>
              </a:ext>
            </a:extLst>
          </p:cNvPr>
          <p:cNvSpPr/>
          <p:nvPr/>
        </p:nvSpPr>
        <p:spPr>
          <a:xfrm>
            <a:off x="8236150" y="1614935"/>
            <a:ext cx="1859623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Arrested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EE8A5-E50D-43AA-9824-A6FA79D24CD0}"/>
              </a:ext>
            </a:extLst>
          </p:cNvPr>
          <p:cNvSpPr/>
          <p:nvPr/>
        </p:nvSpPr>
        <p:spPr>
          <a:xfrm>
            <a:off x="3524051" y="2254775"/>
            <a:ext cx="1859623" cy="7988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Crime Reported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E4B6AB-7903-4731-B13C-2D881C97C2FD}"/>
              </a:ext>
            </a:extLst>
          </p:cNvPr>
          <p:cNvSpPr/>
          <p:nvPr/>
        </p:nvSpPr>
        <p:spPr>
          <a:xfrm>
            <a:off x="3565733" y="5124635"/>
            <a:ext cx="1859623" cy="7988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Crime Not Reported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F22341-383B-4FF5-8EB2-0D2F2E7ECA71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5383674" y="1934975"/>
            <a:ext cx="2852476" cy="71920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6AA689-FE6F-4974-9254-28A43737650E}"/>
              </a:ext>
            </a:extLst>
          </p:cNvPr>
          <p:cNvCxnSpPr>
            <a:cxnSpLocks/>
            <a:stCxn id="17" idx="3"/>
            <a:endCxn id="4" idx="1"/>
          </p:cNvCxnSpPr>
          <p:nvPr/>
        </p:nvCxnSpPr>
        <p:spPr>
          <a:xfrm>
            <a:off x="5383674" y="2654183"/>
            <a:ext cx="2852475" cy="606355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FC7D99B-5581-4F19-821E-18EBE824FB46}"/>
              </a:ext>
            </a:extLst>
          </p:cNvPr>
          <p:cNvSpPr/>
          <p:nvPr/>
        </p:nvSpPr>
        <p:spPr>
          <a:xfrm>
            <a:off x="8236148" y="5729502"/>
            <a:ext cx="1859623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Arrested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C53DEA1-63B5-4028-9AD2-EA8C3EDCB2BD}"/>
              </a:ext>
            </a:extLst>
          </p:cNvPr>
          <p:cNvSpPr/>
          <p:nvPr/>
        </p:nvSpPr>
        <p:spPr>
          <a:xfrm>
            <a:off x="8236149" y="4403939"/>
            <a:ext cx="1859623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Arrested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6C25F5E-2D6F-4FDD-80E8-BD28A605F91A}"/>
              </a:ext>
            </a:extLst>
          </p:cNvPr>
          <p:cNvCxnSpPr>
            <a:cxnSpLocks/>
            <a:stCxn id="20" idx="3"/>
            <a:endCxn id="36" idx="1"/>
          </p:cNvCxnSpPr>
          <p:nvPr/>
        </p:nvCxnSpPr>
        <p:spPr>
          <a:xfrm flipV="1">
            <a:off x="5425356" y="4723979"/>
            <a:ext cx="2810793" cy="800064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73100DF-708E-4F5D-8035-8B61CC32D86E}"/>
              </a:ext>
            </a:extLst>
          </p:cNvPr>
          <p:cNvCxnSpPr>
            <a:cxnSpLocks/>
            <a:stCxn id="20" idx="3"/>
            <a:endCxn id="32" idx="1"/>
          </p:cNvCxnSpPr>
          <p:nvPr/>
        </p:nvCxnSpPr>
        <p:spPr>
          <a:xfrm>
            <a:off x="5425356" y="5524043"/>
            <a:ext cx="2810792" cy="52549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B673C7-E6AF-4306-94C2-F1F2D8DFC20F}"/>
                  </a:ext>
                </a:extLst>
              </p:cNvPr>
              <p:cNvSpPr txBox="1"/>
              <p:nvPr/>
            </p:nvSpPr>
            <p:spPr>
              <a:xfrm>
                <a:off x="613003" y="2898901"/>
                <a:ext cx="277570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𝑅𝑒𝑝𝑜𝑟𝑡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 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B673C7-E6AF-4306-94C2-F1F2D8DFC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03" y="2898901"/>
                <a:ext cx="2775704" cy="261610"/>
              </a:xfrm>
              <a:prstGeom prst="rect">
                <a:avLst/>
              </a:prstGeom>
              <a:blipFill>
                <a:blip r:embed="rId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A812A2-2DA7-43BE-8499-DBE8CD319897}"/>
                  </a:ext>
                </a:extLst>
              </p:cNvPr>
              <p:cNvSpPr txBox="1"/>
              <p:nvPr/>
            </p:nvSpPr>
            <p:spPr>
              <a:xfrm>
                <a:off x="580769" y="5044019"/>
                <a:ext cx="277570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𝑅𝑒𝑝𝑜𝑟𝑡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 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A812A2-2DA7-43BE-8499-DBE8CD319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69" y="5044019"/>
                <a:ext cx="2775704" cy="261610"/>
              </a:xfrm>
              <a:prstGeom prst="rect">
                <a:avLst/>
              </a:prstGeom>
              <a:blipFill>
                <a:blip r:embed="rId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D96758-BAF6-4CD8-8B20-4213E840AFD8}"/>
                  </a:ext>
                </a:extLst>
              </p:cNvPr>
              <p:cNvSpPr txBox="1"/>
              <p:nvPr/>
            </p:nvSpPr>
            <p:spPr>
              <a:xfrm>
                <a:off x="5061704" y="1841926"/>
                <a:ext cx="277570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𝑅𝑒𝑝𝑜𝑟𝑡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D96758-BAF6-4CD8-8B20-4213E840A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704" y="1841926"/>
                <a:ext cx="2775704" cy="261610"/>
              </a:xfrm>
              <a:prstGeom prst="rect">
                <a:avLst/>
              </a:prstGeom>
              <a:blipFill>
                <a:blip r:embed="rId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FB6F50-6CD2-4149-A1FA-99358F668D30}"/>
                  </a:ext>
                </a:extLst>
              </p:cNvPr>
              <p:cNvSpPr txBox="1"/>
              <p:nvPr/>
            </p:nvSpPr>
            <p:spPr>
              <a:xfrm>
                <a:off x="5061704" y="3218270"/>
                <a:ext cx="277570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𝑅𝑒𝑝𝑜𝑟𝑡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FB6F50-6CD2-4149-A1FA-99358F66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704" y="3218270"/>
                <a:ext cx="2775704" cy="261610"/>
              </a:xfrm>
              <a:prstGeom prst="rect">
                <a:avLst/>
              </a:prstGeom>
              <a:blipFill>
                <a:blip r:embed="rId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D1EDE1-E917-44FF-A85C-8F4457C22ED4}"/>
                  </a:ext>
                </a:extLst>
              </p:cNvPr>
              <p:cNvSpPr txBox="1"/>
              <p:nvPr/>
            </p:nvSpPr>
            <p:spPr>
              <a:xfrm>
                <a:off x="5058832" y="4651256"/>
                <a:ext cx="277570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𝑅𝑒𝑝𝑜𝑟𝑡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D1EDE1-E917-44FF-A85C-8F4457C22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832" y="4651256"/>
                <a:ext cx="2775704" cy="261610"/>
              </a:xfrm>
              <a:prstGeom prst="rect">
                <a:avLst/>
              </a:prstGeom>
              <a:blipFill>
                <a:blip r:embed="rId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E501B58-F894-4AC4-8DD7-4E121FA9634C}"/>
                  </a:ext>
                </a:extLst>
              </p:cNvPr>
              <p:cNvSpPr txBox="1"/>
              <p:nvPr/>
            </p:nvSpPr>
            <p:spPr>
              <a:xfrm>
                <a:off x="5058832" y="6027600"/>
                <a:ext cx="277570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𝑅𝑒𝑝𝑜𝑟𝑡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E501B58-F894-4AC4-8DD7-4E121FA96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832" y="6027600"/>
                <a:ext cx="2775704" cy="261610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6748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039ED-9BAD-453D-880A-07999242B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Bias Come From?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5D880-1729-47E7-99B4-A7D4FA2B2FCD}"/>
              </a:ext>
            </a:extLst>
          </p:cNvPr>
          <p:cNvSpPr/>
          <p:nvPr/>
        </p:nvSpPr>
        <p:spPr>
          <a:xfrm>
            <a:off x="6648886" y="3118380"/>
            <a:ext cx="1859623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Arrested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06F41C-2101-4BA4-B529-913DC4D1EC2B}"/>
              </a:ext>
            </a:extLst>
          </p:cNvPr>
          <p:cNvSpPr/>
          <p:nvPr/>
        </p:nvSpPr>
        <p:spPr>
          <a:xfrm>
            <a:off x="6648885" y="2023860"/>
            <a:ext cx="1859623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Arrested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EE8A5-E50D-43AA-9824-A6FA79D24CD0}"/>
              </a:ext>
            </a:extLst>
          </p:cNvPr>
          <p:cNvSpPr/>
          <p:nvPr/>
        </p:nvSpPr>
        <p:spPr>
          <a:xfrm>
            <a:off x="1916995" y="2416012"/>
            <a:ext cx="1859623" cy="7988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Crime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F22341-383B-4FF5-8EB2-0D2F2E7ECA71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3776618" y="2343900"/>
            <a:ext cx="2872267" cy="47152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6AA689-FE6F-4974-9254-28A43737650E}"/>
              </a:ext>
            </a:extLst>
          </p:cNvPr>
          <p:cNvCxnSpPr>
            <a:cxnSpLocks/>
            <a:stCxn id="17" idx="3"/>
            <a:endCxn id="4" idx="1"/>
          </p:cNvCxnSpPr>
          <p:nvPr/>
        </p:nvCxnSpPr>
        <p:spPr>
          <a:xfrm>
            <a:off x="3776618" y="2815420"/>
            <a:ext cx="2872268" cy="62300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D96758-BAF6-4CD8-8B20-4213E840AFD8}"/>
                  </a:ext>
                </a:extLst>
              </p:cNvPr>
              <p:cNvSpPr txBox="1"/>
              <p:nvPr/>
            </p:nvSpPr>
            <p:spPr>
              <a:xfrm>
                <a:off x="3635467" y="2082290"/>
                <a:ext cx="277570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D96758-BAF6-4CD8-8B20-4213E840A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467" y="2082290"/>
                <a:ext cx="2775704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FB6F50-6CD2-4149-A1FA-99358F668D30}"/>
                  </a:ext>
                </a:extLst>
              </p:cNvPr>
              <p:cNvSpPr txBox="1"/>
              <p:nvPr/>
            </p:nvSpPr>
            <p:spPr>
              <a:xfrm>
                <a:off x="3635467" y="3555543"/>
                <a:ext cx="277570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FB6F50-6CD2-4149-A1FA-99358F66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467" y="3555543"/>
                <a:ext cx="2775704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F42497D3-EC5B-4A4F-999E-6AF47B352B5B}"/>
              </a:ext>
            </a:extLst>
          </p:cNvPr>
          <p:cNvSpPr/>
          <p:nvPr/>
        </p:nvSpPr>
        <p:spPr>
          <a:xfrm>
            <a:off x="6648885" y="5794102"/>
            <a:ext cx="1859623" cy="6400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Arrested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7CF451-8A18-4ADD-AF27-77E1B5D30F9F}"/>
              </a:ext>
            </a:extLst>
          </p:cNvPr>
          <p:cNvSpPr/>
          <p:nvPr/>
        </p:nvSpPr>
        <p:spPr>
          <a:xfrm>
            <a:off x="6648884" y="4699582"/>
            <a:ext cx="1859623" cy="6400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Arrested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E938B4-1C37-4229-B681-285CF5F49775}"/>
              </a:ext>
            </a:extLst>
          </p:cNvPr>
          <p:cNvSpPr/>
          <p:nvPr/>
        </p:nvSpPr>
        <p:spPr>
          <a:xfrm>
            <a:off x="1916994" y="5091734"/>
            <a:ext cx="1859623" cy="7988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Crime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DE6BD9B-86CD-4A26-9D92-53768AD501E0}"/>
              </a:ext>
            </a:extLst>
          </p:cNvPr>
          <p:cNvCxnSpPr>
            <a:cxnSpLocks/>
            <a:stCxn id="29" idx="3"/>
            <a:endCxn id="28" idx="1"/>
          </p:cNvCxnSpPr>
          <p:nvPr/>
        </p:nvCxnSpPr>
        <p:spPr>
          <a:xfrm flipV="1">
            <a:off x="3776617" y="5019622"/>
            <a:ext cx="2872267" cy="47152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C5F9AE4-F3E5-4F92-B99B-05F7FE3B7311}"/>
              </a:ext>
            </a:extLst>
          </p:cNvPr>
          <p:cNvCxnSpPr>
            <a:cxnSpLocks/>
            <a:stCxn id="29" idx="3"/>
            <a:endCxn id="27" idx="1"/>
          </p:cNvCxnSpPr>
          <p:nvPr/>
        </p:nvCxnSpPr>
        <p:spPr>
          <a:xfrm>
            <a:off x="3776617" y="5491142"/>
            <a:ext cx="2872268" cy="62300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A17463-BBD4-4BB7-B90E-5583ECEFD6AC}"/>
                  </a:ext>
                </a:extLst>
              </p:cNvPr>
              <p:cNvSpPr txBox="1"/>
              <p:nvPr/>
            </p:nvSpPr>
            <p:spPr>
              <a:xfrm>
                <a:off x="3635466" y="4758012"/>
                <a:ext cx="277570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A17463-BBD4-4BB7-B90E-5583ECEFD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466" y="4758012"/>
                <a:ext cx="2775704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C0675F-8180-4B58-AC0D-DBE24D15093D}"/>
                  </a:ext>
                </a:extLst>
              </p:cNvPr>
              <p:cNvSpPr txBox="1"/>
              <p:nvPr/>
            </p:nvSpPr>
            <p:spPr>
              <a:xfrm>
                <a:off x="3635466" y="6231265"/>
                <a:ext cx="277570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C0675F-8180-4B58-AC0D-DBE24D150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466" y="6231265"/>
                <a:ext cx="2775704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9812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039ED-9BAD-453D-880A-07999242B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Bias Come From? Scenario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5D880-1729-47E7-99B4-A7D4FA2B2FCD}"/>
              </a:ext>
            </a:extLst>
          </p:cNvPr>
          <p:cNvSpPr/>
          <p:nvPr/>
        </p:nvSpPr>
        <p:spPr>
          <a:xfrm>
            <a:off x="5777621" y="3118380"/>
            <a:ext cx="1859623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Arrested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06F41C-2101-4BA4-B529-913DC4D1EC2B}"/>
              </a:ext>
            </a:extLst>
          </p:cNvPr>
          <p:cNvSpPr/>
          <p:nvPr/>
        </p:nvSpPr>
        <p:spPr>
          <a:xfrm>
            <a:off x="5777620" y="2023860"/>
            <a:ext cx="1859623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Arrested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EE8A5-E50D-43AA-9824-A6FA79D24CD0}"/>
              </a:ext>
            </a:extLst>
          </p:cNvPr>
          <p:cNvSpPr/>
          <p:nvPr/>
        </p:nvSpPr>
        <p:spPr>
          <a:xfrm>
            <a:off x="1045730" y="2416012"/>
            <a:ext cx="1859623" cy="7988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Crime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F22341-383B-4FF5-8EB2-0D2F2E7ECA71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2905353" y="2343900"/>
            <a:ext cx="2872267" cy="47152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6AA689-FE6F-4974-9254-28A43737650E}"/>
              </a:ext>
            </a:extLst>
          </p:cNvPr>
          <p:cNvCxnSpPr>
            <a:cxnSpLocks/>
            <a:stCxn id="17" idx="3"/>
            <a:endCxn id="4" idx="1"/>
          </p:cNvCxnSpPr>
          <p:nvPr/>
        </p:nvCxnSpPr>
        <p:spPr>
          <a:xfrm>
            <a:off x="2905353" y="2815420"/>
            <a:ext cx="2872268" cy="62300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D96758-BAF6-4CD8-8B20-4213E840AFD8}"/>
                  </a:ext>
                </a:extLst>
              </p:cNvPr>
              <p:cNvSpPr txBox="1"/>
              <p:nvPr/>
            </p:nvSpPr>
            <p:spPr>
              <a:xfrm>
                <a:off x="7836524" y="2246189"/>
                <a:ext cx="330974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𝐴𝑟𝑟𝑒𝑠𝑡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𝐶𝑟𝑖𝑚𝑒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=1,  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𝑅𝑎𝑐𝑒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1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=50%</m:t>
                    </m:r>
                  </m:oMath>
                </a14:m>
                <a:r>
                  <a:rPr lang="en-US" sz="1100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D96758-BAF6-4CD8-8B20-4213E840A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4" y="2246189"/>
                <a:ext cx="3309746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FB6F50-6CD2-4149-A1FA-99358F668D30}"/>
                  </a:ext>
                </a:extLst>
              </p:cNvPr>
              <p:cNvSpPr txBox="1"/>
              <p:nvPr/>
            </p:nvSpPr>
            <p:spPr>
              <a:xfrm>
                <a:off x="7836523" y="3260406"/>
                <a:ext cx="299825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=50%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FB6F50-6CD2-4149-A1FA-99358F66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3" y="3260406"/>
                <a:ext cx="2998253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F42497D3-EC5B-4A4F-999E-6AF47B352B5B}"/>
              </a:ext>
            </a:extLst>
          </p:cNvPr>
          <p:cNvSpPr/>
          <p:nvPr/>
        </p:nvSpPr>
        <p:spPr>
          <a:xfrm>
            <a:off x="5777620" y="5794102"/>
            <a:ext cx="1859623" cy="6400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Arrested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7CF451-8A18-4ADD-AF27-77E1B5D30F9F}"/>
              </a:ext>
            </a:extLst>
          </p:cNvPr>
          <p:cNvSpPr/>
          <p:nvPr/>
        </p:nvSpPr>
        <p:spPr>
          <a:xfrm>
            <a:off x="5777619" y="4699582"/>
            <a:ext cx="1859623" cy="6400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Arrested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E938B4-1C37-4229-B681-285CF5F49775}"/>
              </a:ext>
            </a:extLst>
          </p:cNvPr>
          <p:cNvSpPr/>
          <p:nvPr/>
        </p:nvSpPr>
        <p:spPr>
          <a:xfrm>
            <a:off x="1045729" y="5091734"/>
            <a:ext cx="1859623" cy="7988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Crime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DE6BD9B-86CD-4A26-9D92-53768AD501E0}"/>
              </a:ext>
            </a:extLst>
          </p:cNvPr>
          <p:cNvCxnSpPr>
            <a:cxnSpLocks/>
            <a:stCxn id="29" idx="3"/>
            <a:endCxn id="28" idx="1"/>
          </p:cNvCxnSpPr>
          <p:nvPr/>
        </p:nvCxnSpPr>
        <p:spPr>
          <a:xfrm flipV="1">
            <a:off x="2905352" y="5019622"/>
            <a:ext cx="2872267" cy="47152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C5F9AE4-F3E5-4F92-B99B-05F7FE3B7311}"/>
              </a:ext>
            </a:extLst>
          </p:cNvPr>
          <p:cNvCxnSpPr>
            <a:cxnSpLocks/>
            <a:stCxn id="29" idx="3"/>
            <a:endCxn id="27" idx="1"/>
          </p:cNvCxnSpPr>
          <p:nvPr/>
        </p:nvCxnSpPr>
        <p:spPr>
          <a:xfrm>
            <a:off x="2905352" y="5491142"/>
            <a:ext cx="2872268" cy="62300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A17463-BBD4-4BB7-B90E-5583ECEFD6AC}"/>
                  </a:ext>
                </a:extLst>
              </p:cNvPr>
              <p:cNvSpPr txBox="1"/>
              <p:nvPr/>
            </p:nvSpPr>
            <p:spPr>
              <a:xfrm>
                <a:off x="7836523" y="4939492"/>
                <a:ext cx="316215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=100%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A17463-BBD4-4BB7-B90E-5583ECEFD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3" y="4939492"/>
                <a:ext cx="3162155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C0675F-8180-4B58-AC0D-DBE24D15093D}"/>
                  </a:ext>
                </a:extLst>
              </p:cNvPr>
              <p:cNvSpPr txBox="1"/>
              <p:nvPr/>
            </p:nvSpPr>
            <p:spPr>
              <a:xfrm>
                <a:off x="7836524" y="5983337"/>
                <a:ext cx="30931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=0%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C0675F-8180-4B58-AC0D-DBE24D150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4" y="5983337"/>
                <a:ext cx="3093144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8602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039ED-9BAD-453D-880A-07999242B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Bias Come From? Scenario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5D880-1729-47E7-99B4-A7D4FA2B2FCD}"/>
              </a:ext>
            </a:extLst>
          </p:cNvPr>
          <p:cNvSpPr/>
          <p:nvPr/>
        </p:nvSpPr>
        <p:spPr>
          <a:xfrm>
            <a:off x="5777621" y="3118380"/>
            <a:ext cx="1859623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Arrested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06F41C-2101-4BA4-B529-913DC4D1EC2B}"/>
              </a:ext>
            </a:extLst>
          </p:cNvPr>
          <p:cNvSpPr/>
          <p:nvPr/>
        </p:nvSpPr>
        <p:spPr>
          <a:xfrm>
            <a:off x="5777620" y="2023860"/>
            <a:ext cx="1859623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Arrested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EE8A5-E50D-43AA-9824-A6FA79D24CD0}"/>
              </a:ext>
            </a:extLst>
          </p:cNvPr>
          <p:cNvSpPr/>
          <p:nvPr/>
        </p:nvSpPr>
        <p:spPr>
          <a:xfrm>
            <a:off x="1045730" y="2416012"/>
            <a:ext cx="1859623" cy="7988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Crime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F22341-383B-4FF5-8EB2-0D2F2E7ECA71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2905353" y="2343900"/>
            <a:ext cx="2872267" cy="47152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6AA689-FE6F-4974-9254-28A43737650E}"/>
              </a:ext>
            </a:extLst>
          </p:cNvPr>
          <p:cNvCxnSpPr>
            <a:cxnSpLocks/>
            <a:stCxn id="17" idx="3"/>
            <a:endCxn id="4" idx="1"/>
          </p:cNvCxnSpPr>
          <p:nvPr/>
        </p:nvCxnSpPr>
        <p:spPr>
          <a:xfrm>
            <a:off x="2905353" y="2815420"/>
            <a:ext cx="2872268" cy="62300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D96758-BAF6-4CD8-8B20-4213E840AFD8}"/>
                  </a:ext>
                </a:extLst>
              </p:cNvPr>
              <p:cNvSpPr txBox="1"/>
              <p:nvPr/>
            </p:nvSpPr>
            <p:spPr>
              <a:xfrm>
                <a:off x="7836524" y="2246189"/>
                <a:ext cx="330974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𝐴𝑟𝑟𝑒𝑠𝑡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𝐶𝑟𝑖𝑚𝑒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=1,  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𝑅𝑎𝑐𝑒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1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=50%</m:t>
                    </m:r>
                  </m:oMath>
                </a14:m>
                <a:r>
                  <a:rPr lang="en-US" sz="1100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D96758-BAF6-4CD8-8B20-4213E840A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4" y="2246189"/>
                <a:ext cx="3309746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FB6F50-6CD2-4149-A1FA-99358F668D30}"/>
                  </a:ext>
                </a:extLst>
              </p:cNvPr>
              <p:cNvSpPr txBox="1"/>
              <p:nvPr/>
            </p:nvSpPr>
            <p:spPr>
              <a:xfrm>
                <a:off x="7836523" y="3260406"/>
                <a:ext cx="299825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=50%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FB6F50-6CD2-4149-A1FA-99358F66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3" y="3260406"/>
                <a:ext cx="2998253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F42497D3-EC5B-4A4F-999E-6AF47B352B5B}"/>
              </a:ext>
            </a:extLst>
          </p:cNvPr>
          <p:cNvSpPr/>
          <p:nvPr/>
        </p:nvSpPr>
        <p:spPr>
          <a:xfrm>
            <a:off x="5777620" y="5794102"/>
            <a:ext cx="1859623" cy="6400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Arrested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7CF451-8A18-4ADD-AF27-77E1B5D30F9F}"/>
              </a:ext>
            </a:extLst>
          </p:cNvPr>
          <p:cNvSpPr/>
          <p:nvPr/>
        </p:nvSpPr>
        <p:spPr>
          <a:xfrm>
            <a:off x="5777619" y="4699582"/>
            <a:ext cx="1859623" cy="6400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Arrested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E938B4-1C37-4229-B681-285CF5F49775}"/>
              </a:ext>
            </a:extLst>
          </p:cNvPr>
          <p:cNvSpPr/>
          <p:nvPr/>
        </p:nvSpPr>
        <p:spPr>
          <a:xfrm>
            <a:off x="1045729" y="5091734"/>
            <a:ext cx="1859623" cy="7988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Crime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DE6BD9B-86CD-4A26-9D92-53768AD501E0}"/>
              </a:ext>
            </a:extLst>
          </p:cNvPr>
          <p:cNvCxnSpPr>
            <a:cxnSpLocks/>
            <a:stCxn id="29" idx="3"/>
            <a:endCxn id="28" idx="1"/>
          </p:cNvCxnSpPr>
          <p:nvPr/>
        </p:nvCxnSpPr>
        <p:spPr>
          <a:xfrm flipV="1">
            <a:off x="2905352" y="5019622"/>
            <a:ext cx="2872267" cy="47152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C5F9AE4-F3E5-4F92-B99B-05F7FE3B7311}"/>
              </a:ext>
            </a:extLst>
          </p:cNvPr>
          <p:cNvCxnSpPr>
            <a:cxnSpLocks/>
            <a:stCxn id="29" idx="3"/>
            <a:endCxn id="27" idx="1"/>
          </p:cNvCxnSpPr>
          <p:nvPr/>
        </p:nvCxnSpPr>
        <p:spPr>
          <a:xfrm>
            <a:off x="2905352" y="5491142"/>
            <a:ext cx="2872268" cy="62300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A17463-BBD4-4BB7-B90E-5583ECEFD6AC}"/>
                  </a:ext>
                </a:extLst>
              </p:cNvPr>
              <p:cNvSpPr txBox="1"/>
              <p:nvPr/>
            </p:nvSpPr>
            <p:spPr>
              <a:xfrm>
                <a:off x="7836523" y="4939492"/>
                <a:ext cx="316215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=100%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A17463-BBD4-4BB7-B90E-5583ECEFD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3" y="4939492"/>
                <a:ext cx="3162155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C0675F-8180-4B58-AC0D-DBE24D15093D}"/>
                  </a:ext>
                </a:extLst>
              </p:cNvPr>
              <p:cNvSpPr txBox="1"/>
              <p:nvPr/>
            </p:nvSpPr>
            <p:spPr>
              <a:xfrm>
                <a:off x="7836524" y="5983337"/>
                <a:ext cx="30931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=0%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C0675F-8180-4B58-AC0D-DBE24D150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4" y="5983337"/>
                <a:ext cx="3093144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3F2F8A1-9424-4F1D-821E-1287A93594C1}"/>
              </a:ext>
            </a:extLst>
          </p:cNvPr>
          <p:cNvSpPr txBox="1"/>
          <p:nvPr/>
        </p:nvSpPr>
        <p:spPr>
          <a:xfrm>
            <a:off x="1311217" y="4019909"/>
            <a:ext cx="9040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this scenario, one group is more likely to be re-arrested given that they committed a crime</a:t>
            </a:r>
          </a:p>
        </p:txBody>
      </p:sp>
    </p:spTree>
    <p:extLst>
      <p:ext uri="{BB962C8B-B14F-4D97-AF65-F5344CB8AC3E}">
        <p14:creationId xmlns:p14="http://schemas.microsoft.com/office/powerpoint/2010/main" val="3565734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039ED-9BAD-453D-880A-07999242B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Bias Come From? Scenario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5D880-1729-47E7-99B4-A7D4FA2B2FCD}"/>
              </a:ext>
            </a:extLst>
          </p:cNvPr>
          <p:cNvSpPr/>
          <p:nvPr/>
        </p:nvSpPr>
        <p:spPr>
          <a:xfrm>
            <a:off x="5777621" y="3118380"/>
            <a:ext cx="1859623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Arrested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06F41C-2101-4BA4-B529-913DC4D1EC2B}"/>
              </a:ext>
            </a:extLst>
          </p:cNvPr>
          <p:cNvSpPr/>
          <p:nvPr/>
        </p:nvSpPr>
        <p:spPr>
          <a:xfrm>
            <a:off x="5777620" y="2023860"/>
            <a:ext cx="1859623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Arrested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EE8A5-E50D-43AA-9824-A6FA79D24CD0}"/>
              </a:ext>
            </a:extLst>
          </p:cNvPr>
          <p:cNvSpPr/>
          <p:nvPr/>
        </p:nvSpPr>
        <p:spPr>
          <a:xfrm>
            <a:off x="1045730" y="2416012"/>
            <a:ext cx="1859623" cy="7988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Crime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F22341-383B-4FF5-8EB2-0D2F2E7ECA71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2905353" y="2343900"/>
            <a:ext cx="2872267" cy="47152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6AA689-FE6F-4974-9254-28A43737650E}"/>
              </a:ext>
            </a:extLst>
          </p:cNvPr>
          <p:cNvCxnSpPr>
            <a:cxnSpLocks/>
            <a:stCxn id="17" idx="3"/>
            <a:endCxn id="4" idx="1"/>
          </p:cNvCxnSpPr>
          <p:nvPr/>
        </p:nvCxnSpPr>
        <p:spPr>
          <a:xfrm>
            <a:off x="2905353" y="2815420"/>
            <a:ext cx="2872268" cy="62300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D96758-BAF6-4CD8-8B20-4213E840AFD8}"/>
                  </a:ext>
                </a:extLst>
              </p:cNvPr>
              <p:cNvSpPr txBox="1"/>
              <p:nvPr/>
            </p:nvSpPr>
            <p:spPr>
              <a:xfrm>
                <a:off x="7836524" y="2246189"/>
                <a:ext cx="330974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𝐴𝑟𝑟𝑒𝑠𝑡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𝐶𝑟𝑖𝑚𝑒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=1,  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𝑅𝑎𝑐𝑒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1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=100%</m:t>
                    </m:r>
                  </m:oMath>
                </a14:m>
                <a:r>
                  <a:rPr lang="en-US" sz="1100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D96758-BAF6-4CD8-8B20-4213E840A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4" y="2246189"/>
                <a:ext cx="3309746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FB6F50-6CD2-4149-A1FA-99358F668D30}"/>
                  </a:ext>
                </a:extLst>
              </p:cNvPr>
              <p:cNvSpPr txBox="1"/>
              <p:nvPr/>
            </p:nvSpPr>
            <p:spPr>
              <a:xfrm>
                <a:off x="7836523" y="3260406"/>
                <a:ext cx="299825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=0%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FB6F50-6CD2-4149-A1FA-99358F66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3" y="3260406"/>
                <a:ext cx="2998253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F42497D3-EC5B-4A4F-999E-6AF47B352B5B}"/>
              </a:ext>
            </a:extLst>
          </p:cNvPr>
          <p:cNvSpPr/>
          <p:nvPr/>
        </p:nvSpPr>
        <p:spPr>
          <a:xfrm>
            <a:off x="5777620" y="5794102"/>
            <a:ext cx="1859623" cy="6400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Arrested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7CF451-8A18-4ADD-AF27-77E1B5D30F9F}"/>
              </a:ext>
            </a:extLst>
          </p:cNvPr>
          <p:cNvSpPr/>
          <p:nvPr/>
        </p:nvSpPr>
        <p:spPr>
          <a:xfrm>
            <a:off x="5777619" y="4699582"/>
            <a:ext cx="1859623" cy="6400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Arrested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E938B4-1C37-4229-B681-285CF5F49775}"/>
              </a:ext>
            </a:extLst>
          </p:cNvPr>
          <p:cNvSpPr/>
          <p:nvPr/>
        </p:nvSpPr>
        <p:spPr>
          <a:xfrm>
            <a:off x="1045729" y="5091734"/>
            <a:ext cx="1859623" cy="7988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Crime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DE6BD9B-86CD-4A26-9D92-53768AD501E0}"/>
              </a:ext>
            </a:extLst>
          </p:cNvPr>
          <p:cNvCxnSpPr>
            <a:cxnSpLocks/>
            <a:stCxn id="29" idx="3"/>
            <a:endCxn id="28" idx="1"/>
          </p:cNvCxnSpPr>
          <p:nvPr/>
        </p:nvCxnSpPr>
        <p:spPr>
          <a:xfrm flipV="1">
            <a:off x="2905352" y="5019622"/>
            <a:ext cx="2872267" cy="47152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C5F9AE4-F3E5-4F92-B99B-05F7FE3B7311}"/>
              </a:ext>
            </a:extLst>
          </p:cNvPr>
          <p:cNvCxnSpPr>
            <a:cxnSpLocks/>
            <a:stCxn id="29" idx="3"/>
            <a:endCxn id="27" idx="1"/>
          </p:cNvCxnSpPr>
          <p:nvPr/>
        </p:nvCxnSpPr>
        <p:spPr>
          <a:xfrm>
            <a:off x="2905352" y="5491142"/>
            <a:ext cx="2872268" cy="62300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A17463-BBD4-4BB7-B90E-5583ECEFD6AC}"/>
                  </a:ext>
                </a:extLst>
              </p:cNvPr>
              <p:cNvSpPr txBox="1"/>
              <p:nvPr/>
            </p:nvSpPr>
            <p:spPr>
              <a:xfrm>
                <a:off x="7836523" y="4939492"/>
                <a:ext cx="316215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=100%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A17463-BBD4-4BB7-B90E-5583ECEFD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3" y="4939492"/>
                <a:ext cx="3162155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C0675F-8180-4B58-AC0D-DBE24D15093D}"/>
                  </a:ext>
                </a:extLst>
              </p:cNvPr>
              <p:cNvSpPr txBox="1"/>
              <p:nvPr/>
            </p:nvSpPr>
            <p:spPr>
              <a:xfrm>
                <a:off x="7836524" y="5983337"/>
                <a:ext cx="30931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=0%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C0675F-8180-4B58-AC0D-DBE24D150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4" y="5983337"/>
                <a:ext cx="3093144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938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039ED-9BAD-453D-880A-07999242B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Differences in Measurement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5D880-1729-47E7-99B4-A7D4FA2B2FCD}"/>
              </a:ext>
            </a:extLst>
          </p:cNvPr>
          <p:cNvSpPr/>
          <p:nvPr/>
        </p:nvSpPr>
        <p:spPr>
          <a:xfrm>
            <a:off x="5777621" y="3118380"/>
            <a:ext cx="1859623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Arrested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06F41C-2101-4BA4-B529-913DC4D1EC2B}"/>
              </a:ext>
            </a:extLst>
          </p:cNvPr>
          <p:cNvSpPr/>
          <p:nvPr/>
        </p:nvSpPr>
        <p:spPr>
          <a:xfrm>
            <a:off x="5777620" y="2023860"/>
            <a:ext cx="1859623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Arrested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EE8A5-E50D-43AA-9824-A6FA79D24CD0}"/>
              </a:ext>
            </a:extLst>
          </p:cNvPr>
          <p:cNvSpPr/>
          <p:nvPr/>
        </p:nvSpPr>
        <p:spPr>
          <a:xfrm>
            <a:off x="1045730" y="2416012"/>
            <a:ext cx="1859623" cy="7988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Crime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F22341-383B-4FF5-8EB2-0D2F2E7ECA71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2905353" y="2343900"/>
            <a:ext cx="2872267" cy="47152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6AA689-FE6F-4974-9254-28A43737650E}"/>
              </a:ext>
            </a:extLst>
          </p:cNvPr>
          <p:cNvCxnSpPr>
            <a:cxnSpLocks/>
            <a:stCxn id="17" idx="3"/>
            <a:endCxn id="4" idx="1"/>
          </p:cNvCxnSpPr>
          <p:nvPr/>
        </p:nvCxnSpPr>
        <p:spPr>
          <a:xfrm>
            <a:off x="2905353" y="2815420"/>
            <a:ext cx="2872268" cy="62300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D96758-BAF6-4CD8-8B20-4213E840AFD8}"/>
                  </a:ext>
                </a:extLst>
              </p:cNvPr>
              <p:cNvSpPr txBox="1"/>
              <p:nvPr/>
            </p:nvSpPr>
            <p:spPr>
              <a:xfrm>
                <a:off x="7836524" y="2246189"/>
                <a:ext cx="330974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𝐴𝑟𝑟𝑒𝑠𝑡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𝐶𝑟𝑖𝑚𝑒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=1,  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𝑅𝑎𝑐𝑒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1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=100%</m:t>
                    </m:r>
                  </m:oMath>
                </a14:m>
                <a:r>
                  <a:rPr lang="en-US" sz="1100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D96758-BAF6-4CD8-8B20-4213E840A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4" y="2246189"/>
                <a:ext cx="3309746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FB6F50-6CD2-4149-A1FA-99358F668D30}"/>
                  </a:ext>
                </a:extLst>
              </p:cNvPr>
              <p:cNvSpPr txBox="1"/>
              <p:nvPr/>
            </p:nvSpPr>
            <p:spPr>
              <a:xfrm>
                <a:off x="7836523" y="3260406"/>
                <a:ext cx="299825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=0%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FB6F50-6CD2-4149-A1FA-99358F66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3" y="3260406"/>
                <a:ext cx="2998253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F42497D3-EC5B-4A4F-999E-6AF47B352B5B}"/>
              </a:ext>
            </a:extLst>
          </p:cNvPr>
          <p:cNvSpPr/>
          <p:nvPr/>
        </p:nvSpPr>
        <p:spPr>
          <a:xfrm>
            <a:off x="5777620" y="5794102"/>
            <a:ext cx="1859623" cy="6400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Arrested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7CF451-8A18-4ADD-AF27-77E1B5D30F9F}"/>
              </a:ext>
            </a:extLst>
          </p:cNvPr>
          <p:cNvSpPr/>
          <p:nvPr/>
        </p:nvSpPr>
        <p:spPr>
          <a:xfrm>
            <a:off x="5777619" y="4699582"/>
            <a:ext cx="1859623" cy="6400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Arrested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E938B4-1C37-4229-B681-285CF5F49775}"/>
              </a:ext>
            </a:extLst>
          </p:cNvPr>
          <p:cNvSpPr/>
          <p:nvPr/>
        </p:nvSpPr>
        <p:spPr>
          <a:xfrm>
            <a:off x="1045729" y="5091734"/>
            <a:ext cx="1859623" cy="7988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Crime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DE6BD9B-86CD-4A26-9D92-53768AD501E0}"/>
              </a:ext>
            </a:extLst>
          </p:cNvPr>
          <p:cNvCxnSpPr>
            <a:cxnSpLocks/>
            <a:stCxn id="29" idx="3"/>
            <a:endCxn id="28" idx="1"/>
          </p:cNvCxnSpPr>
          <p:nvPr/>
        </p:nvCxnSpPr>
        <p:spPr>
          <a:xfrm flipV="1">
            <a:off x="2905352" y="5019622"/>
            <a:ext cx="2872267" cy="47152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C5F9AE4-F3E5-4F92-B99B-05F7FE3B7311}"/>
              </a:ext>
            </a:extLst>
          </p:cNvPr>
          <p:cNvCxnSpPr>
            <a:cxnSpLocks/>
            <a:stCxn id="29" idx="3"/>
            <a:endCxn id="27" idx="1"/>
          </p:cNvCxnSpPr>
          <p:nvPr/>
        </p:nvCxnSpPr>
        <p:spPr>
          <a:xfrm>
            <a:off x="2905352" y="5491142"/>
            <a:ext cx="2872268" cy="62300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A17463-BBD4-4BB7-B90E-5583ECEFD6AC}"/>
                  </a:ext>
                </a:extLst>
              </p:cNvPr>
              <p:cNvSpPr txBox="1"/>
              <p:nvPr/>
            </p:nvSpPr>
            <p:spPr>
              <a:xfrm>
                <a:off x="7836523" y="4939492"/>
                <a:ext cx="316215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=100%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2A17463-BBD4-4BB7-B90E-5583ECEFD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3" y="4939492"/>
                <a:ext cx="3162155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C0675F-8180-4B58-AC0D-DBE24D15093D}"/>
                  </a:ext>
                </a:extLst>
              </p:cNvPr>
              <p:cNvSpPr txBox="1"/>
              <p:nvPr/>
            </p:nvSpPr>
            <p:spPr>
              <a:xfrm>
                <a:off x="7836524" y="5983337"/>
                <a:ext cx="30931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𝐴𝑟𝑟𝑒𝑠𝑡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𝐶𝑟𝑖𝑚𝑒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=1,  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𝑅𝑎𝑐𝑒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=0%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C0675F-8180-4B58-AC0D-DBE24D150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524" y="5983337"/>
                <a:ext cx="3093144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287A1B18-6D8E-4BC6-A9DA-0366401DCC0F}"/>
              </a:ext>
            </a:extLst>
          </p:cNvPr>
          <p:cNvSpPr txBox="1"/>
          <p:nvPr/>
        </p:nvSpPr>
        <p:spPr>
          <a:xfrm>
            <a:off x="1311217" y="4019909"/>
            <a:ext cx="9040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this scenario, both groups are always arrested if they have committed a crime.</a:t>
            </a:r>
          </a:p>
        </p:txBody>
      </p:sp>
    </p:spTree>
    <p:extLst>
      <p:ext uri="{BB962C8B-B14F-4D97-AF65-F5344CB8AC3E}">
        <p14:creationId xmlns:p14="http://schemas.microsoft.com/office/powerpoint/2010/main" val="1806080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879DC-FB41-40E1-B29B-2120C348F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Leads to Bias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163CE-D818-48F4-8FB5-20846D192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We are going to imagine a world where everything is measured perfectly</a:t>
            </a:r>
          </a:p>
          <a:p>
            <a:endParaRPr lang="en-US" dirty="0"/>
          </a:p>
          <a:p>
            <a:r>
              <a:rPr lang="en-US" dirty="0"/>
              <a:t>We are going to compare two subgroups: race=0 and race=1</a:t>
            </a:r>
          </a:p>
          <a:p>
            <a:endParaRPr lang="en-US" dirty="0"/>
          </a:p>
          <a:p>
            <a:r>
              <a:rPr lang="en-US" dirty="0"/>
              <a:t>One subgroup will have a higher arrest rate than the other one</a:t>
            </a:r>
          </a:p>
          <a:p>
            <a:pPr lvl="1"/>
            <a:r>
              <a:rPr lang="en-US" dirty="0"/>
              <a:t>Why is there a difference in re-arrest rate?</a:t>
            </a:r>
          </a:p>
          <a:p>
            <a:pPr lvl="2"/>
            <a:r>
              <a:rPr lang="en-US" dirty="0"/>
              <a:t>Important for real-world discussions</a:t>
            </a:r>
          </a:p>
          <a:p>
            <a:pPr lvl="2"/>
            <a:r>
              <a:rPr lang="en-US" dirty="0"/>
              <a:t>Today we primarily care about the math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345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B8407-CF74-4561-9452-79C2CFA59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AD4415-DD33-4D81-9136-957FCE032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37953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Predicting arrest in 2021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Models:</a:t>
                </a:r>
              </a:p>
              <a:p>
                <a:pPr lvl="1"/>
                <a:r>
                  <a:rPr lang="en-US" b="0" dirty="0"/>
                  <a:t>1) No predictors</a:t>
                </a:r>
              </a:p>
              <a:p>
                <a:pPr lvl="1"/>
                <a:r>
                  <a:rPr lang="en-US" dirty="0"/>
                  <a:t>2) + </a:t>
                </a:r>
                <a:r>
                  <a:rPr lang="en-US" b="0" dirty="0"/>
                  <a:t>Arrest in 2020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3) + Defendant’s race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4) + Interaction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Ordinary Least Squares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AD4415-DD33-4D81-9136-957FCE032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37953" cy="4351338"/>
              </a:xfrm>
              <a:blipFill>
                <a:blip r:embed="rId2"/>
                <a:stretch>
                  <a:fillRect l="-1789" t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0234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B8407-CF74-4561-9452-79C2CFA59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AD4415-DD33-4D81-9136-957FCE032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918940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Models:</a:t>
                </a:r>
              </a:p>
              <a:p>
                <a:pPr lvl="1"/>
                <a:r>
                  <a:rPr lang="en-US" b="0" dirty="0"/>
                  <a:t>1) No predictors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𝑝𝑟𝑒𝑑𝑠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en-US" b="0" dirty="0"/>
              </a:p>
              <a:p>
                <a:pPr lvl="1"/>
                <a:r>
                  <a:rPr lang="en-US" dirty="0"/>
                  <a:t>2) + </a:t>
                </a:r>
                <a:r>
                  <a:rPr lang="en-US" b="0" dirty="0"/>
                  <a:t>Arrest in 2020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2020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𝑝𝑟𝑒𝑑𝑠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3) + Defendant’s race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𝑝𝑟𝑒𝑑𝑠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4) + Interaction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𝑝𝑟𝑒𝑑𝑠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Arrest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r>
                  <a:rPr lang="en-US" dirty="0"/>
                  <a:t>Note “|preds” is just a shorthand for saying that these are conditional probabilities that depend on the predictors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AD4415-DD33-4D81-9136-957FCE032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918940" cy="4351338"/>
              </a:xfrm>
              <a:blipFill>
                <a:blip r:embed="rId2"/>
                <a:stretch>
                  <a:fillRect l="-983" t="-2801" r="-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1308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7DB8743-E572-40AC-B0CF-2A3E99B51A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50751315"/>
                  </p:ext>
                </p:extLst>
              </p:nvPr>
            </p:nvGraphicFramePr>
            <p:xfrm>
              <a:off x="7674794" y="1793429"/>
              <a:ext cx="4274049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797798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005444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1420737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1050070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:</m:t>
                                </m:r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7DB8743-E572-40AC-B0CF-2A3E99B51A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50751315"/>
                  </p:ext>
                </p:extLst>
              </p:nvPr>
            </p:nvGraphicFramePr>
            <p:xfrm>
              <a:off x="7674794" y="1793429"/>
              <a:ext cx="4274049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797798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005444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1420737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1050070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63" t="-1389" r="-438168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518" t="-1389" r="-245783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7897" t="-1389" r="-75107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6936" t="-1389" r="-1156" b="-97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/>
              <p:nvPr/>
            </p:nvSpPr>
            <p:spPr>
              <a:xfrm>
                <a:off x="848474" y="1793429"/>
                <a:ext cx="627751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Simplest Predictor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𝑒𝑟𝑟𝑜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74" y="1793429"/>
                <a:ext cx="6277510" cy="830997"/>
              </a:xfrm>
              <a:prstGeom prst="rect">
                <a:avLst/>
              </a:prstGeom>
              <a:blipFill>
                <a:blip r:embed="rId4"/>
                <a:stretch>
                  <a:fillRect l="-1262" t="-5839" b="-12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265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7DB8743-E572-40AC-B0CF-2A3E99B51A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27142618"/>
                  </p:ext>
                </p:extLst>
              </p:nvPr>
            </p:nvGraphicFramePr>
            <p:xfrm>
              <a:off x="9822088" y="1793429"/>
              <a:ext cx="1050070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50070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7DB8743-E572-40AC-B0CF-2A3E99B51A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27142618"/>
                  </p:ext>
                </p:extLst>
              </p:nvPr>
            </p:nvGraphicFramePr>
            <p:xfrm>
              <a:off x="9822088" y="1793429"/>
              <a:ext cx="1050070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50070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8" t="-1389" r="-1156" b="-97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/>
              <p:nvPr/>
            </p:nvSpPr>
            <p:spPr>
              <a:xfrm>
                <a:off x="848474" y="1793429"/>
                <a:ext cx="627751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Simplest Predictor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𝑒𝑟𝑟𝑜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?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Average value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74" y="1793429"/>
                <a:ext cx="6277510" cy="2308324"/>
              </a:xfrm>
              <a:prstGeom prst="rect">
                <a:avLst/>
              </a:prstGeom>
              <a:blipFill>
                <a:blip r:embed="rId4"/>
                <a:stretch>
                  <a:fillRect l="-1262" t="-2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614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7DB8743-E572-40AC-B0CF-2A3E99B51A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30420276"/>
                  </p:ext>
                </p:extLst>
              </p:nvPr>
            </p:nvGraphicFramePr>
            <p:xfrm>
              <a:off x="9822088" y="1793429"/>
              <a:ext cx="1050070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50070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7DB8743-E572-40AC-B0CF-2A3E99B51A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30420276"/>
                  </p:ext>
                </p:extLst>
              </p:nvPr>
            </p:nvGraphicFramePr>
            <p:xfrm>
              <a:off x="9822088" y="1793429"/>
              <a:ext cx="1050070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50070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8" t="-1389" r="-1156" b="-97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/>
              <p:nvPr/>
            </p:nvSpPr>
            <p:spPr>
              <a:xfrm>
                <a:off x="848474" y="1793429"/>
                <a:ext cx="6277510" cy="2863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Simplest Predictor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𝑒𝑟𝑟𝑜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?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Average value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74" y="1793429"/>
                <a:ext cx="6277510" cy="2863348"/>
              </a:xfrm>
              <a:prstGeom prst="rect">
                <a:avLst/>
              </a:prstGeom>
              <a:blipFill>
                <a:blip r:embed="rId4"/>
                <a:stretch>
                  <a:fillRect l="-1262" t="-1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615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7DB8743-E572-40AC-B0CF-2A3E99B51A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06424154"/>
                  </p:ext>
                </p:extLst>
              </p:nvPr>
            </p:nvGraphicFramePr>
            <p:xfrm>
              <a:off x="9010429" y="1793429"/>
              <a:ext cx="2044566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2228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1022283">
                      <a:extLst>
                        <a:ext uri="{9D8B030D-6E8A-4147-A177-3AD203B41FA5}">
                          <a16:colId xmlns:a16="http://schemas.microsoft.com/office/drawing/2014/main" val="1561973430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𝑎𝑟𝑟𝑒𝑠𝑡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7DB8743-E572-40AC-B0CF-2A3E99B51A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06424154"/>
                  </p:ext>
                </p:extLst>
              </p:nvPr>
            </p:nvGraphicFramePr>
            <p:xfrm>
              <a:off x="9010429" y="1793429"/>
              <a:ext cx="2044566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22283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1022283">
                      <a:extLst>
                        <a:ext uri="{9D8B030D-6E8A-4147-A177-3AD203B41FA5}">
                          <a16:colId xmlns:a16="http://schemas.microsoft.com/office/drawing/2014/main" val="1561973430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5" t="-1389" r="-101190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95" t="-1389" r="-1190" b="-97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.42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/>
              <p:nvPr/>
            </p:nvSpPr>
            <p:spPr>
              <a:xfrm>
                <a:off x="848474" y="1793429"/>
                <a:ext cx="6277510" cy="41314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Simplest Predictor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𝑒𝑟𝑟𝑜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?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Average value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US" sz="2400" b="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Everyone gets the same prediction: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=.42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74" y="1793429"/>
                <a:ext cx="6277510" cy="4131452"/>
              </a:xfrm>
              <a:prstGeom prst="rect">
                <a:avLst/>
              </a:prstGeom>
              <a:blipFill>
                <a:blip r:embed="rId4"/>
                <a:stretch>
                  <a:fillRect l="-1262" t="-1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908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2AAF-AAB7-4B1E-803B-A9AACC8CA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Fairness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4">
                <a:extLst>
                  <a:ext uri="{FF2B5EF4-FFF2-40B4-BE49-F238E27FC236}">
                    <a16:creationId xmlns:a16="http://schemas.microsoft.com/office/drawing/2014/main" id="{683A7537-1D9B-40B0-AD44-3749C56ECEE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02962044"/>
                  </p:ext>
                </p:extLst>
              </p:nvPr>
            </p:nvGraphicFramePr>
            <p:xfrm>
              <a:off x="2938412" y="1654139"/>
              <a:ext cx="6801489" cy="1573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27248">
                      <a:extLst>
                        <a:ext uri="{9D8B030D-6E8A-4147-A177-3AD203B41FA5}">
                          <a16:colId xmlns:a16="http://schemas.microsoft.com/office/drawing/2014/main" val="1012334953"/>
                        </a:ext>
                      </a:extLst>
                    </a:gridCol>
                    <a:gridCol w="1726418">
                      <a:extLst>
                        <a:ext uri="{9D8B030D-6E8A-4147-A177-3AD203B41FA5}">
                          <a16:colId xmlns:a16="http://schemas.microsoft.com/office/drawing/2014/main" val="2350030826"/>
                        </a:ext>
                      </a:extLst>
                    </a:gridCol>
                    <a:gridCol w="1547823">
                      <a:extLst>
                        <a:ext uri="{9D8B030D-6E8A-4147-A177-3AD203B41FA5}">
                          <a16:colId xmlns:a16="http://schemas.microsoft.com/office/drawing/2014/main" val="2557411613"/>
                        </a:ext>
                      </a:extLst>
                    </a:gridCol>
                  </a:tblGrid>
                  <a:tr h="37675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Calibration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5989576"/>
                      </a:ext>
                    </a:extLst>
                  </a:tr>
                  <a:tr h="363918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𝑎𝑟𝑟𝑒𝑠</m:t>
                                    </m:r>
                                    <m:sSub>
                                      <m:sSubPr>
                                        <m:ctrlPr>
                                          <a:rPr lang="en-US" sz="12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12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2021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𝑎𝑟𝑟𝑒𝑠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2021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029341"/>
                      </a:ext>
                    </a:extLst>
                  </a:tr>
                  <a:tr h="4349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33%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9073668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50%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0459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4">
                <a:extLst>
                  <a:ext uri="{FF2B5EF4-FFF2-40B4-BE49-F238E27FC236}">
                    <a16:creationId xmlns:a16="http://schemas.microsoft.com/office/drawing/2014/main" id="{683A7537-1D9B-40B0-AD44-3749C56ECEE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02962044"/>
                  </p:ext>
                </p:extLst>
              </p:nvPr>
            </p:nvGraphicFramePr>
            <p:xfrm>
              <a:off x="2938412" y="1654139"/>
              <a:ext cx="6801489" cy="1573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27248">
                      <a:extLst>
                        <a:ext uri="{9D8B030D-6E8A-4147-A177-3AD203B41FA5}">
                          <a16:colId xmlns:a16="http://schemas.microsoft.com/office/drawing/2014/main" val="1012334953"/>
                        </a:ext>
                      </a:extLst>
                    </a:gridCol>
                    <a:gridCol w="1726418">
                      <a:extLst>
                        <a:ext uri="{9D8B030D-6E8A-4147-A177-3AD203B41FA5}">
                          <a16:colId xmlns:a16="http://schemas.microsoft.com/office/drawing/2014/main" val="2350030826"/>
                        </a:ext>
                      </a:extLst>
                    </a:gridCol>
                    <a:gridCol w="1547823">
                      <a:extLst>
                        <a:ext uri="{9D8B030D-6E8A-4147-A177-3AD203B41FA5}">
                          <a16:colId xmlns:a16="http://schemas.microsoft.com/office/drawing/2014/main" val="2557411613"/>
                        </a:ext>
                      </a:extLst>
                    </a:gridCol>
                  </a:tblGrid>
                  <a:tr h="37675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Calibration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598957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300" t="-105000" r="-90459" b="-2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0157" t="-105000" r="-787" b="-2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029341"/>
                      </a:ext>
                    </a:extLst>
                  </a:tr>
                  <a:tr h="4349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5" t="-170833" r="-93092" b="-930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300" t="-170833" r="-90459" b="-930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0157" t="-170833" r="-787" b="-93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073668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5" t="-300000" r="-93092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300" t="-300000" r="-9045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0157" t="-300000" r="-787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459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C05F290D-11F4-4F3C-9762-5FF22181AC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0208653"/>
                  </p:ext>
                </p:extLst>
              </p:nvPr>
            </p:nvGraphicFramePr>
            <p:xfrm>
              <a:off x="2938412" y="3976099"/>
              <a:ext cx="6801489" cy="23467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67163">
                      <a:extLst>
                        <a:ext uri="{9D8B030D-6E8A-4147-A177-3AD203B41FA5}">
                          <a16:colId xmlns:a16="http://schemas.microsoft.com/office/drawing/2014/main" val="2888137969"/>
                        </a:ext>
                      </a:extLst>
                    </a:gridCol>
                    <a:gridCol w="2267163">
                      <a:extLst>
                        <a:ext uri="{9D8B030D-6E8A-4147-A177-3AD203B41FA5}">
                          <a16:colId xmlns:a16="http://schemas.microsoft.com/office/drawing/2014/main" val="2174007504"/>
                        </a:ext>
                      </a:extLst>
                    </a:gridCol>
                    <a:gridCol w="2267163">
                      <a:extLst>
                        <a:ext uri="{9D8B030D-6E8A-4147-A177-3AD203B41FA5}">
                          <a16:colId xmlns:a16="http://schemas.microsoft.com/office/drawing/2014/main" val="4163449276"/>
                        </a:ext>
                      </a:extLst>
                    </a:gridCol>
                  </a:tblGrid>
                  <a:tr h="546371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Balance for 0s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Balance for 1s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8957605"/>
                      </a:ext>
                    </a:extLst>
                  </a:tr>
                  <a:tr h="546371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Average 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acc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=0)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Average 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acc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=1)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909457"/>
                      </a:ext>
                    </a:extLst>
                  </a:tr>
                  <a:tr h="62340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42%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42%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09429038"/>
                      </a:ext>
                    </a:extLst>
                  </a:tr>
                  <a:tr h="62340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42%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42%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1777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C05F290D-11F4-4F3C-9762-5FF22181AC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0208653"/>
                  </p:ext>
                </p:extLst>
              </p:nvPr>
            </p:nvGraphicFramePr>
            <p:xfrm>
              <a:off x="2938412" y="3976099"/>
              <a:ext cx="6801489" cy="23467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67163">
                      <a:extLst>
                        <a:ext uri="{9D8B030D-6E8A-4147-A177-3AD203B41FA5}">
                          <a16:colId xmlns:a16="http://schemas.microsoft.com/office/drawing/2014/main" val="2888137969"/>
                        </a:ext>
                      </a:extLst>
                    </a:gridCol>
                    <a:gridCol w="2267163">
                      <a:extLst>
                        <a:ext uri="{9D8B030D-6E8A-4147-A177-3AD203B41FA5}">
                          <a16:colId xmlns:a16="http://schemas.microsoft.com/office/drawing/2014/main" val="2174007504"/>
                        </a:ext>
                      </a:extLst>
                    </a:gridCol>
                    <a:gridCol w="2267163">
                      <a:extLst>
                        <a:ext uri="{9D8B030D-6E8A-4147-A177-3AD203B41FA5}">
                          <a16:colId xmlns:a16="http://schemas.microsoft.com/office/drawing/2014/main" val="4163449276"/>
                        </a:ext>
                      </a:extLst>
                    </a:gridCol>
                  </a:tblGrid>
                  <a:tr h="546371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Balance for 0s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Balance for 1s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8957605"/>
                      </a:ext>
                    </a:extLst>
                  </a:tr>
                  <a:tr h="553593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38" t="-100000" r="-100538" b="-2274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538" t="-100000" r="-538" b="-2274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909457"/>
                      </a:ext>
                    </a:extLst>
                  </a:tr>
                  <a:tr h="623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8" t="-178431" r="-200538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42%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42%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09429038"/>
                      </a:ext>
                    </a:extLst>
                  </a:tr>
                  <a:tr h="623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8" t="-275728" r="-200538" b="-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42%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42%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17773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95547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2020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7DB8743-E572-40AC-B0CF-2A3E99B51A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05040027"/>
                  </p:ext>
                </p:extLst>
              </p:nvPr>
            </p:nvGraphicFramePr>
            <p:xfrm>
              <a:off x="7674794" y="1793429"/>
              <a:ext cx="4274049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797798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005444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1420737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1050070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:</m:t>
                                </m:r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7DB8743-E572-40AC-B0CF-2A3E99B51A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05040027"/>
                  </p:ext>
                </p:extLst>
              </p:nvPr>
            </p:nvGraphicFramePr>
            <p:xfrm>
              <a:off x="7674794" y="1793429"/>
              <a:ext cx="4274049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797798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005444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1420737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1050070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63" t="-1389" r="-438168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518" t="-1389" r="-245783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7897" t="-1389" r="-75107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6936" t="-1389" r="-1156" b="-97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/>
              <p:nvPr/>
            </p:nvSpPr>
            <p:spPr>
              <a:xfrm>
                <a:off x="848474" y="1793429"/>
                <a:ext cx="6277510" cy="815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Adding in a Predictor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𝑒𝑟𝑟𝑜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3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74" y="1793429"/>
                <a:ext cx="6277510" cy="815608"/>
              </a:xfrm>
              <a:prstGeom prst="rect">
                <a:avLst/>
              </a:prstGeom>
              <a:blipFill>
                <a:blip r:embed="rId4"/>
                <a:stretch>
                  <a:fillRect l="-1262" t="-5970" b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066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2020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7DB8743-E572-40AC-B0CF-2A3E99B51A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69092335"/>
                  </p:ext>
                </p:extLst>
              </p:nvPr>
            </p:nvGraphicFramePr>
            <p:xfrm>
              <a:off x="8722754" y="1803703"/>
              <a:ext cx="2108073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31153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1076920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7DB8743-E572-40AC-B0CF-2A3E99B51A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69092335"/>
                  </p:ext>
                </p:extLst>
              </p:nvPr>
            </p:nvGraphicFramePr>
            <p:xfrm>
              <a:off x="8722754" y="1803703"/>
              <a:ext cx="2108073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1031153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1076920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8" t="-1389" r="-105294" b="-980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6610" t="-1389" r="-1130" b="-980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/>
              <p:nvPr/>
            </p:nvSpPr>
            <p:spPr>
              <a:xfrm>
                <a:off x="848474" y="1793429"/>
                <a:ext cx="6277510" cy="3916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Adding in a Predictor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𝑒𝑟𝑟𝑜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300" b="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300" b="0" i="1" dirty="0">
                  <a:latin typeface="Cambria Math" panose="020405030504060302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</m:e>
                    </m:acc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=0.29+0.31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</m:oMath>
                </a14:m>
                <a:endParaRPr lang="en-US" sz="2300" b="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3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3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</m:e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2020</m:t>
                            </m:r>
                          </m:sub>
                        </m:s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=.29</m:t>
                    </m:r>
                  </m:oMath>
                </a14:m>
                <a:endParaRPr lang="en-US" sz="23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3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</m:e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2020</m:t>
                            </m:r>
                          </m:sub>
                        </m:s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=.6</m:t>
                    </m:r>
                  </m:oMath>
                </a14:m>
                <a:endParaRPr lang="en-US" sz="2300" b="0" dirty="0"/>
              </a:p>
              <a:p>
                <a:pPr lvl="1"/>
                <a:endParaRPr lang="en-US" sz="23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74" y="1793429"/>
                <a:ext cx="6277510" cy="3916008"/>
              </a:xfrm>
              <a:prstGeom prst="rect">
                <a:avLst/>
              </a:prstGeom>
              <a:blipFill>
                <a:blip r:embed="rId4"/>
                <a:stretch>
                  <a:fillRect l="-1262" t="-1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179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FE44E32-FA48-A590-F807-FA5426E92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20" y="1273071"/>
            <a:ext cx="5931692" cy="48066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A4D57A-3D7B-CDB5-A652-1FBD011A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F7E11-237D-74C2-3962-1D7645785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73079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line represents the prediction model for everyone: </a:t>
                </a:r>
              </a:p>
              <a:p>
                <a:pPr marL="0" indent="0">
                  <a:buNone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𝐴𝑟𝑟𝑒𝑠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2021</m:t>
                              </m:r>
                            </m:sub>
                          </m:sSub>
                        </m:e>
                      </m:acc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=0.29+0.31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2020</m:t>
                          </m:r>
                        </m:sub>
                      </m:sSub>
                    </m:oMath>
                  </m:oMathPara>
                </a14:m>
                <a:endParaRPr lang="en-US" sz="2600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points represent the true outcome rates for our two groups and whether they had an arrest in 2020 or not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F7E11-237D-74C2-3962-1D7645785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73079" cy="4351338"/>
              </a:xfrm>
              <a:blipFill>
                <a:blip r:embed="rId3"/>
                <a:stretch>
                  <a:fillRect l="-2163" t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0B199E-8F1B-4E01-C243-C2B35C7DEC0B}"/>
                  </a:ext>
                </a:extLst>
              </p:cNvPr>
              <p:cNvSpPr txBox="1"/>
              <p:nvPr/>
            </p:nvSpPr>
            <p:spPr>
              <a:xfrm>
                <a:off x="10138533" y="4037172"/>
                <a:ext cx="16296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0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0B199E-8F1B-4E01-C243-C2B35C7DE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8533" y="4037172"/>
                <a:ext cx="1629623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D9E589-B148-BC2F-16C1-E3CE770396EB}"/>
                  </a:ext>
                </a:extLst>
              </p:cNvPr>
              <p:cNvSpPr txBox="1"/>
              <p:nvPr/>
            </p:nvSpPr>
            <p:spPr>
              <a:xfrm>
                <a:off x="7502615" y="4812578"/>
                <a:ext cx="16296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0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D9E589-B148-BC2F-16C1-E3CE77039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615" y="4812578"/>
                <a:ext cx="1629624" cy="461665"/>
              </a:xfrm>
              <a:prstGeom prst="rect">
                <a:avLst/>
              </a:prstGeom>
              <a:blipFill>
                <a:blip r:embed="rId5"/>
                <a:stretch>
                  <a:fillRect l="-375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AD96DB-FE34-6E00-0C65-740069007F70}"/>
                  </a:ext>
                </a:extLst>
              </p:cNvPr>
              <p:cNvSpPr txBox="1"/>
              <p:nvPr/>
            </p:nvSpPr>
            <p:spPr>
              <a:xfrm>
                <a:off x="10010333" y="1426600"/>
                <a:ext cx="16296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1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AD96DB-FE34-6E00-0C65-740069007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0333" y="1426600"/>
                <a:ext cx="1629623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893F2F-C38B-B1D5-FE4A-70785D6E7E35}"/>
                  </a:ext>
                </a:extLst>
              </p:cNvPr>
              <p:cNvSpPr txBox="1"/>
              <p:nvPr/>
            </p:nvSpPr>
            <p:spPr>
              <a:xfrm>
                <a:off x="6721452" y="3379857"/>
                <a:ext cx="16296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1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893F2F-C38B-B1D5-FE4A-70785D6E7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452" y="3379857"/>
                <a:ext cx="1629624" cy="461665"/>
              </a:xfrm>
              <a:prstGeom prst="rect">
                <a:avLst/>
              </a:prstGeom>
              <a:blipFill>
                <a:blip r:embed="rId7"/>
                <a:stretch>
                  <a:fillRect l="-375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59D64B-8ABA-317E-DA6C-17D61296FBAA}"/>
              </a:ext>
            </a:extLst>
          </p:cNvPr>
          <p:cNvCxnSpPr/>
          <p:nvPr/>
        </p:nvCxnSpPr>
        <p:spPr>
          <a:xfrm flipH="1">
            <a:off x="6761747" y="5027493"/>
            <a:ext cx="657727" cy="10427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740E372-2949-A263-D2A4-DFB824E8191F}"/>
              </a:ext>
            </a:extLst>
          </p:cNvPr>
          <p:cNvCxnSpPr>
            <a:cxnSpLocks/>
          </p:cNvCxnSpPr>
          <p:nvPr/>
        </p:nvCxnSpPr>
        <p:spPr>
          <a:xfrm flipH="1">
            <a:off x="6721452" y="3841522"/>
            <a:ext cx="535382" cy="657315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298B63-37B7-D73B-578E-2811DEFE9706}"/>
              </a:ext>
            </a:extLst>
          </p:cNvPr>
          <p:cNvCxnSpPr>
            <a:cxnSpLocks/>
          </p:cNvCxnSpPr>
          <p:nvPr/>
        </p:nvCxnSpPr>
        <p:spPr>
          <a:xfrm flipV="1">
            <a:off x="10953345" y="3492229"/>
            <a:ext cx="564205" cy="489609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06DED0A-C069-70D7-E190-A3DB775C0385}"/>
              </a:ext>
            </a:extLst>
          </p:cNvPr>
          <p:cNvCxnSpPr>
            <a:cxnSpLocks/>
          </p:cNvCxnSpPr>
          <p:nvPr/>
        </p:nvCxnSpPr>
        <p:spPr>
          <a:xfrm>
            <a:off x="10825144" y="1927177"/>
            <a:ext cx="653494" cy="24251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387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2AAF-AAB7-4B1E-803B-A9AACC8CA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Fairness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4769D3B-F281-49C0-89FD-4F863A34092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29839949"/>
                  </p:ext>
                </p:extLst>
              </p:nvPr>
            </p:nvGraphicFramePr>
            <p:xfrm>
              <a:off x="2938412" y="1654139"/>
              <a:ext cx="6801489" cy="23648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27248">
                      <a:extLst>
                        <a:ext uri="{9D8B030D-6E8A-4147-A177-3AD203B41FA5}">
                          <a16:colId xmlns:a16="http://schemas.microsoft.com/office/drawing/2014/main" val="1012334953"/>
                        </a:ext>
                      </a:extLst>
                    </a:gridCol>
                    <a:gridCol w="1726418">
                      <a:extLst>
                        <a:ext uri="{9D8B030D-6E8A-4147-A177-3AD203B41FA5}">
                          <a16:colId xmlns:a16="http://schemas.microsoft.com/office/drawing/2014/main" val="2350030826"/>
                        </a:ext>
                      </a:extLst>
                    </a:gridCol>
                    <a:gridCol w="1547823">
                      <a:extLst>
                        <a:ext uri="{9D8B030D-6E8A-4147-A177-3AD203B41FA5}">
                          <a16:colId xmlns:a16="http://schemas.microsoft.com/office/drawing/2014/main" val="2557411613"/>
                        </a:ext>
                      </a:extLst>
                    </a:gridCol>
                  </a:tblGrid>
                  <a:tr h="37675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Calibration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5989576"/>
                      </a:ext>
                    </a:extLst>
                  </a:tr>
                  <a:tr h="363918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𝑎𝑟𝑟𝑒𝑠</m:t>
                                    </m:r>
                                    <m:sSub>
                                      <m:sSubPr>
                                        <m:ctrlPr>
                                          <a:rPr lang="en-US" sz="12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12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2021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𝑎𝑟𝑟𝑒𝑠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2021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029341"/>
                      </a:ext>
                    </a:extLst>
                  </a:tr>
                  <a:tr h="4349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=0,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𝑎𝑟𝑟𝑒𝑠𝑡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25%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9073668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=1,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𝑎𝑟𝑟𝑒𝑠𝑡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33%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43017269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=0,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𝑎𝑟𝑟𝑒𝑠𝑡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50%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50916872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=1,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𝑎𝑟𝑟𝑒𝑠𝑡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67%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0459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4769D3B-F281-49C0-89FD-4F863A34092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29839949"/>
                  </p:ext>
                </p:extLst>
              </p:nvPr>
            </p:nvGraphicFramePr>
            <p:xfrm>
              <a:off x="2938412" y="1654139"/>
              <a:ext cx="6801489" cy="23648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27248">
                      <a:extLst>
                        <a:ext uri="{9D8B030D-6E8A-4147-A177-3AD203B41FA5}">
                          <a16:colId xmlns:a16="http://schemas.microsoft.com/office/drawing/2014/main" val="1012334953"/>
                        </a:ext>
                      </a:extLst>
                    </a:gridCol>
                    <a:gridCol w="1726418">
                      <a:extLst>
                        <a:ext uri="{9D8B030D-6E8A-4147-A177-3AD203B41FA5}">
                          <a16:colId xmlns:a16="http://schemas.microsoft.com/office/drawing/2014/main" val="2350030826"/>
                        </a:ext>
                      </a:extLst>
                    </a:gridCol>
                    <a:gridCol w="1547823">
                      <a:extLst>
                        <a:ext uri="{9D8B030D-6E8A-4147-A177-3AD203B41FA5}">
                          <a16:colId xmlns:a16="http://schemas.microsoft.com/office/drawing/2014/main" val="2557411613"/>
                        </a:ext>
                      </a:extLst>
                    </a:gridCol>
                  </a:tblGrid>
                  <a:tr h="37675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Calibration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598957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300" t="-105000" r="-90459" b="-4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0157" t="-105000" r="-787" b="-44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029341"/>
                      </a:ext>
                    </a:extLst>
                  </a:tr>
                  <a:tr h="4349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5" t="-170833" r="-93092" b="-2736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300" t="-170833" r="-90459" b="-2736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0157" t="-170833" r="-787" b="-2736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073668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5" t="-300000" r="-93092" b="-2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300" t="-300000" r="-90459" b="-2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0157" t="-300000" r="-787" b="-2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3017269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5" t="-400000" r="-93092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300" t="-400000" r="-90459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0157" t="-400000" r="-787" b="-1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0916872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5" t="-500000" r="-93092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300" t="-500000" r="-9045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0157" t="-500000" r="-787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459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B47B38B-F0AC-49D7-896D-6D11A210AA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5469429"/>
                  </p:ext>
                </p:extLst>
              </p:nvPr>
            </p:nvGraphicFramePr>
            <p:xfrm>
              <a:off x="2938412" y="4345967"/>
              <a:ext cx="6801489" cy="23467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67163">
                      <a:extLst>
                        <a:ext uri="{9D8B030D-6E8A-4147-A177-3AD203B41FA5}">
                          <a16:colId xmlns:a16="http://schemas.microsoft.com/office/drawing/2014/main" val="2888137969"/>
                        </a:ext>
                      </a:extLst>
                    </a:gridCol>
                    <a:gridCol w="2267163">
                      <a:extLst>
                        <a:ext uri="{9D8B030D-6E8A-4147-A177-3AD203B41FA5}">
                          <a16:colId xmlns:a16="http://schemas.microsoft.com/office/drawing/2014/main" val="2174007504"/>
                        </a:ext>
                      </a:extLst>
                    </a:gridCol>
                    <a:gridCol w="2267163">
                      <a:extLst>
                        <a:ext uri="{9D8B030D-6E8A-4147-A177-3AD203B41FA5}">
                          <a16:colId xmlns:a16="http://schemas.microsoft.com/office/drawing/2014/main" val="4163449276"/>
                        </a:ext>
                      </a:extLst>
                    </a:gridCol>
                  </a:tblGrid>
                  <a:tr h="546371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Balance for 0s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Balance for 1s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8957605"/>
                      </a:ext>
                    </a:extLst>
                  </a:tr>
                  <a:tr h="546371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Average 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acc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=0)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Average 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acc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=1)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909457"/>
                      </a:ext>
                    </a:extLst>
                  </a:tr>
                  <a:tr h="62340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36%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44%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09429038"/>
                      </a:ext>
                    </a:extLst>
                  </a:tr>
                  <a:tr h="62340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39%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1777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B47B38B-F0AC-49D7-896D-6D11A210AA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5469429"/>
                  </p:ext>
                </p:extLst>
              </p:nvPr>
            </p:nvGraphicFramePr>
            <p:xfrm>
              <a:off x="2938412" y="4345967"/>
              <a:ext cx="6801489" cy="23467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67163">
                      <a:extLst>
                        <a:ext uri="{9D8B030D-6E8A-4147-A177-3AD203B41FA5}">
                          <a16:colId xmlns:a16="http://schemas.microsoft.com/office/drawing/2014/main" val="2888137969"/>
                        </a:ext>
                      </a:extLst>
                    </a:gridCol>
                    <a:gridCol w="2267163">
                      <a:extLst>
                        <a:ext uri="{9D8B030D-6E8A-4147-A177-3AD203B41FA5}">
                          <a16:colId xmlns:a16="http://schemas.microsoft.com/office/drawing/2014/main" val="2174007504"/>
                        </a:ext>
                      </a:extLst>
                    </a:gridCol>
                    <a:gridCol w="2267163">
                      <a:extLst>
                        <a:ext uri="{9D8B030D-6E8A-4147-A177-3AD203B41FA5}">
                          <a16:colId xmlns:a16="http://schemas.microsoft.com/office/drawing/2014/main" val="4163449276"/>
                        </a:ext>
                      </a:extLst>
                    </a:gridCol>
                  </a:tblGrid>
                  <a:tr h="546371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Balance for 0s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Balance for 1s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8957605"/>
                      </a:ext>
                    </a:extLst>
                  </a:tr>
                  <a:tr h="553593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38" t="-100000" r="-100538" b="-2274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538" t="-100000" r="-538" b="-2274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909457"/>
                      </a:ext>
                    </a:extLst>
                  </a:tr>
                  <a:tr h="623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8" t="-178431" r="-200538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36%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44%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09429038"/>
                      </a:ext>
                    </a:extLst>
                  </a:tr>
                  <a:tr h="623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8" t="-275728" r="-200538" b="-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39%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17773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62412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Key Distinction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model can look biased even if the source of the difference is in the world or the data</a:t>
            </a:r>
          </a:p>
          <a:p>
            <a:pPr/>
            <a:r>
              <a:t>So we now shift from fairness definitions to sources of bias in predictions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Key Distinction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model can look biased even if the source of the difference is in the world or the data</a:t>
            </a:r>
          </a:p>
          <a:p>
            <a:pPr/>
            <a:r>
              <a:t>So we now shift from fairness definitions to sources of bias in predictions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Possible Sources of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different underlying rates across groups</a:t>
            </a:r>
          </a:p>
          <a:p>
            <a:pPr/>
            <a:r>
              <a:t>different chances of being observed or arrested</a:t>
            </a:r>
          </a:p>
          <a:p>
            <a:pPr/>
            <a:r>
              <a:t>measurement error</a:t>
            </a:r>
          </a:p>
          <a:p>
            <a:pPr/>
            <a:r>
              <a:t>labels that do not perfectly capture what we care about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Possible Sources of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different underlying rates across groups</a:t>
            </a:r>
          </a:p>
          <a:p>
            <a:pPr/>
            <a:r>
              <a:t>different chances of being observed or arrested</a:t>
            </a:r>
          </a:p>
          <a:p>
            <a:pPr/>
            <a:r>
              <a:t>measurement error</a:t>
            </a:r>
          </a:p>
          <a:p>
            <a:pPr/>
            <a:r>
              <a:t>labels that do not perfectly capture what we care about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Have Seen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group differences in model outputs can come from the data-generating process</a:t>
            </a:r>
          </a:p>
          <a:p>
            <a:pPr/>
            <a:r>
              <a:t>adding predictors can change those differences</a:t>
            </a:r>
          </a:p>
          <a:p>
            <a:pPr/>
            <a:r>
              <a:t>even simple models can reveal tradeoffs across fairness metrics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Have Seen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group differences in model outputs can come from the data-generating process</a:t>
            </a:r>
          </a:p>
          <a:p>
            <a:pPr/>
            <a:r>
              <a:t>adding predictors can change those differences</a:t>
            </a:r>
          </a:p>
          <a:p>
            <a:pPr/>
            <a:r>
              <a:t>even simple models can reveal tradeoffs across fairness metrics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Next we focus on measurement error, arrests versus crimes, and possible responses</a:t>
            </a:r>
          </a:p>
          <a:p>
            <a:pPr/>
            <a:r>
              <a:t>This will help explain why fairness problems can remain even after model changes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Next we focus on measurement error, arrests versus crimes, and possible responses</a:t>
            </a:r>
          </a:p>
          <a:p>
            <a:pPr/>
            <a:r>
              <a:t>This will help explain why fairness problems can remain even after model changes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3DB9-ADFE-4DB9-B71B-00CD07D9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interaction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7DB8743-E572-40AC-B0CF-2A3E99B51A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35856897"/>
                  </p:ext>
                </p:extLst>
              </p:nvPr>
            </p:nvGraphicFramePr>
            <p:xfrm>
              <a:off x="7674794" y="1793429"/>
              <a:ext cx="4274049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797798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005444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1420737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1050070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:</m:t>
                                </m:r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7DB8743-E572-40AC-B0CF-2A3E99B51A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35856897"/>
                  </p:ext>
                </p:extLst>
              </p:nvPr>
            </p:nvGraphicFramePr>
            <p:xfrm>
              <a:off x="7674794" y="1793429"/>
              <a:ext cx="4274049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797798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1005444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1420737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1050070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3" t="-1389" r="-438168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518" t="-1389" r="-245783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7897" t="-1389" r="-75107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6936" t="-1389" r="-1156" b="-97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/>
              <p:nvPr/>
            </p:nvSpPr>
            <p:spPr>
              <a:xfrm>
                <a:off x="848474" y="1793429"/>
                <a:ext cx="6277510" cy="1009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Adding in a Predictor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𝑒𝑟𝑟𝑜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74" y="1793429"/>
                <a:ext cx="6277510" cy="1009315"/>
              </a:xfrm>
              <a:prstGeom prst="rect">
                <a:avLst/>
              </a:prstGeom>
              <a:blipFill>
                <a:blip r:embed="rId4"/>
                <a:stretch>
                  <a:fillRect l="-1262" t="-4819" b="-4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4694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2020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/>
              <p:nvPr/>
            </p:nvSpPr>
            <p:spPr>
              <a:xfrm>
                <a:off x="848474" y="1793429"/>
                <a:ext cx="6277510" cy="4090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Adding in a Predictor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=.25+.25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+.08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 .08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𝑟𝑎𝑐𝑒</m:t>
                    </m:r>
                  </m:oMath>
                </a14:m>
                <a:endParaRPr lang="en-US" sz="2300" b="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3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2020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=0,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𝑟𝑎𝑐𝑒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endParaRPr lang="en-US" sz="2000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3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2020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=0,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𝑟𝑎𝑐𝑒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2020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𝑟𝑎𝑐𝑒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2020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𝑟𝑎𝑐𝑒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67</m:t>
                    </m:r>
                  </m:oMath>
                </a14:m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3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74" y="1793429"/>
                <a:ext cx="6277510" cy="4090928"/>
              </a:xfrm>
              <a:prstGeom prst="rect">
                <a:avLst/>
              </a:prstGeom>
              <a:blipFill>
                <a:blip r:embed="rId3"/>
                <a:stretch>
                  <a:fillRect l="-1262" t="-1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4">
                <a:extLst>
                  <a:ext uri="{FF2B5EF4-FFF2-40B4-BE49-F238E27FC236}">
                    <a16:creationId xmlns:a16="http://schemas.microsoft.com/office/drawing/2014/main" id="{1605BAEA-3D6A-4C8E-B06D-00AF0C369B7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61532116"/>
                  </p:ext>
                </p:extLst>
              </p:nvPr>
            </p:nvGraphicFramePr>
            <p:xfrm>
              <a:off x="7274103" y="1793429"/>
              <a:ext cx="4777486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618514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999587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1258663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1006868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893854">
                      <a:extLst>
                        <a:ext uri="{9D8B030D-6E8A-4147-A177-3AD203B41FA5}">
                          <a16:colId xmlns:a16="http://schemas.microsoft.com/office/drawing/2014/main" val="242521726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2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:</m:t>
                                </m:r>
                                <m:r>
                                  <a:rPr lang="en-US" sz="12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2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2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𝑎𝑟𝑟𝑒𝑠𝑡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.67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.67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.67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4">
                <a:extLst>
                  <a:ext uri="{FF2B5EF4-FFF2-40B4-BE49-F238E27FC236}">
                    <a16:creationId xmlns:a16="http://schemas.microsoft.com/office/drawing/2014/main" id="{1605BAEA-3D6A-4C8E-B06D-00AF0C369B7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61532116"/>
                  </p:ext>
                </p:extLst>
              </p:nvPr>
            </p:nvGraphicFramePr>
            <p:xfrm>
              <a:off x="7274103" y="1793429"/>
              <a:ext cx="4777486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618514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999587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1258663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1006868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893854">
                      <a:extLst>
                        <a:ext uri="{9D8B030D-6E8A-4147-A177-3AD203B41FA5}">
                          <a16:colId xmlns:a16="http://schemas.microsoft.com/office/drawing/2014/main" val="242521726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80" t="-1389" r="-671569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805" t="-1389" r="-317683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9612" t="-1389" r="-152913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86667" t="-1389" r="-90909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34014" t="-1389" r="-2041" b="-97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.67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.67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.67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52169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FE44E32-FA48-A590-F807-FA5426E92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20" y="1273071"/>
            <a:ext cx="5931692" cy="48066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A4D57A-3D7B-CDB5-A652-1FBD011A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F7E11-237D-74C2-3962-1D7645785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73079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line represents the prediction model for everyone: </a:t>
                </a:r>
              </a:p>
              <a:p>
                <a:pPr marL="0" indent="0">
                  <a:buNone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𝐴𝑟𝑟𝑒𝑠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2021</m:t>
                              </m:r>
                            </m:sub>
                          </m:sSub>
                        </m:e>
                      </m:acc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=0.29+0.31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2020</m:t>
                          </m:r>
                        </m:sub>
                      </m:sSub>
                    </m:oMath>
                  </m:oMathPara>
                </a14:m>
                <a:endParaRPr lang="en-US" sz="2600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points represent the true outcome rates for our two groups and whether they had an arrest in 2020 or not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F7E11-237D-74C2-3962-1D7645785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73079" cy="4351338"/>
              </a:xfrm>
              <a:blipFill>
                <a:blip r:embed="rId3"/>
                <a:stretch>
                  <a:fillRect l="-2163" t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0B199E-8F1B-4E01-C243-C2B35C7DEC0B}"/>
                  </a:ext>
                </a:extLst>
              </p:cNvPr>
              <p:cNvSpPr txBox="1"/>
              <p:nvPr/>
            </p:nvSpPr>
            <p:spPr>
              <a:xfrm>
                <a:off x="10138533" y="4037172"/>
                <a:ext cx="16296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0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0B199E-8F1B-4E01-C243-C2B35C7DE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8533" y="4037172"/>
                <a:ext cx="1629623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D9E589-B148-BC2F-16C1-E3CE770396EB}"/>
                  </a:ext>
                </a:extLst>
              </p:cNvPr>
              <p:cNvSpPr txBox="1"/>
              <p:nvPr/>
            </p:nvSpPr>
            <p:spPr>
              <a:xfrm>
                <a:off x="7502615" y="4812578"/>
                <a:ext cx="16296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0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D9E589-B148-BC2F-16C1-E3CE77039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615" y="4812578"/>
                <a:ext cx="1629624" cy="461665"/>
              </a:xfrm>
              <a:prstGeom prst="rect">
                <a:avLst/>
              </a:prstGeom>
              <a:blipFill>
                <a:blip r:embed="rId5"/>
                <a:stretch>
                  <a:fillRect l="-375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AD96DB-FE34-6E00-0C65-740069007F70}"/>
                  </a:ext>
                </a:extLst>
              </p:cNvPr>
              <p:cNvSpPr txBox="1"/>
              <p:nvPr/>
            </p:nvSpPr>
            <p:spPr>
              <a:xfrm>
                <a:off x="10010333" y="1426600"/>
                <a:ext cx="16296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1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AD96DB-FE34-6E00-0C65-740069007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0333" y="1426600"/>
                <a:ext cx="1629623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893F2F-C38B-B1D5-FE4A-70785D6E7E35}"/>
                  </a:ext>
                </a:extLst>
              </p:cNvPr>
              <p:cNvSpPr txBox="1"/>
              <p:nvPr/>
            </p:nvSpPr>
            <p:spPr>
              <a:xfrm>
                <a:off x="6721452" y="3379857"/>
                <a:ext cx="16296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1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893F2F-C38B-B1D5-FE4A-70785D6E7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452" y="3379857"/>
                <a:ext cx="1629624" cy="461665"/>
              </a:xfrm>
              <a:prstGeom prst="rect">
                <a:avLst/>
              </a:prstGeom>
              <a:blipFill>
                <a:blip r:embed="rId7"/>
                <a:stretch>
                  <a:fillRect l="-375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59D64B-8ABA-317E-DA6C-17D61296FBAA}"/>
              </a:ext>
            </a:extLst>
          </p:cNvPr>
          <p:cNvCxnSpPr/>
          <p:nvPr/>
        </p:nvCxnSpPr>
        <p:spPr>
          <a:xfrm flipH="1">
            <a:off x="6761747" y="5027493"/>
            <a:ext cx="657727" cy="10427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740E372-2949-A263-D2A4-DFB824E8191F}"/>
              </a:ext>
            </a:extLst>
          </p:cNvPr>
          <p:cNvCxnSpPr>
            <a:cxnSpLocks/>
          </p:cNvCxnSpPr>
          <p:nvPr/>
        </p:nvCxnSpPr>
        <p:spPr>
          <a:xfrm flipH="1">
            <a:off x="6721452" y="3841522"/>
            <a:ext cx="535382" cy="657315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298B63-37B7-D73B-578E-2811DEFE9706}"/>
              </a:ext>
            </a:extLst>
          </p:cNvPr>
          <p:cNvCxnSpPr>
            <a:cxnSpLocks/>
          </p:cNvCxnSpPr>
          <p:nvPr/>
        </p:nvCxnSpPr>
        <p:spPr>
          <a:xfrm flipV="1">
            <a:off x="10953345" y="3492229"/>
            <a:ext cx="564205" cy="489609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06DED0A-C069-70D7-E190-A3DB775C0385}"/>
              </a:ext>
            </a:extLst>
          </p:cNvPr>
          <p:cNvCxnSpPr>
            <a:cxnSpLocks/>
          </p:cNvCxnSpPr>
          <p:nvPr/>
        </p:nvCxnSpPr>
        <p:spPr>
          <a:xfrm>
            <a:off x="10825144" y="1927177"/>
            <a:ext cx="653494" cy="24251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63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FC91CB-CD3D-EB5B-E79B-0F7B865F9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092" y="1353802"/>
            <a:ext cx="5796176" cy="46968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A4D57A-3D7B-CDB5-A652-1FBD011A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F7E11-237D-74C2-3962-1D7645785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2360" y="1825625"/>
                <a:ext cx="5505701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2"/>
                    </a:solidFill>
                  </a:rPr>
                  <a:t>orange</a:t>
                </a:r>
                <a:r>
                  <a:rPr lang="en-US" dirty="0"/>
                  <a:t> and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blue</a:t>
                </a:r>
                <a:r>
                  <a:rPr lang="en-US" dirty="0"/>
                  <a:t> lines represent the prediction model for race = 0 and race = 1, respectively: </a:t>
                </a:r>
              </a:p>
              <a:p>
                <a:pPr marL="0" indent="0">
                  <a:buNone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𝐴𝑟𝑟𝑒𝑠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2021</m:t>
                              </m:r>
                            </m:sub>
                          </m:sSub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=.24+ .29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2020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 . 12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𝑟𝑎𝑐𝑒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race = 0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𝐴𝑟𝑟𝑒𝑠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2021</m:t>
                              </m:r>
                            </m:sub>
                          </m:sSub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=.24+ .29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2020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race = 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𝐴𝑟𝑟𝑒𝑠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2021</m:t>
                              </m:r>
                            </m:sub>
                          </m:sSub>
                        </m:e>
                      </m:acc>
                      <m:r>
                        <a:rPr lang="en-US" sz="2600" i="1">
                          <a:latin typeface="Cambria Math" panose="02040503050406030204" pitchFamily="18" charset="0"/>
                        </a:rPr>
                        <m:t>=.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36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+ .29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2020</m:t>
                          </m:r>
                        </m:sub>
                      </m:sSub>
                    </m:oMath>
                  </m:oMathPara>
                </a14:m>
                <a:endParaRPr lang="en-US" sz="26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F7E11-237D-74C2-3962-1D7645785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2360" y="1825625"/>
                <a:ext cx="5505701" cy="4351338"/>
              </a:xfrm>
              <a:blipFill>
                <a:blip r:embed="rId3"/>
                <a:stretch>
                  <a:fillRect l="-1993" t="-2801" r="-1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0B199E-8F1B-4E01-C243-C2B35C7DEC0B}"/>
                  </a:ext>
                </a:extLst>
              </p:cNvPr>
              <p:cNvSpPr txBox="1"/>
              <p:nvPr/>
            </p:nvSpPr>
            <p:spPr>
              <a:xfrm>
                <a:off x="10060711" y="4037172"/>
                <a:ext cx="16296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0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0B199E-8F1B-4E01-C243-C2B35C7DE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0711" y="4037172"/>
                <a:ext cx="1629623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D9E589-B148-BC2F-16C1-E3CE770396EB}"/>
                  </a:ext>
                </a:extLst>
              </p:cNvPr>
              <p:cNvSpPr txBox="1"/>
              <p:nvPr/>
            </p:nvSpPr>
            <p:spPr>
              <a:xfrm>
                <a:off x="7502615" y="4812578"/>
                <a:ext cx="16296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0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D9E589-B148-BC2F-16C1-E3CE77039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615" y="4812578"/>
                <a:ext cx="1629624" cy="461665"/>
              </a:xfrm>
              <a:prstGeom prst="rect">
                <a:avLst/>
              </a:prstGeom>
              <a:blipFill>
                <a:blip r:embed="rId5"/>
                <a:stretch>
                  <a:fillRect l="-375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AD96DB-FE34-6E00-0C65-740069007F70}"/>
                  </a:ext>
                </a:extLst>
              </p:cNvPr>
              <p:cNvSpPr txBox="1"/>
              <p:nvPr/>
            </p:nvSpPr>
            <p:spPr>
              <a:xfrm>
                <a:off x="10010333" y="1426600"/>
                <a:ext cx="16296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1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AD96DB-FE34-6E00-0C65-740069007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0333" y="1426600"/>
                <a:ext cx="1629623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893F2F-C38B-B1D5-FE4A-70785D6E7E35}"/>
                  </a:ext>
                </a:extLst>
              </p:cNvPr>
              <p:cNvSpPr txBox="1"/>
              <p:nvPr/>
            </p:nvSpPr>
            <p:spPr>
              <a:xfrm>
                <a:off x="6721452" y="3370129"/>
                <a:ext cx="16296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1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893F2F-C38B-B1D5-FE4A-70785D6E7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452" y="3370129"/>
                <a:ext cx="1629624" cy="461665"/>
              </a:xfrm>
              <a:prstGeom prst="rect">
                <a:avLst/>
              </a:prstGeom>
              <a:blipFill>
                <a:blip r:embed="rId7"/>
                <a:stretch>
                  <a:fillRect l="-375"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59D64B-8ABA-317E-DA6C-17D61296FBAA}"/>
              </a:ext>
            </a:extLst>
          </p:cNvPr>
          <p:cNvCxnSpPr/>
          <p:nvPr/>
        </p:nvCxnSpPr>
        <p:spPr>
          <a:xfrm flipH="1">
            <a:off x="6761747" y="5027493"/>
            <a:ext cx="657727" cy="10427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740E372-2949-A263-D2A4-DFB824E8191F}"/>
              </a:ext>
            </a:extLst>
          </p:cNvPr>
          <p:cNvCxnSpPr>
            <a:cxnSpLocks/>
          </p:cNvCxnSpPr>
          <p:nvPr/>
        </p:nvCxnSpPr>
        <p:spPr>
          <a:xfrm flipH="1">
            <a:off x="6740908" y="3822066"/>
            <a:ext cx="535382" cy="657315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298B63-37B7-D73B-578E-2811DEFE9706}"/>
              </a:ext>
            </a:extLst>
          </p:cNvPr>
          <p:cNvCxnSpPr>
            <a:cxnSpLocks/>
          </p:cNvCxnSpPr>
          <p:nvPr/>
        </p:nvCxnSpPr>
        <p:spPr>
          <a:xfrm flipV="1">
            <a:off x="10864056" y="3464285"/>
            <a:ext cx="564205" cy="489609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06DED0A-C069-70D7-E190-A3DB775C0385}"/>
              </a:ext>
            </a:extLst>
          </p:cNvPr>
          <p:cNvCxnSpPr>
            <a:cxnSpLocks/>
          </p:cNvCxnSpPr>
          <p:nvPr/>
        </p:nvCxnSpPr>
        <p:spPr>
          <a:xfrm>
            <a:off x="10825144" y="1927177"/>
            <a:ext cx="653494" cy="24251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472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32632D-487C-85BC-1C90-00720F939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782" y="1309522"/>
            <a:ext cx="5875115" cy="47607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A4D57A-3D7B-CDB5-A652-1FBD011A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F7E11-237D-74C2-3962-1D7645785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2360" y="1825625"/>
                <a:ext cx="5505701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rgbClr val="FF0000"/>
                    </a:solidFill>
                  </a:rPr>
                  <a:t>red</a:t>
                </a:r>
                <a:r>
                  <a:rPr lang="en-US" dirty="0"/>
                  <a:t> and </a:t>
                </a:r>
                <a:r>
                  <a:rPr lang="en-US" dirty="0">
                    <a:solidFill>
                      <a:srgbClr val="7030A0"/>
                    </a:solidFill>
                  </a:rPr>
                  <a:t>purple</a:t>
                </a:r>
                <a:r>
                  <a:rPr lang="en-US" dirty="0"/>
                  <a:t> lines represent the prediction model for race = 0 and race = 1, respectively: </a:t>
                </a:r>
              </a:p>
              <a:p>
                <a:pPr marL="0" indent="0">
                  <a:buNone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𝐴𝑟𝑟𝑒𝑠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2021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=.25+.25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2020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+.08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𝑟𝑎𝑐𝑒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 .08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2020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𝑟𝑎𝑐𝑒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race = 0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𝐴𝑟𝑟𝑒𝑠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2021</m:t>
                              </m:r>
                            </m:sub>
                          </m:sSub>
                        </m:e>
                      </m:acc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.25+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.25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2020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race = 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𝐴𝑟𝑟𝑒𝑠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2021</m:t>
                              </m:r>
                            </m:sub>
                          </m:sSub>
                        </m:e>
                      </m:acc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33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33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2020</m:t>
                          </m:r>
                        </m:sub>
                      </m:sSub>
                    </m:oMath>
                  </m:oMathPara>
                </a14:m>
                <a:endParaRPr lang="en-US" sz="26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F7E11-237D-74C2-3962-1D7645785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2360" y="1825625"/>
                <a:ext cx="5505701" cy="4351338"/>
              </a:xfrm>
              <a:blipFill>
                <a:blip r:embed="rId3"/>
                <a:stretch>
                  <a:fillRect l="-1993" t="-2801" r="-1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0B199E-8F1B-4E01-C243-C2B35C7DEC0B}"/>
                  </a:ext>
                </a:extLst>
              </p:cNvPr>
              <p:cNvSpPr txBox="1"/>
              <p:nvPr/>
            </p:nvSpPr>
            <p:spPr>
              <a:xfrm>
                <a:off x="10060711" y="4037172"/>
                <a:ext cx="16296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0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0B199E-8F1B-4E01-C243-C2B35C7DE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0711" y="4037172"/>
                <a:ext cx="1629623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D9E589-B148-BC2F-16C1-E3CE770396EB}"/>
                  </a:ext>
                </a:extLst>
              </p:cNvPr>
              <p:cNvSpPr txBox="1"/>
              <p:nvPr/>
            </p:nvSpPr>
            <p:spPr>
              <a:xfrm>
                <a:off x="7502615" y="4812578"/>
                <a:ext cx="16296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0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D9E589-B148-BC2F-16C1-E3CE77039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615" y="4812578"/>
                <a:ext cx="1629624" cy="461665"/>
              </a:xfrm>
              <a:prstGeom prst="rect">
                <a:avLst/>
              </a:prstGeom>
              <a:blipFill>
                <a:blip r:embed="rId5"/>
                <a:stretch>
                  <a:fillRect l="-375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AD96DB-FE34-6E00-0C65-740069007F70}"/>
                  </a:ext>
                </a:extLst>
              </p:cNvPr>
              <p:cNvSpPr txBox="1"/>
              <p:nvPr/>
            </p:nvSpPr>
            <p:spPr>
              <a:xfrm>
                <a:off x="10010333" y="1426600"/>
                <a:ext cx="16296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1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AD96DB-FE34-6E00-0C65-740069007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0333" y="1426600"/>
                <a:ext cx="1629623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893F2F-C38B-B1D5-FE4A-70785D6E7E35}"/>
                  </a:ext>
                </a:extLst>
              </p:cNvPr>
              <p:cNvSpPr txBox="1"/>
              <p:nvPr/>
            </p:nvSpPr>
            <p:spPr>
              <a:xfrm>
                <a:off x="6721452" y="3370129"/>
                <a:ext cx="16296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B050"/>
                    </a:solidFill>
                  </a:rPr>
                  <a:t>Base rate for Race = 1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893F2F-C38B-B1D5-FE4A-70785D6E7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452" y="3370129"/>
                <a:ext cx="1629624" cy="461665"/>
              </a:xfrm>
              <a:prstGeom prst="rect">
                <a:avLst/>
              </a:prstGeom>
              <a:blipFill>
                <a:blip r:embed="rId7"/>
                <a:stretch>
                  <a:fillRect l="-375"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59D64B-8ABA-317E-DA6C-17D61296FBAA}"/>
              </a:ext>
            </a:extLst>
          </p:cNvPr>
          <p:cNvCxnSpPr/>
          <p:nvPr/>
        </p:nvCxnSpPr>
        <p:spPr>
          <a:xfrm flipH="1">
            <a:off x="6752019" y="5008037"/>
            <a:ext cx="657727" cy="10427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740E372-2949-A263-D2A4-DFB824E8191F}"/>
              </a:ext>
            </a:extLst>
          </p:cNvPr>
          <p:cNvCxnSpPr>
            <a:cxnSpLocks/>
          </p:cNvCxnSpPr>
          <p:nvPr/>
        </p:nvCxnSpPr>
        <p:spPr>
          <a:xfrm flipH="1">
            <a:off x="6721452" y="3822066"/>
            <a:ext cx="535382" cy="657315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298B63-37B7-D73B-578E-2811DEFE9706}"/>
              </a:ext>
            </a:extLst>
          </p:cNvPr>
          <p:cNvCxnSpPr>
            <a:cxnSpLocks/>
          </p:cNvCxnSpPr>
          <p:nvPr/>
        </p:nvCxnSpPr>
        <p:spPr>
          <a:xfrm flipV="1">
            <a:off x="10864056" y="3464285"/>
            <a:ext cx="564205" cy="489609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06DED0A-C069-70D7-E190-A3DB775C0385}"/>
              </a:ext>
            </a:extLst>
          </p:cNvPr>
          <p:cNvCxnSpPr>
            <a:cxnSpLocks/>
          </p:cNvCxnSpPr>
          <p:nvPr/>
        </p:nvCxnSpPr>
        <p:spPr>
          <a:xfrm>
            <a:off x="10825144" y="1927177"/>
            <a:ext cx="653494" cy="24251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113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2AAF-AAB7-4B1E-803B-A9AACC8CA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Fairness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4769D3B-F281-49C0-89FD-4F863A34092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91112612"/>
                  </p:ext>
                </p:extLst>
              </p:nvPr>
            </p:nvGraphicFramePr>
            <p:xfrm>
              <a:off x="2938412" y="1654139"/>
              <a:ext cx="6801489" cy="23648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27248">
                      <a:extLst>
                        <a:ext uri="{9D8B030D-6E8A-4147-A177-3AD203B41FA5}">
                          <a16:colId xmlns:a16="http://schemas.microsoft.com/office/drawing/2014/main" val="1012334953"/>
                        </a:ext>
                      </a:extLst>
                    </a:gridCol>
                    <a:gridCol w="1726418">
                      <a:extLst>
                        <a:ext uri="{9D8B030D-6E8A-4147-A177-3AD203B41FA5}">
                          <a16:colId xmlns:a16="http://schemas.microsoft.com/office/drawing/2014/main" val="2350030826"/>
                        </a:ext>
                      </a:extLst>
                    </a:gridCol>
                    <a:gridCol w="1547823">
                      <a:extLst>
                        <a:ext uri="{9D8B030D-6E8A-4147-A177-3AD203B41FA5}">
                          <a16:colId xmlns:a16="http://schemas.microsoft.com/office/drawing/2014/main" val="2557411613"/>
                        </a:ext>
                      </a:extLst>
                    </a:gridCol>
                  </a:tblGrid>
                  <a:tr h="37675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Calibration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5989576"/>
                      </a:ext>
                    </a:extLst>
                  </a:tr>
                  <a:tr h="363918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𝑎𝑟𝑟𝑒𝑠</m:t>
                                    </m:r>
                                    <m:sSub>
                                      <m:sSubPr>
                                        <m:ctrlPr>
                                          <a:rPr lang="en-US" sz="12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12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2021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𝑎𝑟𝑟𝑒𝑠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2021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029341"/>
                      </a:ext>
                    </a:extLst>
                  </a:tr>
                  <a:tr h="4349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=0,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𝑎𝑟𝑟𝑒𝑠𝑡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25%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9073668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=1,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𝑎𝑟𝑟𝑒𝑠𝑡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33%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43017269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=0,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𝑎𝑟𝑟𝑒𝑠𝑡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50%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50916872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=1,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𝑎𝑟𝑟𝑒𝑠𝑡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67%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0459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4769D3B-F281-49C0-89FD-4F863A34092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91112612"/>
                  </p:ext>
                </p:extLst>
              </p:nvPr>
            </p:nvGraphicFramePr>
            <p:xfrm>
              <a:off x="2938412" y="1654139"/>
              <a:ext cx="6801489" cy="23648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27248">
                      <a:extLst>
                        <a:ext uri="{9D8B030D-6E8A-4147-A177-3AD203B41FA5}">
                          <a16:colId xmlns:a16="http://schemas.microsoft.com/office/drawing/2014/main" val="1012334953"/>
                        </a:ext>
                      </a:extLst>
                    </a:gridCol>
                    <a:gridCol w="1726418">
                      <a:extLst>
                        <a:ext uri="{9D8B030D-6E8A-4147-A177-3AD203B41FA5}">
                          <a16:colId xmlns:a16="http://schemas.microsoft.com/office/drawing/2014/main" val="2350030826"/>
                        </a:ext>
                      </a:extLst>
                    </a:gridCol>
                    <a:gridCol w="1547823">
                      <a:extLst>
                        <a:ext uri="{9D8B030D-6E8A-4147-A177-3AD203B41FA5}">
                          <a16:colId xmlns:a16="http://schemas.microsoft.com/office/drawing/2014/main" val="2557411613"/>
                        </a:ext>
                      </a:extLst>
                    </a:gridCol>
                  </a:tblGrid>
                  <a:tr h="37675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Calibration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598957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300" t="-105000" r="-90459" b="-4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0157" t="-105000" r="-787" b="-44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029341"/>
                      </a:ext>
                    </a:extLst>
                  </a:tr>
                  <a:tr h="4349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5" t="-170833" r="-93092" b="-2736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300" t="-170833" r="-90459" b="-2736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0157" t="-170833" r="-787" b="-2736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073668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5" t="-300000" r="-93092" b="-2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300" t="-300000" r="-90459" b="-2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0157" t="-300000" r="-787" b="-2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3017269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5" t="-400000" r="-93092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300" t="-400000" r="-90459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0157" t="-400000" r="-787" b="-1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0916872"/>
                      </a:ext>
                    </a:extLst>
                  </a:tr>
                  <a:tr h="3958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5" t="-500000" r="-93092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300" t="-500000" r="-9045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0157" t="-500000" r="-787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459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B47B38B-F0AC-49D7-896D-6D11A210AA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6645448"/>
                  </p:ext>
                </p:extLst>
              </p:nvPr>
            </p:nvGraphicFramePr>
            <p:xfrm>
              <a:off x="2938412" y="4345967"/>
              <a:ext cx="6801489" cy="23467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67163">
                      <a:extLst>
                        <a:ext uri="{9D8B030D-6E8A-4147-A177-3AD203B41FA5}">
                          <a16:colId xmlns:a16="http://schemas.microsoft.com/office/drawing/2014/main" val="2888137969"/>
                        </a:ext>
                      </a:extLst>
                    </a:gridCol>
                    <a:gridCol w="2267163">
                      <a:extLst>
                        <a:ext uri="{9D8B030D-6E8A-4147-A177-3AD203B41FA5}">
                          <a16:colId xmlns:a16="http://schemas.microsoft.com/office/drawing/2014/main" val="2174007504"/>
                        </a:ext>
                      </a:extLst>
                    </a:gridCol>
                    <a:gridCol w="2267163">
                      <a:extLst>
                        <a:ext uri="{9D8B030D-6E8A-4147-A177-3AD203B41FA5}">
                          <a16:colId xmlns:a16="http://schemas.microsoft.com/office/drawing/2014/main" val="4163449276"/>
                        </a:ext>
                      </a:extLst>
                    </a:gridCol>
                  </a:tblGrid>
                  <a:tr h="546371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Balance for 0s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Balance for 1s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8957605"/>
                      </a:ext>
                    </a:extLst>
                  </a:tr>
                  <a:tr h="546371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Average 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acc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=0)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Average 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acc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=1)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909457"/>
                      </a:ext>
                    </a:extLst>
                  </a:tr>
                  <a:tr h="62340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31%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38%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09429038"/>
                      </a:ext>
                    </a:extLst>
                  </a:tr>
                  <a:tr h="62340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44%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56%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1777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B47B38B-F0AC-49D7-896D-6D11A210AA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6645448"/>
                  </p:ext>
                </p:extLst>
              </p:nvPr>
            </p:nvGraphicFramePr>
            <p:xfrm>
              <a:off x="2938412" y="4345967"/>
              <a:ext cx="6801489" cy="23467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67163">
                      <a:extLst>
                        <a:ext uri="{9D8B030D-6E8A-4147-A177-3AD203B41FA5}">
                          <a16:colId xmlns:a16="http://schemas.microsoft.com/office/drawing/2014/main" val="2888137969"/>
                        </a:ext>
                      </a:extLst>
                    </a:gridCol>
                    <a:gridCol w="2267163">
                      <a:extLst>
                        <a:ext uri="{9D8B030D-6E8A-4147-A177-3AD203B41FA5}">
                          <a16:colId xmlns:a16="http://schemas.microsoft.com/office/drawing/2014/main" val="2174007504"/>
                        </a:ext>
                      </a:extLst>
                    </a:gridCol>
                    <a:gridCol w="2267163">
                      <a:extLst>
                        <a:ext uri="{9D8B030D-6E8A-4147-A177-3AD203B41FA5}">
                          <a16:colId xmlns:a16="http://schemas.microsoft.com/office/drawing/2014/main" val="4163449276"/>
                        </a:ext>
                      </a:extLst>
                    </a:gridCol>
                  </a:tblGrid>
                  <a:tr h="546371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Balance for 0s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Balance for 1s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E0E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8957605"/>
                      </a:ext>
                    </a:extLst>
                  </a:tr>
                  <a:tr h="553593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38" t="-100000" r="-100538" b="-2274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538" t="-100000" r="-538" b="-2274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909457"/>
                      </a:ext>
                    </a:extLst>
                  </a:tr>
                  <a:tr h="623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8" t="-178431" r="-200538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31%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38%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09429038"/>
                      </a:ext>
                    </a:extLst>
                  </a:tr>
                  <a:tr h="623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8" t="-275728" r="-200538" b="-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44%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56%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17773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5242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A6DDA4-789B-4A89-AF5F-D0AA4EE49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040" y="0"/>
            <a:ext cx="6629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CB3726-552B-4AE1-8E5A-4FAE705E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55771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Calibration/PPV 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7C34F-3D6E-4EB6-874C-E14048310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65073" cy="4351338"/>
          </a:xfrm>
        </p:spPr>
        <p:txBody>
          <a:bodyPr/>
          <a:lstStyle/>
          <a:p>
            <a:r>
              <a:rPr lang="en-US" dirty="0"/>
              <a:t>Improves with more features.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E85551D-74A7-4939-9F0C-6F2D74B2F5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72537" y="3205537"/>
            <a:ext cx="375863" cy="375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53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5EFF-A8D7-4B1B-BDAA-A2C0FDB4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06BD6-062B-4426-B430-FFA8F3572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Degrade with more features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A0B210-37B7-4897-95A0-23CF3BC99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482" y="0"/>
            <a:ext cx="53892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97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AEA00-9175-479B-BC02-FB97A069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Explains This Pattern?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B4603-0201-4B6E-9ACB-3E762039BB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PPV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=1|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is a function of our predictors, so we could say</a:t>
                </a:r>
              </a:p>
              <a:p>
                <a:r>
                  <a:rPr lang="en-US" dirty="0"/>
                  <a:t>PPV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This should look familiar</a:t>
                </a:r>
              </a:p>
              <a:p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The entire training procedure is about finding this quantity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B4603-0201-4B6E-9ACB-3E762039BB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697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AEA00-9175-479B-BC02-FB97A069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Explains This Pattern?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B4603-0201-4B6E-9ACB-3E762039BB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But not the case for balance for positive and negative classes (FPR or FNR):</a:t>
                </a:r>
              </a:p>
              <a:p>
                <a:pPr lvl="1"/>
                <a:r>
                  <a:rPr lang="en-US" b="0" dirty="0"/>
                  <a:t>FNR: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endParaRPr lang="en-US" dirty="0"/>
              </a:p>
              <a:p>
                <a:r>
                  <a:rPr lang="en-US" dirty="0"/>
                  <a:t>How can we get our algorithms to optimize for this?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B4603-0201-4B6E-9ACB-3E762039BB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486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A056-D084-42FC-B4E6-14412240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E4C62-43EC-4C83-BC77-6901EC8B72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Recall the objective function for ridge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E4C62-43EC-4C83-BC77-6901EC8B72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575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A056-D084-42FC-B4E6-14412240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E4C62-43EC-4C83-BC77-6901EC8B72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Recall the objective function for ridge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Penalty term: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E4C62-43EC-4C83-BC77-6901EC8B72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7290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A056-D084-42FC-B4E6-14412240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E4C62-43EC-4C83-BC77-6901EC8B72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Other ways you could constrain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𝚽</m:t>
                          </m:r>
                          <m:r>
                            <a:rPr lang="en-US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𝚽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1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 constraint to take into account FPR and/or FNR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E4C62-43EC-4C83-BC77-6901EC8B72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9260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1E97B-C27F-48B2-A6B7-7C5ECD5F1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Would a “Constraint” Look Like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4F14F5-46A0-4CC4-8F21-FDCD299DEA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Differences in False Positive Rates should be zero, or close to zero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𝑟𝑎𝑐𝑒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4F14F5-46A0-4CC4-8F21-FDCD299DEA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732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1E97B-C27F-48B2-A6B7-7C5ECD5F1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Would a “Constraint” Look Like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4F14F5-46A0-4CC4-8F21-FDCD299DEA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Differences in False Positive Rates should be zero, or close to zero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𝑟𝑎𝑐𝑒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New objective: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7"/>
                            </m:r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  <m:sup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𝜸</m:t>
                              </m:r>
                              <m:d>
                                <m:dPr>
                                  <m:begChr m:val="["/>
                                  <m:endChr m:val="|"/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den>
                                  </m:f>
                                  <m:nary>
                                    <m:naryPr>
                                      <m:chr m:val="∑"/>
                                      <m:ctrlP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2400" b="1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𝒌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den>
                                  </m:f>
                                  <m:nary>
                                    <m:naryPr>
                                      <m:chr m:val="∑"/>
                                      <m:ctrlP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2400" b="1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400" b="1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𝒋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𝒋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nary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4F14F5-46A0-4CC4-8F21-FDCD299DEA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0017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1E97B-C27F-48B2-A6B7-7C5ECD5F1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Would a “Constraint” Look Like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4F14F5-46A0-4CC4-8F21-FDCD299DEA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Differences in False Positive Rates should be zero, or close to zero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𝑟𝑎𝑐𝑒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New objective: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7"/>
                            </m:rPr>
                            <a:rPr lang="en-US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1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1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sz="24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400" b="1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1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  <m:sup>
                                  <m:r>
                                    <a:rPr lang="en-US" sz="2400" b="1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sz="2400" b="1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𝜸</m:t>
                              </m:r>
                              <m:d>
                                <m:dPr>
                                  <m:begChr m:val="["/>
                                  <m:endChr m:val="|"/>
                                  <m:ctrlPr>
                                    <a:rPr lang="en-US" sz="2400" b="1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b="1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1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den>
                                  </m:f>
                                  <m:nary>
                                    <m:naryPr>
                                      <m:chr m:val="∑"/>
                                      <m:ctrlPr>
                                        <a:rPr lang="en-US" sz="2400" b="1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1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2400" b="1" i="1" dirty="0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400" b="1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b="1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sz="24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1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1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1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𝒌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2400" b="1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400" b="1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1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den>
                                  </m:f>
                                  <m:nary>
                                    <m:naryPr>
                                      <m:chr m:val="∑"/>
                                      <m:ctrlPr>
                                        <a:rPr lang="en-US" sz="2400" b="1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1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2400" b="1" i="1" dirty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400" b="1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b="1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400" b="1" i="1" dirty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𝒋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sz="24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1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1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1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𝒋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2400" b="1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nary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4F14F5-46A0-4CC4-8F21-FDCD299DEA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4653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7E57-5004-499D-B4DF-55454223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“Control Dials” for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5DD7D9-8F52-4C66-85B4-4D4E273B70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98595" y="4546884"/>
                <a:ext cx="3114040" cy="1325563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b="1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nary>
                      <m:naryPr>
                        <m:chr m:val="∑"/>
                        <m:supHide m:val="on"/>
                        <m:ctrlPr>
                          <a:rPr lang="en-US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  <m:sup>
                            <m:r>
                              <a:rPr lang="en-US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How much do we want to prevent overfitting?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5DD7D9-8F52-4C66-85B4-4D4E273B7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98595" y="4546884"/>
                <a:ext cx="3114040" cy="1325563"/>
              </a:xfrm>
              <a:blipFill>
                <a:blip r:embed="rId2"/>
                <a:stretch>
                  <a:fillRect l="-2348" t="-41475" r="-1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F5A9274-8402-4395-91BC-434C2A4AD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977" y="2752690"/>
            <a:ext cx="2559182" cy="13526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C24D84-2CFE-4C67-AC48-AE331AAB3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595" y="2822544"/>
            <a:ext cx="2667137" cy="12129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F918EC-4F6D-427D-8F02-D4E62F40CD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852" y="2761750"/>
            <a:ext cx="2502029" cy="13399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E4C892-1903-4252-8045-33445C5D72D9}"/>
                  </a:ext>
                </a:extLst>
              </p:cNvPr>
              <p:cNvSpPr txBox="1"/>
              <p:nvPr/>
            </p:nvSpPr>
            <p:spPr>
              <a:xfrm>
                <a:off x="1948813" y="1435487"/>
                <a:ext cx="8166700" cy="10705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7"/>
                            </m:rPr>
                            <a:rPr lang="en-US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1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b="1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sz="20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000" b="1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1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  <m:sup>
                                  <m:r>
                                    <a:rPr lang="en-US" sz="2000" b="1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sz="2000" b="1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𝜸</m:t>
                              </m:r>
                              <m:d>
                                <m:dPr>
                                  <m:begChr m:val="["/>
                                  <m:endChr m:val="|"/>
                                  <m:ctrlPr>
                                    <a:rPr lang="en-US" sz="2000" b="1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b="1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1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0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den>
                                  </m:f>
                                  <m:nary>
                                    <m:naryPr>
                                      <m:chr m:val="∑"/>
                                      <m:ctrlPr>
                                        <a:rPr lang="en-US" sz="2000" b="1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000" b="1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sz="2000" b="1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000" b="1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sz="20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2000" b="1" i="1" dirty="0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000" b="1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b="1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0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0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sz="2000" b="1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1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1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1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𝒌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2000" b="1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000" b="1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1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0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den>
                                  </m:f>
                                  <m:nary>
                                    <m:naryPr>
                                      <m:chr m:val="∑"/>
                                      <m:ctrlPr>
                                        <a:rPr lang="en-US" sz="2000" b="1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000" b="1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sz="2000" b="1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000" b="1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sz="20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2000" b="1" i="1" dirty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000" b="1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b="1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000" b="1" i="1" dirty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𝒋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0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sz="2000" b="1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1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1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1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𝒋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2000" b="1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nary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E4C892-1903-4252-8045-33445C5D7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813" y="1435487"/>
                <a:ext cx="8166700" cy="10705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35BA1D52-C19D-4EF4-8E02-88C661AA86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5246" y="4546884"/>
                <a:ext cx="3114040" cy="13255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How much do want to reduce error in the training data?</a:t>
                </a: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35BA1D52-C19D-4EF4-8E02-88C661AA8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46" y="4546884"/>
                <a:ext cx="3114040" cy="1325563"/>
              </a:xfrm>
              <a:prstGeom prst="rect">
                <a:avLst/>
              </a:prstGeom>
              <a:blipFill>
                <a:blip r:embed="rId7"/>
                <a:stretch>
                  <a:fillRect l="-2153" t="-4608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30531E93-C84D-4903-B8EB-6F815FB7D6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42714" y="4546884"/>
                <a:ext cx="3114040" cy="13255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𝜸</m:t>
                    </m:r>
                    <m:d>
                      <m:dPr>
                        <m:begChr m:val="["/>
                        <m:endChr m:val="|"/>
                        <m:ctrlPr>
                          <a:rPr lang="en-US" sz="20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20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sz="20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sup>
                          <m:e>
                            <m:sSub>
                              <m:sSubPr>
                                <m:ctrlPr>
                                  <a:rPr lang="en-US" sz="2000" b="1" i="1" dirty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sz="20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1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2000" b="1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b="1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sz="2000" b="1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1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p>
                          <m:e>
                            <m:sSub>
                              <m:sSubPr>
                                <m:ctrlPr>
                                  <a:rPr lang="en-US" sz="2000" b="1" i="1" dirty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b="1" i="1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b="1" i="1" dirty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b="1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b="1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4000" dirty="0"/>
                  <a:t>How much do we want to reduce disparities in False Positive Rates?</a:t>
                </a: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30531E93-C84D-4903-B8EB-6F815FB7D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714" y="4546884"/>
                <a:ext cx="3114040" cy="1325563"/>
              </a:xfrm>
              <a:prstGeom prst="rect">
                <a:avLst/>
              </a:prstGeom>
              <a:blipFill>
                <a:blip r:embed="rId8"/>
                <a:stretch>
                  <a:fillRect l="-2348" t="-15207" r="-1566" b="-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747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626C-6016-4AFE-A3A3-82B8BA19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Importance of Base Rates</a:t>
            </a:r>
          </a:p>
        </p:txBody>
      </p:sp>
    </p:spTree>
    <p:extLst>
      <p:ext uri="{BB962C8B-B14F-4D97-AF65-F5344CB8AC3E}">
        <p14:creationId xmlns:p14="http://schemas.microsoft.com/office/powerpoint/2010/main" val="1821687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2020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𝑅𝑎𝑐𝑒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D7C3DB9-ADFE-4DB9-B71B-00CD07D93A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/>
              <p:nvPr/>
            </p:nvSpPr>
            <p:spPr>
              <a:xfrm>
                <a:off x="838200" y="1793429"/>
                <a:ext cx="6277510" cy="4517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=.25+.25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+.08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+.08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2020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endParaRPr lang="en-US" b="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.25+.25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+.08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+.08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0⋅0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=.25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2020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=0,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𝑅𝑎𝑐𝑒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.25+.25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+.08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+.08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0⋅1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=.33</m:t>
                    </m:r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2020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endParaRPr lang="en-US" b="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.25+.25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+.08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+.08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1⋅0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=.5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𝐴𝑟𝑟𝑒𝑠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2020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b="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.25+.25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+.08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+.08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1⋅1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=.66</m:t>
                    </m:r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68349-CDFB-4DAE-97F3-92746003D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93429"/>
                <a:ext cx="6277510" cy="4517968"/>
              </a:xfrm>
              <a:prstGeom prst="rect">
                <a:avLst/>
              </a:prstGeom>
              <a:blipFill>
                <a:blip r:embed="rId3"/>
                <a:stretch>
                  <a:fillRect l="-680" t="-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4">
                <a:extLst>
                  <a:ext uri="{FF2B5EF4-FFF2-40B4-BE49-F238E27FC236}">
                    <a16:creationId xmlns:a16="http://schemas.microsoft.com/office/drawing/2014/main" id="{D4BADC0D-D156-4221-A03C-6F68554F48E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7274103" y="1793429"/>
              <a:ext cx="4777486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618514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999587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1258663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1006868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893854">
                      <a:extLst>
                        <a:ext uri="{9D8B030D-6E8A-4147-A177-3AD203B41FA5}">
                          <a16:colId xmlns:a16="http://schemas.microsoft.com/office/drawing/2014/main" val="242521726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𝑟𝑎𝑐𝑒</m:t>
                                </m:r>
                                <m:r>
                                  <a:rPr lang="en-US" sz="12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:</m:t>
                                </m:r>
                                <m:r>
                                  <a:rPr lang="en-US" sz="12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2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2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2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𝑎𝑟𝑟𝑒𝑠</m:t>
                                </m:r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US" sz="1400" b="0" i="0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𝑎𝑟𝑟𝑒𝑠𝑡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.66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.66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.66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4">
                <a:extLst>
                  <a:ext uri="{FF2B5EF4-FFF2-40B4-BE49-F238E27FC236}">
                    <a16:creationId xmlns:a16="http://schemas.microsoft.com/office/drawing/2014/main" id="{D4BADC0D-D156-4221-A03C-6F68554F48E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7274103" y="1793429"/>
              <a:ext cx="4777486" cy="4720386"/>
            </p:xfrm>
            <a:graphic>
              <a:graphicData uri="http://schemas.openxmlformats.org/drawingml/2006/table">
                <a:tbl>
                  <a:tblPr firstRow="1" lastCol="1">
                    <a:tableStyleId>{9D7B26C5-4107-4FEC-AEDC-1716B250A1EF}</a:tableStyleId>
                  </a:tblPr>
                  <a:tblGrid>
                    <a:gridCol w="618514">
                      <a:extLst>
                        <a:ext uri="{9D8B030D-6E8A-4147-A177-3AD203B41FA5}">
                          <a16:colId xmlns:a16="http://schemas.microsoft.com/office/drawing/2014/main" val="363316257"/>
                        </a:ext>
                      </a:extLst>
                    </a:gridCol>
                    <a:gridCol w="999587">
                      <a:extLst>
                        <a:ext uri="{9D8B030D-6E8A-4147-A177-3AD203B41FA5}">
                          <a16:colId xmlns:a16="http://schemas.microsoft.com/office/drawing/2014/main" val="1940546229"/>
                        </a:ext>
                      </a:extLst>
                    </a:gridCol>
                    <a:gridCol w="1258663">
                      <a:extLst>
                        <a:ext uri="{9D8B030D-6E8A-4147-A177-3AD203B41FA5}">
                          <a16:colId xmlns:a16="http://schemas.microsoft.com/office/drawing/2014/main" val="2416451057"/>
                        </a:ext>
                      </a:extLst>
                    </a:gridCol>
                    <a:gridCol w="1006868">
                      <a:extLst>
                        <a:ext uri="{9D8B030D-6E8A-4147-A177-3AD203B41FA5}">
                          <a16:colId xmlns:a16="http://schemas.microsoft.com/office/drawing/2014/main" val="1099521159"/>
                        </a:ext>
                      </a:extLst>
                    </a:gridCol>
                    <a:gridCol w="893854">
                      <a:extLst>
                        <a:ext uri="{9D8B030D-6E8A-4147-A177-3AD203B41FA5}">
                          <a16:colId xmlns:a16="http://schemas.microsoft.com/office/drawing/2014/main" val="2425217269"/>
                        </a:ext>
                      </a:extLst>
                    </a:gridCol>
                  </a:tblGrid>
                  <a:tr h="4390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80" t="-1389" r="-671569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805" t="-1389" r="-317683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9612" t="-1389" r="-152913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86667" t="-1389" r="-90909" b="-97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34014" t="-1389" r="-2041" b="-97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769391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591813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087509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909527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696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6296494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.25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810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.66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90461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.66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983758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.66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279675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061316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529730"/>
                      </a:ext>
                    </a:extLst>
                  </a:tr>
                  <a:tr h="3567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u="none" strike="noStrike" dirty="0">
                              <a:solidFill>
                                <a:schemeClr val="bg1"/>
                              </a:solidFill>
                              <a:effectLst/>
                            </a:rPr>
                            <a:t>0</a:t>
                          </a:r>
                          <a:endParaRPr lang="en-US" sz="12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2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.33</a:t>
                          </a:r>
                        </a:p>
                      </a:txBody>
                      <a:tcPr marL="6350" marR="6350" marT="635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7238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5989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A5E4-39D4-4C4E-9E08-6EB89417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Race Predictive of the outcome?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E7ACC-6501-47DD-BE49-4499A4E00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Race is a stand-in for missing predictors</a:t>
            </a:r>
          </a:p>
          <a:p>
            <a:pPr lvl="1"/>
            <a:r>
              <a:rPr lang="en-US" dirty="0"/>
              <a:t>Differences in police behavior</a:t>
            </a:r>
          </a:p>
          <a:p>
            <a:pPr lvl="1"/>
            <a:r>
              <a:rPr lang="en-US" dirty="0"/>
              <a:t>Differences in treatment of different subgroups historically </a:t>
            </a:r>
          </a:p>
          <a:p>
            <a:pPr lvl="1"/>
            <a:r>
              <a:rPr lang="en-US" dirty="0"/>
              <a:t>Differences in environment, broadly speaking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0618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75170-F176-4DEB-AD62-B2F256343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Would We Equalize P-Hats?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F52EE-274A-4045-802C-0CD435D4C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=.25+.25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+.08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+.08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Adding in predictors that are differentially predictive across groups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=.25+.25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+.04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+.08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+.08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𝑝𝑜𝑙𝑖𝑐𝑖𝑛𝑔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</m:oMath>
                </a14:m>
                <a:endParaRPr lang="en-US" dirty="0"/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F52EE-274A-4045-802C-0CD435D4C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3813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75170-F176-4DEB-AD62-B2F256343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See This Already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F52EE-274A-4045-802C-0CD435D4C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Interactions can account for differences in risk across groups. </a:t>
                </a:r>
              </a:p>
              <a:p>
                <a:pPr marL="0" indent="0">
                  <a:buNone/>
                </a:pPr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𝐴𝑟𝑟𝑒𝑠𝑡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=.24+ .29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 . 12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𝑟𝑎𝑐𝑒</m:t>
                    </m:r>
                  </m:oMath>
                </a14:m>
                <a:endParaRPr lang="en-US" sz="3200" b="0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=.25+.25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+.08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+.08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pPr marL="0" indent="0" algn="ctr">
                  <a:buNone/>
                </a:pPr>
                <a:r>
                  <a:rPr lang="en-US" b="1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.12  vs .08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F52EE-274A-4045-802C-0CD435D4C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71308D8-A257-48B4-BBFD-87CE4CCF0A2F}"/>
              </a:ext>
            </a:extLst>
          </p:cNvPr>
          <p:cNvCxnSpPr/>
          <p:nvPr/>
        </p:nvCxnSpPr>
        <p:spPr>
          <a:xfrm>
            <a:off x="7120467" y="3268133"/>
            <a:ext cx="0" cy="812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EDF5820-8E0F-44B5-A1A7-B03B278679B2}"/>
              </a:ext>
            </a:extLst>
          </p:cNvPr>
          <p:cNvSpPr txBox="1"/>
          <p:nvPr/>
        </p:nvSpPr>
        <p:spPr>
          <a:xfrm>
            <a:off x="7357533" y="3437389"/>
            <a:ext cx="3615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Pure group differences matter less</a:t>
            </a:r>
          </a:p>
        </p:txBody>
      </p:sp>
    </p:spTree>
    <p:extLst>
      <p:ext uri="{BB962C8B-B14F-4D97-AF65-F5344CB8AC3E}">
        <p14:creationId xmlns:p14="http://schemas.microsoft.com/office/powerpoint/2010/main" val="173245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2811</TotalTime>
  <Words>4669</Words>
  <Application>Microsoft Office PowerPoint</Application>
  <PresentationFormat>Widescreen</PresentationFormat>
  <Paragraphs>1633</Paragraphs>
  <Slides>89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6" baseType="lpstr">
      <vt:lpstr>Arial</vt:lpstr>
      <vt:lpstr>Calibri</vt:lpstr>
      <vt:lpstr>Calibri Light</vt:lpstr>
      <vt:lpstr>Cambria</vt:lpstr>
      <vt:lpstr>Cambria Math</vt:lpstr>
      <vt:lpstr>Graphik </vt:lpstr>
      <vt:lpstr>Office Theme</vt:lpstr>
      <vt:lpstr>CCJS 699F: Data Science for Criminology    Lecture 11 Sources of Bias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Reasonable Definitions for Fairness</vt:lpstr>
      <vt:lpstr>Impossibility</vt:lpstr>
      <vt:lpstr>Recap: Performance Metrics</vt:lpstr>
      <vt:lpstr>Convert p ̂ (p-hats) to y ̂ (y-hats) </vt:lpstr>
      <vt:lpstr>Confusion Matrix </vt:lpstr>
      <vt:lpstr>Performance Metrics</vt:lpstr>
      <vt:lpstr>Performance Metrics</vt:lpstr>
      <vt:lpstr>Performance Metrics</vt:lpstr>
      <vt:lpstr>Error Metrics</vt:lpstr>
      <vt:lpstr>This Week</vt:lpstr>
      <vt:lpstr>Causes of Bias in Predictions (Part I)</vt:lpstr>
      <vt:lpstr>What Do We Mean by Bias?</vt:lpstr>
      <vt:lpstr>Our Data</vt:lpstr>
      <vt:lpstr>Where Does Bias Come From? </vt:lpstr>
      <vt:lpstr>Where Does Bias Come From? </vt:lpstr>
      <vt:lpstr>Where Does Bias Come From? Scenario 1</vt:lpstr>
      <vt:lpstr>Where Does Bias Come From? Scenario 1</vt:lpstr>
      <vt:lpstr>Where Does Bias Come From? Scenario 2</vt:lpstr>
      <vt:lpstr>No Differences in Measurement</vt:lpstr>
      <vt:lpstr>What Leads to Bias </vt:lpstr>
      <vt:lpstr>Example</vt:lpstr>
      <vt:lpstr>Example</vt:lpstr>
      <vt:lpstr>P(Arrest_2021)</vt:lpstr>
      <vt:lpstr>P(Arrest_2021)</vt:lpstr>
      <vt:lpstr>P(Arrest_2021)</vt:lpstr>
      <vt:lpstr>P(Arrest_2021)</vt:lpstr>
      <vt:lpstr>Compute Fairness Metrics</vt:lpstr>
      <vt:lpstr>P(Arrest_2021 |Arrest_2020)</vt:lpstr>
      <vt:lpstr>P(Arrest_2021 |Arrest_2020)</vt:lpstr>
      <vt:lpstr>Visualizing the model</vt:lpstr>
      <vt:lpstr>Compute Fairness Metrics</vt:lpstr>
      <vt:lpstr>P(Arrest_2021 |Arrest_2020, Race)</vt:lpstr>
      <vt:lpstr>P(Arrest_2021 |Arrest_2020, Race)</vt:lpstr>
      <vt:lpstr>Visualizing the model</vt:lpstr>
      <vt:lpstr>Compute Fairness Metrics</vt:lpstr>
      <vt:lpstr>Add interaction</vt:lpstr>
      <vt:lpstr>P(Arrest_2021 |Arrest_2020)</vt:lpstr>
      <vt:lpstr>Visualizing the model</vt:lpstr>
      <vt:lpstr>Visualizing the model</vt:lpstr>
      <vt:lpstr>Visualizing the model</vt:lpstr>
      <vt:lpstr>Compute Fairness Metrics</vt:lpstr>
      <vt:lpstr>Calibration/PPV Balance</vt:lpstr>
      <vt:lpstr>Error Rates</vt:lpstr>
      <vt:lpstr>What Explains This Pattern?</vt:lpstr>
      <vt:lpstr>What Explains This Pattern?</vt:lpstr>
      <vt:lpstr>Constraints</vt:lpstr>
      <vt:lpstr>Constraints</vt:lpstr>
      <vt:lpstr>Constraints</vt:lpstr>
      <vt:lpstr>What Would a “Constraint” Look Like</vt:lpstr>
      <vt:lpstr>What Would a “Constraint” Look Like</vt:lpstr>
      <vt:lpstr>What Would a “Constraint” Look Like</vt:lpstr>
      <vt:lpstr>“Control Dials” for Algorithms</vt:lpstr>
      <vt:lpstr>The Importance of Base Rates</vt:lpstr>
      <vt:lpstr>P(Arrest_2021=1|Arrest_2020, Race)</vt:lpstr>
      <vt:lpstr>Why Is Race Predictive of the outcome?</vt:lpstr>
      <vt:lpstr>How Would We Equalize P-Hats?</vt:lpstr>
      <vt:lpstr>We See This Already</vt:lpstr>
      <vt:lpstr>Causes of Bias in Predictions (Part II)</vt:lpstr>
      <vt:lpstr>Where Does Bias Come From? Scenario 1</vt:lpstr>
      <vt:lpstr>Agenda (focus on Calibration)</vt:lpstr>
      <vt:lpstr>Data With Measurement Error</vt:lpstr>
      <vt:lpstr>Perfectly Measured World</vt:lpstr>
      <vt:lpstr>Model With Arrests Instead of Crimes</vt:lpstr>
      <vt:lpstr>Account for Race</vt:lpstr>
      <vt:lpstr>Account for Interaction</vt:lpstr>
      <vt:lpstr>Calibration</vt:lpstr>
      <vt:lpstr>What Did We Learn?</vt:lpstr>
      <vt:lpstr>Data With Measurement Error</vt:lpstr>
      <vt:lpstr>Accounting for Interaction</vt:lpstr>
      <vt:lpstr>Calibration</vt:lpstr>
      <vt:lpstr>What Did We Learn?</vt:lpstr>
      <vt:lpstr>Potential Solutions + Best Practices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Zubin Jelveh</dc:creator>
  <cp:lastModifiedBy>Zubin Jelveh</cp:lastModifiedBy>
  <cp:revision>49</cp:revision>
  <dcterms:created xsi:type="dcterms:W3CDTF">2021-11-13T16:15:32Z</dcterms:created>
  <dcterms:modified xsi:type="dcterms:W3CDTF">2024-11-12T00:02:46Z</dcterms:modified>
</cp:coreProperties>
</file>