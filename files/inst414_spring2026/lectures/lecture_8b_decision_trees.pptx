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sldIdLst>
    <p:sldId id="257" r:id="rId3"/>
    <p:sldId id="820" r:id="rId4"/>
    <p:sldId id="821" r:id="rId5"/>
    <p:sldId id="822" r:id="rId6"/>
    <p:sldId id="823" r:id="rId7"/>
    <p:sldId id="824" r:id="rId8"/>
    <p:sldId id="825" r:id="rId9"/>
    <p:sldId id="826" r:id="rId10"/>
    <p:sldId id="827" r:id="rId11"/>
    <p:sldId id="828" r:id="rId12"/>
    <p:sldId id="829" r:id="rId13"/>
    <p:sldId id="830" r:id="rId14"/>
    <p:sldId id="831" r:id="rId15"/>
    <p:sldId id="832" r:id="rId16"/>
    <p:sldId id="833" r:id="rId17"/>
    <p:sldId id="834" r:id="rId18"/>
    <p:sldId id="835" r:id="rId19"/>
    <p:sldId id="836" r:id="rId20"/>
    <p:sldId id="837" r:id="rId21"/>
    <p:sldId id="838" r:id="rId22"/>
    <p:sldId id="839" r:id="rId23"/>
    <p:sldId id="840" r:id="rId24"/>
    <p:sldId id="841" r:id="rId25"/>
    <p:sldId id="842" r:id="rId26"/>
    <p:sldId id="843" r:id="rId27"/>
    <p:sldId id="844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62586-D4F2-571D-4A28-3D9B1E6F0F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97CC0F1-1B14-3F8D-AFB3-F96BA2BBF3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BC8FE0-74EE-F6C5-2976-6CD4FC8467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3AED9-265B-4394-9047-B807C40BDEF2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48736F-1298-410B-3113-9E40AB011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F065AE-8EE0-0D06-8B93-48DC96733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6F2959-CA37-488C-839C-1ADE6FE7DF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51057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2473C7-F5C1-96AA-EFB4-482F4D4B9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47C15D-6352-9139-4D1A-DBD3AB93E0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52F89F-D744-4E3C-1977-5FEF01BDA3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3AED9-265B-4394-9047-B807C40BDEF2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36C4C8-B63C-E1D5-2486-2D0D704492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5E705E-824A-A376-EE4C-EEFF4308A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6F2959-CA37-488C-839C-1ADE6FE7DF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24509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A35800-BD58-FF90-8068-348097EA0D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C0814D-FB07-F0FB-0FD5-F921B8118F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F99476-9CF8-7E1C-C5F3-8183298F3C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3AED9-265B-4394-9047-B807C40BDEF2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5900A6-44BF-9A16-B155-FD9D9D0CDE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99CDBB-1C1A-211E-3C9F-E49F5C92B2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6F2959-CA37-488C-839C-1ADE6FE7DF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6660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891C76-8F3B-C134-615E-7DC1CC4A6A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36B9FB-B22B-0A5C-6329-91EB4BB990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976273-C3A8-DECA-C2BC-64E1CF854A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A43832-2440-B2DB-855E-1063B1ABFC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3AED9-265B-4394-9047-B807C40BDEF2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74AD46-E7AD-31AA-C43B-48BEEB3101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3D1A5F-98DF-280E-532F-7FF854C586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6F2959-CA37-488C-839C-1ADE6FE7DF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55944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0BD354-4D7D-ED48-7D3D-A5B0CE7DE6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6B8B1A-BBFA-5E28-DC34-40CB11BEEA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6FADF0-6A9A-71EB-791B-4EF0649FBC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B42651-ADC6-E4AB-1F3C-28BFD00100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382086-9C6B-54CB-BEA2-3D378DA9B7E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1E973D9-CFAB-59C9-156C-D5A0FF574C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3AED9-265B-4394-9047-B807C40BDEF2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C4A3A7D-F636-4E17-88A4-4961239590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41E576F-4BB7-5247-5E2D-F38A0A6CFE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6F2959-CA37-488C-839C-1ADE6FE7DF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07842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0F1E1C-316A-8415-D180-15E4156239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F36BCED-C5A7-36BD-9746-C980F11939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3AED9-265B-4394-9047-B807C40BDEF2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E1AF04-78A1-64BA-17E0-E3BEC72F03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12F030-810E-13E3-7F15-D3DBB8E1A8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6F2959-CA37-488C-839C-1ADE6FE7DF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04175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834A545-1724-9B99-D174-10C02881F5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3AED9-265B-4394-9047-B807C40BDEF2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536FCBF-DA35-0F9B-5CD6-1C108C16C0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3D86B6-5B7E-2CAA-A29F-205C3C40D6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6F2959-CA37-488C-839C-1ADE6FE7DF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0312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F10EFD-BA8E-2F83-A121-2E3969A658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CABACE-B9D9-548E-0A59-9238D8EDF5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1CE85-61AC-42E8-1C18-07FF523E7A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BDF639-19C4-32EC-B60F-ED8183613D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3AED9-265B-4394-9047-B807C40BDEF2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71CFE2-55F9-0AFA-5C1A-C47D4E3089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5B709A-B9CF-CD48-3B0D-ECBDC20696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6F2959-CA37-488C-839C-1ADE6FE7DF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74000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3399D-AB2A-9C2C-8C70-BB0BB07D88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B63C4A1-E283-2E4F-0E50-ACC2A071D7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7B0BFF-C8F9-FF75-7788-691A3C887C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DBBDBD-2CA2-0B8F-29CC-3E34D1EF1D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3AED9-265B-4394-9047-B807C40BDEF2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8014A67-B7D4-9497-1C3B-77A4E749E0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B3CD4A-3133-E06A-EAFE-FAFF3DBBD3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6F2959-CA37-488C-839C-1ADE6FE7DF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3558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34E45-2D88-25DE-1030-5262FF8D7B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47FCAF-9B09-3766-1374-0C13D846EB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567090-8515-281C-8138-4C300B3BE3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3AED9-265B-4394-9047-B807C40BDEF2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25B52A-E742-2E2F-8618-03939184D6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A974C6-742D-5771-2AD7-222C704AE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6F2959-CA37-488C-839C-1ADE6FE7DF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1069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CDD9A78-FB43-35BE-984F-00E424817A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1C5636-3BF2-D96F-EAAE-1ED287BD4F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DFC635-F064-6837-E766-930640F9E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3AED9-265B-4394-9047-B807C40BDEF2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160246-75BB-04C4-9F76-A053706384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35D4DB-57CB-F2D7-50B9-0D05693E4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6F2959-CA37-488C-839C-1ADE6FE7DF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39559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4612EB-3179-41D3-A096-8DCB61249F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7BD838-3438-4680-B866-9D7E1FEE84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C40411-FB31-46C4-8953-92293CA18F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AAD77-0952-4A0F-B406-0526A080BBE6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E61B5E-166A-4148-A1D3-BDA269D2E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651C9A-CE0E-4805-A440-829676A19E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D4AE-D363-4A45-A752-CD0CBC5A3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62008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F6ABA-6299-4495-99FC-09EB37033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3338CE-B9F2-4AE7-8E72-F2C6FCF12F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8221BB-0056-42CE-96C6-EA0A13D9F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AAD77-0952-4A0F-B406-0526A080BBE6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6DBE94-8840-4E84-BDC8-5280B59960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A94774-6C2D-4ADD-82AB-EFD4B7FC4F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D4AE-D363-4A45-A752-CD0CBC5A3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41343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420EDF-1128-42E0-ACAB-CDA85BF00E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F07AE2-74AF-4958-8014-BF860FDFD1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984849-9341-42C6-BCB3-2EBB7C8CA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AAD77-0952-4A0F-B406-0526A080BBE6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4E087C-672D-4D70-BDA0-16B0E159B5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97765A-6F92-4ED6-9471-36D2D4EDC4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D4AE-D363-4A45-A752-CD0CBC5A3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920360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5DEF5C-594B-48CA-9C2F-E0DFAB4F8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EA38CF-FD18-41D8-8CA1-E9EC9B178A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DA21BA-BDBA-4D11-A39B-4495280464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591829-2FAB-4B9C-BB28-D2F2E5F997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AAD77-0952-4A0F-B406-0526A080BBE6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C9729A-D136-46EB-A156-53B88DCA9B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61C00C-BF98-4B3C-81E9-C0B5581E8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D4AE-D363-4A45-A752-CD0CBC5A3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543838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3F0142-15D0-4DC4-8750-9CC10E1B7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E127EE-957F-47B4-A3C6-EE228348F9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009707-32C4-4346-9EE7-C7BA9B2A94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78DD51-DCAE-41F3-BB86-50F6CCB2A0B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A7D6B3A-BBDF-4E26-ABEC-672635F6F7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DB6DB1-59AE-47C7-8BA4-20920850F3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AAD77-0952-4A0F-B406-0526A080BBE6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D08553A-2093-4385-B648-52691CB98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B617BE2-2190-4E00-AEAC-3CFC6FF71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D4AE-D363-4A45-A752-CD0CBC5A3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011988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2AD891-D033-4A44-A132-B946D6B64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AF1F32-4957-4FAD-955B-A5D05A9178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AAD77-0952-4A0F-B406-0526A080BBE6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FFCBD1-0205-4242-91D8-56FCFBD183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01ED64-FF13-40D7-B90A-832EC5D390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D4AE-D363-4A45-A752-CD0CBC5A3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46897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10B3508-EE54-4F3D-87DE-3A51299DCD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AAD77-0952-4A0F-B406-0526A080BBE6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C7BBA0A-9E7E-4BD0-A702-DFC19BF97E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85C9C6-D8FC-44B9-B620-D15AD47E6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D4AE-D363-4A45-A752-CD0CBC5A3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546031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E13B93-ECA3-426D-BCCC-1929803CF4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0107FF-6D7B-4822-A757-F59FE26974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A57C69-22C7-4803-B016-4B509A3B4E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D301D1-A652-48E7-9F7B-C10F7AE0F3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AAD77-0952-4A0F-B406-0526A080BBE6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B60AE2-13CC-43F4-9256-4E5508C724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08DB03-AE86-4205-A7A1-E9B5B3246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D4AE-D363-4A45-A752-CD0CBC5A3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749267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6A7918-6960-49A1-9FFB-D5634BC8A8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D4006C2-73A7-4424-B46D-EA3C1441F4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746E7C-C8FB-41B9-AD31-C10378BBA0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CB3712-24D3-4EA7-A67B-ABAE4FD9DB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AAD77-0952-4A0F-B406-0526A080BBE6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749887-39D4-49FE-80EC-6D275C4E92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E7367C0-B54D-449A-9E59-6174CB8F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D4AE-D363-4A45-A752-CD0CBC5A3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896739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454C52-2024-438A-9671-7D71CDF517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197685-1070-4F47-AF99-C683386C54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983AC2-06DC-44DD-B42B-30ED4A2EE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AAD77-0952-4A0F-B406-0526A080BBE6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73B7F7-890F-4FCB-9330-5EB8A15A0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2CB25B-35A8-402C-88E1-95D0265FEC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D4AE-D363-4A45-A752-CD0CBC5A3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07419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205C23A-7B0F-4EA1-91CE-529209B4F9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9267A7F-9DBB-4D42-88AD-7034EBA9D3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778ADF-108B-4331-BCB0-1C210AC786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BAAD77-0952-4A0F-B406-0526A080BBE6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5499DA-E50C-4123-BBCB-F0986EDF5E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6D7CA4-D399-4D10-87F3-9CD947C00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D1D4AE-D363-4A45-A752-CD0CBC5A38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15668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E58EC6-8C55-DF99-E3A4-7D5CC847D9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59771B-E94E-1DDD-8B16-46ACB2F021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1C0C63-8F89-6B4C-12C7-857B39BCBBC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AC3AED9-265B-4394-9047-B807C40BDEF2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92C5E5-1A6E-CA35-B70B-38E9102DAB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E3C849-BF1B-2F16-4DAB-B29DD241C5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6F2959-CA37-488C-839C-1ADE6FE7DF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79642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3E57241-2BE3-441C-8E98-CA31C0C664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FC63E2-5534-43F6-A3CE-1A14C115EE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3A4378-E36C-4AC3-9180-A80F97F71C2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fld id="{D7BAAD77-0952-4A0F-B406-0526A080BBE6}" type="datetimeFigureOut">
              <a:rPr lang="en-US" smtClean="0"/>
              <a:pPr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039C37-3F94-4A04-8CE9-816F0A7D64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80B407-A594-4387-9126-1FFF8C5759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Cambria" panose="02040503050406030204" pitchFamily="18" charset="0"/>
                <a:ea typeface="Cambria" panose="02040503050406030204" pitchFamily="18" charset="0"/>
              </a:defRPr>
            </a:lvl1pPr>
          </a:lstStyle>
          <a:p>
            <a:fld id="{E2D1D4AE-D363-4A45-A752-CD0CBC5A38B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95736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Cambria" panose="02040503050406030204" pitchFamily="18" charset="0"/>
          <a:ea typeface="Cambria" panose="02040503050406030204" pitchFamily="18" charset="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Cambria" panose="02040503050406030204" pitchFamily="18" charset="0"/>
          <a:ea typeface="Cambria" panose="02040503050406030204" pitchFamily="18" charset="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mbria" panose="02040503050406030204" pitchFamily="18" charset="0"/>
          <a:ea typeface="Cambria" panose="02040503050406030204" pitchFamily="18" charset="0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mbria" panose="02040503050406030204" pitchFamily="18" charset="0"/>
          <a:ea typeface="Cambria" panose="02040503050406030204" pitchFamily="18" charset="0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mbria" panose="02040503050406030204" pitchFamily="18" charset="0"/>
          <a:ea typeface="Cambria" panose="02040503050406030204" pitchFamily="18" charset="0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mbria" panose="02040503050406030204" pitchFamily="18" charset="0"/>
          <a:ea typeface="Cambria" panose="02040503050406030204" pitchFamily="18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NUL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46C8B-9AB5-4B36-A44B-C6B45DD2D0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756288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US" dirty="0"/>
              <a:t>INST 414: Data Science Techniques </a:t>
            </a:r>
            <a:br>
              <a:rPr lang="en-US" dirty="0"/>
            </a:br>
            <a:r>
              <a:rPr lang="en-US" dirty="0"/>
              <a:t> </a:t>
            </a:r>
            <a:br>
              <a:rPr lang="en-US" dirty="0"/>
            </a:br>
            <a:r>
              <a:rPr lang="en-US" sz="4900" dirty="0"/>
              <a:t>Decision Trees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23730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1A626C-6016-4AFE-A3A3-82B8BA196E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Decision Trees</a:t>
            </a:r>
          </a:p>
        </p:txBody>
      </p:sp>
    </p:spTree>
    <p:extLst>
      <p:ext uri="{BB962C8B-B14F-4D97-AF65-F5344CB8AC3E}">
        <p14:creationId xmlns:p14="http://schemas.microsoft.com/office/powerpoint/2010/main" val="19732970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201C51-13AF-48FD-890C-44DA833C9F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712AF3-1C93-454F-B7FF-8C75AEEEDA5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b="0" dirty="0"/>
                  <a:t>Want to estimate: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=1|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Naive Bayes:</a:t>
                </a:r>
              </a:p>
              <a:p>
                <a:pPr lvl="1"/>
                <a:r>
                  <a:rPr lang="en-US" dirty="0"/>
                  <a:t>Count ‘</a:t>
                </a:r>
                <a:r>
                  <a:rPr lang="en-US" dirty="0" err="1"/>
                  <a:t>em</a:t>
                </a:r>
                <a:r>
                  <a:rPr lang="en-US" dirty="0"/>
                  <a:t> up</a:t>
                </a:r>
              </a:p>
              <a:p>
                <a:r>
                  <a:rPr lang="en-US" dirty="0"/>
                  <a:t>Linear Regression:</a:t>
                </a:r>
              </a:p>
              <a:p>
                <a:pPr lvl="1"/>
                <a:r>
                  <a:rPr lang="en-US" dirty="0"/>
                  <a:t>Estimate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dirty="0"/>
                  <a:t>s by fitting a line to our data</a:t>
                </a:r>
              </a:p>
              <a:p>
                <a:r>
                  <a:rPr lang="en-US" dirty="0"/>
                  <a:t>Decisions Trees:</a:t>
                </a:r>
              </a:p>
              <a:p>
                <a:pPr lvl="1"/>
                <a:r>
                  <a:rPr lang="en-US" dirty="0"/>
                  <a:t>At each point, find the </a:t>
                </a:r>
                <a:r>
                  <a:rPr lang="en-US" i="1" u="sng" dirty="0"/>
                  <a:t>one</a:t>
                </a:r>
                <a:r>
                  <a:rPr lang="en-US" dirty="0"/>
                  <a:t> variable (and threshold) that bests separates 1s and 0s</a:t>
                </a:r>
              </a:p>
              <a:p>
                <a:pPr lvl="1"/>
                <a:r>
                  <a:rPr lang="en-US" dirty="0"/>
                  <a:t>Splits feature space into perpendicular sections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712AF3-1C93-454F-B7FF-8C75AEEEDA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0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940077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C80330-5BB6-4CF8-9851-39E7BA157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Prediction Problem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A8B187-5A21-4C04-BCE7-DF7F9E6553D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Red is Y=1, Blue is Y=0</a:t>
                </a:r>
              </a:p>
              <a:p>
                <a:r>
                  <a:rPr lang="en-US" dirty="0"/>
                  <a:t>Two predictors,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A8B187-5A21-4C04-BCE7-DF7F9E6553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2" name="Picture 4">
            <a:extLst>
              <a:ext uri="{FF2B5EF4-FFF2-40B4-BE49-F238E27FC236}">
                <a16:creationId xmlns:a16="http://schemas.microsoft.com/office/drawing/2014/main" id="{A8A44AB0-1EAD-4A6E-B7BC-4913B2A715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38437" y="2866034"/>
            <a:ext cx="6715125" cy="3914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175119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FFC62-BF71-4920-AB15-20079AC5DC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Use a Linear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DA5185-8215-4E96-8628-869C1651CC2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We get 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=.10+.0009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+.0009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DA5185-8215-4E96-8628-869C1651CC2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177642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E26554-44BC-4CD7-AA8F-133C7C5A9A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Predictions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428079-A5A9-4FFE-A74C-25719DDC4993}"/>
              </a:ext>
            </a:extLst>
          </p:cNvPr>
          <p:cNvSpPr txBox="1"/>
          <p:nvPr/>
        </p:nvSpPr>
        <p:spPr>
          <a:xfrm>
            <a:off x="1017917" y="1802921"/>
            <a:ext cx="101619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Dots are colored by predicted probability. The range is narrow, from .105 to .117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72EC364D-3840-70C1-212C-10EBDE53F5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82492" y="2481577"/>
            <a:ext cx="5936608" cy="37678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710080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14F815-03AF-44D4-CC18-23DE3E431A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Calibration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B2546E-8044-2343-6040-D6775400D3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60523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Break predictions into 10 equally sized bins (45 data points in each)</a:t>
            </a:r>
          </a:p>
          <a:p>
            <a:r>
              <a:rPr lang="en-US" dirty="0"/>
              <a:t>Compute the average value of the outcome and average value of the prediction for each bin. </a:t>
            </a:r>
          </a:p>
          <a:p>
            <a:r>
              <a:rPr lang="en-US" dirty="0"/>
              <a:t>Each point in the plot is (average prediction, average outcome) for each bin</a:t>
            </a:r>
          </a:p>
          <a:p>
            <a:r>
              <a:rPr lang="en-US" dirty="0"/>
              <a:t>If model was calibrated, points would fall on 45-degree line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A16A3826-F9B1-AE3C-C842-6F6A633D11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71098" y="2062163"/>
            <a:ext cx="5486400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545134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14F815-03AF-44D4-CC18-23DE3E431A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Calibration – Zooming 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B2546E-8044-2343-6040-D6775400D3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60523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Break predictions into 10 equally sized bins (45 data points in each)</a:t>
            </a:r>
          </a:p>
          <a:p>
            <a:r>
              <a:rPr lang="en-US" dirty="0"/>
              <a:t>Compute the average value of the outcome and average value of the prediction for each bin. </a:t>
            </a:r>
          </a:p>
          <a:p>
            <a:r>
              <a:rPr lang="en-US" dirty="0"/>
              <a:t>Each point in the plot is (average prediction, average outcome) for each bin</a:t>
            </a:r>
          </a:p>
          <a:p>
            <a:r>
              <a:rPr lang="en-US" dirty="0"/>
              <a:t>If model was calibrated, points would fall on 45-degree line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3306D334-9686-6602-8A8F-78FF7F3F27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71098" y="2062163"/>
            <a:ext cx="5486400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4" name="Picture 2">
            <a:extLst>
              <a:ext uri="{FF2B5EF4-FFF2-40B4-BE49-F238E27FC236}">
                <a16:creationId xmlns:a16="http://schemas.microsoft.com/office/drawing/2014/main" id="{47E94235-9213-7FA0-F763-87249DD29A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8376" y="2050902"/>
            <a:ext cx="5400675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405697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FFC62-BF71-4920-AB15-20079AC5DC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Introduce Interactions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DA5185-8215-4E96-8628-869C1651CC2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b="0" i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We get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=−.04+.09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+.09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−.01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−.01 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b="0" i="0" smtClean="0">
                        <a:latin typeface="Cambria Math" panose="02040503050406030204" pitchFamily="18" charset="0"/>
                      </a:rPr>
                      <m:t>−.001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DA5185-8215-4E96-8628-869C1651CC2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101914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2646E1-C464-4BB7-BD90-CA1695B670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Predictions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0558461-7A43-48FC-A0AD-D57949359D0F}"/>
              </a:ext>
            </a:extLst>
          </p:cNvPr>
          <p:cNvSpPr txBox="1"/>
          <p:nvPr/>
        </p:nvSpPr>
        <p:spPr>
          <a:xfrm>
            <a:off x="1017917" y="1802921"/>
            <a:ext cx="101619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Dots are colored by predicted probability.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BEEB584-A236-4C37-F03B-F0D9964844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80666" y="2738329"/>
            <a:ext cx="6016253" cy="3894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138962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14F815-03AF-44D4-CC18-23DE3E431A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Calibration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B2546E-8044-2343-6040-D6775400D3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60523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Break predictions into 10 equally sized bins (45 data points in each)</a:t>
            </a:r>
          </a:p>
          <a:p>
            <a:r>
              <a:rPr lang="en-US" dirty="0"/>
              <a:t>Compute the average value of the outcome and average value of the prediction for each bin. </a:t>
            </a:r>
          </a:p>
          <a:p>
            <a:r>
              <a:rPr lang="en-US" dirty="0"/>
              <a:t>Each point in the plot is (average prediction, average outcome) for each bin</a:t>
            </a:r>
          </a:p>
          <a:p>
            <a:r>
              <a:rPr lang="en-US" dirty="0"/>
              <a:t>If model was calibrated, points would fall on 45-degree line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CF6BCA3-30B5-C4DE-0CA6-2AEB923047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98723" y="1825625"/>
            <a:ext cx="5486400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>
            <a:extLst>
              <a:ext uri="{FF2B5EF4-FFF2-40B4-BE49-F238E27FC236}">
                <a16:creationId xmlns:a16="http://schemas.microsoft.com/office/drawing/2014/main" id="{A22FB41F-CB3E-3C41-332D-7DDDC32CA5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93861" y="1826877"/>
            <a:ext cx="5486400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778426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14F815-03AF-44D4-CC18-23DE3E431A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Calibration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B2546E-8044-2343-6040-D6775400D3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60523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Break predictions into 10 equally sized bins (45 data points in each)</a:t>
            </a:r>
          </a:p>
          <a:p>
            <a:r>
              <a:rPr lang="en-US" dirty="0"/>
              <a:t>Compute the average value of the outcome and average value of the prediction for each bin. </a:t>
            </a:r>
          </a:p>
          <a:p>
            <a:r>
              <a:rPr lang="en-US" dirty="0"/>
              <a:t>Each point in the plot is (average prediction, average outcome) for each bin</a:t>
            </a:r>
          </a:p>
          <a:p>
            <a:r>
              <a:rPr lang="en-US" dirty="0"/>
              <a:t>If model was calibrated, points would fall on 45-degree line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CF6BCA3-30B5-C4DE-0CA6-2AEB923047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98723" y="1825625"/>
            <a:ext cx="5486400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4" name="Picture 2">
            <a:extLst>
              <a:ext uri="{FF2B5EF4-FFF2-40B4-BE49-F238E27FC236}">
                <a16:creationId xmlns:a16="http://schemas.microsoft.com/office/drawing/2014/main" id="{57E3EA46-B3EE-BBE4-9B78-C08F78D01D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79271" y="1826877"/>
            <a:ext cx="5486400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237066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AEF2A-50E8-41AD-8313-9B3E9A294E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Now Let’s Use a Decision Tree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97C0443-65C7-4305-BF1D-ED6D8DEA835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We’re going to feed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97C0443-65C7-4305-BF1D-ED6D8DEA83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07369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AEF2A-50E8-41AD-8313-9B3E9A294E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Predictions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7D1CA0C7-3C14-4CA0-941C-EB0B53CAE7B9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04053" y="2351834"/>
            <a:ext cx="6783893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D0F0ADF-AD6A-4568-A3BA-C72B14F97996}"/>
              </a:ext>
            </a:extLst>
          </p:cNvPr>
          <p:cNvSpPr txBox="1"/>
          <p:nvPr/>
        </p:nvSpPr>
        <p:spPr>
          <a:xfrm>
            <a:off x="1017917" y="1802921"/>
            <a:ext cx="101619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Dots are colored by predicted probability. Decision tree gets close to perfect prediction</a:t>
            </a:r>
          </a:p>
        </p:txBody>
      </p:sp>
    </p:spTree>
    <p:extLst>
      <p:ext uri="{BB962C8B-B14F-4D97-AF65-F5344CB8AC3E}">
        <p14:creationId xmlns:p14="http://schemas.microsoft.com/office/powerpoint/2010/main" val="26236088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14F815-03AF-44D4-CC18-23DE3E431A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Calibration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B2546E-8044-2343-6040-D6775400D3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60523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Break predictions into 10 equally sized bins (45 data points in each)</a:t>
            </a:r>
          </a:p>
          <a:p>
            <a:r>
              <a:rPr lang="en-US" dirty="0"/>
              <a:t>Compute the average value of the outcome and average value of the prediction for each bin. </a:t>
            </a:r>
          </a:p>
          <a:p>
            <a:r>
              <a:rPr lang="en-US" dirty="0"/>
              <a:t>Each point in the plot is (average prediction, average outcome) for each bin</a:t>
            </a:r>
          </a:p>
          <a:p>
            <a:r>
              <a:rPr lang="en-US" dirty="0"/>
              <a:t>If model was calibrated, points would fall on 45-degree line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CF6BCA3-30B5-C4DE-0CA6-2AEB923047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98723" y="1825625"/>
            <a:ext cx="5486400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4" name="Picture 2">
            <a:extLst>
              <a:ext uri="{FF2B5EF4-FFF2-40B4-BE49-F238E27FC236}">
                <a16:creationId xmlns:a16="http://schemas.microsoft.com/office/drawing/2014/main" id="{57E3EA46-B3EE-BBE4-9B78-C08F78D01D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79271" y="1826877"/>
            <a:ext cx="5486400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98" name="Picture 2">
            <a:extLst>
              <a:ext uri="{FF2B5EF4-FFF2-40B4-BE49-F238E27FC236}">
                <a16:creationId xmlns:a16="http://schemas.microsoft.com/office/drawing/2014/main" id="{61743E95-B7EC-76ED-6AF4-1B7C143CA7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64677" y="1826874"/>
            <a:ext cx="5486400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756672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18561-5B33-418C-A1C6-B4C759C7E7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Just Happened?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311A53-76FB-4C53-91C4-CB492BCBE2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decision tree is a method for “cutting up” the input space in a linear fashion.</a:t>
            </a:r>
          </a:p>
          <a:p>
            <a:endParaRPr lang="en-US" dirty="0"/>
          </a:p>
          <a:p>
            <a:r>
              <a:rPr lang="en-US" dirty="0"/>
              <a:t>Identifies regions of the input space where regions are places where the data points are more similar to each other</a:t>
            </a:r>
          </a:p>
        </p:txBody>
      </p:sp>
    </p:spTree>
    <p:extLst>
      <p:ext uri="{BB962C8B-B14F-4D97-AF65-F5344CB8AC3E}">
        <p14:creationId xmlns:p14="http://schemas.microsoft.com/office/powerpoint/2010/main" val="5996218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22B330-E377-4E79-AD56-A4BD094CF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Decision Tree Terminology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4005570F-3AD7-4CA3-A2A3-407BA082C742}"/>
              </a:ext>
            </a:extLst>
          </p:cNvPr>
          <p:cNvSpPr/>
          <p:nvPr/>
        </p:nvSpPr>
        <p:spPr>
          <a:xfrm>
            <a:off x="4684302" y="1931276"/>
            <a:ext cx="1245476" cy="121394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54EE0014-F8AB-47F8-9DC5-E7537C87276E}"/>
              </a:ext>
            </a:extLst>
          </p:cNvPr>
          <p:cNvSpPr/>
          <p:nvPr/>
        </p:nvSpPr>
        <p:spPr>
          <a:xfrm>
            <a:off x="2855502" y="4001294"/>
            <a:ext cx="1245476" cy="121394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6156A1E-E0C1-4D52-8F9D-C6F522F0E7B3}"/>
              </a:ext>
            </a:extLst>
          </p:cNvPr>
          <p:cNvSpPr/>
          <p:nvPr/>
        </p:nvSpPr>
        <p:spPr>
          <a:xfrm>
            <a:off x="6513102" y="4001293"/>
            <a:ext cx="1245476" cy="121394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129072C-1AE2-4FE5-95E9-99E05F4847D5}"/>
              </a:ext>
            </a:extLst>
          </p:cNvPr>
          <p:cNvCxnSpPr>
            <a:stCxn id="4" idx="5"/>
            <a:endCxn id="6" idx="1"/>
          </p:cNvCxnSpPr>
          <p:nvPr/>
        </p:nvCxnSpPr>
        <p:spPr>
          <a:xfrm>
            <a:off x="5747382" y="2967443"/>
            <a:ext cx="948116" cy="1211628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CDB09DF-9630-41B6-A20B-987A2E745463}"/>
              </a:ext>
            </a:extLst>
          </p:cNvPr>
          <p:cNvCxnSpPr>
            <a:cxnSpLocks/>
            <a:stCxn id="4" idx="3"/>
            <a:endCxn id="5" idx="7"/>
          </p:cNvCxnSpPr>
          <p:nvPr/>
        </p:nvCxnSpPr>
        <p:spPr>
          <a:xfrm flipH="1">
            <a:off x="3918582" y="2967443"/>
            <a:ext cx="948116" cy="1211629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B7426B53-E112-44DF-90F5-649D53E83021}"/>
              </a:ext>
            </a:extLst>
          </p:cNvPr>
          <p:cNvSpPr txBox="1"/>
          <p:nvPr/>
        </p:nvSpPr>
        <p:spPr>
          <a:xfrm>
            <a:off x="32092" y="2560446"/>
            <a:ext cx="267495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Parent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(or Root) Node 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75E4A86-F0E6-4884-8708-1156605AB3C9}"/>
              </a:ext>
            </a:extLst>
          </p:cNvPr>
          <p:cNvCxnSpPr>
            <a:cxnSpLocks/>
          </p:cNvCxnSpPr>
          <p:nvPr/>
        </p:nvCxnSpPr>
        <p:spPr>
          <a:xfrm flipV="1">
            <a:off x="2576978" y="2560446"/>
            <a:ext cx="2107324" cy="33252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FB55021-C900-47E5-8F20-1F04CCB9FC39}"/>
              </a:ext>
            </a:extLst>
          </p:cNvPr>
          <p:cNvCxnSpPr>
            <a:cxnSpLocks/>
          </p:cNvCxnSpPr>
          <p:nvPr/>
        </p:nvCxnSpPr>
        <p:spPr>
          <a:xfrm flipV="1">
            <a:off x="1610026" y="4356223"/>
            <a:ext cx="4885125" cy="30378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1499519-2EC7-46CE-BEEC-932574689F32}"/>
              </a:ext>
            </a:extLst>
          </p:cNvPr>
          <p:cNvCxnSpPr>
            <a:cxnSpLocks/>
          </p:cNvCxnSpPr>
          <p:nvPr/>
        </p:nvCxnSpPr>
        <p:spPr>
          <a:xfrm flipV="1">
            <a:off x="1610026" y="4356223"/>
            <a:ext cx="1245476" cy="25204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4BBFBB9C-3656-4B73-B19F-B4D9A569AFD2}"/>
              </a:ext>
            </a:extLst>
          </p:cNvPr>
          <p:cNvSpPr txBox="1"/>
          <p:nvPr/>
        </p:nvSpPr>
        <p:spPr>
          <a:xfrm>
            <a:off x="370111" y="4069656"/>
            <a:ext cx="144254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Child Nodes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088C115-E703-AE07-B967-8F5BE2EE3F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8449171" y="1819566"/>
            <a:ext cx="3372718" cy="4363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91132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22B330-E377-4E79-AD56-A4BD094CF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Decision Tree Terminology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4005570F-3AD7-4CA3-A2A3-407BA082C742}"/>
              </a:ext>
            </a:extLst>
          </p:cNvPr>
          <p:cNvSpPr/>
          <p:nvPr/>
        </p:nvSpPr>
        <p:spPr>
          <a:xfrm>
            <a:off x="4684302" y="1931276"/>
            <a:ext cx="1245476" cy="121394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54EE0014-F8AB-47F8-9DC5-E7537C87276E}"/>
              </a:ext>
            </a:extLst>
          </p:cNvPr>
          <p:cNvSpPr/>
          <p:nvPr/>
        </p:nvSpPr>
        <p:spPr>
          <a:xfrm>
            <a:off x="2855502" y="4001294"/>
            <a:ext cx="1245476" cy="121394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6156A1E-E0C1-4D52-8F9D-C6F522F0E7B3}"/>
              </a:ext>
            </a:extLst>
          </p:cNvPr>
          <p:cNvSpPr/>
          <p:nvPr/>
        </p:nvSpPr>
        <p:spPr>
          <a:xfrm>
            <a:off x="6513102" y="4001293"/>
            <a:ext cx="1245476" cy="121394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129072C-1AE2-4FE5-95E9-99E05F4847D5}"/>
              </a:ext>
            </a:extLst>
          </p:cNvPr>
          <p:cNvCxnSpPr>
            <a:stCxn id="4" idx="5"/>
            <a:endCxn id="6" idx="1"/>
          </p:cNvCxnSpPr>
          <p:nvPr/>
        </p:nvCxnSpPr>
        <p:spPr>
          <a:xfrm>
            <a:off x="5747382" y="2967443"/>
            <a:ext cx="948116" cy="1211628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CDB09DF-9630-41B6-A20B-987A2E745463}"/>
              </a:ext>
            </a:extLst>
          </p:cNvPr>
          <p:cNvCxnSpPr>
            <a:cxnSpLocks/>
            <a:stCxn id="4" idx="3"/>
            <a:endCxn id="5" idx="7"/>
          </p:cNvCxnSpPr>
          <p:nvPr/>
        </p:nvCxnSpPr>
        <p:spPr>
          <a:xfrm flipH="1">
            <a:off x="3918582" y="2967443"/>
            <a:ext cx="948116" cy="1211629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B7426B53-E112-44DF-90F5-649D53E83021}"/>
              </a:ext>
            </a:extLst>
          </p:cNvPr>
          <p:cNvSpPr txBox="1"/>
          <p:nvPr/>
        </p:nvSpPr>
        <p:spPr>
          <a:xfrm>
            <a:off x="32092" y="2560446"/>
            <a:ext cx="26749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Internal Node 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75E4A86-F0E6-4884-8708-1156605AB3C9}"/>
              </a:ext>
            </a:extLst>
          </p:cNvPr>
          <p:cNvCxnSpPr>
            <a:cxnSpLocks/>
          </p:cNvCxnSpPr>
          <p:nvPr/>
        </p:nvCxnSpPr>
        <p:spPr>
          <a:xfrm flipV="1">
            <a:off x="2576978" y="2560446"/>
            <a:ext cx="2107324" cy="33252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FB55021-C900-47E5-8F20-1F04CCB9FC39}"/>
              </a:ext>
            </a:extLst>
          </p:cNvPr>
          <p:cNvCxnSpPr>
            <a:cxnSpLocks/>
          </p:cNvCxnSpPr>
          <p:nvPr/>
        </p:nvCxnSpPr>
        <p:spPr>
          <a:xfrm flipV="1">
            <a:off x="1610026" y="4356223"/>
            <a:ext cx="4885125" cy="30378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1499519-2EC7-46CE-BEEC-932574689F32}"/>
              </a:ext>
            </a:extLst>
          </p:cNvPr>
          <p:cNvCxnSpPr>
            <a:cxnSpLocks/>
          </p:cNvCxnSpPr>
          <p:nvPr/>
        </p:nvCxnSpPr>
        <p:spPr>
          <a:xfrm flipV="1">
            <a:off x="1610026" y="4356223"/>
            <a:ext cx="1245476" cy="25204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4BBFBB9C-3656-4B73-B19F-B4D9A569AFD2}"/>
              </a:ext>
            </a:extLst>
          </p:cNvPr>
          <p:cNvSpPr txBox="1"/>
          <p:nvPr/>
        </p:nvSpPr>
        <p:spPr>
          <a:xfrm>
            <a:off x="370111" y="4069656"/>
            <a:ext cx="14425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Leaves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088C115-E703-AE07-B967-8F5BE2EE3F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8449171" y="1819566"/>
            <a:ext cx="3372718" cy="4363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66542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544491-ADD7-48C2-9CBE-7F884F45F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Decision Trees Algorithm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2D96F3-D6E9-4196-821C-0BF81B6AA3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At each node:</a:t>
            </a:r>
          </a:p>
          <a:p>
            <a:pPr lvl="1"/>
            <a:r>
              <a:rPr lang="en-US" dirty="0"/>
              <a:t>Cycle through each variable</a:t>
            </a:r>
          </a:p>
          <a:p>
            <a:pPr lvl="2"/>
            <a:r>
              <a:rPr lang="en-US" dirty="0"/>
              <a:t>Cycle through each value the variable can take</a:t>
            </a:r>
          </a:p>
          <a:p>
            <a:pPr lvl="3"/>
            <a:r>
              <a:rPr lang="en-US" dirty="0"/>
              <a:t>Compute a splitting criteria statistic</a:t>
            </a:r>
          </a:p>
          <a:p>
            <a:pPr lvl="3"/>
            <a:r>
              <a:rPr lang="en-US" dirty="0"/>
              <a:t>Basic idea is to find the variable and threshold that:</a:t>
            </a:r>
          </a:p>
          <a:p>
            <a:pPr lvl="4"/>
            <a:r>
              <a:rPr lang="en-US" dirty="0"/>
              <a:t>Classification: best separates the classes</a:t>
            </a:r>
          </a:p>
          <a:p>
            <a:pPr lvl="4"/>
            <a:r>
              <a:rPr lang="en-US" dirty="0"/>
              <a:t>Regression: minimizes the variance </a:t>
            </a:r>
          </a:p>
          <a:p>
            <a:endParaRPr lang="en-US" dirty="0"/>
          </a:p>
          <a:p>
            <a:r>
              <a:rPr lang="en-US" dirty="0"/>
              <a:t>Go until you hit your stopping criteria (will get to this)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73059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1C8B5D3-DE1D-4DF1-8C57-BF03E35698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7821" y="0"/>
            <a:ext cx="5364337" cy="6858000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815B0486-F874-3BB7-0360-D1AC005FB6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722" y="1735065"/>
            <a:ext cx="6715125" cy="3914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373255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1C8B5D3-DE1D-4DF1-8C57-BF03E35698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7822" y="0"/>
            <a:ext cx="5364337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CD29C27-9875-42EE-9446-2290DE29D925}"/>
              </a:ext>
            </a:extLst>
          </p:cNvPr>
          <p:cNvSpPr/>
          <p:nvPr/>
        </p:nvSpPr>
        <p:spPr>
          <a:xfrm>
            <a:off x="7741440" y="0"/>
            <a:ext cx="2604977" cy="1414130"/>
          </a:xfrm>
          <a:prstGeom prst="rect">
            <a:avLst/>
          </a:prstGeom>
          <a:solidFill>
            <a:schemeClr val="accent1">
              <a:alpha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" name="Picture 4">
            <a:extLst>
              <a:ext uri="{FF2B5EF4-FFF2-40B4-BE49-F238E27FC236}">
                <a16:creationId xmlns:a16="http://schemas.microsoft.com/office/drawing/2014/main" id="{DC3C33C9-7FC5-12BA-FCA0-EF94CE5568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722" y="1735065"/>
            <a:ext cx="6715125" cy="3914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266684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1C8B5D3-DE1D-4DF1-8C57-BF03E35698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7822" y="0"/>
            <a:ext cx="5364337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CD29C27-9875-42EE-9446-2290DE29D925}"/>
              </a:ext>
            </a:extLst>
          </p:cNvPr>
          <p:cNvSpPr/>
          <p:nvPr/>
        </p:nvSpPr>
        <p:spPr>
          <a:xfrm>
            <a:off x="8666725" y="1306286"/>
            <a:ext cx="2604977" cy="1414130"/>
          </a:xfrm>
          <a:prstGeom prst="rect">
            <a:avLst/>
          </a:prstGeom>
          <a:solidFill>
            <a:schemeClr val="accent1">
              <a:alpha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06075038-0611-01A9-F75F-1180DAFDD3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3041"/>
            <a:ext cx="10515600" cy="1325563"/>
          </a:xfrm>
        </p:spPr>
        <p:txBody>
          <a:bodyPr/>
          <a:lstStyle/>
          <a:p>
            <a:r>
              <a:rPr lang="en-US" dirty="0"/>
              <a:t>Dividing Up the Feature Space</a:t>
            </a:r>
          </a:p>
        </p:txBody>
      </p:sp>
      <p:pic>
        <p:nvPicPr>
          <p:cNvPr id="7" name="Picture 4">
            <a:extLst>
              <a:ext uri="{FF2B5EF4-FFF2-40B4-BE49-F238E27FC236}">
                <a16:creationId xmlns:a16="http://schemas.microsoft.com/office/drawing/2014/main" id="{0B271D0C-9E0B-BEAE-75C1-1C8BE7E14B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8983" y="1658604"/>
            <a:ext cx="6715125" cy="3914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814595B-3D39-08C4-5706-61B64E2DD9D9}"/>
              </a:ext>
            </a:extLst>
          </p:cNvPr>
          <p:cNvCxnSpPr/>
          <p:nvPr/>
        </p:nvCxnSpPr>
        <p:spPr>
          <a:xfrm>
            <a:off x="485889" y="3914561"/>
            <a:ext cx="6357257" cy="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71091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C80330-5BB6-4CF8-9851-39E7BA157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Dividing Up the Feature Space</a:t>
            </a: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A8A44AB0-1EAD-4A6E-B7BC-4913B2A715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38437" y="2262188"/>
            <a:ext cx="6715125" cy="3914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8A12366-7F85-4A84-A60F-7BF6DD43BE4D}"/>
              </a:ext>
            </a:extLst>
          </p:cNvPr>
          <p:cNvCxnSpPr/>
          <p:nvPr/>
        </p:nvCxnSpPr>
        <p:spPr>
          <a:xfrm>
            <a:off x="3015343" y="4550229"/>
            <a:ext cx="6357257" cy="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FC80D14-24AF-461C-B120-42B9EE844C88}"/>
              </a:ext>
            </a:extLst>
          </p:cNvPr>
          <p:cNvCxnSpPr/>
          <p:nvPr/>
        </p:nvCxnSpPr>
        <p:spPr>
          <a:xfrm>
            <a:off x="3015343" y="3559629"/>
            <a:ext cx="6357257" cy="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366FD3A-8EBC-4973-B778-ACC472F8E860}"/>
              </a:ext>
            </a:extLst>
          </p:cNvPr>
          <p:cNvCxnSpPr>
            <a:cxnSpLocks/>
          </p:cNvCxnSpPr>
          <p:nvPr/>
        </p:nvCxnSpPr>
        <p:spPr>
          <a:xfrm>
            <a:off x="7181291" y="3559629"/>
            <a:ext cx="0" cy="99060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41798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1C8B5D3-DE1D-4DF1-8C57-BF03E35698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7821" y="0"/>
            <a:ext cx="5364337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CD29C27-9875-42EE-9446-2290DE29D925}"/>
              </a:ext>
            </a:extLst>
          </p:cNvPr>
          <p:cNvSpPr/>
          <p:nvPr/>
        </p:nvSpPr>
        <p:spPr>
          <a:xfrm>
            <a:off x="7055638" y="4300363"/>
            <a:ext cx="2604977" cy="1414130"/>
          </a:xfrm>
          <a:prstGeom prst="rect">
            <a:avLst/>
          </a:prstGeom>
          <a:solidFill>
            <a:schemeClr val="accent1">
              <a:alpha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F40B4336-ABE4-A325-E003-F8F3EF68A2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0056" y="32232"/>
            <a:ext cx="10515600" cy="1325563"/>
          </a:xfrm>
        </p:spPr>
        <p:txBody>
          <a:bodyPr/>
          <a:lstStyle/>
          <a:p>
            <a:r>
              <a:rPr lang="en-US" dirty="0"/>
              <a:t>Dividing Up the Feature Space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F7226B8-1B22-D6C9-C268-E8C9A47C3A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7663" y="0"/>
            <a:ext cx="5364337" cy="68580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51C4F4CA-EC8D-1554-3B9E-C30B0141F68E}"/>
              </a:ext>
            </a:extLst>
          </p:cNvPr>
          <p:cNvSpPr/>
          <p:nvPr/>
        </p:nvSpPr>
        <p:spPr>
          <a:xfrm>
            <a:off x="7055480" y="4300363"/>
            <a:ext cx="2604977" cy="1414130"/>
          </a:xfrm>
          <a:prstGeom prst="rect">
            <a:avLst/>
          </a:prstGeom>
          <a:solidFill>
            <a:schemeClr val="accent1">
              <a:alpha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5D1C38AB-EE9B-D086-2F52-F9EC0B538CEA}"/>
              </a:ext>
            </a:extLst>
          </p:cNvPr>
          <p:cNvSpPr txBox="1">
            <a:spLocks/>
          </p:cNvSpPr>
          <p:nvPr/>
        </p:nvSpPr>
        <p:spPr>
          <a:xfrm>
            <a:off x="239898" y="32232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mbria" panose="02040503050406030204" pitchFamily="18" charset="0"/>
                <a:ea typeface="Cambria" panose="02040503050406030204" pitchFamily="18" charset="0"/>
                <a:cs typeface="+mj-cs"/>
              </a:rPr>
              <a:t>Dividing Up the Feature Space</a:t>
            </a:r>
            <a:endParaRPr kumimoji="0" lang="en-US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mbria" panose="02040503050406030204" pitchFamily="18" charset="0"/>
              <a:ea typeface="Cambria" panose="02040503050406030204" pitchFamily="18" charset="0"/>
              <a:cs typeface="+mj-cs"/>
            </a:endParaRPr>
          </a:p>
        </p:txBody>
      </p:sp>
      <p:pic>
        <p:nvPicPr>
          <p:cNvPr id="22" name="Picture 4">
            <a:extLst>
              <a:ext uri="{FF2B5EF4-FFF2-40B4-BE49-F238E27FC236}">
                <a16:creationId xmlns:a16="http://schemas.microsoft.com/office/drawing/2014/main" id="{4516CF69-DD8E-C1D6-DEAB-6B3428A03C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6850" y="1371856"/>
            <a:ext cx="6715125" cy="3914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98E4C3D-C313-0D83-7C0E-B82963BD7B2D}"/>
              </a:ext>
            </a:extLst>
          </p:cNvPr>
          <p:cNvCxnSpPr/>
          <p:nvPr/>
        </p:nvCxnSpPr>
        <p:spPr>
          <a:xfrm>
            <a:off x="240056" y="3659897"/>
            <a:ext cx="6357257" cy="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E7E216C-54C1-BD5F-9D2E-FBB28EFE1DCC}"/>
              </a:ext>
            </a:extLst>
          </p:cNvPr>
          <p:cNvCxnSpPr/>
          <p:nvPr/>
        </p:nvCxnSpPr>
        <p:spPr>
          <a:xfrm>
            <a:off x="240056" y="2669297"/>
            <a:ext cx="6357257" cy="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2B6CC01-2BA2-24E1-ED00-DCD699B5EBF9}"/>
              </a:ext>
            </a:extLst>
          </p:cNvPr>
          <p:cNvCxnSpPr>
            <a:cxnSpLocks/>
          </p:cNvCxnSpPr>
          <p:nvPr/>
        </p:nvCxnSpPr>
        <p:spPr>
          <a:xfrm>
            <a:off x="2460742" y="2669297"/>
            <a:ext cx="0" cy="99060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C6764496-A54E-09FC-51D0-3346911091A2}"/>
              </a:ext>
            </a:extLst>
          </p:cNvPr>
          <p:cNvCxnSpPr>
            <a:cxnSpLocks/>
          </p:cNvCxnSpPr>
          <p:nvPr/>
        </p:nvCxnSpPr>
        <p:spPr>
          <a:xfrm>
            <a:off x="4406004" y="2669297"/>
            <a:ext cx="0" cy="99060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4">
            <a:extLst>
              <a:ext uri="{FF2B5EF4-FFF2-40B4-BE49-F238E27FC236}">
                <a16:creationId xmlns:a16="http://schemas.microsoft.com/office/drawing/2014/main" id="{F8363495-9C7D-B977-2269-F06A0BC74F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7008" y="1371856"/>
            <a:ext cx="6715125" cy="3914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A75CA6D4-F630-2144-CC9C-95C8324B54B6}"/>
              </a:ext>
            </a:extLst>
          </p:cNvPr>
          <p:cNvCxnSpPr/>
          <p:nvPr/>
        </p:nvCxnSpPr>
        <p:spPr>
          <a:xfrm>
            <a:off x="239898" y="3659897"/>
            <a:ext cx="6357257" cy="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C0C9265E-5ABD-943C-7C0D-55E856A60BEC}"/>
              </a:ext>
            </a:extLst>
          </p:cNvPr>
          <p:cNvCxnSpPr/>
          <p:nvPr/>
        </p:nvCxnSpPr>
        <p:spPr>
          <a:xfrm>
            <a:off x="239898" y="2669297"/>
            <a:ext cx="6357257" cy="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79B8E14E-0485-CC26-B774-C1CCF9C94F37}"/>
              </a:ext>
            </a:extLst>
          </p:cNvPr>
          <p:cNvCxnSpPr>
            <a:cxnSpLocks/>
          </p:cNvCxnSpPr>
          <p:nvPr/>
        </p:nvCxnSpPr>
        <p:spPr>
          <a:xfrm>
            <a:off x="2460584" y="2669297"/>
            <a:ext cx="0" cy="99060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048865E2-C51C-A37A-2A2D-EB7869BB4D39}"/>
              </a:ext>
            </a:extLst>
          </p:cNvPr>
          <p:cNvCxnSpPr>
            <a:cxnSpLocks/>
          </p:cNvCxnSpPr>
          <p:nvPr/>
        </p:nvCxnSpPr>
        <p:spPr>
          <a:xfrm>
            <a:off x="4405846" y="2669297"/>
            <a:ext cx="0" cy="99060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06099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1C8B5D3-DE1D-4DF1-8C57-BF03E35698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9803" y="0"/>
            <a:ext cx="5364337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CD29C27-9875-42EE-9446-2290DE29D925}"/>
              </a:ext>
            </a:extLst>
          </p:cNvPr>
          <p:cNvSpPr/>
          <p:nvPr/>
        </p:nvSpPr>
        <p:spPr>
          <a:xfrm>
            <a:off x="8168848" y="5987143"/>
            <a:ext cx="1889559" cy="870857"/>
          </a:xfrm>
          <a:prstGeom prst="rect">
            <a:avLst/>
          </a:prstGeom>
          <a:solidFill>
            <a:schemeClr val="accent6">
              <a:lumMod val="40000"/>
              <a:lumOff val="60000"/>
              <a:alpha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C5D51C9-3DB4-43A0-929C-B9DE60E595E0}"/>
              </a:ext>
            </a:extLst>
          </p:cNvPr>
          <p:cNvSpPr/>
          <p:nvPr/>
        </p:nvSpPr>
        <p:spPr>
          <a:xfrm>
            <a:off x="6549546" y="5987142"/>
            <a:ext cx="1889559" cy="870857"/>
          </a:xfrm>
          <a:prstGeom prst="rect">
            <a:avLst/>
          </a:prstGeom>
          <a:solidFill>
            <a:schemeClr val="accent6">
              <a:lumMod val="40000"/>
              <a:lumOff val="60000"/>
              <a:alpha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29C86D3-E6F5-4E4B-9731-3DE3B6557B65}"/>
              </a:ext>
            </a:extLst>
          </p:cNvPr>
          <p:cNvSpPr/>
          <p:nvPr/>
        </p:nvSpPr>
        <p:spPr>
          <a:xfrm>
            <a:off x="8922632" y="4604656"/>
            <a:ext cx="1889559" cy="870857"/>
          </a:xfrm>
          <a:prstGeom prst="rect">
            <a:avLst/>
          </a:prstGeom>
          <a:solidFill>
            <a:schemeClr val="accent6">
              <a:lumMod val="40000"/>
              <a:lumOff val="60000"/>
              <a:alpha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A2AB7DA-AEDD-47B1-B004-53408D4C33CE}"/>
              </a:ext>
            </a:extLst>
          </p:cNvPr>
          <p:cNvSpPr/>
          <p:nvPr/>
        </p:nvSpPr>
        <p:spPr>
          <a:xfrm>
            <a:off x="9867411" y="3042556"/>
            <a:ext cx="1889559" cy="870857"/>
          </a:xfrm>
          <a:prstGeom prst="rect">
            <a:avLst/>
          </a:prstGeom>
          <a:solidFill>
            <a:schemeClr val="accent6">
              <a:lumMod val="40000"/>
              <a:lumOff val="60000"/>
              <a:alpha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F207D13-F5D0-422F-8B9F-AF955F15E828}"/>
              </a:ext>
            </a:extLst>
          </p:cNvPr>
          <p:cNvSpPr/>
          <p:nvPr/>
        </p:nvSpPr>
        <p:spPr>
          <a:xfrm>
            <a:off x="7309268" y="1572985"/>
            <a:ext cx="1889559" cy="870857"/>
          </a:xfrm>
          <a:prstGeom prst="rect">
            <a:avLst/>
          </a:prstGeom>
          <a:solidFill>
            <a:schemeClr val="accent6">
              <a:lumMod val="40000"/>
              <a:lumOff val="60000"/>
              <a:alpha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" name="Picture 4">
            <a:extLst>
              <a:ext uri="{FF2B5EF4-FFF2-40B4-BE49-F238E27FC236}">
                <a16:creationId xmlns:a16="http://schemas.microsoft.com/office/drawing/2014/main" id="{50B9C0B6-BDE3-5E73-E619-6EED69AF30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6850" y="1371856"/>
            <a:ext cx="6715125" cy="3914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59F9C2A-C754-C5EB-87EA-0DA5B1A2D380}"/>
              </a:ext>
            </a:extLst>
          </p:cNvPr>
          <p:cNvCxnSpPr/>
          <p:nvPr/>
        </p:nvCxnSpPr>
        <p:spPr>
          <a:xfrm>
            <a:off x="240056" y="3659897"/>
            <a:ext cx="6357257" cy="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1B96493-1D48-6D55-5A40-D204BCB8BCC1}"/>
              </a:ext>
            </a:extLst>
          </p:cNvPr>
          <p:cNvCxnSpPr/>
          <p:nvPr/>
        </p:nvCxnSpPr>
        <p:spPr>
          <a:xfrm>
            <a:off x="240056" y="2669297"/>
            <a:ext cx="6357257" cy="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F9094FA-2B0B-08F2-399B-183EDBEF6CB1}"/>
              </a:ext>
            </a:extLst>
          </p:cNvPr>
          <p:cNvCxnSpPr>
            <a:cxnSpLocks/>
          </p:cNvCxnSpPr>
          <p:nvPr/>
        </p:nvCxnSpPr>
        <p:spPr>
          <a:xfrm>
            <a:off x="2460742" y="2669297"/>
            <a:ext cx="0" cy="99060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5F3E63B-C03A-0EB7-0DB8-9984D1BF4755}"/>
              </a:ext>
            </a:extLst>
          </p:cNvPr>
          <p:cNvCxnSpPr>
            <a:cxnSpLocks/>
          </p:cNvCxnSpPr>
          <p:nvPr/>
        </p:nvCxnSpPr>
        <p:spPr>
          <a:xfrm>
            <a:off x="4406004" y="2669297"/>
            <a:ext cx="0" cy="99060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4">
            <a:extLst>
              <a:ext uri="{FF2B5EF4-FFF2-40B4-BE49-F238E27FC236}">
                <a16:creationId xmlns:a16="http://schemas.microsoft.com/office/drawing/2014/main" id="{09C9609B-C972-A2E8-A2A7-87FEF9A18A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7008" y="1371856"/>
            <a:ext cx="6715125" cy="3914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1167B45-3275-CE99-D275-127C5F805DC2}"/>
              </a:ext>
            </a:extLst>
          </p:cNvPr>
          <p:cNvCxnSpPr/>
          <p:nvPr/>
        </p:nvCxnSpPr>
        <p:spPr>
          <a:xfrm>
            <a:off x="239898" y="3659897"/>
            <a:ext cx="6357257" cy="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F470790-CA05-735E-14FA-D1B99D30C8C9}"/>
              </a:ext>
            </a:extLst>
          </p:cNvPr>
          <p:cNvCxnSpPr/>
          <p:nvPr/>
        </p:nvCxnSpPr>
        <p:spPr>
          <a:xfrm>
            <a:off x="239898" y="2669297"/>
            <a:ext cx="6357257" cy="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CBA28D5-AD2D-F56F-9900-B55525228716}"/>
              </a:ext>
            </a:extLst>
          </p:cNvPr>
          <p:cNvCxnSpPr>
            <a:cxnSpLocks/>
          </p:cNvCxnSpPr>
          <p:nvPr/>
        </p:nvCxnSpPr>
        <p:spPr>
          <a:xfrm>
            <a:off x="2460584" y="2669297"/>
            <a:ext cx="0" cy="99060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F3522F6-9188-7517-C966-C831A86EFBCE}"/>
              </a:ext>
            </a:extLst>
          </p:cNvPr>
          <p:cNvCxnSpPr>
            <a:cxnSpLocks/>
          </p:cNvCxnSpPr>
          <p:nvPr/>
        </p:nvCxnSpPr>
        <p:spPr>
          <a:xfrm>
            <a:off x="4405846" y="2669297"/>
            <a:ext cx="0" cy="99060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68143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1C8B5D3-DE1D-4DF1-8C57-BF03E35698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7825" y="0"/>
            <a:ext cx="5364337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CD29C27-9875-42EE-9446-2290DE29D925}"/>
              </a:ext>
            </a:extLst>
          </p:cNvPr>
          <p:cNvSpPr/>
          <p:nvPr/>
        </p:nvSpPr>
        <p:spPr>
          <a:xfrm>
            <a:off x="7882956" y="2721935"/>
            <a:ext cx="2604977" cy="1414130"/>
          </a:xfrm>
          <a:prstGeom prst="rect">
            <a:avLst/>
          </a:prstGeom>
          <a:solidFill>
            <a:schemeClr val="accent1">
              <a:alpha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B5BFB426-9179-3362-92CA-E0F0153C00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2" y="325020"/>
            <a:ext cx="10515600" cy="1325563"/>
          </a:xfrm>
        </p:spPr>
        <p:txBody>
          <a:bodyPr/>
          <a:lstStyle/>
          <a:p>
            <a:r>
              <a:rPr lang="en-US" dirty="0"/>
              <a:t>Dividing Up the Feature Space</a:t>
            </a:r>
          </a:p>
        </p:txBody>
      </p:sp>
      <p:pic>
        <p:nvPicPr>
          <p:cNvPr id="8" name="Picture 4">
            <a:extLst>
              <a:ext uri="{FF2B5EF4-FFF2-40B4-BE49-F238E27FC236}">
                <a16:creationId xmlns:a16="http://schemas.microsoft.com/office/drawing/2014/main" id="{56F283BB-F440-6177-4DF9-434209583B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051" y="1650583"/>
            <a:ext cx="6715125" cy="3914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6E0D9F6-444C-5CD5-2185-B939550046CB}"/>
              </a:ext>
            </a:extLst>
          </p:cNvPr>
          <p:cNvCxnSpPr/>
          <p:nvPr/>
        </p:nvCxnSpPr>
        <p:spPr>
          <a:xfrm>
            <a:off x="599957" y="3938624"/>
            <a:ext cx="6357257" cy="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F0E6750-6699-FFAD-640D-DE20B42E07E5}"/>
              </a:ext>
            </a:extLst>
          </p:cNvPr>
          <p:cNvCxnSpPr/>
          <p:nvPr/>
        </p:nvCxnSpPr>
        <p:spPr>
          <a:xfrm>
            <a:off x="599957" y="2948024"/>
            <a:ext cx="6357257" cy="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098600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669</Words>
  <Application>Microsoft Office PowerPoint</Application>
  <PresentationFormat>Widescreen</PresentationFormat>
  <Paragraphs>89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26</vt:i4>
      </vt:variant>
    </vt:vector>
  </HeadingPairs>
  <TitlesOfParts>
    <vt:vector size="34" baseType="lpstr">
      <vt:lpstr>Aptos</vt:lpstr>
      <vt:lpstr>Aptos Display</vt:lpstr>
      <vt:lpstr>Arial</vt:lpstr>
      <vt:lpstr>Calibri</vt:lpstr>
      <vt:lpstr>Cambria</vt:lpstr>
      <vt:lpstr>Cambria Math</vt:lpstr>
      <vt:lpstr>Office Theme</vt:lpstr>
      <vt:lpstr>1_Office Theme</vt:lpstr>
      <vt:lpstr>INST 414: Data Science Techniques    Decision Trees</vt:lpstr>
      <vt:lpstr>Decision Trees</vt:lpstr>
      <vt:lpstr>Basics</vt:lpstr>
      <vt:lpstr>Prediction Problem</vt:lpstr>
      <vt:lpstr>Let’s Use a Linear Model</vt:lpstr>
      <vt:lpstr>Predictions</vt:lpstr>
      <vt:lpstr>Calibration</vt:lpstr>
      <vt:lpstr>Calibration – Zooming In</vt:lpstr>
      <vt:lpstr>Let’s Introduce Interactions</vt:lpstr>
      <vt:lpstr>Predictions</vt:lpstr>
      <vt:lpstr>Calibration</vt:lpstr>
      <vt:lpstr>Calibration</vt:lpstr>
      <vt:lpstr>Now Let’s Use a Decision Tree</vt:lpstr>
      <vt:lpstr>Predictions</vt:lpstr>
      <vt:lpstr>Calibration</vt:lpstr>
      <vt:lpstr>What Just Happened?</vt:lpstr>
      <vt:lpstr>Decision Tree Terminology</vt:lpstr>
      <vt:lpstr>Decision Tree Terminology</vt:lpstr>
      <vt:lpstr>Decision Trees Algorithm</vt:lpstr>
      <vt:lpstr>PowerPoint Presentation</vt:lpstr>
      <vt:lpstr>PowerPoint Presentation</vt:lpstr>
      <vt:lpstr>Dividing Up the Feature Space</vt:lpstr>
      <vt:lpstr>Dividing Up the Feature Space</vt:lpstr>
      <vt:lpstr>Dividing Up the Feature Space</vt:lpstr>
      <vt:lpstr>PowerPoint Presentation</vt:lpstr>
      <vt:lpstr>Dividing Up the Feature Space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INST 414: Data Science Techniques    Decision Trees</dc:title>
  <dc:creator>Zubin Jelveh</dc:creator>
  <cp:lastModifiedBy>Zubin Jelveh</cp:lastModifiedBy>
  <cp:revision>1</cp:revision>
  <dcterms:created xsi:type="dcterms:W3CDTF">2026-03-23T19:36:21Z</dcterms:created>
  <dcterms:modified xsi:type="dcterms:W3CDTF">2026-03-23T19:38:46Z</dcterms:modified>
</cp:coreProperties>
</file>