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6"/>
    <p:sldId id="279" r:id="rId5"/>
    <p:sldId id="280" r:id="rId4"/>
  </p:sldIdLst>
  <p:sldSz cx="12191999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608" autoAdjust="0"/>
  </p:normalViewPr>
  <p:slideViewPr>
    <p:cSldViewPr snapToGrid="0">
      <p:cViewPr varScale="1">
        <p:scale>
          <a:sx n="46" d="100"/>
          <a:sy n="46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25.xml"/><Relationship Id="rId5" Type="http://schemas.openxmlformats.org/officeDocument/2006/relationships/slide" Target="slides/slide24.xml"/><Relationship Id="rId6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Early career (22–25)</c:v>
                </c:pt>
              </c:strCache>
            </c:strRef>
          </c:tx>
          <c:spPr>
            <a:ln w="38100">
              <a:solidFill>
                <a:srgbClr val="A02D2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86.95</c:v>
                </c:pt>
                <c:pt idx="1">
                  <c:v>90.94</c:v>
                </c:pt>
                <c:pt idx="2">
                  <c:v>92.75</c:v>
                </c:pt>
                <c:pt idx="3">
                  <c:v>93.32</c:v>
                </c:pt>
                <c:pt idx="4">
                  <c:v>97.79</c:v>
                </c:pt>
                <c:pt idx="5">
                  <c:v>100.0</c:v>
                </c:pt>
                <c:pt idx="6">
                  <c:v>99.25</c:v>
                </c:pt>
                <c:pt idx="7">
                  <c:v>97.61</c:v>
                </c:pt>
                <c:pt idx="8">
                  <c:v>98.55</c:v>
                </c:pt>
                <c:pt idx="9">
                  <c:v>99.06</c:v>
                </c:pt>
                <c:pt idx="10">
                  <c:v>97.24</c:v>
                </c:pt>
                <c:pt idx="11">
                  <c:v>95.76</c:v>
                </c:pt>
                <c:pt idx="12">
                  <c:v>95.71</c:v>
                </c:pt>
                <c:pt idx="13">
                  <c:v>95.63</c:v>
                </c:pt>
                <c:pt idx="14">
                  <c:v>93.22</c:v>
                </c:pt>
                <c:pt idx="15">
                  <c:v>91.36</c:v>
                </c:pt>
                <c:pt idx="16">
                  <c:v>91.27</c:v>
                </c:pt>
                <c:pt idx="17">
                  <c:v>91.5</c:v>
                </c:pt>
                <c:pt idx="18">
                  <c:v>89.83</c:v>
                </c:pt>
                <c:pt idx="19">
                  <c:v>87.59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Mid-career (35–40)</c:v>
                </c:pt>
              </c:strCache>
            </c:strRef>
          </c:tx>
          <c:spPr>
            <a:ln w="38100">
              <a:solidFill>
                <a:srgbClr val="4B4B4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91.12</c:v>
                </c:pt>
                <c:pt idx="1">
                  <c:v>93.23</c:v>
                </c:pt>
                <c:pt idx="2">
                  <c:v>95.0</c:v>
                </c:pt>
                <c:pt idx="3">
                  <c:v>96.33</c:v>
                </c:pt>
                <c:pt idx="4">
                  <c:v>97.92</c:v>
                </c:pt>
                <c:pt idx="5">
                  <c:v>100.0</c:v>
                </c:pt>
                <c:pt idx="6">
                  <c:v>101.2</c:v>
                </c:pt>
                <c:pt idx="7">
                  <c:v>102.0</c:v>
                </c:pt>
                <c:pt idx="8">
                  <c:v>102.6</c:v>
                </c:pt>
                <c:pt idx="9">
                  <c:v>104.1</c:v>
                </c:pt>
                <c:pt idx="10">
                  <c:v>104.8</c:v>
                </c:pt>
                <c:pt idx="11">
                  <c:v>105.6</c:v>
                </c:pt>
                <c:pt idx="12">
                  <c:v>106.3</c:v>
                </c:pt>
                <c:pt idx="13">
                  <c:v>107.2</c:v>
                </c:pt>
                <c:pt idx="14">
                  <c:v>107.3</c:v>
                </c:pt>
                <c:pt idx="15">
                  <c:v>107.8</c:v>
                </c:pt>
                <c:pt idx="16">
                  <c:v>108.1</c:v>
                </c:pt>
                <c:pt idx="17">
                  <c:v>109.1</c:v>
                </c:pt>
                <c:pt idx="18">
                  <c:v>109.4</c:v>
                </c:pt>
                <c:pt idx="19">
                  <c:v>109.1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Cambr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Cambria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500">
              <a:latin typeface="Cambria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Quintile 1 (least exposed)</c:v>
                </c:pt>
              </c:strCache>
            </c:strRef>
          </c:tx>
          <c:spPr>
            <a:ln w="17145">
              <a:solidFill>
                <a:srgbClr val="D2D2D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85.61999999999999</c:v>
                </c:pt>
                <c:pt idx="1">
                  <c:v>88.24</c:v>
                </c:pt>
                <c:pt idx="2">
                  <c:v>90.82</c:v>
                </c:pt>
                <c:pt idx="3">
                  <c:v>94.64</c:v>
                </c:pt>
                <c:pt idx="4">
                  <c:v>97.68</c:v>
                </c:pt>
                <c:pt idx="5">
                  <c:v>100.0</c:v>
                </c:pt>
                <c:pt idx="6">
                  <c:v>102.8</c:v>
                </c:pt>
                <c:pt idx="7">
                  <c:v>104.1</c:v>
                </c:pt>
                <c:pt idx="8">
                  <c:v>104.8</c:v>
                </c:pt>
                <c:pt idx="9">
                  <c:v>108.3</c:v>
                </c:pt>
                <c:pt idx="10">
                  <c:v>107.8</c:v>
                </c:pt>
                <c:pt idx="11">
                  <c:v>110.2</c:v>
                </c:pt>
                <c:pt idx="12">
                  <c:v>109.6</c:v>
                </c:pt>
                <c:pt idx="13">
                  <c:v>111.6</c:v>
                </c:pt>
                <c:pt idx="14">
                  <c:v>110.7</c:v>
                </c:pt>
                <c:pt idx="15">
                  <c:v>110.1</c:v>
                </c:pt>
                <c:pt idx="16">
                  <c:v>110.1</c:v>
                </c:pt>
                <c:pt idx="17">
                  <c:v>109.5</c:v>
                </c:pt>
                <c:pt idx="18">
                  <c:v>109.1</c:v>
                </c:pt>
                <c:pt idx="19">
                  <c:v>108.8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Quintile 2</c:v>
                </c:pt>
              </c:strCache>
            </c:strRef>
          </c:tx>
          <c:spPr>
            <a:ln w="17145">
              <a:solidFill>
                <a:srgbClr val="AFAFAF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83.2</c:v>
                </c:pt>
                <c:pt idx="1">
                  <c:v>88.06</c:v>
                </c:pt>
                <c:pt idx="2">
                  <c:v>90.15</c:v>
                </c:pt>
                <c:pt idx="3">
                  <c:v>93.14</c:v>
                </c:pt>
                <c:pt idx="4">
                  <c:v>96.35</c:v>
                </c:pt>
                <c:pt idx="5">
                  <c:v>100.0</c:v>
                </c:pt>
                <c:pt idx="6">
                  <c:v>102.9</c:v>
                </c:pt>
                <c:pt idx="7">
                  <c:v>104.5</c:v>
                </c:pt>
                <c:pt idx="8">
                  <c:v>104.9</c:v>
                </c:pt>
                <c:pt idx="9">
                  <c:v>107.3</c:v>
                </c:pt>
                <c:pt idx="10">
                  <c:v>107.8</c:v>
                </c:pt>
                <c:pt idx="11">
                  <c:v>110.2</c:v>
                </c:pt>
                <c:pt idx="12">
                  <c:v>110.5</c:v>
                </c:pt>
                <c:pt idx="13">
                  <c:v>112.7</c:v>
                </c:pt>
                <c:pt idx="14">
                  <c:v>112.3</c:v>
                </c:pt>
                <c:pt idx="15">
                  <c:v>114.0</c:v>
                </c:pt>
                <c:pt idx="16">
                  <c:v>113.9</c:v>
                </c:pt>
                <c:pt idx="17">
                  <c:v>114.7</c:v>
                </c:pt>
                <c:pt idx="18">
                  <c:v>113.4</c:v>
                </c:pt>
                <c:pt idx="19">
                  <c:v>113.4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Quintile 3</c:v>
                </c:pt>
              </c:strCache>
            </c:strRef>
          </c:tx>
          <c:spPr>
            <a:ln w="17145">
              <a:solidFill>
                <a:srgbClr val="82828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83.71</c:v>
                </c:pt>
                <c:pt idx="1">
                  <c:v>92.72</c:v>
                </c:pt>
                <c:pt idx="2">
                  <c:v>91.27</c:v>
                </c:pt>
                <c:pt idx="3">
                  <c:v>89.25999999999999</c:v>
                </c:pt>
                <c:pt idx="4">
                  <c:v>92.62</c:v>
                </c:pt>
                <c:pt idx="5">
                  <c:v>100.0</c:v>
                </c:pt>
                <c:pt idx="6">
                  <c:v>100.5</c:v>
                </c:pt>
                <c:pt idx="7">
                  <c:v>99.85</c:v>
                </c:pt>
                <c:pt idx="8">
                  <c:v>102.1</c:v>
                </c:pt>
                <c:pt idx="9">
                  <c:v>109.4</c:v>
                </c:pt>
                <c:pt idx="10">
                  <c:v>107.1</c:v>
                </c:pt>
                <c:pt idx="11">
                  <c:v>106.5</c:v>
                </c:pt>
                <c:pt idx="12">
                  <c:v>107.4</c:v>
                </c:pt>
                <c:pt idx="13">
                  <c:v>112.20000000000002</c:v>
                </c:pt>
                <c:pt idx="14">
                  <c:v>108.3</c:v>
                </c:pt>
                <c:pt idx="15">
                  <c:v>105.5</c:v>
                </c:pt>
                <c:pt idx="16">
                  <c:v>106.1</c:v>
                </c:pt>
                <c:pt idx="17">
                  <c:v>110.0</c:v>
                </c:pt>
                <c:pt idx="18">
                  <c:v>107.2</c:v>
                </c:pt>
                <c:pt idx="19">
                  <c:v>106.6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Quintile 4</c:v>
                </c:pt>
              </c:strCache>
            </c:strRef>
          </c:tx>
          <c:spPr>
            <a:ln w="17145">
              <a:solidFill>
                <a:srgbClr val="4B4B4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83.34</c:v>
                </c:pt>
                <c:pt idx="1">
                  <c:v>88.3</c:v>
                </c:pt>
                <c:pt idx="2">
                  <c:v>91.08</c:v>
                </c:pt>
                <c:pt idx="3">
                  <c:v>92.76</c:v>
                </c:pt>
                <c:pt idx="4">
                  <c:v>96.83</c:v>
                </c:pt>
                <c:pt idx="5">
                  <c:v>100.0</c:v>
                </c:pt>
                <c:pt idx="6">
                  <c:v>100.9</c:v>
                </c:pt>
                <c:pt idx="7">
                  <c:v>99.8</c:v>
                </c:pt>
                <c:pt idx="8">
                  <c:v>99.89</c:v>
                </c:pt>
                <c:pt idx="9">
                  <c:v>101.29999999999998</c:v>
                </c:pt>
                <c:pt idx="10">
                  <c:v>99.85</c:v>
                </c:pt>
                <c:pt idx="11">
                  <c:v>98.63</c:v>
                </c:pt>
                <c:pt idx="12">
                  <c:v>98.73</c:v>
                </c:pt>
                <c:pt idx="13">
                  <c:v>98.73</c:v>
                </c:pt>
                <c:pt idx="14">
                  <c:v>97.3</c:v>
                </c:pt>
                <c:pt idx="15">
                  <c:v>95.68</c:v>
                </c:pt>
                <c:pt idx="16">
                  <c:v>95.83</c:v>
                </c:pt>
                <c:pt idx="17">
                  <c:v>96.14</c:v>
                </c:pt>
                <c:pt idx="18">
                  <c:v>94.45</c:v>
                </c:pt>
                <c:pt idx="19">
                  <c:v>91.91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Quintile 5 (most exposed)</c:v>
                </c:pt>
              </c:strCache>
            </c:strRef>
          </c:tx>
          <c:spPr>
            <a:ln w="25400">
              <a:solidFill>
                <a:srgbClr val="A02D2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86.95</c:v>
                </c:pt>
                <c:pt idx="1">
                  <c:v>90.94</c:v>
                </c:pt>
                <c:pt idx="2">
                  <c:v>92.75</c:v>
                </c:pt>
                <c:pt idx="3">
                  <c:v>93.32</c:v>
                </c:pt>
                <c:pt idx="4">
                  <c:v>97.79</c:v>
                </c:pt>
                <c:pt idx="5">
                  <c:v>100.0</c:v>
                </c:pt>
                <c:pt idx="6">
                  <c:v>99.25</c:v>
                </c:pt>
                <c:pt idx="7">
                  <c:v>97.61</c:v>
                </c:pt>
                <c:pt idx="8">
                  <c:v>98.55</c:v>
                </c:pt>
                <c:pt idx="9">
                  <c:v>99.06</c:v>
                </c:pt>
                <c:pt idx="10">
                  <c:v>97.24</c:v>
                </c:pt>
                <c:pt idx="11">
                  <c:v>95.76</c:v>
                </c:pt>
                <c:pt idx="12">
                  <c:v>95.71</c:v>
                </c:pt>
                <c:pt idx="13">
                  <c:v>95.63</c:v>
                </c:pt>
                <c:pt idx="14">
                  <c:v>93.22</c:v>
                </c:pt>
                <c:pt idx="15">
                  <c:v>91.36</c:v>
                </c:pt>
                <c:pt idx="16">
                  <c:v>91.27</c:v>
                </c:pt>
                <c:pt idx="17">
                  <c:v>91.5</c:v>
                </c:pt>
                <c:pt idx="18">
                  <c:v>89.83</c:v>
                </c:pt>
                <c:pt idx="19">
                  <c:v>87.59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Quintile 1 (least exposed)</c:v>
                </c:pt>
              </c:strCache>
            </c:strRef>
          </c:tx>
          <c:spPr>
            <a:ln w="17145">
              <a:solidFill>
                <a:srgbClr val="D2D2D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90.26</c:v>
                </c:pt>
                <c:pt idx="1">
                  <c:v>92.64</c:v>
                </c:pt>
                <c:pt idx="2">
                  <c:v>94.5</c:v>
                </c:pt>
                <c:pt idx="3">
                  <c:v>97.51</c:v>
                </c:pt>
                <c:pt idx="4">
                  <c:v>98.75</c:v>
                </c:pt>
                <c:pt idx="5">
                  <c:v>100.0</c:v>
                </c:pt>
                <c:pt idx="6">
                  <c:v>101.7</c:v>
                </c:pt>
                <c:pt idx="7">
                  <c:v>102.9</c:v>
                </c:pt>
                <c:pt idx="8">
                  <c:v>102.8</c:v>
                </c:pt>
                <c:pt idx="9">
                  <c:v>103.6</c:v>
                </c:pt>
                <c:pt idx="10">
                  <c:v>103.4</c:v>
                </c:pt>
                <c:pt idx="11">
                  <c:v>104.9</c:v>
                </c:pt>
                <c:pt idx="12">
                  <c:v>105.1</c:v>
                </c:pt>
                <c:pt idx="13">
                  <c:v>106.6</c:v>
                </c:pt>
                <c:pt idx="14">
                  <c:v>105.5</c:v>
                </c:pt>
                <c:pt idx="15">
                  <c:v>105.3</c:v>
                </c:pt>
                <c:pt idx="16">
                  <c:v>104.7</c:v>
                </c:pt>
                <c:pt idx="17">
                  <c:v>105.3</c:v>
                </c:pt>
                <c:pt idx="18">
                  <c:v>105.3</c:v>
                </c:pt>
                <c:pt idx="19">
                  <c:v>105.7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Quintile 2</c:v>
                </c:pt>
              </c:strCache>
            </c:strRef>
          </c:tx>
          <c:spPr>
            <a:ln w="17145">
              <a:solidFill>
                <a:srgbClr val="AFAFAF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88.02</c:v>
                </c:pt>
                <c:pt idx="1">
                  <c:v>91.87</c:v>
                </c:pt>
                <c:pt idx="2">
                  <c:v>93.46</c:v>
                </c:pt>
                <c:pt idx="3">
                  <c:v>95.55</c:v>
                </c:pt>
                <c:pt idx="4">
                  <c:v>96.97</c:v>
                </c:pt>
                <c:pt idx="5">
                  <c:v>100.0</c:v>
                </c:pt>
                <c:pt idx="6">
                  <c:v>101.9</c:v>
                </c:pt>
                <c:pt idx="7">
                  <c:v>103.1</c:v>
                </c:pt>
                <c:pt idx="8">
                  <c:v>103.0</c:v>
                </c:pt>
                <c:pt idx="9">
                  <c:v>105.3</c:v>
                </c:pt>
                <c:pt idx="10">
                  <c:v>105.2</c:v>
                </c:pt>
                <c:pt idx="11">
                  <c:v>107.2</c:v>
                </c:pt>
                <c:pt idx="12">
                  <c:v>107.8</c:v>
                </c:pt>
                <c:pt idx="13">
                  <c:v>108.9</c:v>
                </c:pt>
                <c:pt idx="14">
                  <c:v>109.1</c:v>
                </c:pt>
                <c:pt idx="15">
                  <c:v>110.3</c:v>
                </c:pt>
                <c:pt idx="16">
                  <c:v>109.7</c:v>
                </c:pt>
                <c:pt idx="17">
                  <c:v>110.5</c:v>
                </c:pt>
                <c:pt idx="18">
                  <c:v>109.6</c:v>
                </c:pt>
                <c:pt idx="19">
                  <c:v>109.7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Quintile 3</c:v>
                </c:pt>
              </c:strCache>
            </c:strRef>
          </c:tx>
          <c:spPr>
            <a:ln w="17145">
              <a:solidFill>
                <a:srgbClr val="82828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87.72999999999999</c:v>
                </c:pt>
                <c:pt idx="1">
                  <c:v>93.78</c:v>
                </c:pt>
                <c:pt idx="2">
                  <c:v>94.94</c:v>
                </c:pt>
                <c:pt idx="3">
                  <c:v>93.85</c:v>
                </c:pt>
                <c:pt idx="4">
                  <c:v>95.64</c:v>
                </c:pt>
                <c:pt idx="5">
                  <c:v>100.0</c:v>
                </c:pt>
                <c:pt idx="6">
                  <c:v>100.8</c:v>
                </c:pt>
                <c:pt idx="7">
                  <c:v>100.7</c:v>
                </c:pt>
                <c:pt idx="8">
                  <c:v>100.6</c:v>
                </c:pt>
                <c:pt idx="9">
                  <c:v>105.1</c:v>
                </c:pt>
                <c:pt idx="10">
                  <c:v>104.8</c:v>
                </c:pt>
                <c:pt idx="11">
                  <c:v>105.2</c:v>
                </c:pt>
                <c:pt idx="12">
                  <c:v>105.6</c:v>
                </c:pt>
                <c:pt idx="13">
                  <c:v>109.9</c:v>
                </c:pt>
                <c:pt idx="14">
                  <c:v>108.0</c:v>
                </c:pt>
                <c:pt idx="15">
                  <c:v>107.2</c:v>
                </c:pt>
                <c:pt idx="16">
                  <c:v>107.6</c:v>
                </c:pt>
                <c:pt idx="17">
                  <c:v>111.4</c:v>
                </c:pt>
                <c:pt idx="18">
                  <c:v>110.0</c:v>
                </c:pt>
                <c:pt idx="19">
                  <c:v>110.0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Quintile 4</c:v>
                </c:pt>
              </c:strCache>
            </c:strRef>
          </c:tx>
          <c:spPr>
            <a:ln w="17145">
              <a:solidFill>
                <a:srgbClr val="4B4B4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89.39</c:v>
                </c:pt>
                <c:pt idx="1">
                  <c:v>92.37</c:v>
                </c:pt>
                <c:pt idx="2">
                  <c:v>94.2</c:v>
                </c:pt>
                <c:pt idx="3">
                  <c:v>95.99</c:v>
                </c:pt>
                <c:pt idx="4">
                  <c:v>97.47</c:v>
                </c:pt>
                <c:pt idx="5">
                  <c:v>100.0</c:v>
                </c:pt>
                <c:pt idx="6">
                  <c:v>100.5</c:v>
                </c:pt>
                <c:pt idx="7">
                  <c:v>100.29999999999998</c:v>
                </c:pt>
                <c:pt idx="8">
                  <c:v>99.67</c:v>
                </c:pt>
                <c:pt idx="9">
                  <c:v>100.7</c:v>
                </c:pt>
                <c:pt idx="10">
                  <c:v>100.6</c:v>
                </c:pt>
                <c:pt idx="11">
                  <c:v>100.7</c:v>
                </c:pt>
                <c:pt idx="12">
                  <c:v>100.29999999999998</c:v>
                </c:pt>
                <c:pt idx="13">
                  <c:v>100.9</c:v>
                </c:pt>
                <c:pt idx="14">
                  <c:v>100.4</c:v>
                </c:pt>
                <c:pt idx="15">
                  <c:v>99.6</c:v>
                </c:pt>
                <c:pt idx="16">
                  <c:v>99.0</c:v>
                </c:pt>
                <c:pt idx="17">
                  <c:v>99.08</c:v>
                </c:pt>
                <c:pt idx="18">
                  <c:v>98.24</c:v>
                </c:pt>
                <c:pt idx="19">
                  <c:v>97.28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Quintile 5 (most exposed)</c:v>
                </c:pt>
              </c:strCache>
            </c:strRef>
          </c:tx>
          <c:spPr>
            <a:ln w="25400">
              <a:solidFill>
                <a:srgbClr val="A02D2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89.60000000000001</c:v>
                </c:pt>
                <c:pt idx="1">
                  <c:v>92.51</c:v>
                </c:pt>
                <c:pt idx="2">
                  <c:v>94.74</c:v>
                </c:pt>
                <c:pt idx="3">
                  <c:v>96.09</c:v>
                </c:pt>
                <c:pt idx="4">
                  <c:v>97.9</c:v>
                </c:pt>
                <c:pt idx="5">
                  <c:v>100.0</c:v>
                </c:pt>
                <c:pt idx="6">
                  <c:v>100.2</c:v>
                </c:pt>
                <c:pt idx="7">
                  <c:v>100.6</c:v>
                </c:pt>
                <c:pt idx="8">
                  <c:v>100.5</c:v>
                </c:pt>
                <c:pt idx="9">
                  <c:v>101.9</c:v>
                </c:pt>
                <c:pt idx="10">
                  <c:v>101.5</c:v>
                </c:pt>
                <c:pt idx="11">
                  <c:v>101.6</c:v>
                </c:pt>
                <c:pt idx="12">
                  <c:v>101.4</c:v>
                </c:pt>
                <c:pt idx="13">
                  <c:v>101.9</c:v>
                </c:pt>
                <c:pt idx="14">
                  <c:v>100.9</c:v>
                </c:pt>
                <c:pt idx="15">
                  <c:v>100.2</c:v>
                </c:pt>
                <c:pt idx="16">
                  <c:v>99.34</c:v>
                </c:pt>
                <c:pt idx="17">
                  <c:v>99.93</c:v>
                </c:pt>
                <c:pt idx="18">
                  <c:v>98.97</c:v>
                </c:pt>
                <c:pt idx="19">
                  <c:v>97.76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Quintile 1 (least exposed)</c:v>
                </c:pt>
              </c:strCache>
            </c:strRef>
          </c:tx>
          <c:spPr>
            <a:ln w="17145">
              <a:solidFill>
                <a:srgbClr val="D2D2D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86.4</c:v>
                </c:pt>
                <c:pt idx="1">
                  <c:v>89.64</c:v>
                </c:pt>
                <c:pt idx="2">
                  <c:v>92.65</c:v>
                </c:pt>
                <c:pt idx="3">
                  <c:v>94.47</c:v>
                </c:pt>
                <c:pt idx="4">
                  <c:v>97.38</c:v>
                </c:pt>
                <c:pt idx="5">
                  <c:v>100.0</c:v>
                </c:pt>
                <c:pt idx="6">
                  <c:v>102.5</c:v>
                </c:pt>
                <c:pt idx="7">
                  <c:v>102.7</c:v>
                </c:pt>
                <c:pt idx="8">
                  <c:v>103.8</c:v>
                </c:pt>
                <c:pt idx="9">
                  <c:v>105.6</c:v>
                </c:pt>
                <c:pt idx="10">
                  <c:v>106.3</c:v>
                </c:pt>
                <c:pt idx="11">
                  <c:v>107.7</c:v>
                </c:pt>
                <c:pt idx="12">
                  <c:v>108.5</c:v>
                </c:pt>
                <c:pt idx="13">
                  <c:v>109.9</c:v>
                </c:pt>
                <c:pt idx="14">
                  <c:v>109.0</c:v>
                </c:pt>
                <c:pt idx="15">
                  <c:v>107.8</c:v>
                </c:pt>
                <c:pt idx="16">
                  <c:v>107.3</c:v>
                </c:pt>
                <c:pt idx="17">
                  <c:v>107.9</c:v>
                </c:pt>
                <c:pt idx="18">
                  <c:v>107.3</c:v>
                </c:pt>
                <c:pt idx="19">
                  <c:v>105.9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Quintile 2</c:v>
                </c:pt>
              </c:strCache>
            </c:strRef>
          </c:tx>
          <c:spPr>
            <a:ln w="17145">
              <a:solidFill>
                <a:srgbClr val="AFAFAF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85.1</c:v>
                </c:pt>
                <c:pt idx="1">
                  <c:v>89.64</c:v>
                </c:pt>
                <c:pt idx="2">
                  <c:v>91.71</c:v>
                </c:pt>
                <c:pt idx="3">
                  <c:v>94.33</c:v>
                </c:pt>
                <c:pt idx="4">
                  <c:v>97.0</c:v>
                </c:pt>
                <c:pt idx="5">
                  <c:v>100.0</c:v>
                </c:pt>
                <c:pt idx="6">
                  <c:v>102.3</c:v>
                </c:pt>
                <c:pt idx="7">
                  <c:v>103.6</c:v>
                </c:pt>
                <c:pt idx="8">
                  <c:v>103.6</c:v>
                </c:pt>
                <c:pt idx="9">
                  <c:v>106.1</c:v>
                </c:pt>
                <c:pt idx="10">
                  <c:v>107.0</c:v>
                </c:pt>
                <c:pt idx="11">
                  <c:v>108.5</c:v>
                </c:pt>
                <c:pt idx="12">
                  <c:v>109.0</c:v>
                </c:pt>
                <c:pt idx="13">
                  <c:v>110.6</c:v>
                </c:pt>
                <c:pt idx="14">
                  <c:v>110.2</c:v>
                </c:pt>
                <c:pt idx="15">
                  <c:v>110.9</c:v>
                </c:pt>
                <c:pt idx="16">
                  <c:v>110.1</c:v>
                </c:pt>
                <c:pt idx="17">
                  <c:v>110.4</c:v>
                </c:pt>
                <c:pt idx="18">
                  <c:v>108.8</c:v>
                </c:pt>
                <c:pt idx="19">
                  <c:v>108.7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Quintile 3</c:v>
                </c:pt>
              </c:strCache>
            </c:strRef>
          </c:tx>
          <c:spPr>
            <a:ln w="17145">
              <a:solidFill>
                <a:srgbClr val="82828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86.0</c:v>
                </c:pt>
                <c:pt idx="1">
                  <c:v>91.4</c:v>
                </c:pt>
                <c:pt idx="2">
                  <c:v>93.26</c:v>
                </c:pt>
                <c:pt idx="3">
                  <c:v>93.34</c:v>
                </c:pt>
                <c:pt idx="4">
                  <c:v>95.58</c:v>
                </c:pt>
                <c:pt idx="5">
                  <c:v>100.0</c:v>
                </c:pt>
                <c:pt idx="6">
                  <c:v>101.5</c:v>
                </c:pt>
                <c:pt idx="7">
                  <c:v>102.4</c:v>
                </c:pt>
                <c:pt idx="8">
                  <c:v>102.6</c:v>
                </c:pt>
                <c:pt idx="9">
                  <c:v>107.0</c:v>
                </c:pt>
                <c:pt idx="10">
                  <c:v>106.6</c:v>
                </c:pt>
                <c:pt idx="11">
                  <c:v>107.1</c:v>
                </c:pt>
                <c:pt idx="12">
                  <c:v>107.9</c:v>
                </c:pt>
                <c:pt idx="13">
                  <c:v>110.9</c:v>
                </c:pt>
                <c:pt idx="14">
                  <c:v>109.3</c:v>
                </c:pt>
                <c:pt idx="15">
                  <c:v>108.8</c:v>
                </c:pt>
                <c:pt idx="16">
                  <c:v>108.9</c:v>
                </c:pt>
                <c:pt idx="17">
                  <c:v>110.8</c:v>
                </c:pt>
                <c:pt idx="18">
                  <c:v>109.3</c:v>
                </c:pt>
                <c:pt idx="19">
                  <c:v>108.3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Quintile 4</c:v>
                </c:pt>
              </c:strCache>
            </c:strRef>
          </c:tx>
          <c:spPr>
            <a:ln w="17145">
              <a:solidFill>
                <a:srgbClr val="4B4B4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88.89</c:v>
                </c:pt>
                <c:pt idx="1">
                  <c:v>91.68</c:v>
                </c:pt>
                <c:pt idx="2">
                  <c:v>93.85</c:v>
                </c:pt>
                <c:pt idx="3">
                  <c:v>95.76</c:v>
                </c:pt>
                <c:pt idx="4">
                  <c:v>97.67</c:v>
                </c:pt>
                <c:pt idx="5">
                  <c:v>100.0</c:v>
                </c:pt>
                <c:pt idx="6">
                  <c:v>101.0</c:v>
                </c:pt>
                <c:pt idx="7">
                  <c:v>101.7</c:v>
                </c:pt>
                <c:pt idx="8">
                  <c:v>101.6</c:v>
                </c:pt>
                <c:pt idx="9">
                  <c:v>102.3</c:v>
                </c:pt>
                <c:pt idx="10">
                  <c:v>102.8</c:v>
                </c:pt>
                <c:pt idx="11">
                  <c:v>102.8</c:v>
                </c:pt>
                <c:pt idx="12">
                  <c:v>102.7</c:v>
                </c:pt>
                <c:pt idx="13">
                  <c:v>103.3</c:v>
                </c:pt>
                <c:pt idx="14">
                  <c:v>102.8</c:v>
                </c:pt>
                <c:pt idx="15">
                  <c:v>102.6</c:v>
                </c:pt>
                <c:pt idx="16">
                  <c:v>101.9</c:v>
                </c:pt>
                <c:pt idx="17">
                  <c:v>102.0</c:v>
                </c:pt>
                <c:pt idx="18">
                  <c:v>101.5</c:v>
                </c:pt>
                <c:pt idx="19">
                  <c:v>100.8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Quintile 5 (most exposed)</c:v>
                </c:pt>
              </c:strCache>
            </c:strRef>
          </c:tx>
          <c:spPr>
            <a:ln w="25400">
              <a:solidFill>
                <a:srgbClr val="A02D2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88.75</c:v>
                </c:pt>
                <c:pt idx="1">
                  <c:v>91.9</c:v>
                </c:pt>
                <c:pt idx="2">
                  <c:v>94.07</c:v>
                </c:pt>
                <c:pt idx="3">
                  <c:v>95.5</c:v>
                </c:pt>
                <c:pt idx="4">
                  <c:v>97.52</c:v>
                </c:pt>
                <c:pt idx="5">
                  <c:v>100.0</c:v>
                </c:pt>
                <c:pt idx="6">
                  <c:v>101.0</c:v>
                </c:pt>
                <c:pt idx="7">
                  <c:v>102.0</c:v>
                </c:pt>
                <c:pt idx="8">
                  <c:v>102.7</c:v>
                </c:pt>
                <c:pt idx="9">
                  <c:v>104.3</c:v>
                </c:pt>
                <c:pt idx="10">
                  <c:v>104.6</c:v>
                </c:pt>
                <c:pt idx="11">
                  <c:v>105.0</c:v>
                </c:pt>
                <c:pt idx="12">
                  <c:v>105.2</c:v>
                </c:pt>
                <c:pt idx="13">
                  <c:v>105.6</c:v>
                </c:pt>
                <c:pt idx="14">
                  <c:v>105.0</c:v>
                </c:pt>
                <c:pt idx="15">
                  <c:v>104.6</c:v>
                </c:pt>
                <c:pt idx="16">
                  <c:v>103.8</c:v>
                </c:pt>
                <c:pt idx="17">
                  <c:v>103.9</c:v>
                </c:pt>
                <c:pt idx="18">
                  <c:v>103.3</c:v>
                </c:pt>
                <c:pt idx="19">
                  <c:v>102.1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Quintile 1 (least exposed)</c:v>
                </c:pt>
              </c:strCache>
            </c:strRef>
          </c:tx>
          <c:spPr>
            <a:ln w="17145">
              <a:solidFill>
                <a:srgbClr val="D2D2D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89.81</c:v>
                </c:pt>
                <c:pt idx="1">
                  <c:v>92.32</c:v>
                </c:pt>
                <c:pt idx="2">
                  <c:v>94.41</c:v>
                </c:pt>
                <c:pt idx="3">
                  <c:v>96.81</c:v>
                </c:pt>
                <c:pt idx="4">
                  <c:v>97.96</c:v>
                </c:pt>
                <c:pt idx="5">
                  <c:v>100.0</c:v>
                </c:pt>
                <c:pt idx="6">
                  <c:v>101.8</c:v>
                </c:pt>
                <c:pt idx="7">
                  <c:v>103.0</c:v>
                </c:pt>
                <c:pt idx="8">
                  <c:v>103.4</c:v>
                </c:pt>
                <c:pt idx="9">
                  <c:v>105.0</c:v>
                </c:pt>
                <c:pt idx="10">
                  <c:v>105.4</c:v>
                </c:pt>
                <c:pt idx="11">
                  <c:v>107.4</c:v>
                </c:pt>
                <c:pt idx="12">
                  <c:v>107.9</c:v>
                </c:pt>
                <c:pt idx="13">
                  <c:v>110.5</c:v>
                </c:pt>
                <c:pt idx="14">
                  <c:v>110.2</c:v>
                </c:pt>
                <c:pt idx="15">
                  <c:v>111.1</c:v>
                </c:pt>
                <c:pt idx="16">
                  <c:v>111.6</c:v>
                </c:pt>
                <c:pt idx="17">
                  <c:v>112.7</c:v>
                </c:pt>
                <c:pt idx="18">
                  <c:v>112.9</c:v>
                </c:pt>
                <c:pt idx="19">
                  <c:v>113.3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Quintile 2</c:v>
                </c:pt>
              </c:strCache>
            </c:strRef>
          </c:tx>
          <c:spPr>
            <a:ln w="17145">
              <a:solidFill>
                <a:srgbClr val="AFAFAF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87.58</c:v>
                </c:pt>
                <c:pt idx="1">
                  <c:v>91.23</c:v>
                </c:pt>
                <c:pt idx="2">
                  <c:v>92.73</c:v>
                </c:pt>
                <c:pt idx="3">
                  <c:v>94.8</c:v>
                </c:pt>
                <c:pt idx="4">
                  <c:v>96.69</c:v>
                </c:pt>
                <c:pt idx="5">
                  <c:v>100.0</c:v>
                </c:pt>
                <c:pt idx="6">
                  <c:v>101.8</c:v>
                </c:pt>
                <c:pt idx="7">
                  <c:v>103.3</c:v>
                </c:pt>
                <c:pt idx="8">
                  <c:v>103.6</c:v>
                </c:pt>
                <c:pt idx="9">
                  <c:v>106.1</c:v>
                </c:pt>
                <c:pt idx="10">
                  <c:v>107.0</c:v>
                </c:pt>
                <c:pt idx="11">
                  <c:v>109.1</c:v>
                </c:pt>
                <c:pt idx="12">
                  <c:v>110.1</c:v>
                </c:pt>
                <c:pt idx="13">
                  <c:v>112.3</c:v>
                </c:pt>
                <c:pt idx="14">
                  <c:v>113.3</c:v>
                </c:pt>
                <c:pt idx="15">
                  <c:v>114.6</c:v>
                </c:pt>
                <c:pt idx="16">
                  <c:v>115.0</c:v>
                </c:pt>
                <c:pt idx="17">
                  <c:v>116.1</c:v>
                </c:pt>
                <c:pt idx="18">
                  <c:v>115.6</c:v>
                </c:pt>
                <c:pt idx="19">
                  <c:v>116.0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Quintile 3</c:v>
                </c:pt>
              </c:strCache>
            </c:strRef>
          </c:tx>
          <c:spPr>
            <a:ln w="17145">
              <a:solidFill>
                <a:srgbClr val="82828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88.32</c:v>
                </c:pt>
                <c:pt idx="1">
                  <c:v>92.67</c:v>
                </c:pt>
                <c:pt idx="2">
                  <c:v>94.04</c:v>
                </c:pt>
                <c:pt idx="3">
                  <c:v>94.84</c:v>
                </c:pt>
                <c:pt idx="4">
                  <c:v>96.13</c:v>
                </c:pt>
                <c:pt idx="5">
                  <c:v>100.0</c:v>
                </c:pt>
                <c:pt idx="6">
                  <c:v>101.2</c:v>
                </c:pt>
                <c:pt idx="7">
                  <c:v>102.1</c:v>
                </c:pt>
                <c:pt idx="8">
                  <c:v>102.5</c:v>
                </c:pt>
                <c:pt idx="9">
                  <c:v>106.5</c:v>
                </c:pt>
                <c:pt idx="10">
                  <c:v>106.7</c:v>
                </c:pt>
                <c:pt idx="11">
                  <c:v>107.8</c:v>
                </c:pt>
                <c:pt idx="12">
                  <c:v>108.6</c:v>
                </c:pt>
                <c:pt idx="13">
                  <c:v>112.7</c:v>
                </c:pt>
                <c:pt idx="14">
                  <c:v>112.20000000000002</c:v>
                </c:pt>
                <c:pt idx="15">
                  <c:v>112.6</c:v>
                </c:pt>
                <c:pt idx="16">
                  <c:v>113.79999999999998</c:v>
                </c:pt>
                <c:pt idx="17">
                  <c:v>117.1</c:v>
                </c:pt>
                <c:pt idx="18">
                  <c:v>116.8</c:v>
                </c:pt>
                <c:pt idx="19">
                  <c:v>117.2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Quintile 4</c:v>
                </c:pt>
              </c:strCache>
            </c:strRef>
          </c:tx>
          <c:spPr>
            <a:ln w="17145">
              <a:solidFill>
                <a:srgbClr val="4B4B4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89.68</c:v>
                </c:pt>
                <c:pt idx="1">
                  <c:v>92.24</c:v>
                </c:pt>
                <c:pt idx="2">
                  <c:v>94.01</c:v>
                </c:pt>
                <c:pt idx="3">
                  <c:v>95.79</c:v>
                </c:pt>
                <c:pt idx="4">
                  <c:v>97.59</c:v>
                </c:pt>
                <c:pt idx="5">
                  <c:v>100.0</c:v>
                </c:pt>
                <c:pt idx="6">
                  <c:v>101.4</c:v>
                </c:pt>
                <c:pt idx="7">
                  <c:v>102.4</c:v>
                </c:pt>
                <c:pt idx="8">
                  <c:v>103.1</c:v>
                </c:pt>
                <c:pt idx="9">
                  <c:v>104.4</c:v>
                </c:pt>
                <c:pt idx="10">
                  <c:v>105.0</c:v>
                </c:pt>
                <c:pt idx="11">
                  <c:v>106.2</c:v>
                </c:pt>
                <c:pt idx="12">
                  <c:v>106.6</c:v>
                </c:pt>
                <c:pt idx="13">
                  <c:v>107.9</c:v>
                </c:pt>
                <c:pt idx="14">
                  <c:v>108.3</c:v>
                </c:pt>
                <c:pt idx="15">
                  <c:v>108.8</c:v>
                </c:pt>
                <c:pt idx="16">
                  <c:v>109.2</c:v>
                </c:pt>
                <c:pt idx="17">
                  <c:v>110.2</c:v>
                </c:pt>
                <c:pt idx="18">
                  <c:v>110.6</c:v>
                </c:pt>
                <c:pt idx="19">
                  <c:v>110.7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Quintile 5 (most exposed)</c:v>
                </c:pt>
              </c:strCache>
            </c:strRef>
          </c:tx>
          <c:spPr>
            <a:ln w="25400">
              <a:solidFill>
                <a:srgbClr val="A02D2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91.12</c:v>
                </c:pt>
                <c:pt idx="1">
                  <c:v>93.23</c:v>
                </c:pt>
                <c:pt idx="2">
                  <c:v>95.0</c:v>
                </c:pt>
                <c:pt idx="3">
                  <c:v>96.33</c:v>
                </c:pt>
                <c:pt idx="4">
                  <c:v>97.92</c:v>
                </c:pt>
                <c:pt idx="5">
                  <c:v>100.0</c:v>
                </c:pt>
                <c:pt idx="6">
                  <c:v>101.2</c:v>
                </c:pt>
                <c:pt idx="7">
                  <c:v>102.0</c:v>
                </c:pt>
                <c:pt idx="8">
                  <c:v>102.6</c:v>
                </c:pt>
                <c:pt idx="9">
                  <c:v>104.1</c:v>
                </c:pt>
                <c:pt idx="10">
                  <c:v>104.8</c:v>
                </c:pt>
                <c:pt idx="11">
                  <c:v>105.6</c:v>
                </c:pt>
                <c:pt idx="12">
                  <c:v>106.3</c:v>
                </c:pt>
                <c:pt idx="13">
                  <c:v>107.2</c:v>
                </c:pt>
                <c:pt idx="14">
                  <c:v>107.3</c:v>
                </c:pt>
                <c:pt idx="15">
                  <c:v>107.8</c:v>
                </c:pt>
                <c:pt idx="16">
                  <c:v>108.1</c:v>
                </c:pt>
                <c:pt idx="17">
                  <c:v>109.1</c:v>
                </c:pt>
                <c:pt idx="18">
                  <c:v>109.4</c:v>
                </c:pt>
                <c:pt idx="19">
                  <c:v>109.1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Quintile 1 (least exposed)</c:v>
                </c:pt>
              </c:strCache>
            </c:strRef>
          </c:tx>
          <c:spPr>
            <a:ln w="17145">
              <a:solidFill>
                <a:srgbClr val="D2D2D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90.58</c:v>
                </c:pt>
                <c:pt idx="1">
                  <c:v>93.05</c:v>
                </c:pt>
                <c:pt idx="2">
                  <c:v>94.93</c:v>
                </c:pt>
                <c:pt idx="3">
                  <c:v>96.85</c:v>
                </c:pt>
                <c:pt idx="4">
                  <c:v>98.28</c:v>
                </c:pt>
                <c:pt idx="5">
                  <c:v>100.0</c:v>
                </c:pt>
                <c:pt idx="6">
                  <c:v>102.0</c:v>
                </c:pt>
                <c:pt idx="7">
                  <c:v>103.2</c:v>
                </c:pt>
                <c:pt idx="8">
                  <c:v>103.5</c:v>
                </c:pt>
                <c:pt idx="9">
                  <c:v>104.7</c:v>
                </c:pt>
                <c:pt idx="10">
                  <c:v>105.1</c:v>
                </c:pt>
                <c:pt idx="11">
                  <c:v>105.7</c:v>
                </c:pt>
                <c:pt idx="12">
                  <c:v>105.9</c:v>
                </c:pt>
                <c:pt idx="13">
                  <c:v>107.9</c:v>
                </c:pt>
                <c:pt idx="14">
                  <c:v>107.6</c:v>
                </c:pt>
                <c:pt idx="15">
                  <c:v>107.6</c:v>
                </c:pt>
                <c:pt idx="16">
                  <c:v>107.0</c:v>
                </c:pt>
                <c:pt idx="17">
                  <c:v>107.2</c:v>
                </c:pt>
                <c:pt idx="18">
                  <c:v>107.4</c:v>
                </c:pt>
                <c:pt idx="19">
                  <c:v>107.5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Quintile 2</c:v>
                </c:pt>
              </c:strCache>
            </c:strRef>
          </c:tx>
          <c:spPr>
            <a:ln w="17145">
              <a:solidFill>
                <a:srgbClr val="AFAFAF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89.87</c:v>
                </c:pt>
                <c:pt idx="1">
                  <c:v>93.27</c:v>
                </c:pt>
                <c:pt idx="2">
                  <c:v>94.25</c:v>
                </c:pt>
                <c:pt idx="3">
                  <c:v>96.37</c:v>
                </c:pt>
                <c:pt idx="4">
                  <c:v>97.21</c:v>
                </c:pt>
                <c:pt idx="5">
                  <c:v>100.0</c:v>
                </c:pt>
                <c:pt idx="6">
                  <c:v>101.4</c:v>
                </c:pt>
                <c:pt idx="7">
                  <c:v>102.6</c:v>
                </c:pt>
                <c:pt idx="8">
                  <c:v>102.7</c:v>
                </c:pt>
                <c:pt idx="9">
                  <c:v>104.8</c:v>
                </c:pt>
                <c:pt idx="10">
                  <c:v>105.1</c:v>
                </c:pt>
                <c:pt idx="11">
                  <c:v>106.5</c:v>
                </c:pt>
                <c:pt idx="12">
                  <c:v>106.9</c:v>
                </c:pt>
                <c:pt idx="13">
                  <c:v>108.3</c:v>
                </c:pt>
                <c:pt idx="14">
                  <c:v>108.8</c:v>
                </c:pt>
                <c:pt idx="15">
                  <c:v>109.6</c:v>
                </c:pt>
                <c:pt idx="16">
                  <c:v>109.3</c:v>
                </c:pt>
                <c:pt idx="17">
                  <c:v>110.3</c:v>
                </c:pt>
                <c:pt idx="18">
                  <c:v>110.3</c:v>
                </c:pt>
                <c:pt idx="19">
                  <c:v>110.8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Quintile 3</c:v>
                </c:pt>
              </c:strCache>
            </c:strRef>
          </c:tx>
          <c:spPr>
            <a:ln w="17145">
              <a:solidFill>
                <a:srgbClr val="82828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90.47</c:v>
                </c:pt>
                <c:pt idx="1">
                  <c:v>94.11</c:v>
                </c:pt>
                <c:pt idx="2">
                  <c:v>94.98</c:v>
                </c:pt>
                <c:pt idx="3">
                  <c:v>95.68</c:v>
                </c:pt>
                <c:pt idx="4">
                  <c:v>96.86</c:v>
                </c:pt>
                <c:pt idx="5">
                  <c:v>100.0</c:v>
                </c:pt>
                <c:pt idx="6">
                  <c:v>100.9</c:v>
                </c:pt>
                <c:pt idx="7">
                  <c:v>101.4</c:v>
                </c:pt>
                <c:pt idx="8">
                  <c:v>101.7</c:v>
                </c:pt>
                <c:pt idx="9">
                  <c:v>104.9</c:v>
                </c:pt>
                <c:pt idx="10">
                  <c:v>104.6</c:v>
                </c:pt>
                <c:pt idx="11">
                  <c:v>105.4</c:v>
                </c:pt>
                <c:pt idx="12">
                  <c:v>105.9</c:v>
                </c:pt>
                <c:pt idx="13">
                  <c:v>109.4</c:v>
                </c:pt>
                <c:pt idx="14">
                  <c:v>108.9</c:v>
                </c:pt>
                <c:pt idx="15">
                  <c:v>108.9</c:v>
                </c:pt>
                <c:pt idx="16">
                  <c:v>109.9</c:v>
                </c:pt>
                <c:pt idx="17">
                  <c:v>112.3</c:v>
                </c:pt>
                <c:pt idx="18">
                  <c:v>112.0</c:v>
                </c:pt>
                <c:pt idx="19">
                  <c:v>112.4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Quintile 4</c:v>
                </c:pt>
              </c:strCache>
            </c:strRef>
          </c:tx>
          <c:spPr>
            <a:ln w="17145">
              <a:solidFill>
                <a:srgbClr val="4B4B4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90.61</c:v>
                </c:pt>
                <c:pt idx="1">
                  <c:v>92.78</c:v>
                </c:pt>
                <c:pt idx="2">
                  <c:v>94.54</c:v>
                </c:pt>
                <c:pt idx="3">
                  <c:v>96.14</c:v>
                </c:pt>
                <c:pt idx="4">
                  <c:v>98.0</c:v>
                </c:pt>
                <c:pt idx="5">
                  <c:v>100.0</c:v>
                </c:pt>
                <c:pt idx="6">
                  <c:v>101.6</c:v>
                </c:pt>
                <c:pt idx="7">
                  <c:v>102.7</c:v>
                </c:pt>
                <c:pt idx="8">
                  <c:v>103.6</c:v>
                </c:pt>
                <c:pt idx="9">
                  <c:v>105.0</c:v>
                </c:pt>
                <c:pt idx="10">
                  <c:v>106.1</c:v>
                </c:pt>
                <c:pt idx="11">
                  <c:v>107.2</c:v>
                </c:pt>
                <c:pt idx="12">
                  <c:v>107.9</c:v>
                </c:pt>
                <c:pt idx="13">
                  <c:v>109.1</c:v>
                </c:pt>
                <c:pt idx="14">
                  <c:v>109.7</c:v>
                </c:pt>
                <c:pt idx="15">
                  <c:v>110.6</c:v>
                </c:pt>
                <c:pt idx="16">
                  <c:v>111.1</c:v>
                </c:pt>
                <c:pt idx="17">
                  <c:v>112.3</c:v>
                </c:pt>
                <c:pt idx="18">
                  <c:v>112.9</c:v>
                </c:pt>
                <c:pt idx="19">
                  <c:v>113.5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Quintile 5 (most exposed)</c:v>
                </c:pt>
              </c:strCache>
            </c:strRef>
          </c:tx>
          <c:spPr>
            <a:ln w="25400">
              <a:solidFill>
                <a:srgbClr val="A02D2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91.02</c:v>
                </c:pt>
                <c:pt idx="1">
                  <c:v>93.17</c:v>
                </c:pt>
                <c:pt idx="2">
                  <c:v>95.22</c:v>
                </c:pt>
                <c:pt idx="3">
                  <c:v>96.42</c:v>
                </c:pt>
                <c:pt idx="4">
                  <c:v>98.32</c:v>
                </c:pt>
                <c:pt idx="5">
                  <c:v>100.0</c:v>
                </c:pt>
                <c:pt idx="6">
                  <c:v>101.0</c:v>
                </c:pt>
                <c:pt idx="7">
                  <c:v>102.2</c:v>
                </c:pt>
                <c:pt idx="8">
                  <c:v>102.7</c:v>
                </c:pt>
                <c:pt idx="9">
                  <c:v>104.1</c:v>
                </c:pt>
                <c:pt idx="10">
                  <c:v>104.6</c:v>
                </c:pt>
                <c:pt idx="11">
                  <c:v>105.4</c:v>
                </c:pt>
                <c:pt idx="12">
                  <c:v>106.1</c:v>
                </c:pt>
                <c:pt idx="13">
                  <c:v>107.0</c:v>
                </c:pt>
                <c:pt idx="14">
                  <c:v>107.3</c:v>
                </c:pt>
                <c:pt idx="15">
                  <c:v>107.5</c:v>
                </c:pt>
                <c:pt idx="16">
                  <c:v>107.9</c:v>
                </c:pt>
                <c:pt idx="17">
                  <c:v>109.0</c:v>
                </c:pt>
                <c:pt idx="18">
                  <c:v>109.3</c:v>
                </c:pt>
                <c:pt idx="19">
                  <c:v>109.4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Quintile 1 (least exposed)</c:v>
                </c:pt>
              </c:strCache>
            </c:strRef>
          </c:tx>
          <c:spPr>
            <a:ln w="17145">
              <a:solidFill>
                <a:srgbClr val="D2D2D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89.91</c:v>
                </c:pt>
                <c:pt idx="1">
                  <c:v>92.99</c:v>
                </c:pt>
                <c:pt idx="2">
                  <c:v>93.36</c:v>
                </c:pt>
                <c:pt idx="3">
                  <c:v>96.14</c:v>
                </c:pt>
                <c:pt idx="4">
                  <c:v>98.14</c:v>
                </c:pt>
                <c:pt idx="5">
                  <c:v>100.0</c:v>
                </c:pt>
                <c:pt idx="6">
                  <c:v>101.2</c:v>
                </c:pt>
                <c:pt idx="7">
                  <c:v>102.9</c:v>
                </c:pt>
                <c:pt idx="8">
                  <c:v>103.5</c:v>
                </c:pt>
                <c:pt idx="9">
                  <c:v>104.4</c:v>
                </c:pt>
                <c:pt idx="10">
                  <c:v>103.7</c:v>
                </c:pt>
                <c:pt idx="11">
                  <c:v>104.7</c:v>
                </c:pt>
                <c:pt idx="12">
                  <c:v>105.0</c:v>
                </c:pt>
                <c:pt idx="13">
                  <c:v>107.1</c:v>
                </c:pt>
                <c:pt idx="14">
                  <c:v>105.2</c:v>
                </c:pt>
                <c:pt idx="15">
                  <c:v>105.6</c:v>
                </c:pt>
                <c:pt idx="16">
                  <c:v>105.7</c:v>
                </c:pt>
                <c:pt idx="17">
                  <c:v>106.6</c:v>
                </c:pt>
                <c:pt idx="18">
                  <c:v>105.9</c:v>
                </c:pt>
                <c:pt idx="19">
                  <c:v>106.1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Quintile 2</c:v>
                </c:pt>
              </c:strCache>
            </c:strRef>
          </c:tx>
          <c:spPr>
            <a:ln w="17145">
              <a:solidFill>
                <a:srgbClr val="AFAFAF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90.67</c:v>
                </c:pt>
                <c:pt idx="1">
                  <c:v>93.9</c:v>
                </c:pt>
                <c:pt idx="2">
                  <c:v>94.18</c:v>
                </c:pt>
                <c:pt idx="3">
                  <c:v>96.28</c:v>
                </c:pt>
                <c:pt idx="4">
                  <c:v>97.47</c:v>
                </c:pt>
                <c:pt idx="5">
                  <c:v>100.0</c:v>
                </c:pt>
                <c:pt idx="6">
                  <c:v>100.2</c:v>
                </c:pt>
                <c:pt idx="7">
                  <c:v>101.5</c:v>
                </c:pt>
                <c:pt idx="8">
                  <c:v>101.7</c:v>
                </c:pt>
                <c:pt idx="9">
                  <c:v>103.2</c:v>
                </c:pt>
                <c:pt idx="10">
                  <c:v>102.4</c:v>
                </c:pt>
                <c:pt idx="11">
                  <c:v>103.3</c:v>
                </c:pt>
                <c:pt idx="12">
                  <c:v>103.4</c:v>
                </c:pt>
                <c:pt idx="13">
                  <c:v>104.8</c:v>
                </c:pt>
                <c:pt idx="14">
                  <c:v>103.8</c:v>
                </c:pt>
                <c:pt idx="15">
                  <c:v>104.2</c:v>
                </c:pt>
                <c:pt idx="16">
                  <c:v>103.8</c:v>
                </c:pt>
                <c:pt idx="17">
                  <c:v>104.9</c:v>
                </c:pt>
                <c:pt idx="18">
                  <c:v>103.4</c:v>
                </c:pt>
                <c:pt idx="19">
                  <c:v>103.5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Quintile 3</c:v>
                </c:pt>
              </c:strCache>
            </c:strRef>
          </c:tx>
          <c:spPr>
            <a:ln w="17145">
              <a:solidFill>
                <a:srgbClr val="82828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91.04</c:v>
                </c:pt>
                <c:pt idx="1">
                  <c:v>94.71</c:v>
                </c:pt>
                <c:pt idx="2">
                  <c:v>94.44</c:v>
                </c:pt>
                <c:pt idx="3">
                  <c:v>95.87</c:v>
                </c:pt>
                <c:pt idx="4">
                  <c:v>97.24</c:v>
                </c:pt>
                <c:pt idx="5">
                  <c:v>100.0</c:v>
                </c:pt>
                <c:pt idx="6">
                  <c:v>99.83</c:v>
                </c:pt>
                <c:pt idx="7">
                  <c:v>100.9</c:v>
                </c:pt>
                <c:pt idx="8">
                  <c:v>101.1</c:v>
                </c:pt>
                <c:pt idx="9">
                  <c:v>103.5</c:v>
                </c:pt>
                <c:pt idx="10">
                  <c:v>102.6</c:v>
                </c:pt>
                <c:pt idx="11">
                  <c:v>103.4</c:v>
                </c:pt>
                <c:pt idx="12">
                  <c:v>103.7</c:v>
                </c:pt>
                <c:pt idx="13">
                  <c:v>107.5</c:v>
                </c:pt>
                <c:pt idx="14">
                  <c:v>105.9</c:v>
                </c:pt>
                <c:pt idx="15">
                  <c:v>106.4</c:v>
                </c:pt>
                <c:pt idx="16">
                  <c:v>106.4</c:v>
                </c:pt>
                <c:pt idx="17">
                  <c:v>108.2</c:v>
                </c:pt>
                <c:pt idx="18">
                  <c:v>106.8</c:v>
                </c:pt>
                <c:pt idx="19">
                  <c:v>107.1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Quintile 4</c:v>
                </c:pt>
              </c:strCache>
            </c:strRef>
          </c:tx>
          <c:spPr>
            <a:ln w="17145">
              <a:solidFill>
                <a:srgbClr val="4B4B4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90.6</c:v>
                </c:pt>
                <c:pt idx="1">
                  <c:v>93.29</c:v>
                </c:pt>
                <c:pt idx="2">
                  <c:v>94.22</c:v>
                </c:pt>
                <c:pt idx="3">
                  <c:v>95.96</c:v>
                </c:pt>
                <c:pt idx="4">
                  <c:v>97.71</c:v>
                </c:pt>
                <c:pt idx="5">
                  <c:v>100.0</c:v>
                </c:pt>
                <c:pt idx="6">
                  <c:v>100.8</c:v>
                </c:pt>
                <c:pt idx="7">
                  <c:v>102.1</c:v>
                </c:pt>
                <c:pt idx="8">
                  <c:v>103.0</c:v>
                </c:pt>
                <c:pt idx="9">
                  <c:v>104.4</c:v>
                </c:pt>
                <c:pt idx="10">
                  <c:v>104.3</c:v>
                </c:pt>
                <c:pt idx="11">
                  <c:v>105.3</c:v>
                </c:pt>
                <c:pt idx="12">
                  <c:v>106.1</c:v>
                </c:pt>
                <c:pt idx="13">
                  <c:v>107.2</c:v>
                </c:pt>
                <c:pt idx="14">
                  <c:v>106.8</c:v>
                </c:pt>
                <c:pt idx="15">
                  <c:v>107.3</c:v>
                </c:pt>
                <c:pt idx="16">
                  <c:v>107.6</c:v>
                </c:pt>
                <c:pt idx="17">
                  <c:v>108.8</c:v>
                </c:pt>
                <c:pt idx="18">
                  <c:v>108.3</c:v>
                </c:pt>
                <c:pt idx="19">
                  <c:v>108.6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Quintile 5 (most exposed)</c:v>
                </c:pt>
              </c:strCache>
            </c:strRef>
          </c:tx>
          <c:spPr>
            <a:ln w="25400">
              <a:solidFill>
                <a:srgbClr val="A02D2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2022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2023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2024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2025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90.98</c:v>
                </c:pt>
                <c:pt idx="1">
                  <c:v>93.57</c:v>
                </c:pt>
                <c:pt idx="2">
                  <c:v>94.75</c:v>
                </c:pt>
                <c:pt idx="3">
                  <c:v>96.01</c:v>
                </c:pt>
                <c:pt idx="4">
                  <c:v>97.92</c:v>
                </c:pt>
                <c:pt idx="5">
                  <c:v>100.0</c:v>
                </c:pt>
                <c:pt idx="6">
                  <c:v>100.1</c:v>
                </c:pt>
                <c:pt idx="7">
                  <c:v>101.29999999999998</c:v>
                </c:pt>
                <c:pt idx="8">
                  <c:v>101.9</c:v>
                </c:pt>
                <c:pt idx="9">
                  <c:v>103.4</c:v>
                </c:pt>
                <c:pt idx="10">
                  <c:v>102.9</c:v>
                </c:pt>
                <c:pt idx="11">
                  <c:v>103.7</c:v>
                </c:pt>
                <c:pt idx="12">
                  <c:v>104.4</c:v>
                </c:pt>
                <c:pt idx="13">
                  <c:v>105.4</c:v>
                </c:pt>
                <c:pt idx="14">
                  <c:v>104.5</c:v>
                </c:pt>
                <c:pt idx="15">
                  <c:v>104.6</c:v>
                </c:pt>
                <c:pt idx="16">
                  <c:v>104.8</c:v>
                </c:pt>
                <c:pt idx="17">
                  <c:v>105.9</c:v>
                </c:pt>
                <c:pt idx="18">
                  <c:v>104.9</c:v>
                </c:pt>
                <c:pt idx="19">
                  <c:v>104.8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  <c:min val="7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mbria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DA117-10E6-4BFD-ADAF-6E7EA5EFA42C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6AFD1-51E9-4B71-9D56-066F69D17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2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1 minute. Welcome students. Name questions, comparisons, and code as the core idea of both today and the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2 minutes. Give only the biography that explains the course: consequential criminal-justice questions, imperfect data, and powerful tools. Tell students what to call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4 minutes. Establish the normal Tuesday/Thursday rhythm and the Week 1 exception. Readings are genuine course material this semester, but do not promise that every reading uses one format. Point students to the syllabus and its UMD AI resources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Avoid a human-versus-AI division of labor. Who authors the code can vary; who must explain and verify the analysis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5 minutes. Give 45–60 seconds of quiet writing, then read three questions aloud. Do not repair or classify them yet. Tell students they will return to their own question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Distinguish question-led analysis from dataset-led wandering without pretending curiosity-driven exploration is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The same topic supports descriptive, causal, and normative questions. Each demands different evidence. Do not imply that the causal question is inherently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1 minute. Ask students to keep these three questions in view for the rest of class. This is the student-facing spine, not a six-term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2 minutes. Take two or three quick chat reactions. When someone asks “compared to what?”,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Fill the sentence together: Bronx game days with Bronx non-game days, to ask whether complaints were higher on game days. Call this a first comparison, not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5 minutes. Use a numbered chat vote, then ask two students to defend different choices. More than one comparison can be useful because choices can answer slightly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4 minutes. Ask what changed. The game-day data did not; the benchmark did. Explain “same weekday mix” in one sentence and label it a preview, not a calculation students must reproduce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Introduce the causal problem in ordinary language. “Counterfactual” can be named orally but is not required vocabulary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2 minutes. Good design does not guarantee a dramatic finding. Yankees games and most policies cannot be assigned this way, which motivates the roadmap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2 minutes. This is a map of destinations, not five definitions to memorize. Method names are landmarks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4 minutes. Give students time to look before explaining. Read two observations that describe the lines without explaining why they moved. These are the most-exposed occupation quintile only; 100 is November 2022 for each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Treat chart reading as analysis, not a test. More information can increase both insight and cognitive load. This redraw uses the authors’ public August 12, 2026 dashboard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Solicit alternatives such as pre-existing trends, education, occupation mix, or which firms appear in the data. Connect directly back to “compared to what?”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2 minutes. Careful language is not weakness; it is part of strong analysis. The revised paper explicitly distinguishes descriptive indicators from causal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Computational thinking is powerful and bounded: it can implement a comparison exactly without making the comparison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4 minutes. Tie each pillar to one concrete action. Do not turn this into a definitions lecture. The final line separates computation from research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Prompting is an execution route, not a separate intellectual method. Fluent output is not proof that the analysis answers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Give a tiny what-if: “If we remove weekends, which average should change?” The point is prediction and understanding, not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3 minutes. Students do not need a perfect project question today. The course will make both their code and their questions more precise. Do not reveal the anchor’s final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mbria"/>
              </a:rPr>
              <a:t>TIME: 4 minutes. Leave a full two minutes for writing and submission. Save the responses and open Tuesday with three anonymous examples. This is the first return loop in the course, not a ceremonial 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7D49-0A3C-46EB-8E1C-106C1194C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1C021-1B81-476A-85A3-A9790C427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0A1B1-2255-4C58-B244-3E02ABAF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5B1D1-5DE1-47DB-A0E0-D90E014977A8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C7EC2-F75E-41E5-9E98-BA1335DD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05C43-B8A3-44D5-A474-F3CC7DFB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EE99F-0117-4778-A5E6-E87F21AC5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6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D071-B6FD-4F12-8935-8160D6FE3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056"/>
            <a:ext cx="10515600" cy="1325563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5B998-74F9-42B5-8DFA-847F1234D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731"/>
            <a:ext cx="10515600" cy="4757131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189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4ADF-B487-4F63-8EBC-EB47C7FC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FE1C2-ECEC-4871-95D4-6E825EF35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370E2-90B8-44EE-9C0C-2323FE5B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5B1D1-5DE1-47DB-A0E0-D90E014977A8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FBEFF-5FCB-4C7A-AB66-3984B248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AE514-926B-49DB-A293-C9A413A5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EE99F-0117-4778-A5E6-E87F21AC5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2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58D3-20A5-4EB1-BB0C-A841FE77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85A70-C0D9-4D0E-8848-5AB546F21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60AA4-A946-431E-88B9-4137792AF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9EC5E-0CC5-46FA-A67F-829E0D34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215B1D1-5DE1-47DB-A0E0-D90E014977A8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A1F9A-F569-4AD9-948C-FF219F39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81CEC-150F-4EA8-8D31-18D0DF1C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C6EE99F-0117-4778-A5E6-E87F21AC5D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3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1F67-CF1C-40DD-8966-3D1E99ED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4539C-3EE8-4C7D-9A87-B325D54C2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5959B-5305-427B-AD9E-A877DEBF1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33ADE-0BE2-4235-8777-DBCE6467F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0D0B3-6529-462D-9F6D-78633561D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44967-B153-472D-A03A-C6CA824B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215B1D1-5DE1-47DB-A0E0-D90E014977A8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A2E02-8A1A-487C-9EBC-377AF15BF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B0991-2ACB-404F-8F57-23C3CA4D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C6EE99F-0117-4778-A5E6-E87F21AC5D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4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7AB3-1B9A-4044-8EE7-5BF5BCBD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C5BAA-D49A-4B57-A752-4B42366A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215B1D1-5DE1-47DB-A0E0-D90E014977A8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17D56-F767-49C5-8E2A-4E759B7C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D58AA-9FF9-4991-A7BC-6567529B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C6EE99F-0117-4778-A5E6-E87F21AC5D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0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4830C-2CDB-45E8-9C41-A1D6438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5B1D1-5DE1-47DB-A0E0-D90E014977A8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76091-CD5C-449E-B96C-CC66394F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88013-AFFB-4681-B51B-741F7081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EE99F-0117-4778-A5E6-E87F21AC5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6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630D-7FAA-4425-8CD2-62997177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C9A20-98C1-44EC-B39C-952BA3B50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2F57C-0FCC-4540-A105-F733044DC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9C767-62CC-4CA9-AF1D-4E049993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5B1D1-5DE1-47DB-A0E0-D90E014977A8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9AAAE-E77E-4FB8-B001-8507C16F5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EF175-C626-4C86-8741-D6C2A9FC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EE99F-0117-4778-A5E6-E87F21AC5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29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AF58-F979-440C-9DEC-2DCF48F9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9D3E8-9D59-487A-B75B-FB267EE9F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097EF-8C12-489A-AEFB-5BAA1F5C5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3F761-5E1D-456F-86D1-E9D21766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5B1D1-5DE1-47DB-A0E0-D90E014977A8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83D2A-30CF-4472-B7F7-0A9AEEDE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48BB0-DB3D-4D6B-A072-C5C176C9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EE99F-0117-4778-A5E6-E87F21AC5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5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E3C5-350D-4E53-9ACF-A299AE8F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AA61A-888C-4AFA-8593-9D2AB6D75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2D77F-A145-4E2C-823E-B5ABB8C7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5B1D1-5DE1-47DB-A0E0-D90E014977A8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7C15D-B093-4F22-BB32-C2B1D8AC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E98AC-578D-45FB-BED9-7902F420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EE99F-0117-4778-A5E6-E87F21AC5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E37601-32B1-40CB-9322-8C42640E0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CC68D-9DCF-450F-8372-E1CE84BC7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08BF9-1D50-44AA-BDF3-3F00CA1C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15B1D1-5DE1-47DB-A0E0-D90E014977A8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79369-2A1F-42AD-9DA3-3F6F16DD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BAAF-DFBA-4EE2-9FD9-D66F6BCE8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EE99F-0117-4778-A5E6-E87F21AC5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654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AAB4D-54BB-4AE2-A1CD-CB5BC695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05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EE965-DBB1-4267-AC1D-F2F02BAE3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4480"/>
            <a:ext cx="10515600" cy="4780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428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jelveh.github.io/teaching/ccjs_418e_2026_fall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digitaleconomy.stanford.edu/project/indicators/canaries-dashboard/" TargetMode="Externa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hyperlink" Target="https://digitaleconomy.stanford.edu/project/indicators/canaries-dashboard/" TargetMode="External"/><Relationship Id="rId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gitaleconomy.stanford.edu/publication/canaries-in-the-coal-mine-six-facts-about-the-recent-employment-effects-of-artificial-intelligence/" TargetMode="Externa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965960"/>
            <a:ext cx="91440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00000"/>
                </a:solidFill>
                <a:latin typeface="Cambria"/>
              </a:rPr>
              <a:t>CCJS 418E: Coding for Criminology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61488"/>
            <a:ext cx="97383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0000"/>
                </a:solidFill>
                <a:latin typeface="Cambria"/>
              </a:rPr>
              <a:t>Questions, Comparisons, and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675887"/>
            <a:ext cx="9144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B4B4B"/>
                </a:solidFill>
                <a:latin typeface="Cambria"/>
              </a:rPr>
              <a:t>Using data to learn about crime and criminal justice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590288"/>
            <a:ext cx="9144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B4B4B"/>
                </a:solidFill>
                <a:latin typeface="Cambria"/>
              </a:rPr>
              <a:t>Lecture 1  ·  September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Why I Teach This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89888"/>
            <a:ext cx="6446520" cy="2331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Assistant Professor at the iSchool and CCJS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Ph.D. in Computer Science from NYU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Research: machine learning, criminal justice, and public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4160520"/>
            <a:ext cx="6766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Cambria"/>
              </a:rPr>
              <a:t>The hard part is rarely just writing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892040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Cambria"/>
              </a:rPr>
              <a:t>You can call me Professor Jelveh, Dr. Jelveh, or Zubin.</a:t>
            </a:r>
          </a:p>
        </p:txBody>
      </p:sp>
      <p:pic>
        <p:nvPicPr>
          <p:cNvPr id="6" name="Picture 5" descr="olddeck_s0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47088"/>
            <a:ext cx="283464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How This Course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234440"/>
            <a:ext cx="5074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435608"/>
            <a:ext cx="4617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ambria"/>
              </a:rPr>
              <a:t>MOST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920240"/>
            <a:ext cx="1280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920240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Cambria"/>
              </a:rPr>
              <a:t>virtual lecture /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59736"/>
            <a:ext cx="1536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Thursday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459736"/>
            <a:ext cx="2880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Cambria"/>
              </a:rPr>
              <a:t>in-person analysis workshop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34440"/>
            <a:ext cx="5074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8"/>
            <a:ext cx="4617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ambria"/>
              </a:rPr>
              <a:t>HOW YOU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38528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Cambria"/>
              </a:rPr>
              <a:t>Problem sets  ·  Code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Cambria"/>
              </a:rPr>
              <a:t>Readings  ·  Final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7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Cambria"/>
              </a:rPr>
              <a:t>This week is different: today is our first meeting, on Zoom.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26280"/>
            <a:ext cx="10332720" cy="80467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709160"/>
            <a:ext cx="98755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AI tools are allowed and expected. Understanding is still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806440"/>
            <a:ext cx="77266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563C1"/>
                </a:solidFill>
                <a:latin typeface="Cambria"/>
                <a:hlinkClick r:id="rId2"/>
              </a:rPr>
              <a:t>Syllabus: zjelveh.github.io/teaching/ccjs_418e_2026_fall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The Course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98448"/>
            <a:ext cx="103327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0000"/>
                </a:solidFill>
                <a:latin typeface="Cambria"/>
              </a:rPr>
              <a:t>Start with a question. Finish with an answer you can defend.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496312"/>
            <a:ext cx="1325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60904"/>
            <a:ext cx="12344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40279" y="2688336"/>
            <a:ext cx="411480" cy="25603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24912" y="2496312"/>
            <a:ext cx="1691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0632" y="2660904"/>
            <a:ext cx="16002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COMPARISON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62272" y="2688336"/>
            <a:ext cx="411480" cy="25603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46904" y="2496312"/>
            <a:ext cx="1097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92624" y="2660904"/>
            <a:ext cx="10058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STEPS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89904" y="2688336"/>
            <a:ext cx="411480" cy="25603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74536" y="2496312"/>
            <a:ext cx="1097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660904"/>
            <a:ext cx="10058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CODE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17536" y="2688336"/>
            <a:ext cx="411480" cy="25603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168" y="2496312"/>
            <a:ext cx="1097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660904"/>
            <a:ext cx="10058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RESULT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45168" y="2688336"/>
            <a:ext cx="411480" cy="25603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29800" y="2496312"/>
            <a:ext cx="1097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660904"/>
            <a:ext cx="10058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33087"/>
            <a:ext cx="9784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Cambria"/>
              </a:rPr>
              <a:t>An AI agent may help anywhere in this chain.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73168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mbria"/>
              </a:rPr>
              <a:t>You remain responsible for the 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What Do You Want to Know?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10104120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00000"/>
                </a:solidFill>
                <a:latin typeface="Cambria"/>
              </a:rPr>
              <a:t>If you could answer one question about crime or criminal justice with data, what would it be?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246120"/>
            <a:ext cx="8183879" cy="9601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3429000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mbria"/>
              </a:rPr>
              <a:t>Put one question in the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4315968"/>
            <a:ext cx="772667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4B4B4B"/>
                </a:solidFill>
                <a:latin typeface="Cambria"/>
              </a:rPr>
              <a:t>It does not need to be polished.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A Dataset Does Not Choose the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298448"/>
            <a:ext cx="5074920" cy="3054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691640"/>
            <a:ext cx="4617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mbria"/>
              </a:rPr>
              <a:t>“I found a dataset.”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487168"/>
            <a:ext cx="4617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00000"/>
                </a:solidFill>
                <a:latin typeface="Cambria"/>
              </a:rPr>
              <a:t>What can I do with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298448"/>
            <a:ext cx="5074920" cy="30540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691640"/>
            <a:ext cx="4617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“I want to know…”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2487168"/>
            <a:ext cx="4617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Cambria"/>
              </a:rPr>
              <a:t>What evidence would help?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983480"/>
            <a:ext cx="10241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Cambria"/>
              </a:rPr>
              <a:t>Exploration is useful. But eventually, the question has to lead.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One Topic, Different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8992" y="1161288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1344168"/>
            <a:ext cx="2514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WHAT HAPPENED?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67328" y="1325880"/>
            <a:ext cx="705916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Cambria"/>
              </a:rPr>
              <a:t>Did reported arrests fall after the policy changed?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2688336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2871216"/>
            <a:ext cx="2514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WHAT WOULD CHANGE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7328" y="2852928"/>
            <a:ext cx="705916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Cambria"/>
              </a:rPr>
              <a:t>Did the policy cause arrests to fall?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4215383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4398264"/>
            <a:ext cx="2514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WHAT SHOULD WE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4379975"/>
            <a:ext cx="705916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Cambria"/>
              </a:rPr>
              <a:t>Should the policy be retained or expanded?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04672"/>
            <a:ext cx="1017727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FFFFF"/>
                </a:solidFill>
                <a:latin typeface="Cambria"/>
              </a:rPr>
              <a:t>Three Questions for Every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856231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828800"/>
            <a:ext cx="724204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What do you want to know?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980944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953512"/>
            <a:ext cx="724204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Compared to what?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105656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078224"/>
            <a:ext cx="724204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What can you honestly say?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A Number Without a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280160"/>
            <a:ext cx="10104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00000"/>
                </a:solidFill>
                <a:latin typeface="Cambria"/>
              </a:rPr>
              <a:t>On Yankees home-game days in 2023, the Bronx averaged…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389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0C375F"/>
                </a:solidFill>
                <a:latin typeface="Cambria"/>
              </a:rPr>
              <a:t>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56432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Cambria"/>
              </a:rPr>
              <a:t>noise complaints per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28032"/>
            <a:ext cx="103327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Cambria"/>
              </a:rPr>
              <a:t>Is that a lot?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</a:rPr>
              <a:t>Source: NYC 311 noise sample and Yankees home-game schedule,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Our First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Cambria"/>
              </a:rPr>
              <a:t>Were there more Bronx noise complaints on Yankees home-game days?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Cambria"/>
              </a:rPr>
              <a:t>Game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39" y="2121408"/>
            <a:ext cx="59893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20439" y="2121408"/>
            <a:ext cx="5723128" cy="274320"/>
          </a:xfrm>
          <a:prstGeom prst="rect">
            <a:avLst/>
          </a:prstGeom>
          <a:solidFill>
            <a:srgbClr val="0C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7192" y="2075688"/>
            <a:ext cx="10058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mbria"/>
              </a:rPr>
              <a:t>430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62656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Cambria"/>
              </a:rPr>
              <a:t>All other 2023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2999232"/>
            <a:ext cx="59893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2999232"/>
            <a:ext cx="4112666" cy="274320"/>
          </a:xfrm>
          <a:prstGeom prst="rect">
            <a:avLst/>
          </a:prstGeom>
          <a:solidFill>
            <a:srgbClr val="C4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37192" y="2953512"/>
            <a:ext cx="10058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mbria"/>
              </a:rPr>
              <a:t>309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224528"/>
            <a:ext cx="9738360" cy="8412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4443984"/>
            <a:ext cx="9235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Cambria"/>
              </a:rPr>
              <a:t>I am comparing  ______  with  ______  in order to answer  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31536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4B4B4B"/>
                </a:solidFill>
                <a:latin typeface="Cambria"/>
              </a:rPr>
              <a:t>A first comparison—not yet the final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</a:rPr>
              <a:t>Daily averages: 83 home-game dates and 282 non-game 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Which Non-Game Days?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Cambria"/>
              </a:rPr>
              <a:t>What belongs in “all other days”?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3392" y="1755648"/>
            <a:ext cx="83667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1   Every non-game day in 2023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2   Only days during baseball season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3   The same days of the week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4   Dates close to a game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23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5   Similar days in another borough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5230368"/>
            <a:ext cx="9372600" cy="6126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5358384"/>
            <a:ext cx="89428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Which comparison would you trust most—and why?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The Answer Moves When the Comparison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32688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Game days average 430 complaints.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341985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64792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ALL 2023
NON-GAME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19" y="3097621"/>
            <a:ext cx="667512" cy="1017178"/>
          </a:xfrm>
          <a:prstGeom prst="rect">
            <a:avLst/>
          </a:prstGeom>
          <a:solidFill>
            <a:srgbClr val="C4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2699308"/>
            <a:ext cx="667512" cy="1415491"/>
          </a:xfrm>
          <a:prstGeom prst="rect">
            <a:avLst/>
          </a:prstGeom>
          <a:solidFill>
            <a:srgbClr val="0C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2731861"/>
            <a:ext cx="960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5456" y="2333548"/>
            <a:ext cx="960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430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187952"/>
            <a:ext cx="126187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4B4B"/>
                </a:solidFill>
                <a:latin typeface="Cambria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4187952"/>
            <a:ext cx="10515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4B4B"/>
                </a:solidFill>
                <a:latin typeface="Cambria"/>
              </a:rPr>
              <a:t>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4434840"/>
            <a:ext cx="2926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gap: +121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1536192"/>
            <a:ext cx="341985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764792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IN-SEASON
NON-GAME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0368" y="2801355"/>
            <a:ext cx="667512" cy="1313444"/>
          </a:xfrm>
          <a:prstGeom prst="rect">
            <a:avLst/>
          </a:prstGeom>
          <a:solidFill>
            <a:srgbClr val="C4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4808" y="2699308"/>
            <a:ext cx="667512" cy="1415491"/>
          </a:xfrm>
          <a:prstGeom prst="rect">
            <a:avLst/>
          </a:prstGeom>
          <a:solidFill>
            <a:srgbClr val="0C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435595"/>
            <a:ext cx="960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399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333548"/>
            <a:ext cx="960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430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4187952"/>
            <a:ext cx="126187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4B4B"/>
                </a:solidFill>
                <a:latin typeface="Cambria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4187952"/>
            <a:ext cx="10515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4B4B"/>
                </a:solidFill>
                <a:latin typeface="Cambria"/>
              </a:rPr>
              <a:t>game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4434840"/>
            <a:ext cx="2926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gap: +31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1536192"/>
            <a:ext cx="341985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1764792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SAME WEEKDAY MIX
DURING THE SEASON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3416" y="2735519"/>
            <a:ext cx="667512" cy="1379280"/>
          </a:xfrm>
          <a:prstGeom prst="rect">
            <a:avLst/>
          </a:prstGeom>
          <a:solidFill>
            <a:srgbClr val="C4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77856" y="2699308"/>
            <a:ext cx="667512" cy="1415491"/>
          </a:xfrm>
          <a:prstGeom prst="rect">
            <a:avLst/>
          </a:prstGeom>
          <a:solidFill>
            <a:srgbClr val="0C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2369759"/>
            <a:ext cx="960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419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2333548"/>
            <a:ext cx="960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430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187952"/>
            <a:ext cx="126187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4B4B"/>
                </a:solidFill>
                <a:latin typeface="Cambria"/>
              </a:rPr>
              <a:t>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4187952"/>
            <a:ext cx="10515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4B4B"/>
                </a:solidFill>
                <a:latin typeface="Cambria"/>
              </a:rPr>
              <a:t>game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434840"/>
            <a:ext cx="2926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gap: +11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The game-day data stayed fixed. The benchmark changed.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4B4B4B"/>
                </a:solidFill>
                <a:latin typeface="Cambria"/>
              </a:rPr>
              <a:t>The comparison is part of the analysis—not a technical choice made afterward.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</a:rPr>
              <a:t>“Same weekday mix” reweights in-season non-game days to match the weekdays on which games occurred.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Two Jobs a Comparison Can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" y="1307592"/>
            <a:ext cx="5010912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1609344"/>
            <a:ext cx="45537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ambria"/>
              </a:rPr>
              <a:t>GIVE A NUMBER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2340864"/>
            <a:ext cx="455371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Cambria"/>
              </a:rPr>
              <a:t>“Higher than other days”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4023360"/>
            <a:ext cx="455371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Cambria"/>
              </a:rPr>
              <a:t>We can observe other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307592"/>
            <a:ext cx="5010912" cy="418795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609344"/>
            <a:ext cx="45537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ambria"/>
              </a:rPr>
              <a:t>STAND IN FOR AN UNSEEN ALTERNATIVE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194560"/>
            <a:ext cx="4242816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Cambria"/>
              </a:rPr>
              <a:t>“What would this day have looked like without a game?”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4023360"/>
            <a:ext cx="455371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Cambria"/>
              </a:rPr>
              <a:t>We cannot observe the same day twice.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The Causal Benchmark: Chance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78408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00000"/>
                </a:solidFill>
                <a:latin typeface="Cambria"/>
              </a:rPr>
              <a:t>Suppose officers were assigned by chance to…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856231"/>
            <a:ext cx="3886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85416"/>
            <a:ext cx="3429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WEAR A BODY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2148840"/>
            <a:ext cx="1920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Cambria"/>
              </a:rPr>
              <a:t>CHANCE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51192" y="1856231"/>
            <a:ext cx="3886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2185416"/>
            <a:ext cx="3429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NO BODY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0000"/>
                </a:solidFill>
                <a:latin typeface="Cambria"/>
              </a:rPr>
              <a:t>What does chance buy us?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4645152"/>
            <a:ext cx="9189720" cy="80467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4855464"/>
            <a:ext cx="8732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Groups that should be comparable before the program begins.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A Roadmap of Comparison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32688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Cambria"/>
              </a:rPr>
              <a:t>When chance cannot decide, analysts compare…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72768"/>
            <a:ext cx="47548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572768"/>
            <a:ext cx="68580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Cambria"/>
              </a:rPr>
              <a:t>different people or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609344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4B4B4B"/>
                </a:solidFill>
                <a:latin typeface="Cambria"/>
              </a:rPr>
              <a:t>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47548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31720"/>
            <a:ext cx="68580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Cambria"/>
              </a:rPr>
              <a:t>the same place at another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68296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4B4B4B"/>
                </a:solidFill>
                <a:latin typeface="Cambria"/>
              </a:rPr>
              <a:t>interrupted time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90672"/>
            <a:ext cx="47548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090672"/>
            <a:ext cx="68580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Cambria"/>
              </a:rPr>
              <a:t>people or places and time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127248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4B4B4B"/>
                </a:solidFill>
                <a:latin typeface="Cambria"/>
              </a:rPr>
              <a:t>difference-in-differences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49624"/>
            <a:ext cx="47548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49624"/>
            <a:ext cx="68580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Cambria"/>
              </a:rPr>
              <a:t>cases just above and below a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886200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4B4B4B"/>
                </a:solidFill>
                <a:latin typeface="Cambria"/>
              </a:rPr>
              <a:t>regression discontinuity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08576"/>
            <a:ext cx="47548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608576"/>
            <a:ext cx="68580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Cambria"/>
              </a:rPr>
              <a:t>exposure shifted by an outside assignment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645152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4B4B4B"/>
                </a:solidFill>
                <a:latin typeface="Cambria"/>
              </a:rPr>
              <a:t>instrumental variables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5513832"/>
            <a:ext cx="9829800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641848"/>
            <a:ext cx="9372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Cambria"/>
              </a:rPr>
              <a:t>What would have to be true for each comparison to be fair?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What Do You See?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841248"/>
            <a:ext cx="7543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Employment in the most AI-exposed occupations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261872"/>
          <a:ext cx="78181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42832" y="1444752"/>
            <a:ext cx="2377440" cy="10515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25712" y="1682496"/>
            <a:ext cx="20116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Cambria"/>
              </a:rPr>
              <a:t>100 = each group
in November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3026664"/>
            <a:ext cx="228600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Write one sentence
in the chat.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4069080"/>
            <a:ext cx="22860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4B4B4B"/>
                </a:solidFill>
                <a:latin typeface="Cambria"/>
              </a:rPr>
              <a:t>Describe the lines.
Do not explain them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  <a:hlinkClick r:id="rId3"/>
              </a:rPr>
              <a:t>Source: Stanford Digital Economy Lab Canaries Dashboard, vintage August 12,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Now Add the Full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832104"/>
            <a:ext cx="1037844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B4B4B"/>
                </a:solidFill>
                <a:latin typeface="Cambria"/>
              </a:rPr>
              <a:t>Six age groups  ·  five exposure levels in each group  ·  red = most exposed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61872"/>
            <a:ext cx="4892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mbria"/>
              </a:rPr>
              <a:t>Early Career 1 (22–25)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444752"/>
          <a:ext cx="4892040" cy="11704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28232" y="1261872"/>
            <a:ext cx="4892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mbria"/>
              </a:rPr>
              <a:t>Early Career 2 (26–30)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28232" y="1444752"/>
          <a:ext cx="4892040" cy="11704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2697480"/>
            <a:ext cx="4892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mbria"/>
              </a:rPr>
              <a:t>Developing (31–34)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68680" y="2880360"/>
          <a:ext cx="4892040" cy="117043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28232" y="2697480"/>
            <a:ext cx="4892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mbria"/>
              </a:rPr>
              <a:t>Mid-Career 1 (35–40)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28232" y="2880360"/>
          <a:ext cx="4892040" cy="11704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8680" y="4133088"/>
            <a:ext cx="4892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mbria"/>
              </a:rPr>
              <a:t>Mid-Career 2 (41–49)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868680" y="4315968"/>
          <a:ext cx="4892040" cy="117043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28232" y="4133088"/>
            <a:ext cx="4892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mbria"/>
              </a:rPr>
              <a:t>Senior (50+)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428232" y="4315968"/>
          <a:ext cx="4892040" cy="117043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mbria"/>
              </a:rPr>
              <a:t>What becomes clearer? What becomes harder to see?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  <a:hlinkClick r:id="rId8"/>
              </a:rPr>
              <a:t>Source: Stanford Digital Economy Lab Canaries Dashboard, vintage August 12,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Name the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42415"/>
            <a:ext cx="4709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Cambria"/>
              </a:rPr>
              <a:t>The figure compares…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4892040" cy="2450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  <a:defRPr sz="22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younger with more experienced workers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22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more with less AI-exposed occupations</a:t>
            </a:r>
          </a:p>
          <a:p>
            <a:pPr>
              <a:lnSpc>
                <a:spcPct val="100000"/>
              </a:lnSpc>
              <a:spcAft>
                <a:spcPts val="1200"/>
              </a:spcAft>
              <a:defRPr sz="22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the period before with the period after widespread generative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4370832"/>
            <a:ext cx="4983480" cy="9601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4572000"/>
            <a:ext cx="455371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What else differs between these groups or periods?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98448"/>
            <a:ext cx="4315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463039"/>
            <a:ext cx="1325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WHO?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1426464"/>
            <a:ext cx="248716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age /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724912"/>
            <a:ext cx="4315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889504"/>
            <a:ext cx="1325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WHICH JOBS?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852928"/>
            <a:ext cx="248716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AI exposure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151376"/>
            <a:ext cx="4315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315968"/>
            <a:ext cx="1325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WHEN?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279392"/>
            <a:ext cx="248716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before /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</a:rPr>
              <a:t>Possible alternatives include pre-existing trends, education, occupation mix, and sample composition.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Match the Claim to the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" y="1234440"/>
            <a:ext cx="1038758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1536192"/>
            <a:ext cx="206654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THE DATA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10128" y="1481328"/>
            <a:ext cx="754380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Cambria"/>
              </a:rPr>
              <a:t>Employment patterns diverged across these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2999232"/>
            <a:ext cx="10387584" cy="14813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73552"/>
            <a:ext cx="3337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Cambria"/>
              </a:rPr>
              <a:t>THE DATA DO NOT ESTABLISH BY THEMSELVES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3218688"/>
            <a:ext cx="621792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Cambria"/>
              </a:rPr>
              <a:t>Generative AI caused the entire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93208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mbria"/>
              </a:rPr>
              <a:t>The authors call the results “early, descriptive indicators.”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  <a:hlinkClick r:id="rId2"/>
              </a:rPr>
              <a:t>Brynjolfsson, Chandar, and Chen (2026), revised paper, abstract and introduction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66928"/>
            <a:ext cx="1039672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FFFFF"/>
                </a:solidFill>
                <a:latin typeface="Cambria"/>
              </a:rPr>
              <a:t>Computational Thinking Is the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" y="1993392"/>
            <a:ext cx="1115568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4" y="2176272"/>
            <a:ext cx="1042415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490472" y="2267712"/>
            <a:ext cx="219456" cy="2286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3936" y="1993392"/>
            <a:ext cx="1417320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2176272"/>
            <a:ext cx="134416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COMPARISON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27832" y="2267712"/>
            <a:ext cx="219456" cy="2286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11296" y="1993392"/>
            <a:ext cx="1005840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176272"/>
            <a:ext cx="93268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DEFINE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53712" y="2267712"/>
            <a:ext cx="219456" cy="2286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37176" y="1993392"/>
            <a:ext cx="1408176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2176272"/>
            <a:ext cx="13350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BREAK DOWN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81928" y="2267712"/>
            <a:ext cx="219456" cy="2286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65392" y="1993392"/>
            <a:ext cx="932688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176272"/>
            <a:ext cx="85953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ORDER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534655" y="2267712"/>
            <a:ext cx="219456" cy="2286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8119" y="1993392"/>
            <a:ext cx="1508760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5" y="2176272"/>
            <a:ext cx="1435607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mbria"/>
              </a:rPr>
              <a:t>CODE / AGENT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63455" y="2267712"/>
            <a:ext cx="219456" cy="2286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6919" y="1993392"/>
            <a:ext cx="941832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495" y="2176272"/>
            <a:ext cx="86868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CHECK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625327" y="2267712"/>
            <a:ext cx="219456" cy="2286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08791" y="1993392"/>
            <a:ext cx="941832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45367" y="2176272"/>
            <a:ext cx="86868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9476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Research design chooses the comparison.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90288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Computational thinking makes it executable.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The Four Pillars, Doing Real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170432"/>
            <a:ext cx="523036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335024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801368"/>
            <a:ext cx="48646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What smaller tasks produce the comparison?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B4B4B"/>
                </a:solidFill>
                <a:latin typeface="Cambria"/>
              </a:rPr>
              <a:t>load · identify dates · count · divide · compare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9672" y="1170432"/>
            <a:ext cx="523036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335024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ABSTRACTION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1801368"/>
            <a:ext cx="48646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What exactly counts?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2350008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B4B4B"/>
                </a:solidFill>
                <a:latin typeface="Cambria"/>
              </a:rPr>
              <a:t>game day · complaint · Bronx · comparable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346704"/>
            <a:ext cx="523036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511296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PATTERN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977639"/>
            <a:ext cx="48646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What problem shape can we reuse?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526280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B4B4B"/>
                </a:solidFill>
                <a:latin typeface="Cambria"/>
              </a:rPr>
              <a:t>two groups · one outcome · repeated contrast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3346704"/>
            <a:ext cx="523036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511296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Cambria"/>
              </a:rPr>
              <a:t>ALGORITHM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3977639"/>
            <a:ext cx="48646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In what order should the steps run?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4526280"/>
            <a:ext cx="48646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B4B4B"/>
                </a:solidFill>
                <a:latin typeface="Cambria"/>
              </a:rPr>
              <a:t>an executable sequence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577840"/>
            <a:ext cx="9893808" cy="56692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678424"/>
            <a:ext cx="94366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None of the four chooses a fair comparison for 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One Plan, Two Ways to Execute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" y="1207008"/>
            <a:ext cx="3108960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527048"/>
            <a:ext cx="26700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YOU WRITE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542032"/>
            <a:ext cx="267004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C375F"/>
                </a:solidFill>
                <a:latin typeface="Cambria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07008"/>
            <a:ext cx="3410712" cy="4169663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527048"/>
            <a:ext cx="29535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Cambria"/>
              </a:rPr>
              <a:t>THE SHARED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0872" y="2148840"/>
            <a:ext cx="2788920" cy="22677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21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exact definitions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21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ordered steps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21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expected output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2100">
                <a:solidFill>
                  <a:srgbClr val="000000"/>
                </a:solidFill>
                <a:latin typeface="Cambria"/>
              </a:defRPr>
            </a:pPr>
            <a:r>
              <a:rPr>
                <a:latin typeface="Cambria"/>
              </a:rPr>
              <a:t>• 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207008"/>
            <a:ext cx="3108960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44752"/>
            <a:ext cx="26517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mbria"/>
              </a:rPr>
              <a:t>YOU GIVE AN AGENT
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42032"/>
            <a:ext cx="26517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C49A3D"/>
                </a:solidFill>
                <a:latin typeface="Cambria"/>
              </a:rP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87568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Cambria"/>
              </a:rPr>
              <a:t>Both can implement the wrong comparison correctly.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“It Ran” Is Not the Same as “It Is Right”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00000"/>
                </a:solidFill>
                <a:latin typeface="Cambria"/>
              </a:rPr>
              <a:t>Before you trust an analysis, ask: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719072"/>
            <a:ext cx="640080" cy="6400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5486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" y="1792224"/>
            <a:ext cx="885139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Did it implement the comparison I stated?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816352"/>
            <a:ext cx="640080" cy="6400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5486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2889504"/>
            <a:ext cx="885139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Can I predict what should change if I make one small change?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913631"/>
            <a:ext cx="640080" cy="64008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39"/>
            <a:ext cx="54864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3986783"/>
            <a:ext cx="885139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Is my claim no stronger than my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0000"/>
                </a:solidFill>
                <a:latin typeface="Cambria"/>
              </a:rPr>
              <a:t>This is what code review is for.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What We Will Build This 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286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ambria"/>
              </a:rPr>
              <a:t>A SHARED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0672" y="1051560"/>
            <a:ext cx="78638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Do Yankees home games coincide with more NYC 311 noise complaints?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40"/>
            <a:ext cx="9921240" cy="18288"/>
          </a:xfrm>
          <a:prstGeom prst="rect">
            <a:avLst/>
          </a:prstGeom>
          <a:solidFill>
            <a:srgbClr val="0C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267712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375F"/>
                </a:solidFill>
                <a:latin typeface="Cambria"/>
              </a:rPr>
              <a:t>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214884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1" y="2267712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375F"/>
                </a:solidFill>
                <a:latin typeface="Cambria"/>
              </a:rPr>
              <a:t>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14884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75703" y="2267712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375F"/>
                </a:solidFill>
                <a:latin typeface="Cambria"/>
              </a:rPr>
              <a:t>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14884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4624" y="2267712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375F"/>
                </a:solidFill>
                <a:latin typeface="Cambria"/>
              </a:rPr>
              <a:t>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2286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Cambria"/>
              </a:rPr>
              <a:t>YOUR OWN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291840"/>
            <a:ext cx="78638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Revised as your tools and judgment improve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187952"/>
            <a:ext cx="9921240" cy="18287"/>
          </a:xfrm>
          <a:prstGeom prst="rect">
            <a:avLst/>
          </a:prstGeom>
          <a:solidFill>
            <a:srgbClr val="C4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416552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535424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B4B4B"/>
                </a:solidFill>
                <a:latin typeface="Cambria"/>
              </a:rPr>
              <a:t>question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75887" y="4416552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1" y="4535424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B4B4B"/>
                </a:solidFill>
                <a:latin typeface="Cambria"/>
              </a:rPr>
              <a:t>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416552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3" y="4535424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B4B4B"/>
                </a:solidFill>
                <a:latin typeface="Cambria"/>
              </a:rPr>
              <a:t>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16552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64624" y="4535424"/>
            <a:ext cx="14630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B4B4B"/>
                </a:solidFill>
                <a:latin typeface="Cambria"/>
              </a:rPr>
              <a:t>claim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5971032"/>
            <a:ext cx="105156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6062472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Cambria"/>
              </a:rPr>
              <a:t>What do you want to know?   ·   Compared to what?   ·   What can you honestly say?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"/>
            <a:ext cx="105613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Cambria"/>
              </a:rPr>
              <a:t>Exit Ticket: Make a First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1097280"/>
            <a:ext cx="658368" cy="6583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70432"/>
            <a:ext cx="56692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133856"/>
            <a:ext cx="90068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One crime or criminal-justice question you care about.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76272"/>
            <a:ext cx="658368" cy="6583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9424"/>
            <a:ext cx="56692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212848"/>
            <a:ext cx="90068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“I would compare  ______  with  ______.”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55263"/>
            <a:ext cx="658368" cy="6583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28415"/>
            <a:ext cx="56692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91839"/>
            <a:ext cx="90068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mbria"/>
              </a:rPr>
              <a:t>One reason that comparison might mislead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462272"/>
            <a:ext cx="10259568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617720"/>
            <a:ext cx="983894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Cambria"/>
              </a:rPr>
              <a:t>We will open Tuesday with three anonymous examples.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13248"/>
            <a:ext cx="1025956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Cambria"/>
              </a:rPr>
              <a:t>For Tuesday 9/8: read the Canaries summary. Come ready to identify the question, comparison, pattern, and strongest warranted claim.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419088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4B4B"/>
                </a:solidFill>
                <a:latin typeface="Cambria"/>
              </a:rPr>
              <a:t>The exit-ticket link will be posted in the Zoom chat.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AF4B63-BF65-43F5-82A4-4C05ED437DA6}">
  <we:reference id="wa200007130" version="1.0.0.1" store="en-US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8169</TotalTime>
  <Words>912</Words>
  <Application>Microsoft Office PowerPoint</Application>
  <PresentationFormat>Widescreen</PresentationFormat>
  <Paragraphs>155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Cambria</vt:lpstr>
      <vt:lpstr>Cambria</vt:lpstr>
      <vt:lpstr>Office Theme</vt:lpstr>
      <vt:lpstr>CCJS 418E: Coding for Criminology   Lecture 1 Introduction</vt:lpstr>
      <vt:lpstr>About Me</vt:lpstr>
      <vt:lpstr>This Course</vt:lpstr>
      <vt:lpstr>Why Learn to Code in 2025?</vt:lpstr>
      <vt:lpstr>AI in the workplace</vt:lpstr>
      <vt:lpstr>A Recent Paper</vt:lpstr>
      <vt:lpstr>Study</vt:lpstr>
      <vt:lpstr>Overall</vt:lpstr>
      <vt:lpstr>Occupations in Trouble</vt:lpstr>
      <vt:lpstr>PowerPoint Presentation</vt:lpstr>
      <vt:lpstr>What This Means For You </vt:lpstr>
      <vt:lpstr>Philosophy of This Course</vt:lpstr>
      <vt:lpstr>Course Overview</vt:lpstr>
      <vt:lpstr> Getting Started - Practical Setup</vt:lpstr>
      <vt:lpstr>Usage Limits on TerpAI</vt:lpstr>
      <vt:lpstr>Computational Thinking</vt:lpstr>
      <vt:lpstr>Data + Code in Criminal Justice System</vt:lpstr>
      <vt:lpstr>Four Pillars</vt:lpstr>
      <vt:lpstr>Example</vt:lpstr>
      <vt:lpstr>Decomposition</vt:lpstr>
      <vt:lpstr>Big question -&gt; Smaller questions</vt:lpstr>
      <vt:lpstr>Pattern Recognition</vt:lpstr>
      <vt:lpstr>Abstraction</vt:lpstr>
      <vt:lpstr>Solution/Algorithm</vt:lpstr>
      <vt:lpstr>This is Programming</vt:lpstr>
      <vt:lpstr>This Is Also Prompt Engineering</vt:lpstr>
      <vt:lpstr>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CCJS 418E Lecture 1: Questions, Comparisons, and Code</dc:title>
  <dc:creator>Zubin Jelveh</dc:creator>
  <cp:lastModifiedBy>Zubin Jelveh</cp:lastModifiedBy>
  <cp:revision>122</cp:revision>
  <cp:lastPrinted>2025-09-04T18:50:49Z</cp:lastPrinted>
  <dcterms:created xsi:type="dcterms:W3CDTF">2021-01-25T02:56:49Z</dcterms:created>
  <dcterms:modified xsi:type="dcterms:W3CDTF">2025-09-04T18:57:10Z</dcterms:modified>
  <dc:subject>Fall 2026 Lecture 1</dc:subject>
  <dc:description>Fall 2026 redesign based on the Fall 2025 Lecture 1 template.</dc:description>
</cp:coreProperties>
</file>