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6"/>
    <p:sldId id="279" r:id="rId5"/>
  </p:sldIdLst>
  <p:sldSz cx="12191999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3608" autoAdjust="0"/>
  </p:normalViewPr>
  <p:slideViewPr>
    <p:cSldViewPr snapToGrid="0">
      <p:cViewPr varScale="1">
        <p:scale>
          <a:sx n="46" d="100"/>
          <a:sy n="46" d="100"/>
        </p:scale>
        <p:origin x="5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24.xml"/><Relationship Id="rId6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Early career (22–25)</c:v>
                </c:pt>
              </c:strCache>
            </c:strRef>
          </c:tx>
          <c:spPr>
            <a:ln w="381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Mid-career (35–40)</c:v>
                </c:pt>
              </c:strCache>
            </c:strRef>
          </c:tx>
          <c:spPr>
            <a:ln w="38100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Cambr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85.61999999999999</c:v>
                </c:pt>
                <c:pt idx="1">
                  <c:v>88.24</c:v>
                </c:pt>
                <c:pt idx="2">
                  <c:v>90.82</c:v>
                </c:pt>
                <c:pt idx="3">
                  <c:v>94.64</c:v>
                </c:pt>
                <c:pt idx="4">
                  <c:v>97.68</c:v>
                </c:pt>
                <c:pt idx="5">
                  <c:v>100.0</c:v>
                </c:pt>
                <c:pt idx="6">
                  <c:v>102.8</c:v>
                </c:pt>
                <c:pt idx="7">
                  <c:v>104.1</c:v>
                </c:pt>
                <c:pt idx="8">
                  <c:v>104.8</c:v>
                </c:pt>
                <c:pt idx="9">
                  <c:v>108.3</c:v>
                </c:pt>
                <c:pt idx="10">
                  <c:v>107.8</c:v>
                </c:pt>
                <c:pt idx="11">
                  <c:v>110.2</c:v>
                </c:pt>
                <c:pt idx="12">
                  <c:v>109.6</c:v>
                </c:pt>
                <c:pt idx="13">
                  <c:v>111.6</c:v>
                </c:pt>
                <c:pt idx="14">
                  <c:v>110.7</c:v>
                </c:pt>
                <c:pt idx="15">
                  <c:v>110.1</c:v>
                </c:pt>
                <c:pt idx="16">
                  <c:v>110.1</c:v>
                </c:pt>
                <c:pt idx="17">
                  <c:v>109.5</c:v>
                </c:pt>
                <c:pt idx="18">
                  <c:v>109.1</c:v>
                </c:pt>
                <c:pt idx="19">
                  <c:v>108.8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83.2</c:v>
                </c:pt>
                <c:pt idx="1">
                  <c:v>88.06</c:v>
                </c:pt>
                <c:pt idx="2">
                  <c:v>90.15</c:v>
                </c:pt>
                <c:pt idx="3">
                  <c:v>93.14</c:v>
                </c:pt>
                <c:pt idx="4">
                  <c:v>96.35</c:v>
                </c:pt>
                <c:pt idx="5">
                  <c:v>100.0</c:v>
                </c:pt>
                <c:pt idx="6">
                  <c:v>102.9</c:v>
                </c:pt>
                <c:pt idx="7">
                  <c:v>104.5</c:v>
                </c:pt>
                <c:pt idx="8">
                  <c:v>104.9</c:v>
                </c:pt>
                <c:pt idx="9">
                  <c:v>107.3</c:v>
                </c:pt>
                <c:pt idx="10">
                  <c:v>107.8</c:v>
                </c:pt>
                <c:pt idx="11">
                  <c:v>110.2</c:v>
                </c:pt>
                <c:pt idx="12">
                  <c:v>110.5</c:v>
                </c:pt>
                <c:pt idx="13">
                  <c:v>112.7</c:v>
                </c:pt>
                <c:pt idx="14">
                  <c:v>112.3</c:v>
                </c:pt>
                <c:pt idx="15">
                  <c:v>114.0</c:v>
                </c:pt>
                <c:pt idx="16">
                  <c:v>113.9</c:v>
                </c:pt>
                <c:pt idx="17">
                  <c:v>114.7</c:v>
                </c:pt>
                <c:pt idx="18">
                  <c:v>113.4</c:v>
                </c:pt>
                <c:pt idx="19">
                  <c:v>113.4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83.71</c:v>
                </c:pt>
                <c:pt idx="1">
                  <c:v>92.72</c:v>
                </c:pt>
                <c:pt idx="2">
                  <c:v>91.27</c:v>
                </c:pt>
                <c:pt idx="3">
                  <c:v>89.25999999999999</c:v>
                </c:pt>
                <c:pt idx="4">
                  <c:v>92.62</c:v>
                </c:pt>
                <c:pt idx="5">
                  <c:v>100.0</c:v>
                </c:pt>
                <c:pt idx="6">
                  <c:v>100.5</c:v>
                </c:pt>
                <c:pt idx="7">
                  <c:v>99.85</c:v>
                </c:pt>
                <c:pt idx="8">
                  <c:v>102.1</c:v>
                </c:pt>
                <c:pt idx="9">
                  <c:v>109.4</c:v>
                </c:pt>
                <c:pt idx="10">
                  <c:v>107.1</c:v>
                </c:pt>
                <c:pt idx="11">
                  <c:v>106.5</c:v>
                </c:pt>
                <c:pt idx="12">
                  <c:v>107.4</c:v>
                </c:pt>
                <c:pt idx="13">
                  <c:v>112.20000000000002</c:v>
                </c:pt>
                <c:pt idx="14">
                  <c:v>108.3</c:v>
                </c:pt>
                <c:pt idx="15">
                  <c:v>105.5</c:v>
                </c:pt>
                <c:pt idx="16">
                  <c:v>106.1</c:v>
                </c:pt>
                <c:pt idx="17">
                  <c:v>110.0</c:v>
                </c:pt>
                <c:pt idx="18">
                  <c:v>107.2</c:v>
                </c:pt>
                <c:pt idx="19">
                  <c:v>106.6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83.34</c:v>
                </c:pt>
                <c:pt idx="1">
                  <c:v>88.3</c:v>
                </c:pt>
                <c:pt idx="2">
                  <c:v>91.08</c:v>
                </c:pt>
                <c:pt idx="3">
                  <c:v>92.76</c:v>
                </c:pt>
                <c:pt idx="4">
                  <c:v>96.83</c:v>
                </c:pt>
                <c:pt idx="5">
                  <c:v>100.0</c:v>
                </c:pt>
                <c:pt idx="6">
                  <c:v>100.9</c:v>
                </c:pt>
                <c:pt idx="7">
                  <c:v>99.8</c:v>
                </c:pt>
                <c:pt idx="8">
                  <c:v>99.89</c:v>
                </c:pt>
                <c:pt idx="9">
                  <c:v>101.29999999999998</c:v>
                </c:pt>
                <c:pt idx="10">
                  <c:v>99.85</c:v>
                </c:pt>
                <c:pt idx="11">
                  <c:v>98.63</c:v>
                </c:pt>
                <c:pt idx="12">
                  <c:v>98.73</c:v>
                </c:pt>
                <c:pt idx="13">
                  <c:v>98.73</c:v>
                </c:pt>
                <c:pt idx="14">
                  <c:v>97.3</c:v>
                </c:pt>
                <c:pt idx="15">
                  <c:v>95.68</c:v>
                </c:pt>
                <c:pt idx="16">
                  <c:v>95.83</c:v>
                </c:pt>
                <c:pt idx="17">
                  <c:v>96.14</c:v>
                </c:pt>
                <c:pt idx="18">
                  <c:v>94.45</c:v>
                </c:pt>
                <c:pt idx="19">
                  <c:v>91.91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90.26</c:v>
                </c:pt>
                <c:pt idx="1">
                  <c:v>92.64</c:v>
                </c:pt>
                <c:pt idx="2">
                  <c:v>94.5</c:v>
                </c:pt>
                <c:pt idx="3">
                  <c:v>97.51</c:v>
                </c:pt>
                <c:pt idx="4">
                  <c:v>98.75</c:v>
                </c:pt>
                <c:pt idx="5">
                  <c:v>100.0</c:v>
                </c:pt>
                <c:pt idx="6">
                  <c:v>101.7</c:v>
                </c:pt>
                <c:pt idx="7">
                  <c:v>102.9</c:v>
                </c:pt>
                <c:pt idx="8">
                  <c:v>102.8</c:v>
                </c:pt>
                <c:pt idx="9">
                  <c:v>103.6</c:v>
                </c:pt>
                <c:pt idx="10">
                  <c:v>103.4</c:v>
                </c:pt>
                <c:pt idx="11">
                  <c:v>104.9</c:v>
                </c:pt>
                <c:pt idx="12">
                  <c:v>105.1</c:v>
                </c:pt>
                <c:pt idx="13">
                  <c:v>106.6</c:v>
                </c:pt>
                <c:pt idx="14">
                  <c:v>105.5</c:v>
                </c:pt>
                <c:pt idx="15">
                  <c:v>105.3</c:v>
                </c:pt>
                <c:pt idx="16">
                  <c:v>104.7</c:v>
                </c:pt>
                <c:pt idx="17">
                  <c:v>105.3</c:v>
                </c:pt>
                <c:pt idx="18">
                  <c:v>105.3</c:v>
                </c:pt>
                <c:pt idx="19">
                  <c:v>105.7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88.02</c:v>
                </c:pt>
                <c:pt idx="1">
                  <c:v>91.87</c:v>
                </c:pt>
                <c:pt idx="2">
                  <c:v>93.46</c:v>
                </c:pt>
                <c:pt idx="3">
                  <c:v>95.55</c:v>
                </c:pt>
                <c:pt idx="4">
                  <c:v>96.97</c:v>
                </c:pt>
                <c:pt idx="5">
                  <c:v>100.0</c:v>
                </c:pt>
                <c:pt idx="6">
                  <c:v>101.9</c:v>
                </c:pt>
                <c:pt idx="7">
                  <c:v>103.1</c:v>
                </c:pt>
                <c:pt idx="8">
                  <c:v>103.0</c:v>
                </c:pt>
                <c:pt idx="9">
                  <c:v>105.3</c:v>
                </c:pt>
                <c:pt idx="10">
                  <c:v>105.2</c:v>
                </c:pt>
                <c:pt idx="11">
                  <c:v>107.2</c:v>
                </c:pt>
                <c:pt idx="12">
                  <c:v>107.8</c:v>
                </c:pt>
                <c:pt idx="13">
                  <c:v>108.9</c:v>
                </c:pt>
                <c:pt idx="14">
                  <c:v>109.1</c:v>
                </c:pt>
                <c:pt idx="15">
                  <c:v>110.3</c:v>
                </c:pt>
                <c:pt idx="16">
                  <c:v>109.7</c:v>
                </c:pt>
                <c:pt idx="17">
                  <c:v>110.5</c:v>
                </c:pt>
                <c:pt idx="18">
                  <c:v>109.6</c:v>
                </c:pt>
                <c:pt idx="19">
                  <c:v>109.7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87.72999999999999</c:v>
                </c:pt>
                <c:pt idx="1">
                  <c:v>93.78</c:v>
                </c:pt>
                <c:pt idx="2">
                  <c:v>94.94</c:v>
                </c:pt>
                <c:pt idx="3">
                  <c:v>93.85</c:v>
                </c:pt>
                <c:pt idx="4">
                  <c:v>95.64</c:v>
                </c:pt>
                <c:pt idx="5">
                  <c:v>100.0</c:v>
                </c:pt>
                <c:pt idx="6">
                  <c:v>100.8</c:v>
                </c:pt>
                <c:pt idx="7">
                  <c:v>100.7</c:v>
                </c:pt>
                <c:pt idx="8">
                  <c:v>100.6</c:v>
                </c:pt>
                <c:pt idx="9">
                  <c:v>105.1</c:v>
                </c:pt>
                <c:pt idx="10">
                  <c:v>104.8</c:v>
                </c:pt>
                <c:pt idx="11">
                  <c:v>105.2</c:v>
                </c:pt>
                <c:pt idx="12">
                  <c:v>105.6</c:v>
                </c:pt>
                <c:pt idx="13">
                  <c:v>109.9</c:v>
                </c:pt>
                <c:pt idx="14">
                  <c:v>108.0</c:v>
                </c:pt>
                <c:pt idx="15">
                  <c:v>107.2</c:v>
                </c:pt>
                <c:pt idx="16">
                  <c:v>107.6</c:v>
                </c:pt>
                <c:pt idx="17">
                  <c:v>111.4</c:v>
                </c:pt>
                <c:pt idx="18">
                  <c:v>110.0</c:v>
                </c:pt>
                <c:pt idx="19">
                  <c:v>110.0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89.39</c:v>
                </c:pt>
                <c:pt idx="1">
                  <c:v>92.37</c:v>
                </c:pt>
                <c:pt idx="2">
                  <c:v>94.2</c:v>
                </c:pt>
                <c:pt idx="3">
                  <c:v>95.99</c:v>
                </c:pt>
                <c:pt idx="4">
                  <c:v>97.47</c:v>
                </c:pt>
                <c:pt idx="5">
                  <c:v>100.0</c:v>
                </c:pt>
                <c:pt idx="6">
                  <c:v>100.5</c:v>
                </c:pt>
                <c:pt idx="7">
                  <c:v>100.29999999999998</c:v>
                </c:pt>
                <c:pt idx="8">
                  <c:v>99.67</c:v>
                </c:pt>
                <c:pt idx="9">
                  <c:v>100.7</c:v>
                </c:pt>
                <c:pt idx="10">
                  <c:v>100.6</c:v>
                </c:pt>
                <c:pt idx="11">
                  <c:v>100.7</c:v>
                </c:pt>
                <c:pt idx="12">
                  <c:v>100.29999999999998</c:v>
                </c:pt>
                <c:pt idx="13">
                  <c:v>100.9</c:v>
                </c:pt>
                <c:pt idx="14">
                  <c:v>100.4</c:v>
                </c:pt>
                <c:pt idx="15">
                  <c:v>99.6</c:v>
                </c:pt>
                <c:pt idx="16">
                  <c:v>99.0</c:v>
                </c:pt>
                <c:pt idx="17">
                  <c:v>99.08</c:v>
                </c:pt>
                <c:pt idx="18">
                  <c:v>98.24</c:v>
                </c:pt>
                <c:pt idx="19">
                  <c:v>97.28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89.60000000000001</c:v>
                </c:pt>
                <c:pt idx="1">
                  <c:v>92.51</c:v>
                </c:pt>
                <c:pt idx="2">
                  <c:v>94.74</c:v>
                </c:pt>
                <c:pt idx="3">
                  <c:v>96.09</c:v>
                </c:pt>
                <c:pt idx="4">
                  <c:v>97.9</c:v>
                </c:pt>
                <c:pt idx="5">
                  <c:v>100.0</c:v>
                </c:pt>
                <c:pt idx="6">
                  <c:v>100.2</c:v>
                </c:pt>
                <c:pt idx="7">
                  <c:v>100.6</c:v>
                </c:pt>
                <c:pt idx="8">
                  <c:v>100.5</c:v>
                </c:pt>
                <c:pt idx="9">
                  <c:v>101.9</c:v>
                </c:pt>
                <c:pt idx="10">
                  <c:v>101.5</c:v>
                </c:pt>
                <c:pt idx="11">
                  <c:v>101.6</c:v>
                </c:pt>
                <c:pt idx="12">
                  <c:v>101.4</c:v>
                </c:pt>
                <c:pt idx="13">
                  <c:v>101.9</c:v>
                </c:pt>
                <c:pt idx="14">
                  <c:v>100.9</c:v>
                </c:pt>
                <c:pt idx="15">
                  <c:v>100.2</c:v>
                </c:pt>
                <c:pt idx="16">
                  <c:v>99.34</c:v>
                </c:pt>
                <c:pt idx="17">
                  <c:v>99.93</c:v>
                </c:pt>
                <c:pt idx="18">
                  <c:v>98.97</c:v>
                </c:pt>
                <c:pt idx="19">
                  <c:v>97.76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86.4</c:v>
                </c:pt>
                <c:pt idx="1">
                  <c:v>89.64</c:v>
                </c:pt>
                <c:pt idx="2">
                  <c:v>92.65</c:v>
                </c:pt>
                <c:pt idx="3">
                  <c:v>94.47</c:v>
                </c:pt>
                <c:pt idx="4">
                  <c:v>97.38</c:v>
                </c:pt>
                <c:pt idx="5">
                  <c:v>100.0</c:v>
                </c:pt>
                <c:pt idx="6">
                  <c:v>102.5</c:v>
                </c:pt>
                <c:pt idx="7">
                  <c:v>102.7</c:v>
                </c:pt>
                <c:pt idx="8">
                  <c:v>103.8</c:v>
                </c:pt>
                <c:pt idx="9">
                  <c:v>105.6</c:v>
                </c:pt>
                <c:pt idx="10">
                  <c:v>106.3</c:v>
                </c:pt>
                <c:pt idx="11">
                  <c:v>107.7</c:v>
                </c:pt>
                <c:pt idx="12">
                  <c:v>108.5</c:v>
                </c:pt>
                <c:pt idx="13">
                  <c:v>109.9</c:v>
                </c:pt>
                <c:pt idx="14">
                  <c:v>109.0</c:v>
                </c:pt>
                <c:pt idx="15">
                  <c:v>107.8</c:v>
                </c:pt>
                <c:pt idx="16">
                  <c:v>107.3</c:v>
                </c:pt>
                <c:pt idx="17">
                  <c:v>107.9</c:v>
                </c:pt>
                <c:pt idx="18">
                  <c:v>107.3</c:v>
                </c:pt>
                <c:pt idx="19">
                  <c:v>105.9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85.1</c:v>
                </c:pt>
                <c:pt idx="1">
                  <c:v>89.64</c:v>
                </c:pt>
                <c:pt idx="2">
                  <c:v>91.71</c:v>
                </c:pt>
                <c:pt idx="3">
                  <c:v>94.33</c:v>
                </c:pt>
                <c:pt idx="4">
                  <c:v>97.0</c:v>
                </c:pt>
                <c:pt idx="5">
                  <c:v>100.0</c:v>
                </c:pt>
                <c:pt idx="6">
                  <c:v>102.3</c:v>
                </c:pt>
                <c:pt idx="7">
                  <c:v>103.6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108.5</c:v>
                </c:pt>
                <c:pt idx="12">
                  <c:v>109.0</c:v>
                </c:pt>
                <c:pt idx="13">
                  <c:v>110.6</c:v>
                </c:pt>
                <c:pt idx="14">
                  <c:v>110.2</c:v>
                </c:pt>
                <c:pt idx="15">
                  <c:v>110.9</c:v>
                </c:pt>
                <c:pt idx="16">
                  <c:v>110.1</c:v>
                </c:pt>
                <c:pt idx="17">
                  <c:v>110.4</c:v>
                </c:pt>
                <c:pt idx="18">
                  <c:v>108.8</c:v>
                </c:pt>
                <c:pt idx="19">
                  <c:v>108.7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86.0</c:v>
                </c:pt>
                <c:pt idx="1">
                  <c:v>91.4</c:v>
                </c:pt>
                <c:pt idx="2">
                  <c:v>93.26</c:v>
                </c:pt>
                <c:pt idx="3">
                  <c:v>93.34</c:v>
                </c:pt>
                <c:pt idx="4">
                  <c:v>95.58</c:v>
                </c:pt>
                <c:pt idx="5">
                  <c:v>100.0</c:v>
                </c:pt>
                <c:pt idx="6">
                  <c:v>101.5</c:v>
                </c:pt>
                <c:pt idx="7">
                  <c:v>102.4</c:v>
                </c:pt>
                <c:pt idx="8">
                  <c:v>102.6</c:v>
                </c:pt>
                <c:pt idx="9">
                  <c:v>107.0</c:v>
                </c:pt>
                <c:pt idx="10">
                  <c:v>106.6</c:v>
                </c:pt>
                <c:pt idx="11">
                  <c:v>107.1</c:v>
                </c:pt>
                <c:pt idx="12">
                  <c:v>107.9</c:v>
                </c:pt>
                <c:pt idx="13">
                  <c:v>110.9</c:v>
                </c:pt>
                <c:pt idx="14">
                  <c:v>109.3</c:v>
                </c:pt>
                <c:pt idx="15">
                  <c:v>108.8</c:v>
                </c:pt>
                <c:pt idx="16">
                  <c:v>108.9</c:v>
                </c:pt>
                <c:pt idx="17">
                  <c:v>110.8</c:v>
                </c:pt>
                <c:pt idx="18">
                  <c:v>109.3</c:v>
                </c:pt>
                <c:pt idx="19">
                  <c:v>108.3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88.89</c:v>
                </c:pt>
                <c:pt idx="1">
                  <c:v>91.68</c:v>
                </c:pt>
                <c:pt idx="2">
                  <c:v>93.85</c:v>
                </c:pt>
                <c:pt idx="3">
                  <c:v>95.76</c:v>
                </c:pt>
                <c:pt idx="4">
                  <c:v>97.67</c:v>
                </c:pt>
                <c:pt idx="5">
                  <c:v>100.0</c:v>
                </c:pt>
                <c:pt idx="6">
                  <c:v>101.0</c:v>
                </c:pt>
                <c:pt idx="7">
                  <c:v>101.7</c:v>
                </c:pt>
                <c:pt idx="8">
                  <c:v>101.6</c:v>
                </c:pt>
                <c:pt idx="9">
                  <c:v>102.3</c:v>
                </c:pt>
                <c:pt idx="10">
                  <c:v>102.8</c:v>
                </c:pt>
                <c:pt idx="11">
                  <c:v>102.8</c:v>
                </c:pt>
                <c:pt idx="12">
                  <c:v>102.7</c:v>
                </c:pt>
                <c:pt idx="13">
                  <c:v>103.3</c:v>
                </c:pt>
                <c:pt idx="14">
                  <c:v>102.8</c:v>
                </c:pt>
                <c:pt idx="15">
                  <c:v>102.6</c:v>
                </c:pt>
                <c:pt idx="16">
                  <c:v>101.9</c:v>
                </c:pt>
                <c:pt idx="17">
                  <c:v>102.0</c:v>
                </c:pt>
                <c:pt idx="18">
                  <c:v>101.5</c:v>
                </c:pt>
                <c:pt idx="19">
                  <c:v>100.8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88.75</c:v>
                </c:pt>
                <c:pt idx="1">
                  <c:v>91.9</c:v>
                </c:pt>
                <c:pt idx="2">
                  <c:v>94.07</c:v>
                </c:pt>
                <c:pt idx="3">
                  <c:v>95.5</c:v>
                </c:pt>
                <c:pt idx="4">
                  <c:v>97.52</c:v>
                </c:pt>
                <c:pt idx="5">
                  <c:v>100.0</c:v>
                </c:pt>
                <c:pt idx="6">
                  <c:v>101.0</c:v>
                </c:pt>
                <c:pt idx="7">
                  <c:v>102.0</c:v>
                </c:pt>
                <c:pt idx="8">
                  <c:v>102.7</c:v>
                </c:pt>
                <c:pt idx="9">
                  <c:v>104.3</c:v>
                </c:pt>
                <c:pt idx="10">
                  <c:v>104.6</c:v>
                </c:pt>
                <c:pt idx="11">
                  <c:v>105.0</c:v>
                </c:pt>
                <c:pt idx="12">
                  <c:v>105.2</c:v>
                </c:pt>
                <c:pt idx="13">
                  <c:v>105.6</c:v>
                </c:pt>
                <c:pt idx="14">
                  <c:v>105.0</c:v>
                </c:pt>
                <c:pt idx="15">
                  <c:v>104.6</c:v>
                </c:pt>
                <c:pt idx="16">
                  <c:v>103.8</c:v>
                </c:pt>
                <c:pt idx="17">
                  <c:v>103.9</c:v>
                </c:pt>
                <c:pt idx="18">
                  <c:v>103.3</c:v>
                </c:pt>
                <c:pt idx="19">
                  <c:v>102.1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89.81</c:v>
                </c:pt>
                <c:pt idx="1">
                  <c:v>92.32</c:v>
                </c:pt>
                <c:pt idx="2">
                  <c:v>94.41</c:v>
                </c:pt>
                <c:pt idx="3">
                  <c:v>96.81</c:v>
                </c:pt>
                <c:pt idx="4">
                  <c:v>97.96</c:v>
                </c:pt>
                <c:pt idx="5">
                  <c:v>100.0</c:v>
                </c:pt>
                <c:pt idx="6">
                  <c:v>101.8</c:v>
                </c:pt>
                <c:pt idx="7">
                  <c:v>103.0</c:v>
                </c:pt>
                <c:pt idx="8">
                  <c:v>103.4</c:v>
                </c:pt>
                <c:pt idx="9">
                  <c:v>105.0</c:v>
                </c:pt>
                <c:pt idx="10">
                  <c:v>105.4</c:v>
                </c:pt>
                <c:pt idx="11">
                  <c:v>107.4</c:v>
                </c:pt>
                <c:pt idx="12">
                  <c:v>107.9</c:v>
                </c:pt>
                <c:pt idx="13">
                  <c:v>110.5</c:v>
                </c:pt>
                <c:pt idx="14">
                  <c:v>110.2</c:v>
                </c:pt>
                <c:pt idx="15">
                  <c:v>111.1</c:v>
                </c:pt>
                <c:pt idx="16">
                  <c:v>111.6</c:v>
                </c:pt>
                <c:pt idx="17">
                  <c:v>112.7</c:v>
                </c:pt>
                <c:pt idx="18">
                  <c:v>112.9</c:v>
                </c:pt>
                <c:pt idx="19">
                  <c:v>113.3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87.58</c:v>
                </c:pt>
                <c:pt idx="1">
                  <c:v>91.23</c:v>
                </c:pt>
                <c:pt idx="2">
                  <c:v>92.73</c:v>
                </c:pt>
                <c:pt idx="3">
                  <c:v>94.8</c:v>
                </c:pt>
                <c:pt idx="4">
                  <c:v>96.69</c:v>
                </c:pt>
                <c:pt idx="5">
                  <c:v>100.0</c:v>
                </c:pt>
                <c:pt idx="6">
                  <c:v>101.8</c:v>
                </c:pt>
                <c:pt idx="7">
                  <c:v>103.3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109.1</c:v>
                </c:pt>
                <c:pt idx="12">
                  <c:v>110.1</c:v>
                </c:pt>
                <c:pt idx="13">
                  <c:v>112.3</c:v>
                </c:pt>
                <c:pt idx="14">
                  <c:v>113.3</c:v>
                </c:pt>
                <c:pt idx="15">
                  <c:v>114.6</c:v>
                </c:pt>
                <c:pt idx="16">
                  <c:v>115.0</c:v>
                </c:pt>
                <c:pt idx="17">
                  <c:v>116.1</c:v>
                </c:pt>
                <c:pt idx="18">
                  <c:v>115.6</c:v>
                </c:pt>
                <c:pt idx="19">
                  <c:v>116.0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88.32</c:v>
                </c:pt>
                <c:pt idx="1">
                  <c:v>92.67</c:v>
                </c:pt>
                <c:pt idx="2">
                  <c:v>94.04</c:v>
                </c:pt>
                <c:pt idx="3">
                  <c:v>94.84</c:v>
                </c:pt>
                <c:pt idx="4">
                  <c:v>96.13</c:v>
                </c:pt>
                <c:pt idx="5">
                  <c:v>100.0</c:v>
                </c:pt>
                <c:pt idx="6">
                  <c:v>101.2</c:v>
                </c:pt>
                <c:pt idx="7">
                  <c:v>102.1</c:v>
                </c:pt>
                <c:pt idx="8">
                  <c:v>102.5</c:v>
                </c:pt>
                <c:pt idx="9">
                  <c:v>106.5</c:v>
                </c:pt>
                <c:pt idx="10">
                  <c:v>106.7</c:v>
                </c:pt>
                <c:pt idx="11">
                  <c:v>107.8</c:v>
                </c:pt>
                <c:pt idx="12">
                  <c:v>108.6</c:v>
                </c:pt>
                <c:pt idx="13">
                  <c:v>112.7</c:v>
                </c:pt>
                <c:pt idx="14">
                  <c:v>112.20000000000002</c:v>
                </c:pt>
                <c:pt idx="15">
                  <c:v>112.6</c:v>
                </c:pt>
                <c:pt idx="16">
                  <c:v>113.79999999999998</c:v>
                </c:pt>
                <c:pt idx="17">
                  <c:v>117.1</c:v>
                </c:pt>
                <c:pt idx="18">
                  <c:v>116.8</c:v>
                </c:pt>
                <c:pt idx="19">
                  <c:v>117.2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89.68</c:v>
                </c:pt>
                <c:pt idx="1">
                  <c:v>92.24</c:v>
                </c:pt>
                <c:pt idx="2">
                  <c:v>94.01</c:v>
                </c:pt>
                <c:pt idx="3">
                  <c:v>95.79</c:v>
                </c:pt>
                <c:pt idx="4">
                  <c:v>97.59</c:v>
                </c:pt>
                <c:pt idx="5">
                  <c:v>100.0</c:v>
                </c:pt>
                <c:pt idx="6">
                  <c:v>101.4</c:v>
                </c:pt>
                <c:pt idx="7">
                  <c:v>102.4</c:v>
                </c:pt>
                <c:pt idx="8">
                  <c:v>103.1</c:v>
                </c:pt>
                <c:pt idx="9">
                  <c:v>104.4</c:v>
                </c:pt>
                <c:pt idx="10">
                  <c:v>105.0</c:v>
                </c:pt>
                <c:pt idx="11">
                  <c:v>106.2</c:v>
                </c:pt>
                <c:pt idx="12">
                  <c:v>106.6</c:v>
                </c:pt>
                <c:pt idx="13">
                  <c:v>107.9</c:v>
                </c:pt>
                <c:pt idx="14">
                  <c:v>108.3</c:v>
                </c:pt>
                <c:pt idx="15">
                  <c:v>108.8</c:v>
                </c:pt>
                <c:pt idx="16">
                  <c:v>109.2</c:v>
                </c:pt>
                <c:pt idx="17">
                  <c:v>110.2</c:v>
                </c:pt>
                <c:pt idx="18">
                  <c:v>110.6</c:v>
                </c:pt>
                <c:pt idx="19">
                  <c:v>110.7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90.58</c:v>
                </c:pt>
                <c:pt idx="1">
                  <c:v>93.05</c:v>
                </c:pt>
                <c:pt idx="2">
                  <c:v>94.93</c:v>
                </c:pt>
                <c:pt idx="3">
                  <c:v>96.85</c:v>
                </c:pt>
                <c:pt idx="4">
                  <c:v>98.28</c:v>
                </c:pt>
                <c:pt idx="5">
                  <c:v>100.0</c:v>
                </c:pt>
                <c:pt idx="6">
                  <c:v>102.0</c:v>
                </c:pt>
                <c:pt idx="7">
                  <c:v>103.2</c:v>
                </c:pt>
                <c:pt idx="8">
                  <c:v>103.5</c:v>
                </c:pt>
                <c:pt idx="9">
                  <c:v>104.7</c:v>
                </c:pt>
                <c:pt idx="10">
                  <c:v>105.1</c:v>
                </c:pt>
                <c:pt idx="11">
                  <c:v>105.7</c:v>
                </c:pt>
                <c:pt idx="12">
                  <c:v>105.9</c:v>
                </c:pt>
                <c:pt idx="13">
                  <c:v>107.9</c:v>
                </c:pt>
                <c:pt idx="14">
                  <c:v>107.6</c:v>
                </c:pt>
                <c:pt idx="15">
                  <c:v>107.6</c:v>
                </c:pt>
                <c:pt idx="16">
                  <c:v>107.0</c:v>
                </c:pt>
                <c:pt idx="17">
                  <c:v>107.2</c:v>
                </c:pt>
                <c:pt idx="18">
                  <c:v>107.4</c:v>
                </c:pt>
                <c:pt idx="19">
                  <c:v>107.5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89.87</c:v>
                </c:pt>
                <c:pt idx="1">
                  <c:v>93.27</c:v>
                </c:pt>
                <c:pt idx="2">
                  <c:v>94.25</c:v>
                </c:pt>
                <c:pt idx="3">
                  <c:v>96.37</c:v>
                </c:pt>
                <c:pt idx="4">
                  <c:v>97.21</c:v>
                </c:pt>
                <c:pt idx="5">
                  <c:v>100.0</c:v>
                </c:pt>
                <c:pt idx="6">
                  <c:v>101.4</c:v>
                </c:pt>
                <c:pt idx="7">
                  <c:v>102.6</c:v>
                </c:pt>
                <c:pt idx="8">
                  <c:v>102.7</c:v>
                </c:pt>
                <c:pt idx="9">
                  <c:v>104.8</c:v>
                </c:pt>
                <c:pt idx="10">
                  <c:v>105.1</c:v>
                </c:pt>
                <c:pt idx="11">
                  <c:v>106.5</c:v>
                </c:pt>
                <c:pt idx="12">
                  <c:v>106.9</c:v>
                </c:pt>
                <c:pt idx="13">
                  <c:v>108.3</c:v>
                </c:pt>
                <c:pt idx="14">
                  <c:v>108.8</c:v>
                </c:pt>
                <c:pt idx="15">
                  <c:v>109.6</c:v>
                </c:pt>
                <c:pt idx="16">
                  <c:v>109.3</c:v>
                </c:pt>
                <c:pt idx="17">
                  <c:v>110.3</c:v>
                </c:pt>
                <c:pt idx="18">
                  <c:v>110.3</c:v>
                </c:pt>
                <c:pt idx="19">
                  <c:v>110.8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90.47</c:v>
                </c:pt>
                <c:pt idx="1">
                  <c:v>94.11</c:v>
                </c:pt>
                <c:pt idx="2">
                  <c:v>94.98</c:v>
                </c:pt>
                <c:pt idx="3">
                  <c:v>95.68</c:v>
                </c:pt>
                <c:pt idx="4">
                  <c:v>96.86</c:v>
                </c:pt>
                <c:pt idx="5">
                  <c:v>100.0</c:v>
                </c:pt>
                <c:pt idx="6">
                  <c:v>100.9</c:v>
                </c:pt>
                <c:pt idx="7">
                  <c:v>101.4</c:v>
                </c:pt>
                <c:pt idx="8">
                  <c:v>101.7</c:v>
                </c:pt>
                <c:pt idx="9">
                  <c:v>104.9</c:v>
                </c:pt>
                <c:pt idx="10">
                  <c:v>104.6</c:v>
                </c:pt>
                <c:pt idx="11">
                  <c:v>105.4</c:v>
                </c:pt>
                <c:pt idx="12">
                  <c:v>105.9</c:v>
                </c:pt>
                <c:pt idx="13">
                  <c:v>109.4</c:v>
                </c:pt>
                <c:pt idx="14">
                  <c:v>108.9</c:v>
                </c:pt>
                <c:pt idx="15">
                  <c:v>108.9</c:v>
                </c:pt>
                <c:pt idx="16">
                  <c:v>109.9</c:v>
                </c:pt>
                <c:pt idx="17">
                  <c:v>112.3</c:v>
                </c:pt>
                <c:pt idx="18">
                  <c:v>112.0</c:v>
                </c:pt>
                <c:pt idx="19">
                  <c:v>112.4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90.61</c:v>
                </c:pt>
                <c:pt idx="1">
                  <c:v>92.78</c:v>
                </c:pt>
                <c:pt idx="2">
                  <c:v>94.54</c:v>
                </c:pt>
                <c:pt idx="3">
                  <c:v>96.14</c:v>
                </c:pt>
                <c:pt idx="4">
                  <c:v>98.0</c:v>
                </c:pt>
                <c:pt idx="5">
                  <c:v>100.0</c:v>
                </c:pt>
                <c:pt idx="6">
                  <c:v>101.6</c:v>
                </c:pt>
                <c:pt idx="7">
                  <c:v>102.7</c:v>
                </c:pt>
                <c:pt idx="8">
                  <c:v>103.6</c:v>
                </c:pt>
                <c:pt idx="9">
                  <c:v>105.0</c:v>
                </c:pt>
                <c:pt idx="10">
                  <c:v>106.1</c:v>
                </c:pt>
                <c:pt idx="11">
                  <c:v>107.2</c:v>
                </c:pt>
                <c:pt idx="12">
                  <c:v>107.9</c:v>
                </c:pt>
                <c:pt idx="13">
                  <c:v>109.1</c:v>
                </c:pt>
                <c:pt idx="14">
                  <c:v>109.7</c:v>
                </c:pt>
                <c:pt idx="15">
                  <c:v>110.6</c:v>
                </c:pt>
                <c:pt idx="16">
                  <c:v>111.1</c:v>
                </c:pt>
                <c:pt idx="17">
                  <c:v>112.3</c:v>
                </c:pt>
                <c:pt idx="18">
                  <c:v>112.9</c:v>
                </c:pt>
                <c:pt idx="19">
                  <c:v>113.5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91.02</c:v>
                </c:pt>
                <c:pt idx="1">
                  <c:v>93.17</c:v>
                </c:pt>
                <c:pt idx="2">
                  <c:v>95.22</c:v>
                </c:pt>
                <c:pt idx="3">
                  <c:v>96.42</c:v>
                </c:pt>
                <c:pt idx="4">
                  <c:v>98.32</c:v>
                </c:pt>
                <c:pt idx="5">
                  <c:v>100.0</c:v>
                </c:pt>
                <c:pt idx="6">
                  <c:v>101.0</c:v>
                </c:pt>
                <c:pt idx="7">
                  <c:v>102.2</c:v>
                </c:pt>
                <c:pt idx="8">
                  <c:v>102.7</c:v>
                </c:pt>
                <c:pt idx="9">
                  <c:v>104.1</c:v>
                </c:pt>
                <c:pt idx="10">
                  <c:v>104.6</c:v>
                </c:pt>
                <c:pt idx="11">
                  <c:v>105.4</c:v>
                </c:pt>
                <c:pt idx="12">
                  <c:v>106.1</c:v>
                </c:pt>
                <c:pt idx="13">
                  <c:v>107.0</c:v>
                </c:pt>
                <c:pt idx="14">
                  <c:v>107.3</c:v>
                </c:pt>
                <c:pt idx="15">
                  <c:v>107.5</c:v>
                </c:pt>
                <c:pt idx="16">
                  <c:v>107.9</c:v>
                </c:pt>
                <c:pt idx="17">
                  <c:v>109.0</c:v>
                </c:pt>
                <c:pt idx="18">
                  <c:v>109.3</c:v>
                </c:pt>
                <c:pt idx="19">
                  <c:v>109.4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89.91</c:v>
                </c:pt>
                <c:pt idx="1">
                  <c:v>92.99</c:v>
                </c:pt>
                <c:pt idx="2">
                  <c:v>93.36</c:v>
                </c:pt>
                <c:pt idx="3">
                  <c:v>96.14</c:v>
                </c:pt>
                <c:pt idx="4">
                  <c:v>98.14</c:v>
                </c:pt>
                <c:pt idx="5">
                  <c:v>100.0</c:v>
                </c:pt>
                <c:pt idx="6">
                  <c:v>101.2</c:v>
                </c:pt>
                <c:pt idx="7">
                  <c:v>102.9</c:v>
                </c:pt>
                <c:pt idx="8">
                  <c:v>103.5</c:v>
                </c:pt>
                <c:pt idx="9">
                  <c:v>104.4</c:v>
                </c:pt>
                <c:pt idx="10">
                  <c:v>103.7</c:v>
                </c:pt>
                <c:pt idx="11">
                  <c:v>104.7</c:v>
                </c:pt>
                <c:pt idx="12">
                  <c:v>105.0</c:v>
                </c:pt>
                <c:pt idx="13">
                  <c:v>107.1</c:v>
                </c:pt>
                <c:pt idx="14">
                  <c:v>105.2</c:v>
                </c:pt>
                <c:pt idx="15">
                  <c:v>105.6</c:v>
                </c:pt>
                <c:pt idx="16">
                  <c:v>105.7</c:v>
                </c:pt>
                <c:pt idx="17">
                  <c:v>106.6</c:v>
                </c:pt>
                <c:pt idx="18">
                  <c:v>105.9</c:v>
                </c:pt>
                <c:pt idx="19">
                  <c:v>106.1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90.67</c:v>
                </c:pt>
                <c:pt idx="1">
                  <c:v>93.9</c:v>
                </c:pt>
                <c:pt idx="2">
                  <c:v>94.18</c:v>
                </c:pt>
                <c:pt idx="3">
                  <c:v>96.28</c:v>
                </c:pt>
                <c:pt idx="4">
                  <c:v>97.47</c:v>
                </c:pt>
                <c:pt idx="5">
                  <c:v>100.0</c:v>
                </c:pt>
                <c:pt idx="6">
                  <c:v>100.2</c:v>
                </c:pt>
                <c:pt idx="7">
                  <c:v>101.5</c:v>
                </c:pt>
                <c:pt idx="8">
                  <c:v>101.7</c:v>
                </c:pt>
                <c:pt idx="9">
                  <c:v>103.2</c:v>
                </c:pt>
                <c:pt idx="10">
                  <c:v>102.4</c:v>
                </c:pt>
                <c:pt idx="11">
                  <c:v>103.3</c:v>
                </c:pt>
                <c:pt idx="12">
                  <c:v>103.4</c:v>
                </c:pt>
                <c:pt idx="13">
                  <c:v>104.8</c:v>
                </c:pt>
                <c:pt idx="14">
                  <c:v>103.8</c:v>
                </c:pt>
                <c:pt idx="15">
                  <c:v>104.2</c:v>
                </c:pt>
                <c:pt idx="16">
                  <c:v>103.8</c:v>
                </c:pt>
                <c:pt idx="17">
                  <c:v>104.9</c:v>
                </c:pt>
                <c:pt idx="18">
                  <c:v>103.4</c:v>
                </c:pt>
                <c:pt idx="19">
                  <c:v>103.5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91.04</c:v>
                </c:pt>
                <c:pt idx="1">
                  <c:v>94.71</c:v>
                </c:pt>
                <c:pt idx="2">
                  <c:v>94.44</c:v>
                </c:pt>
                <c:pt idx="3">
                  <c:v>95.87</c:v>
                </c:pt>
                <c:pt idx="4">
                  <c:v>97.24</c:v>
                </c:pt>
                <c:pt idx="5">
                  <c:v>100.0</c:v>
                </c:pt>
                <c:pt idx="6">
                  <c:v>99.83</c:v>
                </c:pt>
                <c:pt idx="7">
                  <c:v>100.9</c:v>
                </c:pt>
                <c:pt idx="8">
                  <c:v>101.1</c:v>
                </c:pt>
                <c:pt idx="9">
                  <c:v>103.5</c:v>
                </c:pt>
                <c:pt idx="10">
                  <c:v>102.6</c:v>
                </c:pt>
                <c:pt idx="11">
                  <c:v>103.4</c:v>
                </c:pt>
                <c:pt idx="12">
                  <c:v>103.7</c:v>
                </c:pt>
                <c:pt idx="13">
                  <c:v>107.5</c:v>
                </c:pt>
                <c:pt idx="14">
                  <c:v>105.9</c:v>
                </c:pt>
                <c:pt idx="15">
                  <c:v>106.4</c:v>
                </c:pt>
                <c:pt idx="16">
                  <c:v>106.4</c:v>
                </c:pt>
                <c:pt idx="17">
                  <c:v>108.2</c:v>
                </c:pt>
                <c:pt idx="18">
                  <c:v>106.8</c:v>
                </c:pt>
                <c:pt idx="19">
                  <c:v>107.1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</c:v>
                </c:pt>
                <c:pt idx="1">
                  <c:v>93.29</c:v>
                </c:pt>
                <c:pt idx="2">
                  <c:v>94.22</c:v>
                </c:pt>
                <c:pt idx="3">
                  <c:v>95.96</c:v>
                </c:pt>
                <c:pt idx="4">
                  <c:v>97.71</c:v>
                </c:pt>
                <c:pt idx="5">
                  <c:v>100.0</c:v>
                </c:pt>
                <c:pt idx="6">
                  <c:v>100.8</c:v>
                </c:pt>
                <c:pt idx="7">
                  <c:v>102.1</c:v>
                </c:pt>
                <c:pt idx="8">
                  <c:v>103.0</c:v>
                </c:pt>
                <c:pt idx="9">
                  <c:v>104.4</c:v>
                </c:pt>
                <c:pt idx="10">
                  <c:v>104.3</c:v>
                </c:pt>
                <c:pt idx="11">
                  <c:v>105.3</c:v>
                </c:pt>
                <c:pt idx="12">
                  <c:v>106.1</c:v>
                </c:pt>
                <c:pt idx="13">
                  <c:v>107.2</c:v>
                </c:pt>
                <c:pt idx="14">
                  <c:v>106.8</c:v>
                </c:pt>
                <c:pt idx="15">
                  <c:v>107.3</c:v>
                </c:pt>
                <c:pt idx="16">
                  <c:v>107.6</c:v>
                </c:pt>
                <c:pt idx="17">
                  <c:v>108.8</c:v>
                </c:pt>
                <c:pt idx="18">
                  <c:v>108.3</c:v>
                </c:pt>
                <c:pt idx="19">
                  <c:v>108.6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90.98</c:v>
                </c:pt>
                <c:pt idx="1">
                  <c:v>93.57</c:v>
                </c:pt>
                <c:pt idx="2">
                  <c:v>94.75</c:v>
                </c:pt>
                <c:pt idx="3">
                  <c:v>96.01</c:v>
                </c:pt>
                <c:pt idx="4">
                  <c:v>97.92</c:v>
                </c:pt>
                <c:pt idx="5">
                  <c:v>100.0</c:v>
                </c:pt>
                <c:pt idx="6">
                  <c:v>100.1</c:v>
                </c:pt>
                <c:pt idx="7">
                  <c:v>101.29999999999998</c:v>
                </c:pt>
                <c:pt idx="8">
                  <c:v>101.9</c:v>
                </c:pt>
                <c:pt idx="9">
                  <c:v>103.4</c:v>
                </c:pt>
                <c:pt idx="10">
                  <c:v>102.9</c:v>
                </c:pt>
                <c:pt idx="11">
                  <c:v>103.7</c:v>
                </c:pt>
                <c:pt idx="12">
                  <c:v>104.4</c:v>
                </c:pt>
                <c:pt idx="13">
                  <c:v>105.4</c:v>
                </c:pt>
                <c:pt idx="14">
                  <c:v>104.5</c:v>
                </c:pt>
                <c:pt idx="15">
                  <c:v>104.6</c:v>
                </c:pt>
                <c:pt idx="16">
                  <c:v>104.8</c:v>
                </c:pt>
                <c:pt idx="17">
                  <c:v>105.9</c:v>
                </c:pt>
                <c:pt idx="18">
                  <c:v>104.9</c:v>
                </c:pt>
                <c:pt idx="19">
                  <c:v>104.8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6DA117-10E6-4BFD-ADAF-6E7EA5EFA42C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86AFD1-51E9-4B71-9D56-066F69D17A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12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1 minute. Welcome students. Name questions, comparisons, and code as the core idea of both today and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Introduce your appointments, training, prior work at the University of Chicago Crime Lab, research areas, and preferred forms of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Establish the normal Tuesday/Thursday rhythm and the Week 1 exception. Point students to the syllabus and its UMD AI resources section. The next slide explains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Explain the 60/10/30 breakdown. For each problem set, students submit code on Sunday and complete an individual code review on Tuesday. During the review they explain the code and analytical choices, predict what a change would do, modify or diagnose the code, and interpret the result. AI assistance is allowed; demonstrated understanding is the main basis for the problem-set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Explain that students may use AI tools, but must still understand the question, comparison, steps, output, and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Explain the difference between exploring a dataset and choosing evidence for a specific question. Both are useful; this course emphasizes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The same topic supports descriptive, causal, and normative questions. Each demands different evidence. Do not imply that the causal question is inherently superior.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1 minute. Ask students to keep these three questions in view for the rest of class. This is the student-facing spine, not a six-term taxonomy.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Ask for two or three quick reactions. When someone asks “compared to what?”,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Fill the sentence together: Bronx game days with Bronx non-game days, to ask whether complaints were higher on game days. Call this a first comparison, not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5 minutes. Ask for a quick vote, then ask two students to defend different choices. More than one comparison can be useful because choices can answer slightly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Ask what changed. The game-day data did not; the benchmark did. Explain “same weekday mix” in one sentence and label it a preview, not a calculation students must reproduce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Introduce the causal problem in ordinary language. “Counterfactual” can be named orally but is not required vocabulary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Explain why random assignment can create comparable groups. Yankees games and most policies cannot be assigned this way, so the next slide introduces other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Introduce these as methods students will encounter later. They do not need to learn the definitions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Give students time to look before explaining. Ask for two observations that describe the lines without explaining why they moved. These are the most-exposed occupation quintile only; 100 is November 2022 for each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Treat chart reading as analysis, not a test. More information can increase both insight and cognitive load. This redraw uses the authors’ public August 12, 2026 dashboard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Solicit alternatives such as pre-existing trends, education, occupation mix, or which firms appear in the data. Connect directly back to “compared to what?”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Emphasize that the figure supports a descriptive claim, not a causal one. The revised paper explicitly makes that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Distinguish selecting a comparison from translating it into definitions, ordered steps, code, and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Tie each pillar to one concrete action in the Yankees analysis. Emphasize that these steps implement a comparison but do not validate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Give a tiny what-if: “If we remove weekends, which average should change?” The point is prediction and understanding, not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Students do not need a perfect project question today. The course will make both their code and their questions more precise. Do not reveal the anchor’s final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Explain what students should bring and how the Canaries reading will be used at the start of Tuesday’s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17D49-0A3C-46EB-8E1C-106C1194CC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51C021-1B81-476A-85A3-A9790C427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0A1B1-2255-4C58-B244-3E02ABAF2A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C7EC2-F75E-41E5-9E98-BA1335DDE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05C43-B8A3-44D5-A474-F3CC7DFB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66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D071-B6FD-4F12-8935-8160D6FE3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5B998-74F9-42B5-8DFA-847F1234D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731"/>
            <a:ext cx="10515600" cy="4757131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189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4ADF-B487-4F63-8EBC-EB47C7FC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FE1C2-ECEC-4871-95D4-6E825EF35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370E2-90B8-44EE-9C0C-2323FE5BD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BEFF-5FCB-4C7A-AB66-3984B2482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AE514-926B-49DB-A293-C9A413A5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2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58D3-20A5-4EB1-BB0C-A841FE77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85A70-C0D9-4D0E-8848-5AB546F21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60AA4-A946-431E-88B9-4137792AF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9EC5E-0CC5-46FA-A67F-829E0D34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A1F9A-F569-4AD9-948C-FF219F393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81CEC-150F-4EA8-8D31-18D0DF1CB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3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E1F67-CF1C-40DD-8966-3D1E99ED2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4539C-3EE8-4C7D-9A87-B325D54C2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5959B-5305-427B-AD9E-A877DEBF1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33ADE-0BE2-4235-8777-DBCE6467F8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60D0B3-6529-462D-9F6D-78633561D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44967-B153-472D-A03A-C6CA824B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A2E02-8A1A-487C-9EBC-377AF15BF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7B0991-2ACB-404F-8F57-23C3CA4D9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42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87AB3-1B9A-4044-8EE7-5BF5BCBD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C5BAA-D49A-4B57-A752-4B42366AC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A17D56-F767-49C5-8E2A-4E759B7C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BD58AA-9FF9-4991-A7BC-6567529B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00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14830C-2CDB-45E8-9C41-A1D643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E76091-CD5C-449E-B96C-CC66394F4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88013-AFFB-4681-B51B-741F7081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6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8630D-7FAA-4425-8CD2-629971779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C9A20-98C1-44EC-B39C-952BA3B50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2F57C-0FCC-4540-A105-F733044DC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9C767-62CC-4CA9-AF1D-4E0499937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9AAAE-E77E-4FB8-B001-8507C16F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EF175-C626-4C86-8741-D6C2A9FC3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29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DAF58-F979-440C-9DEC-2DCF48F9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39D3E8-9D59-487A-B75B-FB267EE9F4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097EF-8C12-489A-AEFB-5BAA1F5C5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03F761-5E1D-456F-86D1-E9D2176696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83D2A-30CF-4472-B7F7-0A9AEEDEE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48BB0-DB3D-4D6B-A072-C5C176C9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5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8E3C5-350D-4E53-9ACF-A299AE8F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0AA61A-888C-4AFA-8593-9D2AB6D75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2D77F-A145-4E2C-823E-B5ABB8C77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7C15D-B093-4F22-BB32-C2B1D8AC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E98AC-578D-45FB-BED9-7902F4201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37601-32B1-40CB-9322-8C42640E0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6CC68D-9DCF-450F-8372-E1CE84BC7E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08BF9-1D50-44AA-BDF3-3F00CA1C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79369-2A1F-42AD-9DA3-3F6F16DD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6BAAF-DFBA-4EE2-9FD9-D66F6BCE8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654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AAB4D-54BB-4AE2-A1CD-CB5BC695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EE965-DBB1-4267-AC1D-F2F02BAE3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54480"/>
            <a:ext cx="10515600" cy="4780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4284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jelveh.github.io/teaching/ccjs_418e_2026_fall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digitaleconomy.stanford.edu/project/indicators/canaries-dashboard/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hyperlink" Target="https://digitaleconomy.stanford.edu/project/indicators/canaries-dashboard/" TargetMode="External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gitaleconomy.stanford.edu/publication/canaries-in-the-coal-mine-six-facts-about-the-recent-employment-effects-of-artificial-intelligence/" TargetMode="Externa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965960"/>
            <a:ext cx="914400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00000"/>
                </a:solidFill>
                <a:latin typeface="Cambria"/>
              </a:rPr>
              <a:t>CCJS 418E: Coding for Criminology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761488"/>
            <a:ext cx="973836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Questions, Comparisons, and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3675887"/>
            <a:ext cx="9144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B4B4B"/>
                </a:solidFill>
                <a:latin typeface="Cambria"/>
              </a:rPr>
              <a:t>Using data to learn about crime and criminal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590288"/>
            <a:ext cx="91440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Lecture 1  ·  September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About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6720840" cy="5212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Assistant Professor at the iSchool and CCJS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Ph.D. in Computer Science from NYU in 2017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Before UMD: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Research areas: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Machine learning in public policy, particularly criminal justice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Record linkage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Science of science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 can refer to me by: Professor Jelveh, Dr. Jelveh, or Zubin</a:t>
            </a:r>
          </a:p>
        </p:txBody>
      </p:sp>
      <p:pic>
        <p:nvPicPr>
          <p:cNvPr id="4" name="Picture 3" descr="olddeck_s0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938528"/>
            <a:ext cx="3977639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How This Course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MOST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1280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920240"/>
            <a:ext cx="3154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000000"/>
                </a:solidFill>
                <a:latin typeface="Cambria"/>
              </a:rPr>
              <a:t>virtual lecture /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459736"/>
            <a:ext cx="1536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459736"/>
            <a:ext cx="28803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000000"/>
                </a:solidFill>
                <a:latin typeface="Cambria"/>
              </a:rPr>
              <a:t>in-person analysis workshop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HOW YOU 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38528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Problem sets  ·  Code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Readings  ·  Final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75887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This week is different: today is our first meeting, on Zoom.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526280"/>
            <a:ext cx="10332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709160"/>
            <a:ext cx="987552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Cambria"/>
              </a:rPr>
              <a:t>AI tools are allowed and expected. Understanding is still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5806440"/>
            <a:ext cx="7726679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63C1"/>
                </a:solidFill>
                <a:latin typeface="Cambria"/>
                <a:hlinkClick r:id="rId2"/>
              </a:rPr>
              <a:t>Syllabus: zjelveh.github.io/teaching/ccjs_418e_2026_fall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How Your Grade Is Determined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C375F"/>
                </a:solidFill>
                <a:latin typeface="Cambria"/>
              </a:rPr>
              <a:t>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424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THREE PROBLEM 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20% each · includes code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72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PROJECT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question · data · comparison ·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520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FINAL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analysis ·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017520"/>
            <a:ext cx="103784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FOR EACH PROBLEM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493008"/>
            <a:ext cx="2487168" cy="10241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675887"/>
            <a:ext cx="226771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SUBMIT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096512"/>
            <a:ext cx="22677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Sunday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447288" y="3840480"/>
            <a:ext cx="310896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67328" y="3493008"/>
            <a:ext cx="2487168" cy="10241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7056" y="3675887"/>
            <a:ext cx="226771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CODE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4096512"/>
            <a:ext cx="22677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Tuesday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437376" y="3840480"/>
            <a:ext cx="310896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0" y="3493008"/>
            <a:ext cx="4645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675887"/>
            <a:ext cx="442569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mbria"/>
              </a:rPr>
              <a:t>EXPLAIN · PREDICT · MODIFY · INTERPRET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4096512"/>
            <a:ext cx="4425696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one-on-one with 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5029200"/>
            <a:ext cx="10396728" cy="877824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212080"/>
            <a:ext cx="9902952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AI assistance is allowed. Your grade depends on what you understand and can explain.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Parts of an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98448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Each analysis in this course connects six parts.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49631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60904"/>
            <a:ext cx="12344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40279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24912" y="2496312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70632" y="266090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62272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46904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STEPS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89904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17536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2168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RESULT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345168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29800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9784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An AI agent may help with any of these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773168"/>
            <a:ext cx="97840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You must be able to explain and check the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Questions and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298448"/>
            <a:ext cx="5074920" cy="3054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“I found a dataset.”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What can I do with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298448"/>
            <a:ext cx="5074920" cy="3054096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“I want to know…”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FFFFFF"/>
                </a:solidFill>
                <a:latin typeface="Cambria"/>
              </a:rPr>
              <a:t>What evidence would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83480"/>
            <a:ext cx="10241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The question determines what evidence the analysis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One Topic, Different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" y="1161288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344168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7328" y="1325880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reported arrests fall after the policy changed?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2688336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4168" y="2871216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WOULD CHANGE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852928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the policy cause arrests to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4215383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4168" y="4398264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SHOULD WE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4379975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Should the policy be retained or expanded?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04672"/>
            <a:ext cx="10177272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FFFFF"/>
                </a:solidFill>
                <a:latin typeface="Cambria"/>
              </a:rPr>
              <a:t>Questions We Will Keep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856231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828800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do you want to know?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980944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953512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Compared to what?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105656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78224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can you honestly say?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 Number Without a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1280160"/>
            <a:ext cx="101041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On Yankees home-game days in 2023, the Bronx averaged…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13898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0C375F"/>
                </a:solidFill>
                <a:latin typeface="Cambria"/>
              </a:rPr>
              <a:t>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5643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Cambria"/>
              </a:rPr>
              <a:t>noise complaints per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28032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Cambria"/>
              </a:rPr>
              <a:t>Is that a lot?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Source: NYC 311 noise sample and Yankees home-game schedule, 2023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Our First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Were there more Bronx noise complaints on Yankees home-game days?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84831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Game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39" y="2121408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520439" y="2121408"/>
            <a:ext cx="5723128" cy="274320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7192" y="2075688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62656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All other 2023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999232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39" y="2999232"/>
            <a:ext cx="4112666" cy="27432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37192" y="2953512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4224528"/>
            <a:ext cx="9738360" cy="84124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81328" y="4443984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I am comparing  ______  with  ______  in order to answer  ______.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31536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4B4B4B"/>
                </a:solidFill>
                <a:latin typeface="Cambria"/>
              </a:rPr>
              <a:t>A first comparison—not yet the final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Daily averages: 83 home-game dates and 282 non-game dates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Which Non-Game Days?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What belongs in “all other days”?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3392" y="1755648"/>
            <a:ext cx="8366760" cy="3429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1   Every non-game day in 2023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2   Only days during baseball season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3   The same days of the week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4   Dates close to a game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5   Similar days in another borough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5230368"/>
            <a:ext cx="9372600" cy="6126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27632" y="5358384"/>
            <a:ext cx="89428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Which comparison would you trust most—and why?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Different Benchmarks, Different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Game days average 430 complaints.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ALL 2023
NON-GAME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19" y="3097621"/>
            <a:ext cx="667512" cy="1017178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51760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2731861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5456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6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IN-SEASON
NON-GAME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30368" y="2801355"/>
            <a:ext cx="667512" cy="1313444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64808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435595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SAME WEEKDAY MIX
DURING THE SEASON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43416" y="2735519"/>
            <a:ext cx="667512" cy="137928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277856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8" y="2369759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1552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0808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85832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The game-day data stayed fixed. The benchmark changed.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4B4B4B"/>
                </a:solidFill>
                <a:latin typeface="Cambria"/>
              </a:rPr>
              <a:t>The benchmark is an analytical choice.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“Same weekday mix” reweights in-season non-game days to match the weekdays on which games occurred.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a Comparison Is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307592"/>
            <a:ext cx="5010912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GIVE A NUMBER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2340864"/>
            <a:ext cx="455371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“Higher than other days”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4023360"/>
            <a:ext cx="4553712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 observe other days.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307592"/>
            <a:ext cx="5010912" cy="4187952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1384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STAND IN FOR AN UNSEEN ALTERNATIVE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194560"/>
            <a:ext cx="4242816" cy="11155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“What would this day have looked like without a game?”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1384" y="4023360"/>
            <a:ext cx="455371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cannot observe the same day twice.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Random Assignment as a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78408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Suppose officers were assigned by chance to…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WEAR A BODY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8928" y="2148840"/>
            <a:ext cx="1920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CHANCE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51192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NO BODY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Cambria"/>
              </a:rPr>
              <a:t>Why assign officers by chance?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4645152"/>
            <a:ext cx="9189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855464"/>
            <a:ext cx="8732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Groups that should be comparable before the program begins.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Other Ways to Form Comparison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Without random assignment, analysts compare…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572768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572768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different people or places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609344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331720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the same place at another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68296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interrupted time series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90672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90672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people or places and time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127248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difference-in-differences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49624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849624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cases just above and below a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86200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regression discontinuity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08576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608576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exposure shifted by an outside assignment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645152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instrumental variables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5513832"/>
            <a:ext cx="982980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641848"/>
            <a:ext cx="93726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What would have to be true for each comparison to be fair?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Do You See?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41248"/>
            <a:ext cx="75438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Employment in the most AI-exposed occupations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261872"/>
          <a:ext cx="781812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42832" y="1444752"/>
            <a:ext cx="2377440" cy="10515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25712" y="1682496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Cambria"/>
              </a:rPr>
              <a:t>100 = each group
in November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8552" y="3026664"/>
            <a:ext cx="228600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What do the
lines show?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88552" y="4069080"/>
            <a:ext cx="228600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4B4B4B"/>
                </a:solidFill>
                <a:latin typeface="Cambria"/>
              </a:rPr>
              <a:t>Describe the pattern.
Do not explain it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3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Full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32104"/>
            <a:ext cx="103784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B4B4B"/>
                </a:solidFill>
                <a:latin typeface="Cambria"/>
              </a:rPr>
              <a:t>Six age groups  ·  five exposure levels in each group  ·  red = most exposed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1 (22–25)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891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2 (26–30)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3891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753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Developing (31–34)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753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1 (35–40)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3891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2 (41–49)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3891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2753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Senior (50+)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2753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What becomes clearer? What becomes harder to see?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8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Name the Comparisons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42415"/>
            <a:ext cx="4709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The figure compares…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64208"/>
            <a:ext cx="4892040" cy="2450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younger with more experienced workers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more with less AI-exposed occupations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the period before with the period after widespread generative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4370832"/>
            <a:ext cx="4983480" cy="96012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4572000"/>
            <a:ext cx="455371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What else differs between these groups or periods?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98448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463039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1426464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age / experience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24912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889504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WHICH JOBS?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2852928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AI exposure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315968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4279392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before /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Possible alternatives include pre-existing trends, education, occupation mix, and sample composition.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Match the Claim to the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234440"/>
            <a:ext cx="10387584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" y="1536192"/>
            <a:ext cx="2066543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THE DATA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1481328"/>
            <a:ext cx="754380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Employment patterns diverged across these groups.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2999232"/>
            <a:ext cx="10387584" cy="14813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73552"/>
            <a:ext cx="33375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THE DATA DO NOT ESTABLISH BY THEMSELVES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3218688"/>
            <a:ext cx="621792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Generative AI caused the entire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9320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The authors call the results “early, descriptive indicators.”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2"/>
              </a:rPr>
              <a:t>Brynjolfsson, Chandar, and Chen (2026), revised paper, abstract and introduction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FFFFFF"/>
                </a:solidFill>
                <a:latin typeface="Cambria"/>
              </a:rPr>
              <a:t>Turning a Comparison into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" y="1993392"/>
            <a:ext cx="111556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4904" y="2176272"/>
            <a:ext cx="1042415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49047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73936" y="1993392"/>
            <a:ext cx="141732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10512" y="2176272"/>
            <a:ext cx="134416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2783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1993392"/>
            <a:ext cx="100584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76272"/>
            <a:ext cx="93268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DEFINE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5371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37176" y="1993392"/>
            <a:ext cx="1408176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2176272"/>
            <a:ext cx="13350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BREAK DOWN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281928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65392" y="1993392"/>
            <a:ext cx="93268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2176272"/>
            <a:ext cx="859536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ORDER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5346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19" y="1993392"/>
            <a:ext cx="150876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4695" y="2176272"/>
            <a:ext cx="1435607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mbria"/>
              </a:rPr>
              <a:t>CODE / AGENT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634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46919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3495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CHECK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625327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08791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45367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9476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Research design specifies the comparison.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59028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Computational thinking turns it into a sequence of steps.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Four Pillars in the Yankees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4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smaller tasks produce the comparison?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identify dates · count · divide · compare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19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ABSTRACTION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exactly counts?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game day · complaint · Bronx · comparable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PATTERN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Have we seen a similar comparison before?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two groups · one outcome · compare averages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ALGORITHM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In what order should the steps run?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define groups · calculate · compare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449824"/>
            <a:ext cx="989380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541264"/>
            <a:ext cx="9436608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These steps implement a comparison; they do not determine whether it is fair.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Checking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412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Before you trust an analysis, ask: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71907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9968" y="179222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Did it implement the comparison I stated?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81635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288950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Can I predict what should change if I make one small change?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13631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77639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3986783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Is my claim no stronger than my evidence?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3327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Code review checks the connection between the plan and the result.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Two Analyses This Semester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A SHARED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90672" y="105156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Do Yankees home games coincide with more NYC 311 noise complaints?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40"/>
            <a:ext cx="9921240" cy="18288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5887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1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75703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6462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YOUR OWN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329184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You will revise it as you learn new tools.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187952"/>
            <a:ext cx="9921240" cy="18287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1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comparison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3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6462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claim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971032"/>
            <a:ext cx="10515600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6062472"/>
            <a:ext cx="105156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mbria"/>
              </a:rPr>
              <a:t>What do you want to know?   ·   Compared to what?   ·   What can you honestly say?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For Tuesday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1097280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70432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133856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Bring one crime or criminal-justice question you care about.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176272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9424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212848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what you would compare.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255263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28415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91839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one reason that comparison could mislead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62272"/>
            <a:ext cx="10259568" cy="65836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617720"/>
            <a:ext cx="983894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 will start Tuesday with a few of your examples.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413248"/>
            <a:ext cx="1025956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Read the Canaries summary. Come ready to identify the question, comparison, pattern, and strongest claim the comparison supports.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AF4B63-BF65-43F5-82A4-4C05ED437DA6}">
  <we:reference id="wa200007130" version="1.0.0.1" store="en-US" storeType="OMEX"/>
  <we:alternateReferences>
    <we:reference id="WA200007130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8169</TotalTime>
  <Words>912</Words>
  <Application>Microsoft Office PowerPoint</Application>
  <PresentationFormat>Widescreen</PresentationFormat>
  <Paragraphs>155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Cambria</vt:lpstr>
      <vt:lpstr>Cambria</vt:lpstr>
      <vt:lpstr>Office Theme</vt:lpstr>
      <vt:lpstr>CCJS 418E: Coding for Criminology   Lecture 1 Introduction</vt:lpstr>
      <vt:lpstr>About Me</vt:lpstr>
      <vt:lpstr>This Course</vt:lpstr>
      <vt:lpstr>Why Learn to Code in 2025?</vt:lpstr>
      <vt:lpstr>AI in the workplace</vt:lpstr>
      <vt:lpstr>A Recent Paper</vt:lpstr>
      <vt:lpstr>Study</vt:lpstr>
      <vt:lpstr>Overall</vt:lpstr>
      <vt:lpstr>Occupations in Trouble</vt:lpstr>
      <vt:lpstr>PowerPoint Presentation</vt:lpstr>
      <vt:lpstr>What This Means For You </vt:lpstr>
      <vt:lpstr>Philosophy of This Course</vt:lpstr>
      <vt:lpstr>Course Overview</vt:lpstr>
      <vt:lpstr> Getting Started - Practical Setup</vt:lpstr>
      <vt:lpstr>Usage Limits on TerpAI</vt:lpstr>
      <vt:lpstr>Computational Thinking</vt:lpstr>
      <vt:lpstr>Data + Code in Criminal Justice System</vt:lpstr>
      <vt:lpstr>Four Pillars</vt:lpstr>
      <vt:lpstr>Example</vt:lpstr>
      <vt:lpstr>Decomposition</vt:lpstr>
      <vt:lpstr>Big question -&gt; Smaller questions</vt:lpstr>
      <vt:lpstr>Pattern Recognition</vt:lpstr>
      <vt:lpstr>Abstraction</vt:lpstr>
      <vt:lpstr>Solution/Algorithm</vt:lpstr>
      <vt:lpstr>This is Programming</vt:lpstr>
      <vt:lpstr>This Is Also Prompt Engineering</vt:lpstr>
      <vt:lpstr>Next week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CCJS 418E Lecture 1: Questions, Comparisons, and Code</dc:title>
  <dc:creator>Zubin Jelveh</dc:creator>
  <cp:lastModifiedBy>Zubin Jelveh</cp:lastModifiedBy>
  <cp:revision>122</cp:revision>
  <cp:lastPrinted>2025-09-04T18:50:49Z</cp:lastPrinted>
  <dcterms:created xsi:type="dcterms:W3CDTF">2021-01-25T02:56:49Z</dcterms:created>
  <dcterms:modified xsi:type="dcterms:W3CDTF">2025-09-04T18:57:10Z</dcterms:modified>
  <dc:subject>Fall 2026 Lecture 1</dc:subject>
  <dc:description>Fall 2026 redesign based on the Fall 2025 Lecture 1 template.</dc:description>
</cp:coreProperties>
</file>