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6"/>
    <p:sldId id="279" r:id="rId5"/>
    <p:sldId id="280" r:id="rId4"/>
  </p:sldIdLst>
  <p:sldSz cx="12191999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3608" autoAdjust="0"/>
  </p:normalViewPr>
  <p:slideViewPr>
    <p:cSldViewPr snapToGrid="0">
      <p:cViewPr varScale="1">
        <p:scale>
          <a:sx n="46" d="100"/>
          <a:sy n="46" d="100"/>
        </p:scale>
        <p:origin x="5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25.xml"/><Relationship Id="rId5" Type="http://schemas.openxmlformats.org/officeDocument/2006/relationships/slide" Target="slides/slide24.xml"/><Relationship Id="rId6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Early career (22–25)</c:v>
                </c:pt>
              </c:strCache>
            </c:strRef>
          </c:tx>
          <c:spPr>
            <a:ln w="381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86.95</c:v>
                </c:pt>
                <c:pt idx="1">
                  <c:v>90.94</c:v>
                </c:pt>
                <c:pt idx="2">
                  <c:v>92.75</c:v>
                </c:pt>
                <c:pt idx="3">
                  <c:v>93.32</c:v>
                </c:pt>
                <c:pt idx="4">
                  <c:v>97.79</c:v>
                </c:pt>
                <c:pt idx="5">
                  <c:v>100.0</c:v>
                </c:pt>
                <c:pt idx="6">
                  <c:v>99.25</c:v>
                </c:pt>
                <c:pt idx="7">
                  <c:v>97.61</c:v>
                </c:pt>
                <c:pt idx="8">
                  <c:v>98.55</c:v>
                </c:pt>
                <c:pt idx="9">
                  <c:v>99.06</c:v>
                </c:pt>
                <c:pt idx="10">
                  <c:v>97.24</c:v>
                </c:pt>
                <c:pt idx="11">
                  <c:v>95.76</c:v>
                </c:pt>
                <c:pt idx="12">
                  <c:v>95.71</c:v>
                </c:pt>
                <c:pt idx="13">
                  <c:v>95.63</c:v>
                </c:pt>
                <c:pt idx="14">
                  <c:v>93.22</c:v>
                </c:pt>
                <c:pt idx="15">
                  <c:v>91.36</c:v>
                </c:pt>
                <c:pt idx="16">
                  <c:v>91.27</c:v>
                </c:pt>
                <c:pt idx="17">
                  <c:v>91.5</c:v>
                </c:pt>
                <c:pt idx="18">
                  <c:v>89.83</c:v>
                </c:pt>
                <c:pt idx="19">
                  <c:v>87.59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Mid-career (35–40)</c:v>
                </c:pt>
              </c:strCache>
            </c:strRef>
          </c:tx>
          <c:spPr>
            <a:ln w="38100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91.12</c:v>
                </c:pt>
                <c:pt idx="1">
                  <c:v>93.23</c:v>
                </c:pt>
                <c:pt idx="2">
                  <c:v>95.0</c:v>
                </c:pt>
                <c:pt idx="3">
                  <c:v>96.33</c:v>
                </c:pt>
                <c:pt idx="4">
                  <c:v>97.92</c:v>
                </c:pt>
                <c:pt idx="5">
                  <c:v>100.0</c:v>
                </c:pt>
                <c:pt idx="6">
                  <c:v>101.2</c:v>
                </c:pt>
                <c:pt idx="7">
                  <c:v>102.0</c:v>
                </c:pt>
                <c:pt idx="8">
                  <c:v>102.6</c:v>
                </c:pt>
                <c:pt idx="9">
                  <c:v>104.1</c:v>
                </c:pt>
                <c:pt idx="10">
                  <c:v>104.8</c:v>
                </c:pt>
                <c:pt idx="11">
                  <c:v>105.6</c:v>
                </c:pt>
                <c:pt idx="12">
                  <c:v>106.3</c:v>
                </c:pt>
                <c:pt idx="13">
                  <c:v>107.2</c:v>
                </c:pt>
                <c:pt idx="14">
                  <c:v>107.3</c:v>
                </c:pt>
                <c:pt idx="15">
                  <c:v>107.8</c:v>
                </c:pt>
                <c:pt idx="16">
                  <c:v>108.1</c:v>
                </c:pt>
                <c:pt idx="17">
                  <c:v>109.1</c:v>
                </c:pt>
                <c:pt idx="18">
                  <c:v>109.4</c:v>
                </c:pt>
                <c:pt idx="19">
                  <c:v>109.1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Cambria"/>
              </a:defRPr>
            </a:pPr>
          </a:p>
        </c:txPr>
        <c:crossAx val="2118791784"/>
        <c:crosses val="autoZero"/>
        <c:majorUnit val="10.0"/>
      </c:valAx>
    </c:plotArea>
    <c:legend>
      <c:legendPos val="b"/>
      <c:layout/>
      <c:overlay val="0"/>
      <c:txPr>
        <a:bodyPr/>
        <a:lstStyle/>
        <a:p>
          <a:pPr>
            <a:defRPr sz="1500">
              <a:latin typeface="Cambria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Quintile 1 (least exposed)</c:v>
                </c:pt>
              </c:strCache>
            </c:strRef>
          </c:tx>
          <c:spPr>
            <a:ln w="17145">
              <a:solidFill>
                <a:srgbClr val="D2D2D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85.61999999999999</c:v>
                </c:pt>
                <c:pt idx="1">
                  <c:v>88.24</c:v>
                </c:pt>
                <c:pt idx="2">
                  <c:v>90.82</c:v>
                </c:pt>
                <c:pt idx="3">
                  <c:v>94.64</c:v>
                </c:pt>
                <c:pt idx="4">
                  <c:v>97.68</c:v>
                </c:pt>
                <c:pt idx="5">
                  <c:v>100.0</c:v>
                </c:pt>
                <c:pt idx="6">
                  <c:v>102.8</c:v>
                </c:pt>
                <c:pt idx="7">
                  <c:v>104.1</c:v>
                </c:pt>
                <c:pt idx="8">
                  <c:v>104.8</c:v>
                </c:pt>
                <c:pt idx="9">
                  <c:v>108.3</c:v>
                </c:pt>
                <c:pt idx="10">
                  <c:v>107.8</c:v>
                </c:pt>
                <c:pt idx="11">
                  <c:v>110.2</c:v>
                </c:pt>
                <c:pt idx="12">
                  <c:v>109.6</c:v>
                </c:pt>
                <c:pt idx="13">
                  <c:v>111.6</c:v>
                </c:pt>
                <c:pt idx="14">
                  <c:v>110.7</c:v>
                </c:pt>
                <c:pt idx="15">
                  <c:v>110.1</c:v>
                </c:pt>
                <c:pt idx="16">
                  <c:v>110.1</c:v>
                </c:pt>
                <c:pt idx="17">
                  <c:v>109.5</c:v>
                </c:pt>
                <c:pt idx="18">
                  <c:v>109.1</c:v>
                </c:pt>
                <c:pt idx="19">
                  <c:v>108.8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Quintile 2</c:v>
                </c:pt>
              </c:strCache>
            </c:strRef>
          </c:tx>
          <c:spPr>
            <a:ln w="17145">
              <a:solidFill>
                <a:srgbClr val="AFAFAF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83.2</c:v>
                </c:pt>
                <c:pt idx="1">
                  <c:v>88.06</c:v>
                </c:pt>
                <c:pt idx="2">
                  <c:v>90.15</c:v>
                </c:pt>
                <c:pt idx="3">
                  <c:v>93.14</c:v>
                </c:pt>
                <c:pt idx="4">
                  <c:v>96.35</c:v>
                </c:pt>
                <c:pt idx="5">
                  <c:v>100.0</c:v>
                </c:pt>
                <c:pt idx="6">
                  <c:v>102.9</c:v>
                </c:pt>
                <c:pt idx="7">
                  <c:v>104.5</c:v>
                </c:pt>
                <c:pt idx="8">
                  <c:v>104.9</c:v>
                </c:pt>
                <c:pt idx="9">
                  <c:v>107.3</c:v>
                </c:pt>
                <c:pt idx="10">
                  <c:v>107.8</c:v>
                </c:pt>
                <c:pt idx="11">
                  <c:v>110.2</c:v>
                </c:pt>
                <c:pt idx="12">
                  <c:v>110.5</c:v>
                </c:pt>
                <c:pt idx="13">
                  <c:v>112.7</c:v>
                </c:pt>
                <c:pt idx="14">
                  <c:v>112.3</c:v>
                </c:pt>
                <c:pt idx="15">
                  <c:v>114.0</c:v>
                </c:pt>
                <c:pt idx="16">
                  <c:v>113.9</c:v>
                </c:pt>
                <c:pt idx="17">
                  <c:v>114.7</c:v>
                </c:pt>
                <c:pt idx="18">
                  <c:v>113.4</c:v>
                </c:pt>
                <c:pt idx="19">
                  <c:v>113.4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Quintile 3</c:v>
                </c:pt>
              </c:strCache>
            </c:strRef>
          </c:tx>
          <c:spPr>
            <a:ln w="17145">
              <a:solidFill>
                <a:srgbClr val="8282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83.71</c:v>
                </c:pt>
                <c:pt idx="1">
                  <c:v>92.72</c:v>
                </c:pt>
                <c:pt idx="2">
                  <c:v>91.27</c:v>
                </c:pt>
                <c:pt idx="3">
                  <c:v>89.25999999999999</c:v>
                </c:pt>
                <c:pt idx="4">
                  <c:v>92.62</c:v>
                </c:pt>
                <c:pt idx="5">
                  <c:v>100.0</c:v>
                </c:pt>
                <c:pt idx="6">
                  <c:v>100.5</c:v>
                </c:pt>
                <c:pt idx="7">
                  <c:v>99.85</c:v>
                </c:pt>
                <c:pt idx="8">
                  <c:v>102.1</c:v>
                </c:pt>
                <c:pt idx="9">
                  <c:v>109.4</c:v>
                </c:pt>
                <c:pt idx="10">
                  <c:v>107.1</c:v>
                </c:pt>
                <c:pt idx="11">
                  <c:v>106.5</c:v>
                </c:pt>
                <c:pt idx="12">
                  <c:v>107.4</c:v>
                </c:pt>
                <c:pt idx="13">
                  <c:v>112.20000000000002</c:v>
                </c:pt>
                <c:pt idx="14">
                  <c:v>108.3</c:v>
                </c:pt>
                <c:pt idx="15">
                  <c:v>105.5</c:v>
                </c:pt>
                <c:pt idx="16">
                  <c:v>106.1</c:v>
                </c:pt>
                <c:pt idx="17">
                  <c:v>110.0</c:v>
                </c:pt>
                <c:pt idx="18">
                  <c:v>107.2</c:v>
                </c:pt>
                <c:pt idx="19">
                  <c:v>106.6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Quintile 4</c:v>
                </c:pt>
              </c:strCache>
            </c:strRef>
          </c:tx>
          <c:spPr>
            <a:ln w="17145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83.34</c:v>
                </c:pt>
                <c:pt idx="1">
                  <c:v>88.3</c:v>
                </c:pt>
                <c:pt idx="2">
                  <c:v>91.08</c:v>
                </c:pt>
                <c:pt idx="3">
                  <c:v>92.76</c:v>
                </c:pt>
                <c:pt idx="4">
                  <c:v>96.83</c:v>
                </c:pt>
                <c:pt idx="5">
                  <c:v>100.0</c:v>
                </c:pt>
                <c:pt idx="6">
                  <c:v>100.9</c:v>
                </c:pt>
                <c:pt idx="7">
                  <c:v>99.8</c:v>
                </c:pt>
                <c:pt idx="8">
                  <c:v>99.89</c:v>
                </c:pt>
                <c:pt idx="9">
                  <c:v>101.29999999999998</c:v>
                </c:pt>
                <c:pt idx="10">
                  <c:v>99.85</c:v>
                </c:pt>
                <c:pt idx="11">
                  <c:v>98.63</c:v>
                </c:pt>
                <c:pt idx="12">
                  <c:v>98.73</c:v>
                </c:pt>
                <c:pt idx="13">
                  <c:v>98.73</c:v>
                </c:pt>
                <c:pt idx="14">
                  <c:v>97.3</c:v>
                </c:pt>
                <c:pt idx="15">
                  <c:v>95.68</c:v>
                </c:pt>
                <c:pt idx="16">
                  <c:v>95.83</c:v>
                </c:pt>
                <c:pt idx="17">
                  <c:v>96.14</c:v>
                </c:pt>
                <c:pt idx="18">
                  <c:v>94.45</c:v>
                </c:pt>
                <c:pt idx="19">
                  <c:v>91.91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Quintile 5 (most exposed)</c:v>
                </c:pt>
              </c:strCache>
            </c:strRef>
          </c:tx>
          <c:spPr>
            <a:ln w="254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86.95</c:v>
                </c:pt>
                <c:pt idx="1">
                  <c:v>90.94</c:v>
                </c:pt>
                <c:pt idx="2">
                  <c:v>92.75</c:v>
                </c:pt>
                <c:pt idx="3">
                  <c:v>93.32</c:v>
                </c:pt>
                <c:pt idx="4">
                  <c:v>97.79</c:v>
                </c:pt>
                <c:pt idx="5">
                  <c:v>100.0</c:v>
                </c:pt>
                <c:pt idx="6">
                  <c:v>99.25</c:v>
                </c:pt>
                <c:pt idx="7">
                  <c:v>97.61</c:v>
                </c:pt>
                <c:pt idx="8">
                  <c:v>98.55</c:v>
                </c:pt>
                <c:pt idx="9">
                  <c:v>99.06</c:v>
                </c:pt>
                <c:pt idx="10">
                  <c:v>97.24</c:v>
                </c:pt>
                <c:pt idx="11">
                  <c:v>95.76</c:v>
                </c:pt>
                <c:pt idx="12">
                  <c:v>95.71</c:v>
                </c:pt>
                <c:pt idx="13">
                  <c:v>95.63</c:v>
                </c:pt>
                <c:pt idx="14">
                  <c:v>93.22</c:v>
                </c:pt>
                <c:pt idx="15">
                  <c:v>91.36</c:v>
                </c:pt>
                <c:pt idx="16">
                  <c:v>91.27</c:v>
                </c:pt>
                <c:pt idx="17">
                  <c:v>91.5</c:v>
                </c:pt>
                <c:pt idx="18">
                  <c:v>89.83</c:v>
                </c:pt>
                <c:pt idx="19">
                  <c:v>87.59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Quintile 1 (least exposed)</c:v>
                </c:pt>
              </c:strCache>
            </c:strRef>
          </c:tx>
          <c:spPr>
            <a:ln w="17145">
              <a:solidFill>
                <a:srgbClr val="D2D2D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90.26</c:v>
                </c:pt>
                <c:pt idx="1">
                  <c:v>92.64</c:v>
                </c:pt>
                <c:pt idx="2">
                  <c:v>94.5</c:v>
                </c:pt>
                <c:pt idx="3">
                  <c:v>97.51</c:v>
                </c:pt>
                <c:pt idx="4">
                  <c:v>98.75</c:v>
                </c:pt>
                <c:pt idx="5">
                  <c:v>100.0</c:v>
                </c:pt>
                <c:pt idx="6">
                  <c:v>101.7</c:v>
                </c:pt>
                <c:pt idx="7">
                  <c:v>102.9</c:v>
                </c:pt>
                <c:pt idx="8">
                  <c:v>102.8</c:v>
                </c:pt>
                <c:pt idx="9">
                  <c:v>103.6</c:v>
                </c:pt>
                <c:pt idx="10">
                  <c:v>103.4</c:v>
                </c:pt>
                <c:pt idx="11">
                  <c:v>104.9</c:v>
                </c:pt>
                <c:pt idx="12">
                  <c:v>105.1</c:v>
                </c:pt>
                <c:pt idx="13">
                  <c:v>106.6</c:v>
                </c:pt>
                <c:pt idx="14">
                  <c:v>105.5</c:v>
                </c:pt>
                <c:pt idx="15">
                  <c:v>105.3</c:v>
                </c:pt>
                <c:pt idx="16">
                  <c:v>104.7</c:v>
                </c:pt>
                <c:pt idx="17">
                  <c:v>105.3</c:v>
                </c:pt>
                <c:pt idx="18">
                  <c:v>105.3</c:v>
                </c:pt>
                <c:pt idx="19">
                  <c:v>105.7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Quintile 2</c:v>
                </c:pt>
              </c:strCache>
            </c:strRef>
          </c:tx>
          <c:spPr>
            <a:ln w="17145">
              <a:solidFill>
                <a:srgbClr val="AFAFAF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88.02</c:v>
                </c:pt>
                <c:pt idx="1">
                  <c:v>91.87</c:v>
                </c:pt>
                <c:pt idx="2">
                  <c:v>93.46</c:v>
                </c:pt>
                <c:pt idx="3">
                  <c:v>95.55</c:v>
                </c:pt>
                <c:pt idx="4">
                  <c:v>96.97</c:v>
                </c:pt>
                <c:pt idx="5">
                  <c:v>100.0</c:v>
                </c:pt>
                <c:pt idx="6">
                  <c:v>101.9</c:v>
                </c:pt>
                <c:pt idx="7">
                  <c:v>103.1</c:v>
                </c:pt>
                <c:pt idx="8">
                  <c:v>103.0</c:v>
                </c:pt>
                <c:pt idx="9">
                  <c:v>105.3</c:v>
                </c:pt>
                <c:pt idx="10">
                  <c:v>105.2</c:v>
                </c:pt>
                <c:pt idx="11">
                  <c:v>107.2</c:v>
                </c:pt>
                <c:pt idx="12">
                  <c:v>107.8</c:v>
                </c:pt>
                <c:pt idx="13">
                  <c:v>108.9</c:v>
                </c:pt>
                <c:pt idx="14">
                  <c:v>109.1</c:v>
                </c:pt>
                <c:pt idx="15">
                  <c:v>110.3</c:v>
                </c:pt>
                <c:pt idx="16">
                  <c:v>109.7</c:v>
                </c:pt>
                <c:pt idx="17">
                  <c:v>110.5</c:v>
                </c:pt>
                <c:pt idx="18">
                  <c:v>109.6</c:v>
                </c:pt>
                <c:pt idx="19">
                  <c:v>109.7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Quintile 3</c:v>
                </c:pt>
              </c:strCache>
            </c:strRef>
          </c:tx>
          <c:spPr>
            <a:ln w="17145">
              <a:solidFill>
                <a:srgbClr val="8282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87.72999999999999</c:v>
                </c:pt>
                <c:pt idx="1">
                  <c:v>93.78</c:v>
                </c:pt>
                <c:pt idx="2">
                  <c:v>94.94</c:v>
                </c:pt>
                <c:pt idx="3">
                  <c:v>93.85</c:v>
                </c:pt>
                <c:pt idx="4">
                  <c:v>95.64</c:v>
                </c:pt>
                <c:pt idx="5">
                  <c:v>100.0</c:v>
                </c:pt>
                <c:pt idx="6">
                  <c:v>100.8</c:v>
                </c:pt>
                <c:pt idx="7">
                  <c:v>100.7</c:v>
                </c:pt>
                <c:pt idx="8">
                  <c:v>100.6</c:v>
                </c:pt>
                <c:pt idx="9">
                  <c:v>105.1</c:v>
                </c:pt>
                <c:pt idx="10">
                  <c:v>104.8</c:v>
                </c:pt>
                <c:pt idx="11">
                  <c:v>105.2</c:v>
                </c:pt>
                <c:pt idx="12">
                  <c:v>105.6</c:v>
                </c:pt>
                <c:pt idx="13">
                  <c:v>109.9</c:v>
                </c:pt>
                <c:pt idx="14">
                  <c:v>108.0</c:v>
                </c:pt>
                <c:pt idx="15">
                  <c:v>107.2</c:v>
                </c:pt>
                <c:pt idx="16">
                  <c:v>107.6</c:v>
                </c:pt>
                <c:pt idx="17">
                  <c:v>111.4</c:v>
                </c:pt>
                <c:pt idx="18">
                  <c:v>110.0</c:v>
                </c:pt>
                <c:pt idx="19">
                  <c:v>110.0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Quintile 4</c:v>
                </c:pt>
              </c:strCache>
            </c:strRef>
          </c:tx>
          <c:spPr>
            <a:ln w="17145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89.39</c:v>
                </c:pt>
                <c:pt idx="1">
                  <c:v>92.37</c:v>
                </c:pt>
                <c:pt idx="2">
                  <c:v>94.2</c:v>
                </c:pt>
                <c:pt idx="3">
                  <c:v>95.99</c:v>
                </c:pt>
                <c:pt idx="4">
                  <c:v>97.47</c:v>
                </c:pt>
                <c:pt idx="5">
                  <c:v>100.0</c:v>
                </c:pt>
                <c:pt idx="6">
                  <c:v>100.5</c:v>
                </c:pt>
                <c:pt idx="7">
                  <c:v>100.29999999999998</c:v>
                </c:pt>
                <c:pt idx="8">
                  <c:v>99.67</c:v>
                </c:pt>
                <c:pt idx="9">
                  <c:v>100.7</c:v>
                </c:pt>
                <c:pt idx="10">
                  <c:v>100.6</c:v>
                </c:pt>
                <c:pt idx="11">
                  <c:v>100.7</c:v>
                </c:pt>
                <c:pt idx="12">
                  <c:v>100.29999999999998</c:v>
                </c:pt>
                <c:pt idx="13">
                  <c:v>100.9</c:v>
                </c:pt>
                <c:pt idx="14">
                  <c:v>100.4</c:v>
                </c:pt>
                <c:pt idx="15">
                  <c:v>99.6</c:v>
                </c:pt>
                <c:pt idx="16">
                  <c:v>99.0</c:v>
                </c:pt>
                <c:pt idx="17">
                  <c:v>99.08</c:v>
                </c:pt>
                <c:pt idx="18">
                  <c:v>98.24</c:v>
                </c:pt>
                <c:pt idx="19">
                  <c:v>97.28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Quintile 5 (most exposed)</c:v>
                </c:pt>
              </c:strCache>
            </c:strRef>
          </c:tx>
          <c:spPr>
            <a:ln w="254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89.60000000000001</c:v>
                </c:pt>
                <c:pt idx="1">
                  <c:v>92.51</c:v>
                </c:pt>
                <c:pt idx="2">
                  <c:v>94.74</c:v>
                </c:pt>
                <c:pt idx="3">
                  <c:v>96.09</c:v>
                </c:pt>
                <c:pt idx="4">
                  <c:v>97.9</c:v>
                </c:pt>
                <c:pt idx="5">
                  <c:v>100.0</c:v>
                </c:pt>
                <c:pt idx="6">
                  <c:v>100.2</c:v>
                </c:pt>
                <c:pt idx="7">
                  <c:v>100.6</c:v>
                </c:pt>
                <c:pt idx="8">
                  <c:v>100.5</c:v>
                </c:pt>
                <c:pt idx="9">
                  <c:v>101.9</c:v>
                </c:pt>
                <c:pt idx="10">
                  <c:v>101.5</c:v>
                </c:pt>
                <c:pt idx="11">
                  <c:v>101.6</c:v>
                </c:pt>
                <c:pt idx="12">
                  <c:v>101.4</c:v>
                </c:pt>
                <c:pt idx="13">
                  <c:v>101.9</c:v>
                </c:pt>
                <c:pt idx="14">
                  <c:v>100.9</c:v>
                </c:pt>
                <c:pt idx="15">
                  <c:v>100.2</c:v>
                </c:pt>
                <c:pt idx="16">
                  <c:v>99.34</c:v>
                </c:pt>
                <c:pt idx="17">
                  <c:v>99.93</c:v>
                </c:pt>
                <c:pt idx="18">
                  <c:v>98.97</c:v>
                </c:pt>
                <c:pt idx="19">
                  <c:v>97.76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Quintile 1 (least exposed)</c:v>
                </c:pt>
              </c:strCache>
            </c:strRef>
          </c:tx>
          <c:spPr>
            <a:ln w="17145">
              <a:solidFill>
                <a:srgbClr val="D2D2D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86.4</c:v>
                </c:pt>
                <c:pt idx="1">
                  <c:v>89.64</c:v>
                </c:pt>
                <c:pt idx="2">
                  <c:v>92.65</c:v>
                </c:pt>
                <c:pt idx="3">
                  <c:v>94.47</c:v>
                </c:pt>
                <c:pt idx="4">
                  <c:v>97.38</c:v>
                </c:pt>
                <c:pt idx="5">
                  <c:v>100.0</c:v>
                </c:pt>
                <c:pt idx="6">
                  <c:v>102.5</c:v>
                </c:pt>
                <c:pt idx="7">
                  <c:v>102.7</c:v>
                </c:pt>
                <c:pt idx="8">
                  <c:v>103.8</c:v>
                </c:pt>
                <c:pt idx="9">
                  <c:v>105.6</c:v>
                </c:pt>
                <c:pt idx="10">
                  <c:v>106.3</c:v>
                </c:pt>
                <c:pt idx="11">
                  <c:v>107.7</c:v>
                </c:pt>
                <c:pt idx="12">
                  <c:v>108.5</c:v>
                </c:pt>
                <c:pt idx="13">
                  <c:v>109.9</c:v>
                </c:pt>
                <c:pt idx="14">
                  <c:v>109.0</c:v>
                </c:pt>
                <c:pt idx="15">
                  <c:v>107.8</c:v>
                </c:pt>
                <c:pt idx="16">
                  <c:v>107.3</c:v>
                </c:pt>
                <c:pt idx="17">
                  <c:v>107.9</c:v>
                </c:pt>
                <c:pt idx="18">
                  <c:v>107.3</c:v>
                </c:pt>
                <c:pt idx="19">
                  <c:v>105.9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Quintile 2</c:v>
                </c:pt>
              </c:strCache>
            </c:strRef>
          </c:tx>
          <c:spPr>
            <a:ln w="17145">
              <a:solidFill>
                <a:srgbClr val="AFAFAF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85.1</c:v>
                </c:pt>
                <c:pt idx="1">
                  <c:v>89.64</c:v>
                </c:pt>
                <c:pt idx="2">
                  <c:v>91.71</c:v>
                </c:pt>
                <c:pt idx="3">
                  <c:v>94.33</c:v>
                </c:pt>
                <c:pt idx="4">
                  <c:v>97.0</c:v>
                </c:pt>
                <c:pt idx="5">
                  <c:v>100.0</c:v>
                </c:pt>
                <c:pt idx="6">
                  <c:v>102.3</c:v>
                </c:pt>
                <c:pt idx="7">
                  <c:v>103.6</c:v>
                </c:pt>
                <c:pt idx="8">
                  <c:v>103.6</c:v>
                </c:pt>
                <c:pt idx="9">
                  <c:v>106.1</c:v>
                </c:pt>
                <c:pt idx="10">
                  <c:v>107.0</c:v>
                </c:pt>
                <c:pt idx="11">
                  <c:v>108.5</c:v>
                </c:pt>
                <c:pt idx="12">
                  <c:v>109.0</c:v>
                </c:pt>
                <c:pt idx="13">
                  <c:v>110.6</c:v>
                </c:pt>
                <c:pt idx="14">
                  <c:v>110.2</c:v>
                </c:pt>
                <c:pt idx="15">
                  <c:v>110.9</c:v>
                </c:pt>
                <c:pt idx="16">
                  <c:v>110.1</c:v>
                </c:pt>
                <c:pt idx="17">
                  <c:v>110.4</c:v>
                </c:pt>
                <c:pt idx="18">
                  <c:v>108.8</c:v>
                </c:pt>
                <c:pt idx="19">
                  <c:v>108.7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Quintile 3</c:v>
                </c:pt>
              </c:strCache>
            </c:strRef>
          </c:tx>
          <c:spPr>
            <a:ln w="17145">
              <a:solidFill>
                <a:srgbClr val="8282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86.0</c:v>
                </c:pt>
                <c:pt idx="1">
                  <c:v>91.4</c:v>
                </c:pt>
                <c:pt idx="2">
                  <c:v>93.26</c:v>
                </c:pt>
                <c:pt idx="3">
                  <c:v>93.34</c:v>
                </c:pt>
                <c:pt idx="4">
                  <c:v>95.58</c:v>
                </c:pt>
                <c:pt idx="5">
                  <c:v>100.0</c:v>
                </c:pt>
                <c:pt idx="6">
                  <c:v>101.5</c:v>
                </c:pt>
                <c:pt idx="7">
                  <c:v>102.4</c:v>
                </c:pt>
                <c:pt idx="8">
                  <c:v>102.6</c:v>
                </c:pt>
                <c:pt idx="9">
                  <c:v>107.0</c:v>
                </c:pt>
                <c:pt idx="10">
                  <c:v>106.6</c:v>
                </c:pt>
                <c:pt idx="11">
                  <c:v>107.1</c:v>
                </c:pt>
                <c:pt idx="12">
                  <c:v>107.9</c:v>
                </c:pt>
                <c:pt idx="13">
                  <c:v>110.9</c:v>
                </c:pt>
                <c:pt idx="14">
                  <c:v>109.3</c:v>
                </c:pt>
                <c:pt idx="15">
                  <c:v>108.8</c:v>
                </c:pt>
                <c:pt idx="16">
                  <c:v>108.9</c:v>
                </c:pt>
                <c:pt idx="17">
                  <c:v>110.8</c:v>
                </c:pt>
                <c:pt idx="18">
                  <c:v>109.3</c:v>
                </c:pt>
                <c:pt idx="19">
                  <c:v>108.3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Quintile 4</c:v>
                </c:pt>
              </c:strCache>
            </c:strRef>
          </c:tx>
          <c:spPr>
            <a:ln w="17145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88.89</c:v>
                </c:pt>
                <c:pt idx="1">
                  <c:v>91.68</c:v>
                </c:pt>
                <c:pt idx="2">
                  <c:v>93.85</c:v>
                </c:pt>
                <c:pt idx="3">
                  <c:v>95.76</c:v>
                </c:pt>
                <c:pt idx="4">
                  <c:v>97.67</c:v>
                </c:pt>
                <c:pt idx="5">
                  <c:v>100.0</c:v>
                </c:pt>
                <c:pt idx="6">
                  <c:v>101.0</c:v>
                </c:pt>
                <c:pt idx="7">
                  <c:v>101.7</c:v>
                </c:pt>
                <c:pt idx="8">
                  <c:v>101.6</c:v>
                </c:pt>
                <c:pt idx="9">
                  <c:v>102.3</c:v>
                </c:pt>
                <c:pt idx="10">
                  <c:v>102.8</c:v>
                </c:pt>
                <c:pt idx="11">
                  <c:v>102.8</c:v>
                </c:pt>
                <c:pt idx="12">
                  <c:v>102.7</c:v>
                </c:pt>
                <c:pt idx="13">
                  <c:v>103.3</c:v>
                </c:pt>
                <c:pt idx="14">
                  <c:v>102.8</c:v>
                </c:pt>
                <c:pt idx="15">
                  <c:v>102.6</c:v>
                </c:pt>
                <c:pt idx="16">
                  <c:v>101.9</c:v>
                </c:pt>
                <c:pt idx="17">
                  <c:v>102.0</c:v>
                </c:pt>
                <c:pt idx="18">
                  <c:v>101.5</c:v>
                </c:pt>
                <c:pt idx="19">
                  <c:v>100.8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Quintile 5 (most exposed)</c:v>
                </c:pt>
              </c:strCache>
            </c:strRef>
          </c:tx>
          <c:spPr>
            <a:ln w="254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88.75</c:v>
                </c:pt>
                <c:pt idx="1">
                  <c:v>91.9</c:v>
                </c:pt>
                <c:pt idx="2">
                  <c:v>94.07</c:v>
                </c:pt>
                <c:pt idx="3">
                  <c:v>95.5</c:v>
                </c:pt>
                <c:pt idx="4">
                  <c:v>97.52</c:v>
                </c:pt>
                <c:pt idx="5">
                  <c:v>100.0</c:v>
                </c:pt>
                <c:pt idx="6">
                  <c:v>101.0</c:v>
                </c:pt>
                <c:pt idx="7">
                  <c:v>102.0</c:v>
                </c:pt>
                <c:pt idx="8">
                  <c:v>102.7</c:v>
                </c:pt>
                <c:pt idx="9">
                  <c:v>104.3</c:v>
                </c:pt>
                <c:pt idx="10">
                  <c:v>104.6</c:v>
                </c:pt>
                <c:pt idx="11">
                  <c:v>105.0</c:v>
                </c:pt>
                <c:pt idx="12">
                  <c:v>105.2</c:v>
                </c:pt>
                <c:pt idx="13">
                  <c:v>105.6</c:v>
                </c:pt>
                <c:pt idx="14">
                  <c:v>105.0</c:v>
                </c:pt>
                <c:pt idx="15">
                  <c:v>104.6</c:v>
                </c:pt>
                <c:pt idx="16">
                  <c:v>103.8</c:v>
                </c:pt>
                <c:pt idx="17">
                  <c:v>103.9</c:v>
                </c:pt>
                <c:pt idx="18">
                  <c:v>103.3</c:v>
                </c:pt>
                <c:pt idx="19">
                  <c:v>102.1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Quintile 1 (least exposed)</c:v>
                </c:pt>
              </c:strCache>
            </c:strRef>
          </c:tx>
          <c:spPr>
            <a:ln w="17145">
              <a:solidFill>
                <a:srgbClr val="D2D2D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89.81</c:v>
                </c:pt>
                <c:pt idx="1">
                  <c:v>92.32</c:v>
                </c:pt>
                <c:pt idx="2">
                  <c:v>94.41</c:v>
                </c:pt>
                <c:pt idx="3">
                  <c:v>96.81</c:v>
                </c:pt>
                <c:pt idx="4">
                  <c:v>97.96</c:v>
                </c:pt>
                <c:pt idx="5">
                  <c:v>100.0</c:v>
                </c:pt>
                <c:pt idx="6">
                  <c:v>101.8</c:v>
                </c:pt>
                <c:pt idx="7">
                  <c:v>103.0</c:v>
                </c:pt>
                <c:pt idx="8">
                  <c:v>103.4</c:v>
                </c:pt>
                <c:pt idx="9">
                  <c:v>105.0</c:v>
                </c:pt>
                <c:pt idx="10">
                  <c:v>105.4</c:v>
                </c:pt>
                <c:pt idx="11">
                  <c:v>107.4</c:v>
                </c:pt>
                <c:pt idx="12">
                  <c:v>107.9</c:v>
                </c:pt>
                <c:pt idx="13">
                  <c:v>110.5</c:v>
                </c:pt>
                <c:pt idx="14">
                  <c:v>110.2</c:v>
                </c:pt>
                <c:pt idx="15">
                  <c:v>111.1</c:v>
                </c:pt>
                <c:pt idx="16">
                  <c:v>111.6</c:v>
                </c:pt>
                <c:pt idx="17">
                  <c:v>112.7</c:v>
                </c:pt>
                <c:pt idx="18">
                  <c:v>112.9</c:v>
                </c:pt>
                <c:pt idx="19">
                  <c:v>113.3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Quintile 2</c:v>
                </c:pt>
              </c:strCache>
            </c:strRef>
          </c:tx>
          <c:spPr>
            <a:ln w="17145">
              <a:solidFill>
                <a:srgbClr val="AFAFAF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87.58</c:v>
                </c:pt>
                <c:pt idx="1">
                  <c:v>91.23</c:v>
                </c:pt>
                <c:pt idx="2">
                  <c:v>92.73</c:v>
                </c:pt>
                <c:pt idx="3">
                  <c:v>94.8</c:v>
                </c:pt>
                <c:pt idx="4">
                  <c:v>96.69</c:v>
                </c:pt>
                <c:pt idx="5">
                  <c:v>100.0</c:v>
                </c:pt>
                <c:pt idx="6">
                  <c:v>101.8</c:v>
                </c:pt>
                <c:pt idx="7">
                  <c:v>103.3</c:v>
                </c:pt>
                <c:pt idx="8">
                  <c:v>103.6</c:v>
                </c:pt>
                <c:pt idx="9">
                  <c:v>106.1</c:v>
                </c:pt>
                <c:pt idx="10">
                  <c:v>107.0</c:v>
                </c:pt>
                <c:pt idx="11">
                  <c:v>109.1</c:v>
                </c:pt>
                <c:pt idx="12">
                  <c:v>110.1</c:v>
                </c:pt>
                <c:pt idx="13">
                  <c:v>112.3</c:v>
                </c:pt>
                <c:pt idx="14">
                  <c:v>113.3</c:v>
                </c:pt>
                <c:pt idx="15">
                  <c:v>114.6</c:v>
                </c:pt>
                <c:pt idx="16">
                  <c:v>115.0</c:v>
                </c:pt>
                <c:pt idx="17">
                  <c:v>116.1</c:v>
                </c:pt>
                <c:pt idx="18">
                  <c:v>115.6</c:v>
                </c:pt>
                <c:pt idx="19">
                  <c:v>116.0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Quintile 3</c:v>
                </c:pt>
              </c:strCache>
            </c:strRef>
          </c:tx>
          <c:spPr>
            <a:ln w="17145">
              <a:solidFill>
                <a:srgbClr val="8282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88.32</c:v>
                </c:pt>
                <c:pt idx="1">
                  <c:v>92.67</c:v>
                </c:pt>
                <c:pt idx="2">
                  <c:v>94.04</c:v>
                </c:pt>
                <c:pt idx="3">
                  <c:v>94.84</c:v>
                </c:pt>
                <c:pt idx="4">
                  <c:v>96.13</c:v>
                </c:pt>
                <c:pt idx="5">
                  <c:v>100.0</c:v>
                </c:pt>
                <c:pt idx="6">
                  <c:v>101.2</c:v>
                </c:pt>
                <c:pt idx="7">
                  <c:v>102.1</c:v>
                </c:pt>
                <c:pt idx="8">
                  <c:v>102.5</c:v>
                </c:pt>
                <c:pt idx="9">
                  <c:v>106.5</c:v>
                </c:pt>
                <c:pt idx="10">
                  <c:v>106.7</c:v>
                </c:pt>
                <c:pt idx="11">
                  <c:v>107.8</c:v>
                </c:pt>
                <c:pt idx="12">
                  <c:v>108.6</c:v>
                </c:pt>
                <c:pt idx="13">
                  <c:v>112.7</c:v>
                </c:pt>
                <c:pt idx="14">
                  <c:v>112.20000000000002</c:v>
                </c:pt>
                <c:pt idx="15">
                  <c:v>112.6</c:v>
                </c:pt>
                <c:pt idx="16">
                  <c:v>113.79999999999998</c:v>
                </c:pt>
                <c:pt idx="17">
                  <c:v>117.1</c:v>
                </c:pt>
                <c:pt idx="18">
                  <c:v>116.8</c:v>
                </c:pt>
                <c:pt idx="19">
                  <c:v>117.2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Quintile 4</c:v>
                </c:pt>
              </c:strCache>
            </c:strRef>
          </c:tx>
          <c:spPr>
            <a:ln w="17145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89.68</c:v>
                </c:pt>
                <c:pt idx="1">
                  <c:v>92.24</c:v>
                </c:pt>
                <c:pt idx="2">
                  <c:v>94.01</c:v>
                </c:pt>
                <c:pt idx="3">
                  <c:v>95.79</c:v>
                </c:pt>
                <c:pt idx="4">
                  <c:v>97.59</c:v>
                </c:pt>
                <c:pt idx="5">
                  <c:v>100.0</c:v>
                </c:pt>
                <c:pt idx="6">
                  <c:v>101.4</c:v>
                </c:pt>
                <c:pt idx="7">
                  <c:v>102.4</c:v>
                </c:pt>
                <c:pt idx="8">
                  <c:v>103.1</c:v>
                </c:pt>
                <c:pt idx="9">
                  <c:v>104.4</c:v>
                </c:pt>
                <c:pt idx="10">
                  <c:v>105.0</c:v>
                </c:pt>
                <c:pt idx="11">
                  <c:v>106.2</c:v>
                </c:pt>
                <c:pt idx="12">
                  <c:v>106.6</c:v>
                </c:pt>
                <c:pt idx="13">
                  <c:v>107.9</c:v>
                </c:pt>
                <c:pt idx="14">
                  <c:v>108.3</c:v>
                </c:pt>
                <c:pt idx="15">
                  <c:v>108.8</c:v>
                </c:pt>
                <c:pt idx="16">
                  <c:v>109.2</c:v>
                </c:pt>
                <c:pt idx="17">
                  <c:v>110.2</c:v>
                </c:pt>
                <c:pt idx="18">
                  <c:v>110.6</c:v>
                </c:pt>
                <c:pt idx="19">
                  <c:v>110.7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Quintile 5 (most exposed)</c:v>
                </c:pt>
              </c:strCache>
            </c:strRef>
          </c:tx>
          <c:spPr>
            <a:ln w="254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91.12</c:v>
                </c:pt>
                <c:pt idx="1">
                  <c:v>93.23</c:v>
                </c:pt>
                <c:pt idx="2">
                  <c:v>95.0</c:v>
                </c:pt>
                <c:pt idx="3">
                  <c:v>96.33</c:v>
                </c:pt>
                <c:pt idx="4">
                  <c:v>97.92</c:v>
                </c:pt>
                <c:pt idx="5">
                  <c:v>100.0</c:v>
                </c:pt>
                <c:pt idx="6">
                  <c:v>101.2</c:v>
                </c:pt>
                <c:pt idx="7">
                  <c:v>102.0</c:v>
                </c:pt>
                <c:pt idx="8">
                  <c:v>102.6</c:v>
                </c:pt>
                <c:pt idx="9">
                  <c:v>104.1</c:v>
                </c:pt>
                <c:pt idx="10">
                  <c:v>104.8</c:v>
                </c:pt>
                <c:pt idx="11">
                  <c:v>105.6</c:v>
                </c:pt>
                <c:pt idx="12">
                  <c:v>106.3</c:v>
                </c:pt>
                <c:pt idx="13">
                  <c:v>107.2</c:v>
                </c:pt>
                <c:pt idx="14">
                  <c:v>107.3</c:v>
                </c:pt>
                <c:pt idx="15">
                  <c:v>107.8</c:v>
                </c:pt>
                <c:pt idx="16">
                  <c:v>108.1</c:v>
                </c:pt>
                <c:pt idx="17">
                  <c:v>109.1</c:v>
                </c:pt>
                <c:pt idx="18">
                  <c:v>109.4</c:v>
                </c:pt>
                <c:pt idx="19">
                  <c:v>109.1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Quintile 1 (least exposed)</c:v>
                </c:pt>
              </c:strCache>
            </c:strRef>
          </c:tx>
          <c:spPr>
            <a:ln w="17145">
              <a:solidFill>
                <a:srgbClr val="D2D2D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90.58</c:v>
                </c:pt>
                <c:pt idx="1">
                  <c:v>93.05</c:v>
                </c:pt>
                <c:pt idx="2">
                  <c:v>94.93</c:v>
                </c:pt>
                <c:pt idx="3">
                  <c:v>96.85</c:v>
                </c:pt>
                <c:pt idx="4">
                  <c:v>98.28</c:v>
                </c:pt>
                <c:pt idx="5">
                  <c:v>100.0</c:v>
                </c:pt>
                <c:pt idx="6">
                  <c:v>102.0</c:v>
                </c:pt>
                <c:pt idx="7">
                  <c:v>103.2</c:v>
                </c:pt>
                <c:pt idx="8">
                  <c:v>103.5</c:v>
                </c:pt>
                <c:pt idx="9">
                  <c:v>104.7</c:v>
                </c:pt>
                <c:pt idx="10">
                  <c:v>105.1</c:v>
                </c:pt>
                <c:pt idx="11">
                  <c:v>105.7</c:v>
                </c:pt>
                <c:pt idx="12">
                  <c:v>105.9</c:v>
                </c:pt>
                <c:pt idx="13">
                  <c:v>107.9</c:v>
                </c:pt>
                <c:pt idx="14">
                  <c:v>107.6</c:v>
                </c:pt>
                <c:pt idx="15">
                  <c:v>107.6</c:v>
                </c:pt>
                <c:pt idx="16">
                  <c:v>107.0</c:v>
                </c:pt>
                <c:pt idx="17">
                  <c:v>107.2</c:v>
                </c:pt>
                <c:pt idx="18">
                  <c:v>107.4</c:v>
                </c:pt>
                <c:pt idx="19">
                  <c:v>107.5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Quintile 2</c:v>
                </c:pt>
              </c:strCache>
            </c:strRef>
          </c:tx>
          <c:spPr>
            <a:ln w="17145">
              <a:solidFill>
                <a:srgbClr val="AFAFAF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89.87</c:v>
                </c:pt>
                <c:pt idx="1">
                  <c:v>93.27</c:v>
                </c:pt>
                <c:pt idx="2">
                  <c:v>94.25</c:v>
                </c:pt>
                <c:pt idx="3">
                  <c:v>96.37</c:v>
                </c:pt>
                <c:pt idx="4">
                  <c:v>97.21</c:v>
                </c:pt>
                <c:pt idx="5">
                  <c:v>100.0</c:v>
                </c:pt>
                <c:pt idx="6">
                  <c:v>101.4</c:v>
                </c:pt>
                <c:pt idx="7">
                  <c:v>102.6</c:v>
                </c:pt>
                <c:pt idx="8">
                  <c:v>102.7</c:v>
                </c:pt>
                <c:pt idx="9">
                  <c:v>104.8</c:v>
                </c:pt>
                <c:pt idx="10">
                  <c:v>105.1</c:v>
                </c:pt>
                <c:pt idx="11">
                  <c:v>106.5</c:v>
                </c:pt>
                <c:pt idx="12">
                  <c:v>106.9</c:v>
                </c:pt>
                <c:pt idx="13">
                  <c:v>108.3</c:v>
                </c:pt>
                <c:pt idx="14">
                  <c:v>108.8</c:v>
                </c:pt>
                <c:pt idx="15">
                  <c:v>109.6</c:v>
                </c:pt>
                <c:pt idx="16">
                  <c:v>109.3</c:v>
                </c:pt>
                <c:pt idx="17">
                  <c:v>110.3</c:v>
                </c:pt>
                <c:pt idx="18">
                  <c:v>110.3</c:v>
                </c:pt>
                <c:pt idx="19">
                  <c:v>110.8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Quintile 3</c:v>
                </c:pt>
              </c:strCache>
            </c:strRef>
          </c:tx>
          <c:spPr>
            <a:ln w="17145">
              <a:solidFill>
                <a:srgbClr val="8282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90.47</c:v>
                </c:pt>
                <c:pt idx="1">
                  <c:v>94.11</c:v>
                </c:pt>
                <c:pt idx="2">
                  <c:v>94.98</c:v>
                </c:pt>
                <c:pt idx="3">
                  <c:v>95.68</c:v>
                </c:pt>
                <c:pt idx="4">
                  <c:v>96.86</c:v>
                </c:pt>
                <c:pt idx="5">
                  <c:v>100.0</c:v>
                </c:pt>
                <c:pt idx="6">
                  <c:v>100.9</c:v>
                </c:pt>
                <c:pt idx="7">
                  <c:v>101.4</c:v>
                </c:pt>
                <c:pt idx="8">
                  <c:v>101.7</c:v>
                </c:pt>
                <c:pt idx="9">
                  <c:v>104.9</c:v>
                </c:pt>
                <c:pt idx="10">
                  <c:v>104.6</c:v>
                </c:pt>
                <c:pt idx="11">
                  <c:v>105.4</c:v>
                </c:pt>
                <c:pt idx="12">
                  <c:v>105.9</c:v>
                </c:pt>
                <c:pt idx="13">
                  <c:v>109.4</c:v>
                </c:pt>
                <c:pt idx="14">
                  <c:v>108.9</c:v>
                </c:pt>
                <c:pt idx="15">
                  <c:v>108.9</c:v>
                </c:pt>
                <c:pt idx="16">
                  <c:v>109.9</c:v>
                </c:pt>
                <c:pt idx="17">
                  <c:v>112.3</c:v>
                </c:pt>
                <c:pt idx="18">
                  <c:v>112.0</c:v>
                </c:pt>
                <c:pt idx="19">
                  <c:v>112.4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Quintile 4</c:v>
                </c:pt>
              </c:strCache>
            </c:strRef>
          </c:tx>
          <c:spPr>
            <a:ln w="17145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90.61</c:v>
                </c:pt>
                <c:pt idx="1">
                  <c:v>92.78</c:v>
                </c:pt>
                <c:pt idx="2">
                  <c:v>94.54</c:v>
                </c:pt>
                <c:pt idx="3">
                  <c:v>96.14</c:v>
                </c:pt>
                <c:pt idx="4">
                  <c:v>98.0</c:v>
                </c:pt>
                <c:pt idx="5">
                  <c:v>100.0</c:v>
                </c:pt>
                <c:pt idx="6">
                  <c:v>101.6</c:v>
                </c:pt>
                <c:pt idx="7">
                  <c:v>102.7</c:v>
                </c:pt>
                <c:pt idx="8">
                  <c:v>103.6</c:v>
                </c:pt>
                <c:pt idx="9">
                  <c:v>105.0</c:v>
                </c:pt>
                <c:pt idx="10">
                  <c:v>106.1</c:v>
                </c:pt>
                <c:pt idx="11">
                  <c:v>107.2</c:v>
                </c:pt>
                <c:pt idx="12">
                  <c:v>107.9</c:v>
                </c:pt>
                <c:pt idx="13">
                  <c:v>109.1</c:v>
                </c:pt>
                <c:pt idx="14">
                  <c:v>109.7</c:v>
                </c:pt>
                <c:pt idx="15">
                  <c:v>110.6</c:v>
                </c:pt>
                <c:pt idx="16">
                  <c:v>111.1</c:v>
                </c:pt>
                <c:pt idx="17">
                  <c:v>112.3</c:v>
                </c:pt>
                <c:pt idx="18">
                  <c:v>112.9</c:v>
                </c:pt>
                <c:pt idx="19">
                  <c:v>113.5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Quintile 5 (most exposed)</c:v>
                </c:pt>
              </c:strCache>
            </c:strRef>
          </c:tx>
          <c:spPr>
            <a:ln w="254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91.02</c:v>
                </c:pt>
                <c:pt idx="1">
                  <c:v>93.17</c:v>
                </c:pt>
                <c:pt idx="2">
                  <c:v>95.22</c:v>
                </c:pt>
                <c:pt idx="3">
                  <c:v>96.42</c:v>
                </c:pt>
                <c:pt idx="4">
                  <c:v>98.32</c:v>
                </c:pt>
                <c:pt idx="5">
                  <c:v>100.0</c:v>
                </c:pt>
                <c:pt idx="6">
                  <c:v>101.0</c:v>
                </c:pt>
                <c:pt idx="7">
                  <c:v>102.2</c:v>
                </c:pt>
                <c:pt idx="8">
                  <c:v>102.7</c:v>
                </c:pt>
                <c:pt idx="9">
                  <c:v>104.1</c:v>
                </c:pt>
                <c:pt idx="10">
                  <c:v>104.6</c:v>
                </c:pt>
                <c:pt idx="11">
                  <c:v>105.4</c:v>
                </c:pt>
                <c:pt idx="12">
                  <c:v>106.1</c:v>
                </c:pt>
                <c:pt idx="13">
                  <c:v>107.0</c:v>
                </c:pt>
                <c:pt idx="14">
                  <c:v>107.3</c:v>
                </c:pt>
                <c:pt idx="15">
                  <c:v>107.5</c:v>
                </c:pt>
                <c:pt idx="16">
                  <c:v>107.9</c:v>
                </c:pt>
                <c:pt idx="17">
                  <c:v>109.0</c:v>
                </c:pt>
                <c:pt idx="18">
                  <c:v>109.3</c:v>
                </c:pt>
                <c:pt idx="19">
                  <c:v>109.4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Quintile 1 (least exposed)</c:v>
                </c:pt>
              </c:strCache>
            </c:strRef>
          </c:tx>
          <c:spPr>
            <a:ln w="17145">
              <a:solidFill>
                <a:srgbClr val="D2D2D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89.91</c:v>
                </c:pt>
                <c:pt idx="1">
                  <c:v>92.99</c:v>
                </c:pt>
                <c:pt idx="2">
                  <c:v>93.36</c:v>
                </c:pt>
                <c:pt idx="3">
                  <c:v>96.14</c:v>
                </c:pt>
                <c:pt idx="4">
                  <c:v>98.14</c:v>
                </c:pt>
                <c:pt idx="5">
                  <c:v>100.0</c:v>
                </c:pt>
                <c:pt idx="6">
                  <c:v>101.2</c:v>
                </c:pt>
                <c:pt idx="7">
                  <c:v>102.9</c:v>
                </c:pt>
                <c:pt idx="8">
                  <c:v>103.5</c:v>
                </c:pt>
                <c:pt idx="9">
                  <c:v>104.4</c:v>
                </c:pt>
                <c:pt idx="10">
                  <c:v>103.7</c:v>
                </c:pt>
                <c:pt idx="11">
                  <c:v>104.7</c:v>
                </c:pt>
                <c:pt idx="12">
                  <c:v>105.0</c:v>
                </c:pt>
                <c:pt idx="13">
                  <c:v>107.1</c:v>
                </c:pt>
                <c:pt idx="14">
                  <c:v>105.2</c:v>
                </c:pt>
                <c:pt idx="15">
                  <c:v>105.6</c:v>
                </c:pt>
                <c:pt idx="16">
                  <c:v>105.7</c:v>
                </c:pt>
                <c:pt idx="17">
                  <c:v>106.6</c:v>
                </c:pt>
                <c:pt idx="18">
                  <c:v>105.9</c:v>
                </c:pt>
                <c:pt idx="19">
                  <c:v>106.1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Quintile 2</c:v>
                </c:pt>
              </c:strCache>
            </c:strRef>
          </c:tx>
          <c:spPr>
            <a:ln w="17145">
              <a:solidFill>
                <a:srgbClr val="AFAFAF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90.67</c:v>
                </c:pt>
                <c:pt idx="1">
                  <c:v>93.9</c:v>
                </c:pt>
                <c:pt idx="2">
                  <c:v>94.18</c:v>
                </c:pt>
                <c:pt idx="3">
                  <c:v>96.28</c:v>
                </c:pt>
                <c:pt idx="4">
                  <c:v>97.47</c:v>
                </c:pt>
                <c:pt idx="5">
                  <c:v>100.0</c:v>
                </c:pt>
                <c:pt idx="6">
                  <c:v>100.2</c:v>
                </c:pt>
                <c:pt idx="7">
                  <c:v>101.5</c:v>
                </c:pt>
                <c:pt idx="8">
                  <c:v>101.7</c:v>
                </c:pt>
                <c:pt idx="9">
                  <c:v>103.2</c:v>
                </c:pt>
                <c:pt idx="10">
                  <c:v>102.4</c:v>
                </c:pt>
                <c:pt idx="11">
                  <c:v>103.3</c:v>
                </c:pt>
                <c:pt idx="12">
                  <c:v>103.4</c:v>
                </c:pt>
                <c:pt idx="13">
                  <c:v>104.8</c:v>
                </c:pt>
                <c:pt idx="14">
                  <c:v>103.8</c:v>
                </c:pt>
                <c:pt idx="15">
                  <c:v>104.2</c:v>
                </c:pt>
                <c:pt idx="16">
                  <c:v>103.8</c:v>
                </c:pt>
                <c:pt idx="17">
                  <c:v>104.9</c:v>
                </c:pt>
                <c:pt idx="18">
                  <c:v>103.4</c:v>
                </c:pt>
                <c:pt idx="19">
                  <c:v>103.5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Quintile 3</c:v>
                </c:pt>
              </c:strCache>
            </c:strRef>
          </c:tx>
          <c:spPr>
            <a:ln w="17145">
              <a:solidFill>
                <a:srgbClr val="8282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91.04</c:v>
                </c:pt>
                <c:pt idx="1">
                  <c:v>94.71</c:v>
                </c:pt>
                <c:pt idx="2">
                  <c:v>94.44</c:v>
                </c:pt>
                <c:pt idx="3">
                  <c:v>95.87</c:v>
                </c:pt>
                <c:pt idx="4">
                  <c:v>97.24</c:v>
                </c:pt>
                <c:pt idx="5">
                  <c:v>100.0</c:v>
                </c:pt>
                <c:pt idx="6">
                  <c:v>99.83</c:v>
                </c:pt>
                <c:pt idx="7">
                  <c:v>100.9</c:v>
                </c:pt>
                <c:pt idx="8">
                  <c:v>101.1</c:v>
                </c:pt>
                <c:pt idx="9">
                  <c:v>103.5</c:v>
                </c:pt>
                <c:pt idx="10">
                  <c:v>102.6</c:v>
                </c:pt>
                <c:pt idx="11">
                  <c:v>103.4</c:v>
                </c:pt>
                <c:pt idx="12">
                  <c:v>103.7</c:v>
                </c:pt>
                <c:pt idx="13">
                  <c:v>107.5</c:v>
                </c:pt>
                <c:pt idx="14">
                  <c:v>105.9</c:v>
                </c:pt>
                <c:pt idx="15">
                  <c:v>106.4</c:v>
                </c:pt>
                <c:pt idx="16">
                  <c:v>106.4</c:v>
                </c:pt>
                <c:pt idx="17">
                  <c:v>108.2</c:v>
                </c:pt>
                <c:pt idx="18">
                  <c:v>106.8</c:v>
                </c:pt>
                <c:pt idx="19">
                  <c:v>107.1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Quintile 4</c:v>
                </c:pt>
              </c:strCache>
            </c:strRef>
          </c:tx>
          <c:spPr>
            <a:ln w="17145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90.6</c:v>
                </c:pt>
                <c:pt idx="1">
                  <c:v>93.29</c:v>
                </c:pt>
                <c:pt idx="2">
                  <c:v>94.22</c:v>
                </c:pt>
                <c:pt idx="3">
                  <c:v>95.96</c:v>
                </c:pt>
                <c:pt idx="4">
                  <c:v>97.71</c:v>
                </c:pt>
                <c:pt idx="5">
                  <c:v>100.0</c:v>
                </c:pt>
                <c:pt idx="6">
                  <c:v>100.8</c:v>
                </c:pt>
                <c:pt idx="7">
                  <c:v>102.1</c:v>
                </c:pt>
                <c:pt idx="8">
                  <c:v>103.0</c:v>
                </c:pt>
                <c:pt idx="9">
                  <c:v>104.4</c:v>
                </c:pt>
                <c:pt idx="10">
                  <c:v>104.3</c:v>
                </c:pt>
                <c:pt idx="11">
                  <c:v>105.3</c:v>
                </c:pt>
                <c:pt idx="12">
                  <c:v>106.1</c:v>
                </c:pt>
                <c:pt idx="13">
                  <c:v>107.2</c:v>
                </c:pt>
                <c:pt idx="14">
                  <c:v>106.8</c:v>
                </c:pt>
                <c:pt idx="15">
                  <c:v>107.3</c:v>
                </c:pt>
                <c:pt idx="16">
                  <c:v>107.6</c:v>
                </c:pt>
                <c:pt idx="17">
                  <c:v>108.8</c:v>
                </c:pt>
                <c:pt idx="18">
                  <c:v>108.3</c:v>
                </c:pt>
                <c:pt idx="19">
                  <c:v>108.6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Quintile 5 (most exposed)</c:v>
                </c:pt>
              </c:strCache>
            </c:strRef>
          </c:tx>
          <c:spPr>
            <a:ln w="254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90.98</c:v>
                </c:pt>
                <c:pt idx="1">
                  <c:v>93.57</c:v>
                </c:pt>
                <c:pt idx="2">
                  <c:v>94.75</c:v>
                </c:pt>
                <c:pt idx="3">
                  <c:v>96.01</c:v>
                </c:pt>
                <c:pt idx="4">
                  <c:v>97.92</c:v>
                </c:pt>
                <c:pt idx="5">
                  <c:v>100.0</c:v>
                </c:pt>
                <c:pt idx="6">
                  <c:v>100.1</c:v>
                </c:pt>
                <c:pt idx="7">
                  <c:v>101.29999999999998</c:v>
                </c:pt>
                <c:pt idx="8">
                  <c:v>101.9</c:v>
                </c:pt>
                <c:pt idx="9">
                  <c:v>103.4</c:v>
                </c:pt>
                <c:pt idx="10">
                  <c:v>102.9</c:v>
                </c:pt>
                <c:pt idx="11">
                  <c:v>103.7</c:v>
                </c:pt>
                <c:pt idx="12">
                  <c:v>104.4</c:v>
                </c:pt>
                <c:pt idx="13">
                  <c:v>105.4</c:v>
                </c:pt>
                <c:pt idx="14">
                  <c:v>104.5</c:v>
                </c:pt>
                <c:pt idx="15">
                  <c:v>104.6</c:v>
                </c:pt>
                <c:pt idx="16">
                  <c:v>104.8</c:v>
                </c:pt>
                <c:pt idx="17">
                  <c:v>105.9</c:v>
                </c:pt>
                <c:pt idx="18">
                  <c:v>104.9</c:v>
                </c:pt>
                <c:pt idx="19">
                  <c:v>104.8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6DA117-10E6-4BFD-ADAF-6E7EA5EFA42C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86AFD1-51E9-4B71-9D56-066F69D17A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127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17D49-0A3C-46EB-8E1C-106C1194CC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51C021-1B81-476A-85A3-A9790C427F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0A1B1-2255-4C58-B244-3E02ABAF2A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BC7EC2-F75E-41E5-9E98-BA1335DDE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05C43-B8A3-44D5-A474-F3CC7DFB2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661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2D071-B6FD-4F12-8935-8160D6FE3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4056"/>
            <a:ext cx="10515600" cy="1325563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5B998-74F9-42B5-8DFA-847F1234D9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7731"/>
            <a:ext cx="10515600" cy="4757131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11896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24ADF-B487-4F63-8EBC-EB47C7FC2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2FE1C2-ECEC-4871-95D4-6E825EF35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370E2-90B8-44EE-9C0C-2323FE5BD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FBEFF-5FCB-4C7A-AB66-3984B2482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2AE514-926B-49DB-A293-C9A413A53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21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558D3-20A5-4EB1-BB0C-A841FE777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85A70-C0D9-4D0E-8848-5AB546F21C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60AA4-A946-431E-88B9-4137792AF7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9EC5E-0CC5-46FA-A67F-829E0D342F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1215B1D1-5DE1-47DB-A0E0-D90E014977A8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7A1F9A-F569-4AD9-948C-FF219F393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881CEC-150F-4EA8-8D31-18D0DF1CB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2C6EE99F-0117-4778-A5E6-E87F21AC5D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93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E1F67-CF1C-40DD-8966-3D1E99ED23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74539C-3EE8-4C7D-9A87-B325D54C2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E5959B-5305-427B-AD9E-A877DEBF1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233ADE-0BE2-4235-8777-DBCE6467F8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60D0B3-6529-462D-9F6D-78633561D0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A44967-B153-472D-A03A-C6CA824B51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1215B1D1-5DE1-47DB-A0E0-D90E014977A8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CA2E02-8A1A-487C-9EBC-377AF15BF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7B0991-2ACB-404F-8F57-23C3CA4D9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2C6EE99F-0117-4778-A5E6-E87F21AC5D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4421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87AB3-1B9A-4044-8EE7-5BF5BCBD2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7C5BAA-D49A-4B57-A752-4B42366AC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1215B1D1-5DE1-47DB-A0E0-D90E014977A8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A17D56-F767-49C5-8E2A-4E759B7C5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BD58AA-9FF9-4991-A7BC-6567529B7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2C6EE99F-0117-4778-A5E6-E87F21AC5D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6001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14830C-2CDB-45E8-9C41-A1D643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E76091-CD5C-449E-B96C-CC66394F4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C88013-AFFB-4681-B51B-741F70813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67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8630D-7FAA-4425-8CD2-629971779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C9A20-98C1-44EC-B39C-952BA3B50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42F57C-0FCC-4540-A105-F733044DC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39C767-62CC-4CA9-AF1D-4E0499937E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99AAAE-E77E-4FB8-B001-8507C16F5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EF175-C626-4C86-8741-D6C2A9FC3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296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DAF58-F979-440C-9DEC-2DCF48F9A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39D3E8-9D59-487A-B75B-FB267EE9F4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097EF-8C12-489A-AEFB-5BAA1F5C56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03F761-5E1D-456F-86D1-E9D2176696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D83D2A-30CF-4472-B7F7-0A9AEEDEE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A48BB0-DB3D-4D6B-A072-C5C176C91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258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8E3C5-350D-4E53-9ACF-A299AE8F6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0AA61A-888C-4AFA-8593-9D2AB6D752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42D77F-A145-4E2C-823E-B5ABB8C77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07C15D-B093-4F22-BB32-C2B1D8ACD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5E98AC-578D-45FB-BED9-7902F4201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3682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E37601-32B1-40CB-9322-8C42640E0D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6CC68D-9DCF-450F-8372-E1CE84BC7E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208BF9-1D50-44AA-BDF3-3F00CA1C3F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379369-2A1F-42AD-9DA3-3F6F16DD0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6BAAF-DFBA-4EE2-9FD9-D66F6BCE8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56546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2AAB4D-54BB-4AE2-A1CD-CB5BC695A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405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5EE965-DBB1-4267-AC1D-F2F02BAE3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54480"/>
            <a:ext cx="10515600" cy="4780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14284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zjelveh.github.io/teaching/ccjs_418e_2026_fall" TargetMode="Externa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hyperlink" Target="https://digitaleconomy.stanford.edu/project/indicators/canaries-dashboard/" TargetMode="Externa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hyperlink" Target="https://digitaleconomy.stanford.edu/project/indicators/canaries-dashboard/" TargetMode="External"/><Relationship Id="rId9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gitaleconomy.stanford.edu/publication/canaries-in-the-coal-mine-six-facts-about-the-recent-employment-effects-of-artificial-intelligence/" TargetMode="Externa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27048" y="1965960"/>
            <a:ext cx="914400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00000"/>
                </a:solidFill>
                <a:latin typeface="Cambria"/>
              </a:rPr>
              <a:t>CCJS 418E: Coding for Criminology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6148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Cambria"/>
              </a:rPr>
              <a:t>From a Criminology Question to a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3675887"/>
            <a:ext cx="91440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4B4B4B"/>
                </a:solidFill>
                <a:latin typeface="Cambria"/>
              </a:rPr>
              <a:t>Using data to study crime and criminal justice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590288"/>
            <a:ext cx="91440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B4B4B"/>
                </a:solidFill>
                <a:latin typeface="Cambria"/>
              </a:rPr>
              <a:t>Lecture 1  ·  September 3,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About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88720"/>
            <a:ext cx="6720840" cy="5212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Assistant Professor at the iSchool and CCJS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Ph.D. in Computer Science from NYU in 2017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Before UMD: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Research areas: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    Machine learning in public policy, particularly criminal justice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    Record linkage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    Science of science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You can refer to me by: Professor Jelveh, Dr. Jelveh, or Zubin</a:t>
            </a:r>
          </a:p>
        </p:txBody>
      </p:sp>
      <p:pic>
        <p:nvPicPr>
          <p:cNvPr id="4" name="Picture 3" descr="olddeck_s02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1" y="1938528"/>
            <a:ext cx="3977639" cy="19888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How This Course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1234440"/>
            <a:ext cx="507492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1435608"/>
            <a:ext cx="46177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MOST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" y="1920240"/>
            <a:ext cx="12801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Tuesday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23160" y="1920240"/>
            <a:ext cx="31546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000000"/>
                </a:solidFill>
                <a:latin typeface="Cambria"/>
              </a:rPr>
              <a:t>virtual lecture /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459736"/>
            <a:ext cx="153619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Thursday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2459736"/>
            <a:ext cx="28803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000000"/>
                </a:solidFill>
                <a:latin typeface="Cambria"/>
              </a:rPr>
              <a:t>in-person analysis workshop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234440"/>
            <a:ext cx="507492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435608"/>
            <a:ext cx="46177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HOW YOU LEARN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38528"/>
            <a:ext cx="455371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00000"/>
                </a:solidFill>
                <a:latin typeface="Cambria"/>
              </a:rPr>
              <a:t>Problem sets  ·  Code reviews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468880"/>
            <a:ext cx="455371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00000"/>
                </a:solidFill>
                <a:latin typeface="Cambria"/>
              </a:rPr>
              <a:t>Readings  ·  Final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75887"/>
            <a:ext cx="103327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0000"/>
                </a:solidFill>
                <a:latin typeface="Cambria"/>
              </a:rPr>
              <a:t>This week is different: today is our first meeting, on Zoom.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526280"/>
            <a:ext cx="10332720" cy="804672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709160"/>
            <a:ext cx="987552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Cambria"/>
              </a:rPr>
              <a:t>AI tools are allowed and expected. Understanding is still required.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5806440"/>
            <a:ext cx="7726679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563C1"/>
                </a:solidFill>
                <a:latin typeface="Cambria"/>
                <a:hlinkClick r:id="rId2"/>
              </a:rPr>
              <a:t>Syllabus: zjelveh.github.io/teaching/ccjs_418e_2026_fall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How Your Grade Is Determined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60704"/>
            <a:ext cx="3456432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271016"/>
            <a:ext cx="120700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C375F"/>
                </a:solidFill>
                <a:latin typeface="Cambria"/>
              </a:rPr>
              <a:t>60%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4248" y="1298448"/>
            <a:ext cx="1901952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THREE PROBLEM 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048256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B4B4B"/>
                </a:solidFill>
                <a:latin typeface="Cambria"/>
              </a:rPr>
              <a:t>20% each · includes code 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8848" y="1060704"/>
            <a:ext cx="3456432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45152" y="1271016"/>
            <a:ext cx="120700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00000"/>
                </a:solidFill>
                <a:latin typeface="Cambria"/>
              </a:rPr>
              <a:t>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4728" y="1298448"/>
            <a:ext cx="1901952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PROJECT PROPOSAL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048256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B4B4B"/>
                </a:solidFill>
                <a:latin typeface="Cambria"/>
              </a:rPr>
              <a:t>question · data · comparison · plan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39328" y="1060704"/>
            <a:ext cx="3456432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271016"/>
            <a:ext cx="120700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00000"/>
                </a:solidFill>
                <a:latin typeface="Cambria"/>
              </a:rPr>
              <a:t>30%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5208" y="1298448"/>
            <a:ext cx="1901952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FINAL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22208" y="2048256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B4B4B"/>
                </a:solidFill>
                <a:latin typeface="Cambria"/>
              </a:rPr>
              <a:t>analysis · presentation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017520"/>
            <a:ext cx="1037844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FOR EACH PROBLEM SET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493008"/>
            <a:ext cx="2487168" cy="102412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675887"/>
            <a:ext cx="226771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SUBMIT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096512"/>
            <a:ext cx="2267712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B4B4B"/>
                </a:solidFill>
                <a:latin typeface="Cambria"/>
              </a:rPr>
              <a:t>Sunday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447288" y="3840480"/>
            <a:ext cx="310896" cy="256032"/>
          </a:xfrm>
          <a:prstGeom prst="right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67328" y="3493008"/>
            <a:ext cx="2487168" cy="102412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77056" y="3675887"/>
            <a:ext cx="226771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CODE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77056" y="4096512"/>
            <a:ext cx="2267712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B4B4B"/>
                </a:solidFill>
                <a:latin typeface="Cambria"/>
              </a:rPr>
              <a:t>Tuesday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437376" y="3840480"/>
            <a:ext cx="310896" cy="256032"/>
          </a:xfrm>
          <a:prstGeom prst="right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66560" y="3493008"/>
            <a:ext cx="4645152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675887"/>
            <a:ext cx="442569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Cambria"/>
              </a:rPr>
              <a:t>EXPLAIN · PREDICT · MODIFY · INTERPRET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76288" y="4096512"/>
            <a:ext cx="4425696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B4B4B"/>
                </a:solidFill>
                <a:latin typeface="Cambria"/>
              </a:rPr>
              <a:t>one-on-one with 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5029200"/>
            <a:ext cx="10396728" cy="877824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212080"/>
            <a:ext cx="9902952" cy="4937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AI assistance is allowed. Your grade depends on what you understand and can explain.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What You Will Learn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0332720" cy="8046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mbria"/>
              </a:rPr>
              <a:t>By December, you will be able to complete and explain an analysis of crime or criminal-justice data.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4632" y="2130552"/>
            <a:ext cx="2514600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2414016"/>
            <a:ext cx="222199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PYTHON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2962656"/>
            <a:ext cx="222199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000000"/>
                </a:solidFill>
                <a:latin typeface="Cambria"/>
              </a:rPr>
              <a:t>Give a computer
precise instructions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2424" y="2130552"/>
            <a:ext cx="2514600" cy="184708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38728" y="2414016"/>
            <a:ext cx="222199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WORK WITH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2962656"/>
            <a:ext cx="222199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000000"/>
                </a:solidFill>
                <a:latin typeface="Cambria"/>
              </a:rPr>
              <a:t>Load · inspect · clean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2130552"/>
            <a:ext cx="2514600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414016"/>
            <a:ext cx="222199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ANALYZE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962656"/>
            <a:ext cx="222199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000000"/>
                </a:solidFill>
                <a:latin typeface="Cambria"/>
              </a:rPr>
              <a:t>Filter · group · compare · visualize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08008" y="2130552"/>
            <a:ext cx="2514600" cy="184708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4312" y="2414016"/>
            <a:ext cx="222199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COMPLETE A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4312" y="2962656"/>
            <a:ext cx="222199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000000"/>
                </a:solidFill>
                <a:latin typeface="Cambria"/>
              </a:rPr>
              <a:t>Combine data · interpret · present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" y="4425696"/>
            <a:ext cx="10314432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4626864"/>
            <a:ext cx="9838944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We will practice with Yankees and 311 data before you apply the process to your own question.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87568"/>
            <a:ext cx="1033272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Today: the decisions that connect a question to an analysis.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Parts of an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98448"/>
            <a:ext cx="103327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00000"/>
                </a:solidFill>
                <a:latin typeface="Cambria"/>
              </a:rPr>
              <a:t>Each analysis in this course connects six parts.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496312"/>
            <a:ext cx="1325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660904"/>
            <a:ext cx="1234439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40279" y="2688336"/>
            <a:ext cx="411480" cy="256032"/>
          </a:xfrm>
          <a:prstGeom prst="right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24912" y="2496312"/>
            <a:ext cx="16916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70632" y="2660904"/>
            <a:ext cx="160020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COMPARISON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62272" y="2688336"/>
            <a:ext cx="411480" cy="256032"/>
          </a:xfrm>
          <a:prstGeom prst="right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46904" y="2496312"/>
            <a:ext cx="10972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92624" y="2660904"/>
            <a:ext cx="1005839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STEPS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89904" y="2688336"/>
            <a:ext cx="411480" cy="256032"/>
          </a:xfrm>
          <a:prstGeom prst="right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74536" y="2496312"/>
            <a:ext cx="10972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0256" y="2660904"/>
            <a:ext cx="1005839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CODE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717536" y="2688336"/>
            <a:ext cx="411480" cy="256032"/>
          </a:xfrm>
          <a:prstGeom prst="right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2168" y="2496312"/>
            <a:ext cx="10972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2660904"/>
            <a:ext cx="1005839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RESULT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345168" y="2688336"/>
            <a:ext cx="411480" cy="256032"/>
          </a:xfrm>
          <a:prstGeom prst="right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829800" y="2496312"/>
            <a:ext cx="10972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0" y="2660904"/>
            <a:ext cx="1005839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CLAIM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133087"/>
            <a:ext cx="978408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Cambria"/>
              </a:rPr>
              <a:t>An AI agent may help with any of these steps.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773168"/>
            <a:ext cx="978408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mbria"/>
              </a:rPr>
              <a:t>You must be able to explain and check the analysis.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Questions and Data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298448"/>
            <a:ext cx="5074920" cy="3054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1691640"/>
            <a:ext cx="4617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mbria"/>
              </a:rPr>
              <a:t>“I found a dataset.”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" y="2487168"/>
            <a:ext cx="4617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00000"/>
                </a:solidFill>
                <a:latin typeface="Cambria"/>
              </a:rPr>
              <a:t>What can I do with it?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2784" y="1298448"/>
            <a:ext cx="5074920" cy="3054096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8" y="1691640"/>
            <a:ext cx="4617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“I want to know…”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0528" y="2487168"/>
            <a:ext cx="4617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FFFFFF"/>
                </a:solidFill>
                <a:latin typeface="Cambria"/>
              </a:rPr>
              <a:t>What evidence would help?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983480"/>
            <a:ext cx="102412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Cambria"/>
              </a:rPr>
              <a:t>The question determines what evidence the analysis needs.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One Topic, Different Questions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78992" y="1161288"/>
            <a:ext cx="100584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1344168"/>
            <a:ext cx="2514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WHAT HAPPENED?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7328" y="1325880"/>
            <a:ext cx="705916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Cambria"/>
              </a:rPr>
              <a:t>Did reported arrests fall after the policy changed?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" y="2688336"/>
            <a:ext cx="100584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44168" y="2871216"/>
            <a:ext cx="2514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WHAT WOULD CHANGE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67328" y="2852928"/>
            <a:ext cx="705916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Cambria"/>
              </a:rPr>
              <a:t>Did the policy cause arrests to fall?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4215383"/>
            <a:ext cx="100584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4168" y="4398264"/>
            <a:ext cx="2514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WHAT SHOULD WE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4379975"/>
            <a:ext cx="705916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Cambria"/>
              </a:rPr>
              <a:t>Should the policy be retained or expanded?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04672"/>
            <a:ext cx="10177272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FFFFF"/>
                </a:solidFill>
                <a:latin typeface="Cambria"/>
              </a:rPr>
              <a:t>Questions We Will Keep Asking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1856231"/>
            <a:ext cx="65836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828800"/>
            <a:ext cx="724204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mbria"/>
              </a:rPr>
              <a:t>What do you want to know?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980944"/>
            <a:ext cx="65836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953512"/>
            <a:ext cx="724204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mbria"/>
              </a:rPr>
              <a:t>Compared to what?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105656"/>
            <a:ext cx="65836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078224"/>
            <a:ext cx="724204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mbria"/>
              </a:rPr>
              <a:t>What can you honestly say?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A Number Without a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1280160"/>
            <a:ext cx="101041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00000"/>
                </a:solidFill>
                <a:latin typeface="Cambria"/>
              </a:rPr>
              <a:t>On Yankees home-game days in 2023, the Bronx averaged…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332720" cy="13898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0" b="1" i="0">
                <a:solidFill>
                  <a:srgbClr val="0C375F"/>
                </a:solidFill>
                <a:latin typeface="Cambria"/>
              </a:rPr>
              <a:t>430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56432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000000"/>
                </a:solidFill>
                <a:latin typeface="Cambria"/>
              </a:rPr>
              <a:t>noise complaints per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28032"/>
            <a:ext cx="103327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Cambria"/>
              </a:rPr>
              <a:t>Is that a lot?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</a:rPr>
              <a:t>Source: NYC 311 noise sample and Yankees home-game schedule, 2023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Our First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0000"/>
                </a:solidFill>
                <a:latin typeface="Cambria"/>
              </a:rPr>
              <a:t>Were there more Bronx noise complaints on Yankees home-game days?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84831"/>
            <a:ext cx="233172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Cambria"/>
              </a:rPr>
              <a:t>Game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520439" y="2121408"/>
            <a:ext cx="598932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520439" y="2121408"/>
            <a:ext cx="5723128" cy="274320"/>
          </a:xfrm>
          <a:prstGeom prst="rect">
            <a:avLst/>
          </a:prstGeom>
          <a:solidFill>
            <a:srgbClr val="0C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7192" y="2075688"/>
            <a:ext cx="100584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mbria"/>
              </a:rPr>
              <a:t>430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62656"/>
            <a:ext cx="233172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Cambria"/>
              </a:rPr>
              <a:t>All other 2023 days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39" y="2999232"/>
            <a:ext cx="598932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39" y="2999232"/>
            <a:ext cx="4112666" cy="274320"/>
          </a:xfrm>
          <a:prstGeom prst="rect">
            <a:avLst/>
          </a:prstGeom>
          <a:solidFill>
            <a:srgbClr val="C49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37192" y="2953512"/>
            <a:ext cx="100584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mbria"/>
              </a:rPr>
              <a:t>309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4224528"/>
            <a:ext cx="9738360" cy="84124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81328" y="4443984"/>
            <a:ext cx="92354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I am comparing  ______  with  ______  in order to answer  ______.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431536"/>
            <a:ext cx="103327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0" i="1">
                <a:solidFill>
                  <a:srgbClr val="4B4B4B"/>
                </a:solidFill>
                <a:latin typeface="Cambria"/>
              </a:rPr>
              <a:t>A first comparison—not yet the final answer.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</a:rPr>
              <a:t>Daily averages: 83 home-game dates and 282 non-game dates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Which Non-Game Days?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Cambria"/>
              </a:rPr>
              <a:t>What belongs in “all other days”?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3392" y="1755648"/>
            <a:ext cx="8366760" cy="3429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  <a:defRPr sz="23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1   Every non-game day in 2023</a:t>
            </a:r>
          </a:p>
          <a:p>
            <a:pPr>
              <a:lnSpc>
                <a:spcPct val="100000"/>
              </a:lnSpc>
              <a:spcAft>
                <a:spcPts val="1000"/>
              </a:spcAft>
              <a:defRPr sz="23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2   Only days during baseball season</a:t>
            </a:r>
          </a:p>
          <a:p>
            <a:pPr>
              <a:lnSpc>
                <a:spcPct val="100000"/>
              </a:lnSpc>
              <a:spcAft>
                <a:spcPts val="1000"/>
              </a:spcAft>
              <a:defRPr sz="23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3   The same days of the week</a:t>
            </a:r>
          </a:p>
          <a:p>
            <a:pPr>
              <a:lnSpc>
                <a:spcPct val="100000"/>
              </a:lnSpc>
              <a:spcAft>
                <a:spcPts val="1000"/>
              </a:spcAft>
              <a:defRPr sz="23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4   Dates close to a game</a:t>
            </a:r>
          </a:p>
          <a:p>
            <a:pPr>
              <a:lnSpc>
                <a:spcPct val="100000"/>
              </a:lnSpc>
              <a:spcAft>
                <a:spcPts val="1000"/>
              </a:spcAft>
              <a:defRPr sz="23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5   Similar days in another borough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5230368"/>
            <a:ext cx="9372600" cy="6126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27632" y="5358384"/>
            <a:ext cx="894283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Which comparison would you trust most—and why?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Different Benchmarks, Different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32688"/>
            <a:ext cx="103327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Game days average 430 complaints.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3419856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6479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ALL 2023
NON-GAME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7319" y="3097621"/>
            <a:ext cx="667512" cy="1017178"/>
          </a:xfrm>
          <a:prstGeom prst="rect">
            <a:avLst/>
          </a:prstGeom>
          <a:solidFill>
            <a:srgbClr val="C49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51760" y="2699308"/>
            <a:ext cx="667512" cy="1415491"/>
          </a:xfrm>
          <a:prstGeom prst="rect">
            <a:avLst/>
          </a:prstGeom>
          <a:solidFill>
            <a:srgbClr val="0C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61872" y="2731861"/>
            <a:ext cx="960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309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5456" y="2333548"/>
            <a:ext cx="960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430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4187952"/>
            <a:ext cx="126187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B4B4B"/>
                </a:solidFill>
                <a:latin typeface="Cambria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9736" y="4187952"/>
            <a:ext cx="105156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B4B4B"/>
                </a:solidFill>
                <a:latin typeface="Cambria"/>
              </a:rPr>
              <a:t>game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4434840"/>
            <a:ext cx="29260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gap: +121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71416" y="1536192"/>
            <a:ext cx="3419856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176479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IN-SEASON
NON-GAME DAYS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30368" y="2801355"/>
            <a:ext cx="667512" cy="1313444"/>
          </a:xfrm>
          <a:prstGeom prst="rect">
            <a:avLst/>
          </a:prstGeom>
          <a:solidFill>
            <a:srgbClr val="C49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64808" y="2699308"/>
            <a:ext cx="667512" cy="1415491"/>
          </a:xfrm>
          <a:prstGeom prst="rect">
            <a:avLst/>
          </a:prstGeom>
          <a:solidFill>
            <a:srgbClr val="0C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4920" y="2435595"/>
            <a:ext cx="960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399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333548"/>
            <a:ext cx="960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430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59" y="4187952"/>
            <a:ext cx="126187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B4B4B"/>
                </a:solidFill>
                <a:latin typeface="Cambria"/>
              </a:rPr>
              <a:t>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4187952"/>
            <a:ext cx="105156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B4B4B"/>
                </a:solidFill>
                <a:latin typeface="Cambria"/>
              </a:rPr>
              <a:t>game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304" y="4434840"/>
            <a:ext cx="29260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gap: +31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84464" y="1536192"/>
            <a:ext cx="3419856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49056" y="176479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SAME WEEKDAY MIX
DURING THE SEASON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43416" y="2735519"/>
            <a:ext cx="667512" cy="1379280"/>
          </a:xfrm>
          <a:prstGeom prst="rect">
            <a:avLst/>
          </a:prstGeom>
          <a:solidFill>
            <a:srgbClr val="C49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277856" y="2699308"/>
            <a:ext cx="667512" cy="1415491"/>
          </a:xfrm>
          <a:prstGeom prst="rect">
            <a:avLst/>
          </a:prstGeom>
          <a:solidFill>
            <a:srgbClr val="0C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87968" y="2369759"/>
            <a:ext cx="960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419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31552" y="2333548"/>
            <a:ext cx="960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430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50808" y="4187952"/>
            <a:ext cx="126187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B4B4B"/>
                </a:solidFill>
                <a:latin typeface="Cambria"/>
              </a:rPr>
              <a:t>baseline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85832" y="4187952"/>
            <a:ext cx="105156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B4B4B"/>
                </a:solidFill>
                <a:latin typeface="Cambria"/>
              </a:rPr>
              <a:t>game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1352" y="4434840"/>
            <a:ext cx="29260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gap: +11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120640"/>
            <a:ext cx="103327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The game-day data stayed fixed. The benchmark changed.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69280"/>
            <a:ext cx="103327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4B4B4B"/>
                </a:solidFill>
                <a:latin typeface="Cambria"/>
              </a:rPr>
              <a:t>The benchmark is an analytical choice.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</a:rPr>
              <a:t>“Same weekday mix” reweights in-season non-game days to match the weekdays on which games occurred.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What a Comparison Is For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96112" y="1307592"/>
            <a:ext cx="5010912" cy="4187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" y="1609344"/>
            <a:ext cx="4553712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GIVE A NUMBER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2340864"/>
            <a:ext cx="455371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Cambria"/>
              </a:rPr>
              <a:t>“Higher than other days”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4023360"/>
            <a:ext cx="4553712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00000"/>
                </a:solidFill>
                <a:latin typeface="Cambria"/>
              </a:rPr>
              <a:t>We can observe other days.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307592"/>
            <a:ext cx="5010912" cy="4187952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1384" y="1609344"/>
            <a:ext cx="4553712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STAND IN FOR AN UNSEEN ALTERNATIVE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2" y="2194560"/>
            <a:ext cx="4242816" cy="11155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0000"/>
                </a:solidFill>
                <a:latin typeface="Cambria"/>
              </a:rPr>
              <a:t>“What would this day have looked like without a game?”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01384" y="4023360"/>
            <a:ext cx="4553712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00000"/>
                </a:solidFill>
                <a:latin typeface="Cambria"/>
              </a:rPr>
              <a:t>We cannot observe the same day twice.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Random Assignment as a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78408"/>
            <a:ext cx="103327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00000"/>
                </a:solidFill>
                <a:latin typeface="Cambria"/>
              </a:rPr>
              <a:t>Suppose officers were assigned by chance to…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1560" y="1856231"/>
            <a:ext cx="3886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85416"/>
            <a:ext cx="34290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WEAR A BODY CAMERA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38928" y="2148840"/>
            <a:ext cx="1920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0000"/>
                </a:solidFill>
                <a:latin typeface="Cambria"/>
              </a:rPr>
              <a:t>CHANCE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51192" y="1856231"/>
            <a:ext cx="3886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79792" y="2185416"/>
            <a:ext cx="34290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NO BODY CAMERA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0000"/>
                </a:solidFill>
                <a:latin typeface="Cambria"/>
              </a:rPr>
              <a:t>Why assign officers by chance?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08760" y="4645152"/>
            <a:ext cx="9189720" cy="804672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4855464"/>
            <a:ext cx="87325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Groups that should be comparable before the program begins.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Other Ways to Form Comparison Groups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32688"/>
            <a:ext cx="103327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Cambria"/>
              </a:rPr>
              <a:t>Without random assignment, analysts compare…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572768"/>
            <a:ext cx="475488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572768"/>
            <a:ext cx="685800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different people or places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1609344"/>
            <a:ext cx="22402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4B4B4B"/>
                </a:solidFill>
                <a:latin typeface="Cambria"/>
              </a:rPr>
              <a:t>matching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31720"/>
            <a:ext cx="475488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331720"/>
            <a:ext cx="685800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the same place at another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368296"/>
            <a:ext cx="22402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4B4B4B"/>
                </a:solidFill>
                <a:latin typeface="Cambria"/>
              </a:rPr>
              <a:t>interrupted time series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090672"/>
            <a:ext cx="475488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090672"/>
            <a:ext cx="685800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people or places and time together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127248"/>
            <a:ext cx="22402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4B4B4B"/>
                </a:solidFill>
                <a:latin typeface="Cambria"/>
              </a:rPr>
              <a:t>difference-in-differences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49624"/>
            <a:ext cx="475488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849624"/>
            <a:ext cx="685800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cases just above and below a 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3886200"/>
            <a:ext cx="22402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4B4B4B"/>
                </a:solidFill>
                <a:latin typeface="Cambria"/>
              </a:rPr>
              <a:t>regression discontinuity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608576"/>
            <a:ext cx="475488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608576"/>
            <a:ext cx="685800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exposure shifted by an outside assignment 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4645152"/>
            <a:ext cx="22402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4B4B4B"/>
                </a:solidFill>
                <a:latin typeface="Cambria"/>
              </a:rPr>
              <a:t>instrumental variables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88720" y="5513832"/>
            <a:ext cx="9829800" cy="5943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5641848"/>
            <a:ext cx="93726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What would have to be true for each comparison to be fair?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What Do You See?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" y="841248"/>
            <a:ext cx="75438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Employment in the most AI-exposed occupations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261872"/>
          <a:ext cx="781812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942832" y="1444752"/>
            <a:ext cx="2377440" cy="10515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25712" y="1682496"/>
            <a:ext cx="20116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0000"/>
                </a:solidFill>
                <a:latin typeface="Cambria"/>
              </a:rPr>
              <a:t>100 = each group
in November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88552" y="3026664"/>
            <a:ext cx="228600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What do the
lines show?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88552" y="4069080"/>
            <a:ext cx="2286000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4B4B4B"/>
                </a:solidFill>
                <a:latin typeface="Cambria"/>
              </a:rPr>
              <a:t>Describe the pattern.
Do not explain it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  <a:hlinkClick r:id="rId3"/>
              </a:rPr>
              <a:t>Source: Stanford Digital Economy Lab Canaries Dashboard, vintage August 12,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The Full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" y="832104"/>
            <a:ext cx="1037844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4B4B4B"/>
                </a:solidFill>
                <a:latin typeface="Cambria"/>
              </a:rPr>
              <a:t>Six age groups  ·  five exposure levels in each group  ·  red = most exposed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07592"/>
            <a:ext cx="36118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mbria"/>
              </a:rPr>
              <a:t>Early Career 1 (22–25)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02920" y="1536192"/>
          <a:ext cx="3611880" cy="15727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389120" y="1307592"/>
            <a:ext cx="36118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mbria"/>
              </a:rPr>
              <a:t>Early Career 2 (26–30)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389120" y="1536192"/>
          <a:ext cx="3611880" cy="157276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75320" y="1307592"/>
            <a:ext cx="36118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mbria"/>
              </a:rPr>
              <a:t>Developing (31–34)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75320" y="1536192"/>
          <a:ext cx="3611880" cy="157276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300984"/>
            <a:ext cx="36118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mbria"/>
              </a:rPr>
              <a:t>Mid-Career 1 (35–40)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3529584"/>
          <a:ext cx="3611880" cy="1572768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389120" y="3300984"/>
            <a:ext cx="36118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mbria"/>
              </a:rPr>
              <a:t>Mid-Career 2 (41–49)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4389120" y="3529584"/>
          <a:ext cx="3611880" cy="1572768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275320" y="3300984"/>
            <a:ext cx="36118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mbria"/>
              </a:rPr>
              <a:t>Senior (50+)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8275320" y="3529584"/>
          <a:ext cx="3611880" cy="1572768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mbria"/>
              </a:rPr>
              <a:t>What becomes clearer? What becomes harder to see?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  <a:hlinkClick r:id="rId8"/>
              </a:rPr>
              <a:t>Source: Stanford Digital Economy Lab Canaries Dashboard, vintage August 12,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Name the Comparisons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42415"/>
            <a:ext cx="470916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0000"/>
                </a:solidFill>
                <a:latin typeface="Cambria"/>
              </a:rPr>
              <a:t>The figure compares…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64208"/>
            <a:ext cx="4892040" cy="2450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  <a:defRPr sz="22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younger with more experienced workers</a:t>
            </a:r>
          </a:p>
          <a:p>
            <a:pPr>
              <a:lnSpc>
                <a:spcPct val="100000"/>
              </a:lnSpc>
              <a:spcAft>
                <a:spcPts val="1200"/>
              </a:spcAft>
              <a:defRPr sz="22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more with less AI-exposed occupations</a:t>
            </a:r>
          </a:p>
          <a:p>
            <a:pPr>
              <a:lnSpc>
                <a:spcPct val="100000"/>
              </a:lnSpc>
              <a:spcAft>
                <a:spcPts val="1200"/>
              </a:spcAft>
              <a:defRPr sz="22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the period before with the period after widespread generative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4370832"/>
            <a:ext cx="4983480" cy="960120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4572000"/>
            <a:ext cx="4553712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What else differs between these groups or periods?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298448"/>
            <a:ext cx="4315968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463039"/>
            <a:ext cx="1325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WHO?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1426464"/>
            <a:ext cx="248716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age / experience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724912"/>
            <a:ext cx="4315968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889504"/>
            <a:ext cx="1325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WHICH JOBS?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4152" y="2852928"/>
            <a:ext cx="248716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AI exposure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4151376"/>
            <a:ext cx="4315968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315968"/>
            <a:ext cx="1325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WHEN?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4152" y="4279392"/>
            <a:ext cx="248716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before / after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</a:rPr>
              <a:t>Possible alternatives include pre-existing trends, education, occupation mix, and sample composition.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Match the Claim to the Comparison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96112" y="1234440"/>
            <a:ext cx="10387584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" y="1536192"/>
            <a:ext cx="2066543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THE DATA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10128" y="1481328"/>
            <a:ext cx="7543800" cy="58521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0000"/>
                </a:solidFill>
                <a:latin typeface="Cambria"/>
              </a:rPr>
              <a:t>Employment patterns diverged across these groups.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" y="2999232"/>
            <a:ext cx="10387584" cy="148132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73552"/>
            <a:ext cx="33375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THE DATA DO NOT ESTABLISH BY THEMSELVES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45152" y="3218688"/>
            <a:ext cx="6217920" cy="58521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0000"/>
                </a:solidFill>
                <a:latin typeface="Cambria"/>
              </a:rPr>
              <a:t>Generative AI caused the entire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93208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mbria"/>
              </a:rPr>
              <a:t>The authors call the results “early, descriptive indicators.”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  <a:hlinkClick r:id="rId2"/>
              </a:rPr>
              <a:t>Brynjolfsson, Chandar, and Chen (2026), revised paper, abstract and introduction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100" b="0" i="0">
                <a:solidFill>
                  <a:srgbClr val="FFFFFF"/>
                </a:solidFill>
                <a:latin typeface="Cambria"/>
              </a:rPr>
              <a:t>Turning a Comparison into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328" y="1993392"/>
            <a:ext cx="1115568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4904" y="2176272"/>
            <a:ext cx="1042415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490472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773936" y="1993392"/>
            <a:ext cx="1417320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10512" y="2176272"/>
            <a:ext cx="1344168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COMPARISON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27832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11296" y="1993392"/>
            <a:ext cx="1005840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176272"/>
            <a:ext cx="932688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DEFINE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53712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37176" y="1993392"/>
            <a:ext cx="1408176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3752" y="2176272"/>
            <a:ext cx="13350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BREAK DOWN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281928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65392" y="1993392"/>
            <a:ext cx="932688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2176272"/>
            <a:ext cx="859536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ORDER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534655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18119" y="1993392"/>
            <a:ext cx="1508760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54695" y="2176272"/>
            <a:ext cx="1435607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mbria"/>
              </a:rPr>
              <a:t>CODE / AGENT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363455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46919" y="1993392"/>
            <a:ext cx="941832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83495" y="2176272"/>
            <a:ext cx="868680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CHECK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625327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08791" y="1993392"/>
            <a:ext cx="941832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45367" y="2176272"/>
            <a:ext cx="868680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794760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Research design specifies the comparison.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590288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Computational thinking turns it into a sequence of steps.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The Four Pillars in the Yankees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04672" y="1170432"/>
            <a:ext cx="5230368" cy="1746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335024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801368"/>
            <a:ext cx="486460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What smaller tasks produce the comparison?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2350008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B4B4B"/>
                </a:solidFill>
                <a:latin typeface="Cambria"/>
              </a:rPr>
              <a:t>load · identify dates · count · divide · compare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19672" y="1170432"/>
            <a:ext cx="5230368" cy="1746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02552" y="1335024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ABSTRACTION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2552" y="1801368"/>
            <a:ext cx="486460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What exactly counts?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2350008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B4B4B"/>
                </a:solidFill>
                <a:latin typeface="Cambria"/>
              </a:rPr>
              <a:t>game day · complaint · Bronx · comparable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" y="3346704"/>
            <a:ext cx="5230368" cy="1746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511296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PATTERN RECOGNITION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486460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Have we seen a similar comparison before?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526280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B4B4B"/>
                </a:solidFill>
                <a:latin typeface="Cambria"/>
              </a:rPr>
              <a:t>two groups · one outcome · compare averages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9672" y="3346704"/>
            <a:ext cx="5230368" cy="1746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02552" y="3511296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ALGORITHM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3977639"/>
            <a:ext cx="486460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In what order should the steps run?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2552" y="4526280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B4B4B"/>
                </a:solidFill>
                <a:latin typeface="Cambria"/>
              </a:rPr>
              <a:t>load · define groups · calculate · compare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449824"/>
            <a:ext cx="9893808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5541264"/>
            <a:ext cx="9436608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These steps implement a comparison; they do not determine whether it is fair.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Checking 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24128"/>
            <a:ext cx="103327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00000"/>
                </a:solidFill>
                <a:latin typeface="Cambria"/>
              </a:rPr>
              <a:t>Before you trust an analysis, ask: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719072"/>
            <a:ext cx="640080" cy="640080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54864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29968" y="1792224"/>
            <a:ext cx="885139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Did it implement the comparison I stated?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2816352"/>
            <a:ext cx="640080" cy="640080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880360"/>
            <a:ext cx="54864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29968" y="2889504"/>
            <a:ext cx="885139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Can I predict what should change if I make one small change?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913631"/>
            <a:ext cx="640080" cy="640080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977639"/>
            <a:ext cx="54864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3986783"/>
            <a:ext cx="885139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Is my claim no stronger than my evidence?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212080"/>
            <a:ext cx="1033272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00000"/>
                </a:solidFill>
                <a:latin typeface="Cambria"/>
              </a:rPr>
              <a:t>Code review checks the connection between the plan and the result.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Two Analyses This Semester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22860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A SHARED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90672" y="1051560"/>
            <a:ext cx="78638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Do Yankees home games coincide with more NYC 311 noise complaints?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40"/>
            <a:ext cx="9921240" cy="18288"/>
          </a:xfrm>
          <a:prstGeom prst="rect">
            <a:avLst/>
          </a:prstGeom>
          <a:solidFill>
            <a:srgbClr val="0C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148840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C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267712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C375F"/>
                </a:solidFill>
                <a:latin typeface="Cambria"/>
              </a:rPr>
              <a:t>question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75887" y="2148840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C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0751" y="2267712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C375F"/>
                </a:solidFill>
                <a:latin typeface="Cambria"/>
              </a:rPr>
              <a:t>comparison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2148840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C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75703" y="2267712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C375F"/>
                </a:solidFill>
                <a:latin typeface="Cambria"/>
              </a:rPr>
              <a:t>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2148840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C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64624" y="2267712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C375F"/>
                </a:solidFill>
                <a:latin typeface="Cambria"/>
              </a:rPr>
              <a:t>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337560"/>
            <a:ext cx="22860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YOUR OWN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0672" y="3291840"/>
            <a:ext cx="78638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You will revise it as you learn new tools.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4187952"/>
            <a:ext cx="9921240" cy="18287"/>
          </a:xfrm>
          <a:prstGeom prst="rect">
            <a:avLst/>
          </a:prstGeom>
          <a:solidFill>
            <a:srgbClr val="C49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4416552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9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535424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B4B4B"/>
                </a:solidFill>
                <a:latin typeface="Cambria"/>
              </a:rPr>
              <a:t>question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75887" y="4416552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9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30751" y="4535424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B4B4B"/>
                </a:solidFill>
                <a:latin typeface="Cambria"/>
              </a:rPr>
              <a:t>comparison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4416552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9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75703" y="4535424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B4B4B"/>
                </a:solidFill>
                <a:latin typeface="Cambria"/>
              </a:rPr>
              <a:t>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4416552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9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64624" y="4535424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B4B4B"/>
                </a:solidFill>
                <a:latin typeface="Cambria"/>
              </a:rPr>
              <a:t>claim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5971032"/>
            <a:ext cx="10515600" cy="1371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6062472"/>
            <a:ext cx="1051560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Cambria"/>
              </a:rPr>
              <a:t>What do you want to know?   ·   Compared to what?   ·   What can you honestly say?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For Tuesday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0120" y="1097280"/>
            <a:ext cx="658368" cy="65836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170432"/>
            <a:ext cx="56692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133856"/>
            <a:ext cx="90068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Bring one crime or criminal-justice question you care about.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2176272"/>
            <a:ext cx="658368" cy="65836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9424"/>
            <a:ext cx="56692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2212848"/>
            <a:ext cx="90068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Be ready to name what you would compare.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255263"/>
            <a:ext cx="658368" cy="65836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28415"/>
            <a:ext cx="56692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91839"/>
            <a:ext cx="90068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Be ready to name one reason that comparison could mislead you.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4462272"/>
            <a:ext cx="10259568" cy="65836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617720"/>
            <a:ext cx="9838944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We will start Tuesday with a few of your examples.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413248"/>
            <a:ext cx="1025956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000000"/>
                </a:solidFill>
                <a:latin typeface="Cambria"/>
              </a:rPr>
              <a:t>Read the Canaries summary. Come ready to identify the question, comparison, pattern, and strongest claim the comparison supports.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mbria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mbria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7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7AF4B63-BF65-43F5-82A4-4C05ED437DA6}">
  <we:reference id="wa200007130" version="1.0.0.1" store="en-US" storeType="OMEX"/>
  <we:alternateReferences>
    <we:reference id="WA200007130" version="1.0.0.1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8169</TotalTime>
  <Words>912</Words>
  <Application>Microsoft Office PowerPoint</Application>
  <PresentationFormat>Widescreen</PresentationFormat>
  <Paragraphs>155</Paragraphs>
  <Slides>27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Cambria</vt:lpstr>
      <vt:lpstr>Cambria</vt:lpstr>
      <vt:lpstr>Office Theme</vt:lpstr>
      <vt:lpstr>CCJS 418E: Coding for Criminology   Lecture 1 Introduction</vt:lpstr>
      <vt:lpstr>About Me</vt:lpstr>
      <vt:lpstr>This Course</vt:lpstr>
      <vt:lpstr>Why Learn to Code in 2025?</vt:lpstr>
      <vt:lpstr>AI in the workplace</vt:lpstr>
      <vt:lpstr>A Recent Paper</vt:lpstr>
      <vt:lpstr>Study</vt:lpstr>
      <vt:lpstr>Overall</vt:lpstr>
      <vt:lpstr>Occupations in Trouble</vt:lpstr>
      <vt:lpstr>PowerPoint Presentation</vt:lpstr>
      <vt:lpstr>What This Means For You </vt:lpstr>
      <vt:lpstr>Philosophy of This Course</vt:lpstr>
      <vt:lpstr>Course Overview</vt:lpstr>
      <vt:lpstr> Getting Started - Practical Setup</vt:lpstr>
      <vt:lpstr>Usage Limits on TerpAI</vt:lpstr>
      <vt:lpstr>Computational Thinking</vt:lpstr>
      <vt:lpstr>Data + Code in Criminal Justice System</vt:lpstr>
      <vt:lpstr>Four Pillars</vt:lpstr>
      <vt:lpstr>Example</vt:lpstr>
      <vt:lpstr>Decomposition</vt:lpstr>
      <vt:lpstr>Big question -&gt; Smaller questions</vt:lpstr>
      <vt:lpstr>Pattern Recognition</vt:lpstr>
      <vt:lpstr>Abstraction</vt:lpstr>
      <vt:lpstr>Solution/Algorithm</vt:lpstr>
      <vt:lpstr>This is Programming</vt:lpstr>
      <vt:lpstr>This Is Also Prompt Engineering</vt:lpstr>
      <vt:lpstr>Next week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CCJS 418E Lecture 1: Questions, Comparisons, and Code</dc:title>
  <dc:creator>Zubin Jelveh</dc:creator>
  <cp:lastModifiedBy>Zubin Jelveh</cp:lastModifiedBy>
  <cp:revision>122</cp:revision>
  <cp:lastPrinted>2025-09-04T18:50:49Z</cp:lastPrinted>
  <dcterms:created xsi:type="dcterms:W3CDTF">2021-01-25T02:56:49Z</dcterms:created>
  <dcterms:modified xsi:type="dcterms:W3CDTF">2025-09-04T18:57:10Z</dcterms:modified>
  <dc:subject>Fall 2026 Lecture 1</dc:subject>
  <dc:description>Fall 2026 redesign based on the Fall 2025 Lecture 1 template.</dc:description>
</cp:coreProperties>
</file>