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Source Sans Pro" panose="020B0503030403020204" pitchFamily="34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36" y="60"/>
      </p:cViewPr>
      <p:guideLst>
        <p:guide orient="horz" pos="1620"/>
        <p:guide pos="2880"/>
        <p:guide pos="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59275" y="343802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 i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3075" y="992400"/>
            <a:ext cx="5682900" cy="21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447725" y="3020700"/>
            <a:ext cx="7233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95600" y="152400"/>
            <a:ext cx="2715887" cy="271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2200" y="866400"/>
            <a:ext cx="51435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0625" y="3678151"/>
            <a:ext cx="2130598" cy="213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724" y="4556824"/>
            <a:ext cx="2512000" cy="2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CUSTOM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953725" y="-15775"/>
            <a:ext cx="5143501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3822200" y="630000"/>
            <a:ext cx="4830300" cy="19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822200" y="2669950"/>
            <a:ext cx="483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CUSTOM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961000" y="-15775"/>
            <a:ext cx="5175052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3822200" y="630000"/>
            <a:ext cx="4830300" cy="19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3822200" y="2669950"/>
            <a:ext cx="483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CUSTOM_2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l="308" r="298"/>
          <a:stretch/>
        </p:blipFill>
        <p:spPr>
          <a:xfrm>
            <a:off x="-1962175" y="-15775"/>
            <a:ext cx="5143501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ctrTitle"/>
          </p:nvPr>
        </p:nvSpPr>
        <p:spPr>
          <a:xfrm>
            <a:off x="3822200" y="630000"/>
            <a:ext cx="4830300" cy="19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3822200" y="2669950"/>
            <a:ext cx="4830300" cy="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4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38675" y="1089250"/>
            <a:ext cx="57909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subTitle" idx="2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58">
          <p15:clr>
            <a:srgbClr val="FA7B17"/>
          </p15:clr>
        </p15:guide>
        <p15:guide id="2" pos="40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Photo">
  <p:cSld name="TITLE_4_1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>
            <a:spLocks noGrp="1"/>
          </p:cNvSpPr>
          <p:nvPr>
            <p:ph type="pic" idx="2"/>
          </p:nvPr>
        </p:nvSpPr>
        <p:spPr>
          <a:xfrm>
            <a:off x="3436275" y="-101925"/>
            <a:ext cx="5839800" cy="5470500"/>
          </a:xfrm>
          <a:prstGeom prst="rect">
            <a:avLst/>
          </a:prstGeom>
          <a:noFill/>
          <a:ln>
            <a:noFill/>
          </a:ln>
        </p:spPr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33375" y="662500"/>
            <a:ext cx="2414700" cy="10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3"/>
          </p:nvPr>
        </p:nvSpPr>
        <p:spPr>
          <a:xfrm>
            <a:off x="633375" y="1897100"/>
            <a:ext cx="2414700" cy="22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9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Photos">
  <p:cSld name="TITLE_4_1_1_1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8"/>
          <p:cNvSpPr>
            <a:spLocks noGrp="1"/>
          </p:cNvSpPr>
          <p:nvPr>
            <p:ph type="pic" idx="2"/>
          </p:nvPr>
        </p:nvSpPr>
        <p:spPr>
          <a:xfrm>
            <a:off x="3415100" y="2578600"/>
            <a:ext cx="5808900" cy="2730000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8"/>
          <p:cNvSpPr>
            <a:spLocks noGrp="1"/>
          </p:cNvSpPr>
          <p:nvPr>
            <p:ph type="pic" idx="3"/>
          </p:nvPr>
        </p:nvSpPr>
        <p:spPr>
          <a:xfrm>
            <a:off x="3415100" y="-123775"/>
            <a:ext cx="3399300" cy="2637000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8"/>
          <p:cNvSpPr>
            <a:spLocks noGrp="1"/>
          </p:cNvSpPr>
          <p:nvPr>
            <p:ph type="pic" idx="4"/>
          </p:nvPr>
        </p:nvSpPr>
        <p:spPr>
          <a:xfrm>
            <a:off x="6901675" y="-123775"/>
            <a:ext cx="2322300" cy="2637000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33375" y="662500"/>
            <a:ext cx="2414700" cy="10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 idx="5"/>
          </p:nvPr>
        </p:nvSpPr>
        <p:spPr>
          <a:xfrm>
            <a:off x="633375" y="1897100"/>
            <a:ext cx="2414700" cy="22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ITLE_4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638675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089400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94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3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 elements">
  <p:cSld name="TITLE_4_1_1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1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380998" y="1079775"/>
            <a:ext cx="1702407" cy="1809639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71" name="Google Shape;71;p10"/>
          <p:cNvSpPr/>
          <p:nvPr/>
        </p:nvSpPr>
        <p:spPr>
          <a:xfrm>
            <a:off x="267950" y="3262351"/>
            <a:ext cx="822442" cy="874128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rgbClr val="E31933"/>
          </a:solidFill>
          <a:ln>
            <a:noFill/>
          </a:ln>
        </p:spPr>
      </p:sp>
      <p:sp>
        <p:nvSpPr>
          <p:cNvPr id="72" name="Google Shape;72;p10"/>
          <p:cNvSpPr/>
          <p:nvPr/>
        </p:nvSpPr>
        <p:spPr>
          <a:xfrm>
            <a:off x="4367573" y="1079775"/>
            <a:ext cx="1702407" cy="1809639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subTitle" idx="2"/>
          </p:nvPr>
        </p:nvSpPr>
        <p:spPr>
          <a:xfrm>
            <a:off x="1746200" y="2630350"/>
            <a:ext cx="25713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3164125" y="3262351"/>
            <a:ext cx="822442" cy="874128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</p:sp>
      <p:sp>
        <p:nvSpPr>
          <p:cNvPr id="75" name="Google Shape;75;p10"/>
          <p:cNvSpPr/>
          <p:nvPr/>
        </p:nvSpPr>
        <p:spPr>
          <a:xfrm>
            <a:off x="6019800" y="3262351"/>
            <a:ext cx="822442" cy="874128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title" idx="3" hasCustomPrompt="1"/>
          </p:nvPr>
        </p:nvSpPr>
        <p:spPr>
          <a:xfrm>
            <a:off x="1746201" y="1121300"/>
            <a:ext cx="3254400" cy="153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0"/>
              <a:buFont typeface="Source Sans Pro"/>
              <a:buNone/>
              <a:defRPr sz="13000" b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0"/>
          <p:cNvSpPr txBox="1">
            <a:spLocks noGrp="1"/>
          </p:cNvSpPr>
          <p:nvPr>
            <p:ph type="subTitle" idx="4"/>
          </p:nvPr>
        </p:nvSpPr>
        <p:spPr>
          <a:xfrm>
            <a:off x="5732775" y="2630350"/>
            <a:ext cx="25713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title" idx="5" hasCustomPrompt="1"/>
          </p:nvPr>
        </p:nvSpPr>
        <p:spPr>
          <a:xfrm>
            <a:off x="5732776" y="1121300"/>
            <a:ext cx="3254400" cy="153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0"/>
              <a:buFont typeface="Source Sans Pro"/>
              <a:buNone/>
              <a:defRPr sz="13000" b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6"/>
          </p:nvPr>
        </p:nvSpPr>
        <p:spPr>
          <a:xfrm>
            <a:off x="1173561" y="3971981"/>
            <a:ext cx="25713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 idx="7" hasCustomPrompt="1"/>
          </p:nvPr>
        </p:nvSpPr>
        <p:spPr>
          <a:xfrm>
            <a:off x="1165869" y="3134019"/>
            <a:ext cx="1810500" cy="82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sz="7200" b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0"/>
          <p:cNvSpPr txBox="1">
            <a:spLocks noGrp="1"/>
          </p:cNvSpPr>
          <p:nvPr>
            <p:ph type="subTitle" idx="8"/>
          </p:nvPr>
        </p:nvSpPr>
        <p:spPr>
          <a:xfrm>
            <a:off x="4069736" y="3971981"/>
            <a:ext cx="25713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title" idx="9" hasCustomPrompt="1"/>
          </p:nvPr>
        </p:nvSpPr>
        <p:spPr>
          <a:xfrm>
            <a:off x="4062044" y="3134019"/>
            <a:ext cx="1810500" cy="82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sz="7200" b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13"/>
          </p:nvPr>
        </p:nvSpPr>
        <p:spPr>
          <a:xfrm>
            <a:off x="6925411" y="3971981"/>
            <a:ext cx="25713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title" idx="14" hasCustomPrompt="1"/>
          </p:nvPr>
        </p:nvSpPr>
        <p:spPr>
          <a:xfrm>
            <a:off x="6917719" y="3134019"/>
            <a:ext cx="1810500" cy="82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sz="7200" b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TITLE_4_1_1_2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-1796500" y="-959226"/>
            <a:ext cx="3940412" cy="4188043"/>
          </a:xfrm>
          <a:custGeom>
            <a:avLst/>
            <a:gdLst/>
            <a:ahLst/>
            <a:cxnLst/>
            <a:rect l="l" t="t" r="r" b="b"/>
            <a:pathLst>
              <a:path w="310942" h="310801" extrusionOk="0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rgbClr val="FFD200"/>
          </a:solidFill>
          <a:ln>
            <a:noFill/>
          </a:ln>
        </p:spPr>
      </p:sp>
      <p:cxnSp>
        <p:nvCxnSpPr>
          <p:cNvPr id="93" name="Google Shape;93;p11"/>
          <p:cNvCxnSpPr/>
          <p:nvPr/>
        </p:nvCxnSpPr>
        <p:spPr>
          <a:xfrm>
            <a:off x="842707" y="278625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4" name="Google Shape;94;p11"/>
          <p:cNvCxnSpPr/>
          <p:nvPr/>
        </p:nvCxnSpPr>
        <p:spPr>
          <a:xfrm>
            <a:off x="3480607" y="278625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5" name="Google Shape;95;p11"/>
          <p:cNvCxnSpPr/>
          <p:nvPr/>
        </p:nvCxnSpPr>
        <p:spPr>
          <a:xfrm>
            <a:off x="6096007" y="2786250"/>
            <a:ext cx="0" cy="236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6" name="Google Shape;96;p11"/>
          <p:cNvCxnSpPr/>
          <p:nvPr/>
        </p:nvCxnSpPr>
        <p:spPr>
          <a:xfrm rot="10800000">
            <a:off x="2138100" y="2297251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" name="Google Shape;97;p11"/>
          <p:cNvCxnSpPr/>
          <p:nvPr/>
        </p:nvCxnSpPr>
        <p:spPr>
          <a:xfrm rot="10800000">
            <a:off x="4776000" y="2297251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8" name="Google Shape;98;p11"/>
          <p:cNvCxnSpPr/>
          <p:nvPr/>
        </p:nvCxnSpPr>
        <p:spPr>
          <a:xfrm rot="10800000">
            <a:off x="7391400" y="2297251"/>
            <a:ext cx="0" cy="255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9" name="Google Shape;99;p11"/>
          <p:cNvSpPr/>
          <p:nvPr/>
        </p:nvSpPr>
        <p:spPr>
          <a:xfrm>
            <a:off x="633375" y="2467925"/>
            <a:ext cx="1349100" cy="38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1951889" y="2467925"/>
            <a:ext cx="1349100" cy="384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3270403" y="2467925"/>
            <a:ext cx="1349100" cy="3849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4588917" y="2467925"/>
            <a:ext cx="1349100" cy="3849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5907431" y="2467925"/>
            <a:ext cx="1349100" cy="384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7225945" y="2467925"/>
            <a:ext cx="1349100" cy="384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5" name="Google Shape;105;p11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2"/>
          </p:nvPr>
        </p:nvSpPr>
        <p:spPr>
          <a:xfrm>
            <a:off x="2097875" y="111007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ubTitle" idx="3"/>
          </p:nvPr>
        </p:nvSpPr>
        <p:spPr>
          <a:xfrm>
            <a:off x="4724700" y="111007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4"/>
          </p:nvPr>
        </p:nvSpPr>
        <p:spPr>
          <a:xfrm>
            <a:off x="7351525" y="111007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subTitle" idx="5"/>
          </p:nvPr>
        </p:nvSpPr>
        <p:spPr>
          <a:xfrm>
            <a:off x="805725" y="311712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6"/>
          </p:nvPr>
        </p:nvSpPr>
        <p:spPr>
          <a:xfrm>
            <a:off x="3432550" y="311712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7"/>
          </p:nvPr>
        </p:nvSpPr>
        <p:spPr>
          <a:xfrm>
            <a:off x="6059375" y="3117125"/>
            <a:ext cx="1087800" cy="10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left rule">
  <p:cSld name="TITLE_4_1_1_2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115" name="Google Shape;115;p12"/>
          <p:cNvSpPr txBox="1">
            <a:spLocks noGrp="1"/>
          </p:cNvSpPr>
          <p:nvPr>
            <p:ph type="subTitle" idx="1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2"/>
          <p:cNvCxnSpPr/>
          <p:nvPr/>
        </p:nvCxnSpPr>
        <p:spPr>
          <a:xfrm>
            <a:off x="529825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2"/>
          <p:cNvCxnSpPr/>
          <p:nvPr/>
        </p:nvCxnSpPr>
        <p:spPr>
          <a:xfrm>
            <a:off x="3362650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2"/>
          <p:cNvCxnSpPr/>
          <p:nvPr/>
        </p:nvCxnSpPr>
        <p:spPr>
          <a:xfrm>
            <a:off x="6195475" y="1206450"/>
            <a:ext cx="0" cy="27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2"/>
          <p:cNvSpPr txBox="1"/>
          <p:nvPr/>
        </p:nvSpPr>
        <p:spPr>
          <a:xfrm>
            <a:off x="714875" y="1663450"/>
            <a:ext cx="2424300" cy="22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24" name="Google Shape;124;p12"/>
          <p:cNvSpPr txBox="1">
            <a:spLocks noGrp="1"/>
          </p:cNvSpPr>
          <p:nvPr>
            <p:ph type="subTitle" idx="2"/>
          </p:nvPr>
        </p:nvSpPr>
        <p:spPr>
          <a:xfrm>
            <a:off x="688825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5" name="Google Shape;125;p12"/>
          <p:cNvSpPr txBox="1">
            <a:spLocks noGrp="1"/>
          </p:cNvSpPr>
          <p:nvPr>
            <p:ph type="body" idx="3"/>
          </p:nvPr>
        </p:nvSpPr>
        <p:spPr>
          <a:xfrm>
            <a:off x="688825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subTitle" idx="4"/>
          </p:nvPr>
        </p:nvSpPr>
        <p:spPr>
          <a:xfrm>
            <a:off x="3526300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5"/>
          </p:nvPr>
        </p:nvSpPr>
        <p:spPr>
          <a:xfrm>
            <a:off x="3526300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subTitle" idx="6"/>
          </p:nvPr>
        </p:nvSpPr>
        <p:spPr>
          <a:xfrm>
            <a:off x="6363775" y="1134050"/>
            <a:ext cx="25119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Source Sans Pro"/>
              <a:buNone/>
              <a:defRPr sz="2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7"/>
          </p:nvPr>
        </p:nvSpPr>
        <p:spPr>
          <a:xfrm>
            <a:off x="6363775" y="1671075"/>
            <a:ext cx="2511900" cy="22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+ photo">
  <p:cSld name="MAIN_POINT_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4089400" y="1013175"/>
            <a:ext cx="4648500" cy="26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>
            <a:spLocks noGrp="1"/>
          </p:cNvSpPr>
          <p:nvPr>
            <p:ph type="pic" idx="2"/>
          </p:nvPr>
        </p:nvSpPr>
        <p:spPr>
          <a:xfrm>
            <a:off x="-1200325" y="0"/>
            <a:ext cx="4248300" cy="5143500"/>
          </a:xfrm>
          <a:prstGeom prst="rect">
            <a:avLst/>
          </a:prstGeom>
          <a:noFill/>
          <a:ln>
            <a:noFill/>
          </a:ln>
          <a:effectLst>
            <a:outerShdw blurRad="114300" dist="19050" dir="5400000" algn="bl" rotWithShape="0">
              <a:srgbClr val="000000">
                <a:alpha val="12941"/>
              </a:srgbClr>
            </a:outerShdw>
          </a:effectLst>
        </p:spPr>
      </p:sp>
      <p:pic>
        <p:nvPicPr>
          <p:cNvPr id="133" name="Google Shape;13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5100" y="1118150"/>
            <a:ext cx="357101" cy="3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 3 1">
  <p:cSld name="MAIN_POINT_2_2_1_1_1"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>
            <a:spLocks noGrp="1"/>
          </p:cNvSpPr>
          <p:nvPr>
            <p:ph type="pic" idx="2"/>
          </p:nvPr>
        </p:nvSpPr>
        <p:spPr>
          <a:xfrm>
            <a:off x="-95250" y="-155150"/>
            <a:ext cx="9334500" cy="546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1" name="Google Shape;14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75" y="1296782"/>
            <a:ext cx="6096025" cy="254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Blank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 2">
  <p:cSld name="MAIN_POINT_2_2_1">
    <p:bg>
      <p:bgPr>
        <a:solidFill>
          <a:schemeClr val="accen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6"/>
          <p:cNvSpPr>
            <a:spLocks noGrp="1"/>
          </p:cNvSpPr>
          <p:nvPr>
            <p:ph type="pic" idx="2"/>
          </p:nvPr>
        </p:nvSpPr>
        <p:spPr>
          <a:xfrm>
            <a:off x="2582350" y="-118525"/>
            <a:ext cx="7450800" cy="53805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Photo ">
  <p:cSld name="MAIN_POINT_2_2_2">
    <p:bg>
      <p:bgPr>
        <a:solidFill>
          <a:schemeClr val="dk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>
            <a:spLocks noGrp="1"/>
          </p:cNvSpPr>
          <p:nvPr>
            <p:ph type="pic" idx="2"/>
          </p:nvPr>
        </p:nvSpPr>
        <p:spPr>
          <a:xfrm>
            <a:off x="2072600" y="-1085850"/>
            <a:ext cx="10098000" cy="73152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171450" dist="1905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52" name="Google Shape;152;p17"/>
          <p:cNvSpPr>
            <a:spLocks noGrp="1"/>
          </p:cNvSpPr>
          <p:nvPr>
            <p:ph type="pic" idx="3"/>
          </p:nvPr>
        </p:nvSpPr>
        <p:spPr>
          <a:xfrm>
            <a:off x="-3748850" y="-1085850"/>
            <a:ext cx="10098000" cy="73152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171450" dist="19050" dir="5400000" algn="bl" rotWithShape="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ITLE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ctrTitle"/>
          </p:nvPr>
        </p:nvSpPr>
        <p:spPr>
          <a:xfrm>
            <a:off x="2093850" y="859575"/>
            <a:ext cx="4956300" cy="17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57188" y="4400095"/>
            <a:ext cx="2829624" cy="3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t="19112"/>
          <a:stretch/>
        </p:blipFill>
        <p:spPr>
          <a:xfrm>
            <a:off x="-1530325" y="3251200"/>
            <a:ext cx="12103050" cy="6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SECTION_HEADER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None/>
              <a:defRPr sz="68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None/>
              <a:defRPr sz="6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Boxes">
  <p:cSld name="TITLE_ONLY_1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654225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362892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071559" y="1297000"/>
            <a:ext cx="2418300" cy="23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65425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2"/>
          </p:nvPr>
        </p:nvSpPr>
        <p:spPr>
          <a:xfrm>
            <a:off x="336290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3"/>
          </p:nvPr>
        </p:nvSpPr>
        <p:spPr>
          <a:xfrm>
            <a:off x="6071575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 b="0"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>
            <a:spLocks noGrp="1"/>
          </p:cNvSpPr>
          <p:nvPr>
            <p:ph type="subTitle" idx="4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1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">
  <p:cSld name="MAIN_POINT_2_2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>
            <a:spLocks noGrp="1"/>
          </p:cNvSpPr>
          <p:nvPr>
            <p:ph type="pic" idx="2"/>
          </p:nvPr>
        </p:nvSpPr>
        <p:spPr>
          <a:xfrm>
            <a:off x="2633150" y="-127000"/>
            <a:ext cx="7450800" cy="53976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171450" dist="19050" dir="5400000" algn="bl" rotWithShape="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amatic Text and Photo 3">
  <p:cSld name="MAIN_POINT_2_2_1_1">
    <p:bg>
      <p:bgPr>
        <a:solidFill>
          <a:srgbClr val="00000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3"/>
          <p:cNvSpPr>
            <a:spLocks noGrp="1"/>
          </p:cNvSpPr>
          <p:nvPr>
            <p:ph type="pic" idx="2"/>
          </p:nvPr>
        </p:nvSpPr>
        <p:spPr>
          <a:xfrm>
            <a:off x="2582350" y="-118525"/>
            <a:ext cx="7450800" cy="5380500"/>
          </a:xfrm>
          <a:prstGeom prst="chevron">
            <a:avLst>
              <a:gd name="adj" fmla="val 50000"/>
            </a:avLst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61975" y="0"/>
            <a:ext cx="7623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Source Sans Pro"/>
              <a:buNone/>
              <a:defRPr sz="34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61975" y="1719075"/>
            <a:ext cx="7623000" cy="25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  <a:defRPr sz="13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urce Sans Pro"/>
              <a:buChar char="○"/>
              <a:defRPr sz="10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●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ource Sans Pro"/>
              <a:buChar char="○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800"/>
              <a:buFont typeface="Source Sans Pro"/>
              <a:buChar char="■"/>
              <a:defRPr sz="8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9997" y="4297674"/>
            <a:ext cx="7650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 dir="r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960">
          <p15:clr>
            <a:srgbClr val="EA4335"/>
          </p15:clr>
        </p15:guide>
        <p15:guide id="3" pos="1920">
          <p15:clr>
            <a:srgbClr val="EA4335"/>
          </p15:clr>
        </p15:guide>
        <p15:guide id="4" pos="3840">
          <p15:clr>
            <a:srgbClr val="EA4335"/>
          </p15:clr>
        </p15:guide>
        <p15:guide id="5" pos="4800">
          <p15:clr>
            <a:srgbClr val="EA4335"/>
          </p15:clr>
        </p15:guide>
        <p15:guide id="6" orient="horz" pos="541">
          <p15:clr>
            <a:srgbClr val="EA4335"/>
          </p15:clr>
        </p15:guide>
        <p15:guide id="7" orient="horz" pos="1083">
          <p15:clr>
            <a:srgbClr val="EA4335"/>
          </p15:clr>
        </p15:guide>
        <p15:guide id="8" orient="horz" pos="1624">
          <p15:clr>
            <a:srgbClr val="EA4335"/>
          </p15:clr>
        </p15:guide>
        <p15:guide id="9" orient="horz" pos="2166">
          <p15:clr>
            <a:srgbClr val="EA4335"/>
          </p15:clr>
        </p15:guide>
        <p15:guide id="10" orient="horz" pos="2707">
          <p15:clr>
            <a:srgbClr val="EA4335"/>
          </p15:clr>
        </p15:guide>
        <p15:guide id="11" pos="480">
          <p15:clr>
            <a:srgbClr val="EA4335"/>
          </p15:clr>
        </p15:guide>
        <p15:guide id="12" pos="1440">
          <p15:clr>
            <a:srgbClr val="EA4335"/>
          </p15:clr>
        </p15:guide>
        <p15:guide id="13" pos="2408">
          <p15:clr>
            <a:srgbClr val="EA4335"/>
          </p15:clr>
        </p15:guide>
        <p15:guide id="14" pos="4320">
          <p15:clr>
            <a:srgbClr val="EA4335"/>
          </p15:clr>
        </p15:guide>
        <p15:guide id="15" pos="3358">
          <p15:clr>
            <a:srgbClr val="EA4335"/>
          </p15:clr>
        </p15:guide>
        <p15:guide id="16" pos="528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</a:t>
            </a:r>
            <a:br/>
            <a:r>
              <a:t>CCJS 418E - Coding for Criminology</a:t>
            </a:r>
            <a:br/>
            <a:r>
              <a:t>Date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[Your Title Here]</a:t>
            </a:r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/>
            </a:pPr>
            <a:r>
              <a:t>PART 1: Presentation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 in Class (12/9 or 12/11)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Research Question &amp; Why It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Main Research Question:</a:t>
            </a:r>
          </a:p>
          <a:p>
            <a:pPr lvl="1">
              <a:defRPr sz="1400"/>
            </a:pPr>
            <a:r>
              <a:t>[State your research question clearly]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Why This Question Matters:</a:t>
            </a:r>
          </a:p>
          <a:p>
            <a:pPr lvl="1">
              <a:defRPr sz="1400"/>
            </a:pPr>
            <a:r>
              <a:t>[Point 1: Who cares about this?]</a:t>
            </a:r>
          </a:p>
          <a:p>
            <a:pPr lvl="1">
              <a:defRPr sz="1400"/>
            </a:pPr>
            <a:r>
              <a:t>[Point 2: What decision does this inform?]</a:t>
            </a:r>
          </a:p>
          <a:p>
            <a:pPr lvl="1">
              <a:defRPr sz="1400"/>
            </a:pPr>
            <a:r>
              <a:t>[Point 3: What's the real-world impact?]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My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Data Source:</a:t>
            </a:r>
          </a:p>
          <a:p>
            <a:pPr lvl="1">
              <a:defRPr sz="1400"/>
            </a:pPr>
            <a:r>
              <a:t>[Name of dataset and where you got it]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Time Period:</a:t>
            </a:r>
          </a:p>
          <a:p>
            <a:pPr lvl="1">
              <a:defRPr sz="1400"/>
            </a:pPr>
            <a:r>
              <a:t>[Start date] - [End date]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Dataset Size:</a:t>
            </a:r>
          </a:p>
          <a:p>
            <a:pPr lvl="1">
              <a:defRPr sz="1400"/>
            </a:pPr>
            <a:r>
              <a:t>[Number of rows/observations]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My Dataset: Key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Key Variables I'm Using:</a:t>
            </a:r>
          </a:p>
          <a:p>
            <a:pPr lvl="1">
              <a:defRPr sz="1400"/>
            </a:pPr>
            <a:r>
              <a:t>`variable_name_1` - [What it represents]</a:t>
            </a:r>
          </a:p>
          <a:p>
            <a:pPr lvl="1">
              <a:defRPr sz="1400"/>
            </a:pPr>
            <a:r>
              <a:t>`variable_name_2` - [What it represents]</a:t>
            </a:r>
          </a:p>
          <a:p>
            <a:pPr lvl="1">
              <a:defRPr sz="1400"/>
            </a:pPr>
            <a:r>
              <a:t>`variable_name_3` - [What it represents]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Data Cleaning:</a:t>
            </a:r>
          </a:p>
          <a:p>
            <a:pPr lvl="1">
              <a:defRPr sz="1400"/>
            </a:pPr>
            <a:r>
              <a:t>[Any filtering or cleaning you did]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My Analysis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First, I'll [Comparison #1 description] to establish [what this shows]. This matters because [why it matters].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Then, I'll [Comparison #2 description] to show [what this shows]. This rules out [alternative explanation].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Finally, I'll [Comparison #3 description] to demonstrate [what this shows]. This strengthens my case by [why it matters].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Comparison #1: [Name]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What I'm calculating:</a:t>
            </a:r>
          </a:p>
          <a:p>
            <a:pPr lvl="1">
              <a:defRPr sz="1400"/>
            </a:pPr>
            <a:r>
              <a:t>[Specific metric, e.g., 'Average complaints per day']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I'll calculate it:</a:t>
            </a:r>
          </a:p>
          <a:p>
            <a:pPr lvl="1">
              <a:defRPr sz="1400"/>
            </a:pPr>
            <a:r>
              <a:t>[pandas operations, e.g., 'groupby + size + divide by days']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Visualization:</a:t>
            </a:r>
          </a:p>
          <a:p>
            <a:pPr lvl="1">
              <a:defRPr sz="1400"/>
            </a:pPr>
            <a:r>
              <a:t>[Chart type and what axes show]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Comparison #2: [Name]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What I'm calculating:</a:t>
            </a:r>
          </a:p>
          <a:p>
            <a:pPr lvl="1">
              <a:defRPr sz="1400"/>
            </a:pPr>
            <a:r>
              <a:t>[Specific metric]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I'll calculate it:</a:t>
            </a:r>
          </a:p>
          <a:p>
            <a:pPr lvl="1">
              <a:defRPr sz="1400"/>
            </a:pPr>
            <a:r>
              <a:t>[pandas operations]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Visualization:</a:t>
            </a:r>
          </a:p>
          <a:p>
            <a:pPr lvl="1">
              <a:defRPr sz="1400"/>
            </a:pPr>
            <a:r>
              <a:t>[Chart type and what axes show]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Comparison #3: [Name]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What I'm calculating:</a:t>
            </a:r>
          </a:p>
          <a:p>
            <a:pPr lvl="1">
              <a:defRPr sz="1400"/>
            </a:pPr>
            <a:r>
              <a:t>[Specific metric]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I'll calculate it:</a:t>
            </a:r>
          </a:p>
          <a:p>
            <a:pPr lvl="1">
              <a:defRPr sz="1400"/>
            </a:pPr>
            <a:r>
              <a:t>[pandas operations]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Visualization:</a:t>
            </a:r>
          </a:p>
          <a:p>
            <a:pPr lvl="1">
              <a:defRPr sz="1400"/>
            </a:pPr>
            <a:r>
              <a:t>[Chart type and what axes show]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[OPTIONAL] Early Results Preview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[INSERT YOUR CHART HERE]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(Skip this slide if you haven't started analysis yet)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[OPTIONAL] Early Results: What This Tells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Key Numbers:</a:t>
            </a:r>
          </a:p>
          <a:p>
            <a:pPr lvl="1">
              <a:defRPr sz="1400"/>
            </a:pPr>
            <a:r>
              <a:t>[Specific number from your analysis]</a:t>
            </a:r>
          </a:p>
          <a:p>
            <a:pPr lvl="1">
              <a:defRPr sz="1400"/>
            </a:pPr>
            <a:r>
              <a:t>[Another specific number]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What This Means:</a:t>
            </a:r>
          </a:p>
          <a:p>
            <a:pPr lvl="1">
              <a:defRPr sz="1400"/>
            </a:pPr>
            <a:r>
              <a:t>[Your interpretation]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(Skip this slide if you haven't started analysis yet)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/>
            </a:pPr>
            <a:r>
              <a:t>PART 2: Results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Due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#1: [Finding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[INSERT YOUR CHART HERE]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(Just the visualization - no text needed)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#1: What This Tells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Key Numbers:</a:t>
            </a:r>
          </a:p>
          <a:p>
            <a:pPr lvl="1">
              <a:defRPr sz="1400"/>
            </a:pPr>
            <a:r>
              <a:t>[Group A]: [value]</a:t>
            </a:r>
          </a:p>
          <a:p>
            <a:pPr lvl="1">
              <a:defRPr sz="1400"/>
            </a:pPr>
            <a:r>
              <a:t>[Group B]: [value]</a:t>
            </a:r>
          </a:p>
          <a:p>
            <a:pPr lvl="1">
              <a:defRPr sz="1400"/>
            </a:pPr>
            <a:r>
              <a:t>[Percent difference or key comparison]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What This Means:</a:t>
            </a:r>
          </a:p>
          <a:p>
            <a:pPr lvl="1">
              <a:defRPr sz="1400"/>
            </a:pPr>
            <a:r>
              <a:t>[Your interpretation of the finding]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This Advances My Story:</a:t>
            </a:r>
          </a:p>
          <a:p>
            <a:pPr lvl="1">
              <a:defRPr sz="1400"/>
            </a:pPr>
            <a:r>
              <a:t>[How this connects to your research question]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#2: [Finding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[INSERT YOUR CHART HERE]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(Just the visualization - no text needed)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#2: What This Tells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Key Numbers:</a:t>
            </a:r>
          </a:p>
          <a:p>
            <a:pPr lvl="1">
              <a:defRPr sz="1400"/>
            </a:pPr>
            <a:r>
              <a:t>[Specific numbers from your analysis]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What This Means:</a:t>
            </a:r>
          </a:p>
          <a:p>
            <a:pPr lvl="1">
              <a:defRPr sz="1400"/>
            </a:pPr>
            <a:r>
              <a:t>[Your interpretation]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This Advances My Story:</a:t>
            </a:r>
          </a:p>
          <a:p>
            <a:pPr lvl="1">
              <a:defRPr sz="1400"/>
            </a:pPr>
            <a:r>
              <a:t>[How this builds on Result #1]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#3: [Finding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[INSERT YOUR CHART HERE]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(Just the visualization - no text needed)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Result #3: What This Tells 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Key Numbers:</a:t>
            </a:r>
          </a:p>
          <a:p>
            <a:pPr lvl="1">
              <a:defRPr sz="1400"/>
            </a:pPr>
            <a:r>
              <a:t>[Specific numbers from your analysis]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What This Means:</a:t>
            </a:r>
          </a:p>
          <a:p>
            <a:pPr lvl="1">
              <a:defRPr sz="1400"/>
            </a:pPr>
            <a:r>
              <a:t>[Your interpretation]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How This Advances My Story:</a:t>
            </a:r>
          </a:p>
          <a:p>
            <a:pPr lvl="1">
              <a:defRPr sz="1400"/>
            </a:pPr>
            <a:r>
              <a:t>[How this completes your argument]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Challenge #1:</a:t>
            </a:r>
          </a:p>
          <a:p>
            <a:pPr lvl="1">
              <a:defRPr sz="1400"/>
            </a:pPr>
            <a:r>
              <a:t>[Problem you encountered]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Challenge #2:</a:t>
            </a:r>
          </a:p>
          <a:p>
            <a:pPr lvl="1">
              <a:defRPr sz="1400"/>
            </a:pPr>
            <a:r>
              <a:t>[Another problem you encountered]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Challenge #3:</a:t>
            </a:r>
          </a:p>
          <a:p>
            <a:pPr lvl="1">
              <a:defRPr sz="1400"/>
            </a:pPr>
            <a:r>
              <a:t>[Another problem you encountered]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Research Question:</a:t>
            </a:r>
          </a:p>
          <a:p>
            <a:pPr lvl="1">
              <a:defRPr sz="1400"/>
            </a:pPr>
            <a:r>
              <a:t>[Restate your research question]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Main Findings:</a:t>
            </a:r>
          </a:p>
          <a:p>
            <a:pPr lvl="1">
              <a:defRPr sz="1400"/>
            </a:pPr>
            <a:r>
              <a:t>Finding #1: [Key result with specific numbers]</a:t>
            </a:r>
          </a:p>
          <a:p>
            <a:pPr lvl="1">
              <a:defRPr sz="1400"/>
            </a:pPr>
            <a:r>
              <a:t>Finding #2: [Key result with specific numbers]</a:t>
            </a:r>
          </a:p>
          <a:p>
            <a:pPr lvl="1">
              <a:defRPr sz="1400"/>
            </a:pPr>
            <a:r>
              <a:t>Finding #3: [Key result with specific numbers]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Why It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Policy Implications:</a:t>
            </a:r>
          </a:p>
          <a:p>
            <a:pPr lvl="1">
              <a:defRPr sz="1400"/>
            </a:pPr>
            <a:r>
              <a:t>[What should decision-makers know?]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What I Learned:</a:t>
            </a:r>
          </a:p>
          <a:p>
            <a:pPr lvl="1">
              <a:defRPr sz="1400"/>
            </a:pPr>
            <a:r>
              <a:t>[Key takeaway from this analysis]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Thank you! Questions?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arlessly Forward / LIGHT">
  <a:themeElements>
    <a:clrScheme name="Simple Light">
      <a:dk1>
        <a:srgbClr val="000000"/>
      </a:dk1>
      <a:lt1>
        <a:srgbClr val="FFFFFF"/>
      </a:lt1>
      <a:dk2>
        <a:srgbClr val="636363"/>
      </a:dk2>
      <a:lt2>
        <a:srgbClr val="E6E6E6"/>
      </a:lt2>
      <a:accent1>
        <a:srgbClr val="E21833"/>
      </a:accent1>
      <a:accent2>
        <a:srgbClr val="A41124"/>
      </a:accent2>
      <a:accent3>
        <a:srgbClr val="820E1D"/>
      </a:accent3>
      <a:accent4>
        <a:srgbClr val="FFD200"/>
      </a:accent4>
      <a:accent5>
        <a:srgbClr val="CBA700"/>
      </a:accent5>
      <a:accent6>
        <a:srgbClr val="715D00"/>
      </a:accent6>
      <a:hlink>
        <a:srgbClr val="E218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On-screen Show (16:9)</PresentationFormat>
  <Paragraphs>144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Lato</vt:lpstr>
      <vt:lpstr>Source Sans Pro</vt:lpstr>
      <vt:lpstr>Arial</vt:lpstr>
      <vt:lpstr>Fearlessly Forward / LIGHT</vt:lpstr>
      <vt:lpstr>[Your Title Here]</vt:lpstr>
      <vt:lpstr>PART 1: Presentation Slides</vt:lpstr>
      <vt:lpstr>Research Question &amp; Why It Matters</vt:lpstr>
      <vt:lpstr>My Dataset</vt:lpstr>
      <vt:lpstr>My Dataset: Key Variables</vt:lpstr>
      <vt:lpstr>My Analysis Strategy</vt:lpstr>
      <vt:lpstr>Comparison #1: [Name]</vt:lpstr>
      <vt:lpstr>Comparison #2: [Name]</vt:lpstr>
      <vt:lpstr>Comparison #3: [Name]</vt:lpstr>
      <vt:lpstr>[OPTIONAL] Early Results Preview</vt:lpstr>
      <vt:lpstr>[OPTIONAL] Early Results: What This Tells Us</vt:lpstr>
      <vt:lpstr>PART 2: Results Slides</vt:lpstr>
      <vt:lpstr>Result #1: [Finding Title]</vt:lpstr>
      <vt:lpstr>Result #1: What This Tells Us</vt:lpstr>
      <vt:lpstr>Result #2: [Finding Title]</vt:lpstr>
      <vt:lpstr>Result #2: What This Tells Us</vt:lpstr>
      <vt:lpstr>Result #3: [Finding Title]</vt:lpstr>
      <vt:lpstr>Result #3: What This Tells Us</vt:lpstr>
      <vt:lpstr>Challenges</vt:lpstr>
      <vt:lpstr>Summary</vt:lpstr>
      <vt:lpstr>Why It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[Your Title Here]</dc:title>
  <cp:lastModifiedBy>Zubin Jelveh</cp:lastModifiedBy>
  <cp:revision>1</cp:revision>
  <dcterms:modified xsi:type="dcterms:W3CDTF">2025-12-04T01:29:38Z</dcterms:modified>
</cp:coreProperties>
</file>